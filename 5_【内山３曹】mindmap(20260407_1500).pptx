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0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7F6240-9BB4-4CDE-B50D-EA9811EAEB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E671930-BB4F-4829-A1BE-1C2342D2E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E95D46-9634-42FF-9211-B3618933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444040-9C6B-48AD-8C45-7B71C6332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34BCA8-20FB-4B2B-BCD1-A90F5C1FB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174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1E90A6-3AEB-47B9-A2B1-7BDBCEF55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B450F7F-6C6C-4D54-B329-C315A3B39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962351-69C4-48B8-BB3B-E448B160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EDECF8-3BB0-4ACB-8A94-D3448CDC3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536C75-3B1B-4793-8E18-31AD188D7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1787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DA8BFF-B49D-4CAF-9784-A5476014A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6D20010-F099-47D7-A90B-990C9806F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FB9173F-4EFA-446F-8228-E1933DB64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F9C5E1-8761-44D7-B25C-500C8026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F8A311-CA65-4195-8939-DFC5CF948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8446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1BBD22-601A-41CE-902F-1D8CBA08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6A474A-3302-4DD3-B281-2432A1962D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104D366-611B-405D-AB30-B1DCF65FDC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71DA28-8631-423F-8753-47C6FAAB1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73B8B58-8C22-4790-B793-DC0A360E6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CD7D8BB-CED4-4119-B946-18882B259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52463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50E1D7-6C07-4311-BB04-EF6D4BBB2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FE5248-57AB-43FE-A6E0-319346C3F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DFF57B-C653-4A7E-8164-D15BF1A0E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E8803B4-FEB7-4C82-B7D5-046D7C93E7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26B8F58-8ECF-4BA9-8987-1459A7508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49366B2-C979-4463-909E-4AC02DB4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ED961A5-522F-4F67-92F2-FBD5F92C6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7C19CF5-1E9B-4FC7-8240-9B5777C65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7344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30A60-243D-4EF3-A46C-7CD73EC64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32EA4FD-3A51-4523-99FC-873F78F2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75C8B58-414B-44F0-8097-515F3DF2D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6DFAFF4-B559-430D-824D-435188277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579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D26381A-80D8-41B9-8C2C-1102EB526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856D3F3-3D1A-4CA9-81C1-E084C844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26525F0-C284-479D-B209-76A81BAE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4769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88D538-AE87-4E4E-BA8B-6DA88CF5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8A808B0-473E-49DF-A740-E9CFFC487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510BF89-58D9-4B31-9665-3E4046CE7B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9AC7E03-8683-45BB-9CE4-52C31E57D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AF32E4-6C85-445A-A0AF-A09FA0B87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5C71E8-8A5F-42B9-8D5A-DE8B8BD5E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6891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2EA50B-2F99-47A9-9C28-7DA0D666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C6691E3-A0FE-442F-8709-BBBEFB26FA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317129C-7D06-4C07-BB94-C04CCEB96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823B2BC-7DAF-4437-B6E9-B453D858F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38F4B33-52BF-4887-BC09-4664748D4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72B65CE-8A20-40CB-B007-3CF99F1F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22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1B8B4F-4C71-4ED6-BF8B-87FAF8FC3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737CD4-F7E6-4A12-BDE9-FAA598A49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E0B2CF-D2D0-4A81-8E22-BD41ED52C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FD26B0-2FDA-4D96-B6ED-CFF901B19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7AEF39-6E95-47DF-BBAD-CA34A5F46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7174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6F47A1C-C7D4-4FF8-A355-D15CA1E566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848E2FC-BB1C-4D5A-86B0-3E8C3F8451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B33DFDD-45CD-4FB4-913F-B09BE4EB6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025249-3FA0-4084-B42A-58FCA8610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580FC31-1746-45F7-8974-C86685EDE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215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D615794-93F6-45F2-A86C-8978BA77B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398CA5-7137-45B7-B9DB-8654C2E91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FF5734A-5DB6-4505-84AD-AD30963584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C58E03-A8CF-41CF-B467-678AA1E7D503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42A2100-9CF5-4810-8B63-A5163427A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D55DE07-ADE3-4621-AFEF-A9629FF119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42FBD3-3094-41D2-87F9-829C1D9790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10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08B3FC5-0B66-442B-AB2E-64333D13C6BA}"/>
              </a:ext>
            </a:extLst>
          </p:cNvPr>
          <p:cNvSpPr/>
          <p:nvPr/>
        </p:nvSpPr>
        <p:spPr>
          <a:xfrm>
            <a:off x="5642690" y="3161940"/>
            <a:ext cx="757303" cy="331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Attacker</a:t>
            </a:r>
            <a:endParaRPr kumimoji="1" lang="ja-JP" altLang="en-US" sz="1000" dirty="0"/>
          </a:p>
        </p:txBody>
      </p:sp>
      <p:cxnSp>
        <p:nvCxnSpPr>
          <p:cNvPr id="7" name="コネクタ: 曲線 6">
            <a:extLst>
              <a:ext uri="{FF2B5EF4-FFF2-40B4-BE49-F238E27FC236}">
                <a16:creationId xmlns:a16="http://schemas.microsoft.com/office/drawing/2014/main" id="{5CBDE028-BF22-410F-AA82-6A727A11690D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4913522" y="2976085"/>
            <a:ext cx="729168" cy="3513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コネクタ: 曲線 7">
            <a:extLst>
              <a:ext uri="{FF2B5EF4-FFF2-40B4-BE49-F238E27FC236}">
                <a16:creationId xmlns:a16="http://schemas.microsoft.com/office/drawing/2014/main" id="{191AA4AB-F7E5-4D66-B6A1-114769F9C894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4761774" y="3327470"/>
            <a:ext cx="880917" cy="26705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曲線 12">
            <a:extLst>
              <a:ext uri="{FF2B5EF4-FFF2-40B4-BE49-F238E27FC236}">
                <a16:creationId xmlns:a16="http://schemas.microsoft.com/office/drawing/2014/main" id="{2C4A3565-08A7-4166-8FC0-922753FDC1A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399993" y="2976084"/>
            <a:ext cx="809302" cy="3513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曲線 13">
            <a:extLst>
              <a:ext uri="{FF2B5EF4-FFF2-40B4-BE49-F238E27FC236}">
                <a16:creationId xmlns:a16="http://schemas.microsoft.com/office/drawing/2014/main" id="{A438017C-86A6-452B-B2AE-121AC51349B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99993" y="3327471"/>
            <a:ext cx="937358" cy="7426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FBB44A-21BE-4A1F-93BA-449D4FDB35EF}"/>
              </a:ext>
            </a:extLst>
          </p:cNvPr>
          <p:cNvSpPr txBox="1"/>
          <p:nvPr/>
        </p:nvSpPr>
        <p:spPr>
          <a:xfrm>
            <a:off x="7137034" y="2868248"/>
            <a:ext cx="85311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Reconnaissance</a:t>
            </a:r>
            <a:endParaRPr kumimoji="1" lang="ja-JP" altLang="en-US" sz="7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58D829-C1B2-4FFA-9404-FEED3E5107E8}"/>
              </a:ext>
            </a:extLst>
          </p:cNvPr>
          <p:cNvSpPr txBox="1"/>
          <p:nvPr/>
        </p:nvSpPr>
        <p:spPr>
          <a:xfrm>
            <a:off x="7418732" y="3537109"/>
            <a:ext cx="79220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W</a:t>
            </a:r>
            <a:r>
              <a:rPr kumimoji="1" lang="en-US" altLang="ja-JP" sz="700" dirty="0"/>
              <a:t>eaponization</a:t>
            </a:r>
            <a:endParaRPr kumimoji="1" lang="ja-JP" altLang="en-US" sz="7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DA4961E-6428-4833-B65F-9E7BDEDB8164}"/>
              </a:ext>
            </a:extLst>
          </p:cNvPr>
          <p:cNvSpPr txBox="1"/>
          <p:nvPr/>
        </p:nvSpPr>
        <p:spPr>
          <a:xfrm>
            <a:off x="4277893" y="2876057"/>
            <a:ext cx="67197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Exploitation</a:t>
            </a:r>
            <a:endParaRPr kumimoji="1" lang="ja-JP" altLang="en-US" sz="7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877050A-AC1F-4F0A-A5AB-C08D7AC53702}"/>
              </a:ext>
            </a:extLst>
          </p:cNvPr>
          <p:cNvSpPr txBox="1"/>
          <p:nvPr/>
        </p:nvSpPr>
        <p:spPr>
          <a:xfrm>
            <a:off x="4164011" y="3483543"/>
            <a:ext cx="6687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Persistence</a:t>
            </a:r>
            <a:endParaRPr kumimoji="1" lang="ja-JP" altLang="en-US" sz="700" dirty="0"/>
          </a:p>
        </p:txBody>
      </p:sp>
      <p:cxnSp>
        <p:nvCxnSpPr>
          <p:cNvPr id="12" name="コネクタ: 曲線 11">
            <a:extLst>
              <a:ext uri="{FF2B5EF4-FFF2-40B4-BE49-F238E27FC236}">
                <a16:creationId xmlns:a16="http://schemas.microsoft.com/office/drawing/2014/main" id="{6E2A5665-1553-4920-907F-4EAA7F983F06}"/>
              </a:ext>
            </a:extLst>
          </p:cNvPr>
          <p:cNvCxnSpPr>
            <a:cxnSpLocks/>
          </p:cNvCxnSpPr>
          <p:nvPr/>
        </p:nvCxnSpPr>
        <p:spPr>
          <a:xfrm rot="10800000">
            <a:off x="3676211" y="3364171"/>
            <a:ext cx="559452" cy="22314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コネクタ: 曲線 14">
            <a:extLst>
              <a:ext uri="{FF2B5EF4-FFF2-40B4-BE49-F238E27FC236}">
                <a16:creationId xmlns:a16="http://schemas.microsoft.com/office/drawing/2014/main" id="{46A4AB02-96B7-4CE0-B4EC-7D6F5FB1F01F}"/>
              </a:ext>
            </a:extLst>
          </p:cNvPr>
          <p:cNvCxnSpPr>
            <a:cxnSpLocks/>
          </p:cNvCxnSpPr>
          <p:nvPr/>
        </p:nvCxnSpPr>
        <p:spPr>
          <a:xfrm flipV="1">
            <a:off x="7979994" y="2440310"/>
            <a:ext cx="827755" cy="5357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曲線 16">
            <a:extLst>
              <a:ext uri="{FF2B5EF4-FFF2-40B4-BE49-F238E27FC236}">
                <a16:creationId xmlns:a16="http://schemas.microsoft.com/office/drawing/2014/main" id="{D1F49819-3FA7-42EC-BF94-E118A36C2AC3}"/>
              </a:ext>
            </a:extLst>
          </p:cNvPr>
          <p:cNvCxnSpPr>
            <a:cxnSpLocks/>
          </p:cNvCxnSpPr>
          <p:nvPr/>
        </p:nvCxnSpPr>
        <p:spPr>
          <a:xfrm>
            <a:off x="8022186" y="2957977"/>
            <a:ext cx="835875" cy="2515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9D94D54-D185-4B4C-85C9-5A11A84B0488}"/>
              </a:ext>
            </a:extLst>
          </p:cNvPr>
          <p:cNvSpPr txBox="1"/>
          <p:nvPr/>
        </p:nvSpPr>
        <p:spPr>
          <a:xfrm>
            <a:off x="8915826" y="2346422"/>
            <a:ext cx="5501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 err="1"/>
              <a:t>Portscan</a:t>
            </a:r>
            <a:endParaRPr kumimoji="1" lang="ja-JP" altLang="en-US" sz="7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A176BD3-E891-46F7-8BF4-55CD9A1114FB}"/>
              </a:ext>
            </a:extLst>
          </p:cNvPr>
          <p:cNvSpPr txBox="1"/>
          <p:nvPr/>
        </p:nvSpPr>
        <p:spPr>
          <a:xfrm>
            <a:off x="8921198" y="3117761"/>
            <a:ext cx="57099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Host</a:t>
            </a:r>
            <a:r>
              <a:rPr kumimoji="1" lang="en-US" altLang="ja-JP" sz="700" dirty="0" err="1"/>
              <a:t>scan</a:t>
            </a:r>
            <a:endParaRPr kumimoji="1" lang="ja-JP" altLang="en-US" sz="700" dirty="0"/>
          </a:p>
        </p:txBody>
      </p:sp>
      <p:cxnSp>
        <p:nvCxnSpPr>
          <p:cNvPr id="35" name="コネクタ: 曲線 34">
            <a:extLst>
              <a:ext uri="{FF2B5EF4-FFF2-40B4-BE49-F238E27FC236}">
                <a16:creationId xmlns:a16="http://schemas.microsoft.com/office/drawing/2014/main" id="{8B259B4A-BC07-4C30-A612-A2B3276951BE}"/>
              </a:ext>
            </a:extLst>
          </p:cNvPr>
          <p:cNvCxnSpPr>
            <a:cxnSpLocks/>
          </p:cNvCxnSpPr>
          <p:nvPr/>
        </p:nvCxnSpPr>
        <p:spPr>
          <a:xfrm flipV="1">
            <a:off x="9481370" y="2220403"/>
            <a:ext cx="516485" cy="22553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FD874A4-E8A1-450A-B858-19BB720230B0}"/>
              </a:ext>
            </a:extLst>
          </p:cNvPr>
          <p:cNvSpPr txBox="1"/>
          <p:nvPr/>
        </p:nvSpPr>
        <p:spPr>
          <a:xfrm>
            <a:off x="9973031" y="2153017"/>
            <a:ext cx="6222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Nmap  -</a:t>
            </a:r>
            <a:r>
              <a:rPr kumimoji="1" lang="en-US" altLang="ja-JP" sz="700" dirty="0" err="1"/>
              <a:t>sV</a:t>
            </a:r>
            <a:endParaRPr kumimoji="1" lang="ja-JP" altLang="en-US" sz="700" dirty="0"/>
          </a:p>
        </p:txBody>
      </p:sp>
      <p:cxnSp>
        <p:nvCxnSpPr>
          <p:cNvPr id="38" name="コネクタ: 曲線 37">
            <a:extLst>
              <a:ext uri="{FF2B5EF4-FFF2-40B4-BE49-F238E27FC236}">
                <a16:creationId xmlns:a16="http://schemas.microsoft.com/office/drawing/2014/main" id="{91D4D4E4-5B0E-43C0-8A4C-A06C09C85A63}"/>
              </a:ext>
            </a:extLst>
          </p:cNvPr>
          <p:cNvCxnSpPr>
            <a:cxnSpLocks/>
          </p:cNvCxnSpPr>
          <p:nvPr/>
        </p:nvCxnSpPr>
        <p:spPr>
          <a:xfrm>
            <a:off x="9456546" y="2437213"/>
            <a:ext cx="516485" cy="992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45C3702-46B4-43A1-8276-FE32C57302FF}"/>
              </a:ext>
            </a:extLst>
          </p:cNvPr>
          <p:cNvSpPr txBox="1"/>
          <p:nvPr/>
        </p:nvSpPr>
        <p:spPr>
          <a:xfrm>
            <a:off x="9911803" y="2440946"/>
            <a:ext cx="10310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Nc –v -z &lt;target IP&gt;</a:t>
            </a:r>
            <a:endParaRPr kumimoji="1" lang="ja-JP" altLang="en-US" sz="700" dirty="0"/>
          </a:p>
        </p:txBody>
      </p:sp>
      <p:cxnSp>
        <p:nvCxnSpPr>
          <p:cNvPr id="44" name="コネクタ: 曲線 43">
            <a:extLst>
              <a:ext uri="{FF2B5EF4-FFF2-40B4-BE49-F238E27FC236}">
                <a16:creationId xmlns:a16="http://schemas.microsoft.com/office/drawing/2014/main" id="{22646BC0-4F59-48A5-98D9-4E4EAB6EDF3D}"/>
              </a:ext>
            </a:extLst>
          </p:cNvPr>
          <p:cNvCxnSpPr>
            <a:cxnSpLocks/>
          </p:cNvCxnSpPr>
          <p:nvPr/>
        </p:nvCxnSpPr>
        <p:spPr>
          <a:xfrm flipV="1">
            <a:off x="9515755" y="2955318"/>
            <a:ext cx="559921" cy="2568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曲線 44">
            <a:extLst>
              <a:ext uri="{FF2B5EF4-FFF2-40B4-BE49-F238E27FC236}">
                <a16:creationId xmlns:a16="http://schemas.microsoft.com/office/drawing/2014/main" id="{C8FE77A2-2D3E-49D7-A733-DB8DF0B732CE}"/>
              </a:ext>
            </a:extLst>
          </p:cNvPr>
          <p:cNvCxnSpPr>
            <a:cxnSpLocks/>
            <a:stCxn id="30" idx="3"/>
            <a:endCxn id="47" idx="1"/>
          </p:cNvCxnSpPr>
          <p:nvPr/>
        </p:nvCxnSpPr>
        <p:spPr>
          <a:xfrm flipV="1">
            <a:off x="9492188" y="3192351"/>
            <a:ext cx="1357115" cy="2543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7C49963-809B-400C-9E0C-4490203ADD53}"/>
              </a:ext>
            </a:extLst>
          </p:cNvPr>
          <p:cNvSpPr txBox="1"/>
          <p:nvPr/>
        </p:nvSpPr>
        <p:spPr>
          <a:xfrm>
            <a:off x="10031934" y="2863132"/>
            <a:ext cx="8963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Ping &lt;Target </a:t>
            </a:r>
            <a:r>
              <a:rPr kumimoji="1" lang="en-US" altLang="ja-JP" sz="700" dirty="0" err="1"/>
              <a:t>ip</a:t>
            </a:r>
            <a:r>
              <a:rPr kumimoji="1" lang="en-US" altLang="ja-JP" sz="700" dirty="0"/>
              <a:t>&gt;</a:t>
            </a:r>
            <a:endParaRPr kumimoji="1" lang="ja-JP" altLang="en-US" sz="7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4519FF8-DDC7-441C-A93E-DE6466F2F877}"/>
              </a:ext>
            </a:extLst>
          </p:cNvPr>
          <p:cNvSpPr txBox="1"/>
          <p:nvPr/>
        </p:nvSpPr>
        <p:spPr>
          <a:xfrm>
            <a:off x="10849303" y="3092323"/>
            <a:ext cx="10631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nc</a:t>
            </a:r>
            <a:r>
              <a:rPr lang="en-US" altLang="ja-JP" sz="700" dirty="0"/>
              <a:t> –v –w &lt;Target </a:t>
            </a:r>
            <a:r>
              <a:rPr lang="en-US" altLang="ja-JP" sz="700" dirty="0" err="1"/>
              <a:t>ip</a:t>
            </a:r>
            <a:r>
              <a:rPr lang="en-US" altLang="ja-JP" sz="700" dirty="0"/>
              <a:t>&gt;</a:t>
            </a:r>
            <a:endParaRPr kumimoji="1" lang="ja-JP" altLang="en-US" sz="700" dirty="0"/>
          </a:p>
        </p:txBody>
      </p:sp>
      <p:cxnSp>
        <p:nvCxnSpPr>
          <p:cNvPr id="48" name="コネクタ: 曲線 47">
            <a:extLst>
              <a:ext uri="{FF2B5EF4-FFF2-40B4-BE49-F238E27FC236}">
                <a16:creationId xmlns:a16="http://schemas.microsoft.com/office/drawing/2014/main" id="{F646D556-FA6E-4E82-9682-AE5EE3588102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210937" y="3637137"/>
            <a:ext cx="1049808" cy="1724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曲線 48">
            <a:extLst>
              <a:ext uri="{FF2B5EF4-FFF2-40B4-BE49-F238E27FC236}">
                <a16:creationId xmlns:a16="http://schemas.microsoft.com/office/drawing/2014/main" id="{AC71D133-9DB8-4FA5-AC54-3F32B5153CFB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210937" y="3637137"/>
            <a:ext cx="742615" cy="39031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曲線 77">
            <a:extLst>
              <a:ext uri="{FF2B5EF4-FFF2-40B4-BE49-F238E27FC236}">
                <a16:creationId xmlns:a16="http://schemas.microsoft.com/office/drawing/2014/main" id="{16967EA8-B3A3-4DDA-99E6-902585877B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89358" y="2009899"/>
            <a:ext cx="1029890" cy="7755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B1F16FED-DA7D-4DE1-B3ED-E55F27E892C8}"/>
              </a:ext>
            </a:extLst>
          </p:cNvPr>
          <p:cNvSpPr txBox="1"/>
          <p:nvPr/>
        </p:nvSpPr>
        <p:spPr>
          <a:xfrm>
            <a:off x="8644117" y="1706533"/>
            <a:ext cx="5052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website</a:t>
            </a:r>
            <a:endParaRPr kumimoji="1" lang="ja-JP" altLang="en-US" sz="700" dirty="0"/>
          </a:p>
        </p:txBody>
      </p:sp>
      <p:cxnSp>
        <p:nvCxnSpPr>
          <p:cNvPr id="82" name="コネクタ: 曲線 81">
            <a:extLst>
              <a:ext uri="{FF2B5EF4-FFF2-40B4-BE49-F238E27FC236}">
                <a16:creationId xmlns:a16="http://schemas.microsoft.com/office/drawing/2014/main" id="{1ABA435C-7305-42E0-B49D-6CD2A07881A3}"/>
              </a:ext>
            </a:extLst>
          </p:cNvPr>
          <p:cNvCxnSpPr>
            <a:cxnSpLocks/>
          </p:cNvCxnSpPr>
          <p:nvPr/>
        </p:nvCxnSpPr>
        <p:spPr>
          <a:xfrm flipV="1">
            <a:off x="9205253" y="1485760"/>
            <a:ext cx="539994" cy="2292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7F536B9-0220-448A-847C-430F0DB2CCEF}"/>
              </a:ext>
            </a:extLst>
          </p:cNvPr>
          <p:cNvSpPr txBox="1"/>
          <p:nvPr/>
        </p:nvSpPr>
        <p:spPr>
          <a:xfrm>
            <a:off x="9747886" y="1362383"/>
            <a:ext cx="74090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SQL Injection</a:t>
            </a:r>
            <a:endParaRPr kumimoji="1" lang="ja-JP" altLang="en-US" sz="700" dirty="0"/>
          </a:p>
        </p:txBody>
      </p:sp>
      <p:cxnSp>
        <p:nvCxnSpPr>
          <p:cNvPr id="86" name="コネクタ: 曲線 85">
            <a:extLst>
              <a:ext uri="{FF2B5EF4-FFF2-40B4-BE49-F238E27FC236}">
                <a16:creationId xmlns:a16="http://schemas.microsoft.com/office/drawing/2014/main" id="{03D7BBEE-94B5-4168-853C-E75A529BED2A}"/>
              </a:ext>
            </a:extLst>
          </p:cNvPr>
          <p:cNvCxnSpPr>
            <a:cxnSpLocks/>
          </p:cNvCxnSpPr>
          <p:nvPr/>
        </p:nvCxnSpPr>
        <p:spPr>
          <a:xfrm flipV="1">
            <a:off x="9064936" y="1146032"/>
            <a:ext cx="702257" cy="5704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EFCE878-FA99-4A5E-A723-38142B6E51DC}"/>
              </a:ext>
            </a:extLst>
          </p:cNvPr>
          <p:cNvSpPr txBox="1"/>
          <p:nvPr/>
        </p:nvSpPr>
        <p:spPr>
          <a:xfrm>
            <a:off x="9682494" y="1052892"/>
            <a:ext cx="98296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Command Injection</a:t>
            </a:r>
            <a:endParaRPr kumimoji="1" lang="ja-JP" altLang="en-US" sz="700" dirty="0"/>
          </a:p>
        </p:txBody>
      </p:sp>
      <p:cxnSp>
        <p:nvCxnSpPr>
          <p:cNvPr id="91" name="コネクタ: 曲線 90">
            <a:extLst>
              <a:ext uri="{FF2B5EF4-FFF2-40B4-BE49-F238E27FC236}">
                <a16:creationId xmlns:a16="http://schemas.microsoft.com/office/drawing/2014/main" id="{71BFBF4D-7E87-4728-8C50-B33F92B588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32809" y="3429000"/>
            <a:ext cx="1009882" cy="9343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3AC5D570-6667-4FA1-A7E6-52F44953304A}"/>
              </a:ext>
            </a:extLst>
          </p:cNvPr>
          <p:cNvSpPr txBox="1"/>
          <p:nvPr/>
        </p:nvSpPr>
        <p:spPr>
          <a:xfrm>
            <a:off x="3697967" y="4234941"/>
            <a:ext cx="97975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Plivilege</a:t>
            </a:r>
            <a:r>
              <a:rPr lang="en-US" altLang="ja-JP" sz="700" dirty="0"/>
              <a:t> escalation</a:t>
            </a:r>
            <a:endParaRPr kumimoji="1" lang="ja-JP" altLang="en-US" sz="700" dirty="0"/>
          </a:p>
        </p:txBody>
      </p:sp>
      <p:cxnSp>
        <p:nvCxnSpPr>
          <p:cNvPr id="42" name="コネクタ: 曲線 41">
            <a:extLst>
              <a:ext uri="{FF2B5EF4-FFF2-40B4-BE49-F238E27FC236}">
                <a16:creationId xmlns:a16="http://schemas.microsoft.com/office/drawing/2014/main" id="{FC496B53-F4D6-4BF2-931F-DDEB88575AE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99993" y="3327471"/>
            <a:ext cx="1000641" cy="2912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0D33F4A-B1F8-4F1B-BB49-FCB3228A07AD}"/>
              </a:ext>
            </a:extLst>
          </p:cNvPr>
          <p:cNvSpPr txBox="1"/>
          <p:nvPr/>
        </p:nvSpPr>
        <p:spPr>
          <a:xfrm>
            <a:off x="7324544" y="4007173"/>
            <a:ext cx="73129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Initial Access</a:t>
            </a:r>
            <a:endParaRPr kumimoji="1" lang="ja-JP" altLang="en-US" sz="7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89A78890-AC63-4F2B-A881-C205D5CE02A7}"/>
              </a:ext>
            </a:extLst>
          </p:cNvPr>
          <p:cNvSpPr txBox="1"/>
          <p:nvPr/>
        </p:nvSpPr>
        <p:spPr>
          <a:xfrm>
            <a:off x="9045451" y="4070124"/>
            <a:ext cx="3706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PHP</a:t>
            </a:r>
            <a:endParaRPr kumimoji="1" lang="ja-JP" altLang="en-US" sz="7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A0001A1-0C2D-4EBB-9752-DBD1F690186E}"/>
              </a:ext>
            </a:extLst>
          </p:cNvPr>
          <p:cNvSpPr txBox="1"/>
          <p:nvPr/>
        </p:nvSpPr>
        <p:spPr>
          <a:xfrm>
            <a:off x="8890688" y="4250440"/>
            <a:ext cx="32573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 err="1"/>
              <a:t>ssh</a:t>
            </a:r>
            <a:endParaRPr kumimoji="1" lang="ja-JP" altLang="en-US" sz="700" dirty="0"/>
          </a:p>
        </p:txBody>
      </p:sp>
      <p:cxnSp>
        <p:nvCxnSpPr>
          <p:cNvPr id="52" name="コネクタ: 曲線 51">
            <a:extLst>
              <a:ext uri="{FF2B5EF4-FFF2-40B4-BE49-F238E27FC236}">
                <a16:creationId xmlns:a16="http://schemas.microsoft.com/office/drawing/2014/main" id="{D8B0B492-4847-4E78-923E-49CB931ECA84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8055834" y="4107201"/>
            <a:ext cx="881699" cy="23956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コネクタ: 曲線 54">
            <a:extLst>
              <a:ext uri="{FF2B5EF4-FFF2-40B4-BE49-F238E27FC236}">
                <a16:creationId xmlns:a16="http://schemas.microsoft.com/office/drawing/2014/main" id="{B56DBE90-E3FC-4F2D-99ED-3D97373929E0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9492188" y="3217789"/>
            <a:ext cx="1173267" cy="36083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5B077388-35ED-4137-8C63-AAB5CB139F31}"/>
              </a:ext>
            </a:extLst>
          </p:cNvPr>
          <p:cNvSpPr txBox="1"/>
          <p:nvPr/>
        </p:nvSpPr>
        <p:spPr>
          <a:xfrm>
            <a:off x="10564867" y="3483449"/>
            <a:ext cx="109998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Nmap –</a:t>
            </a:r>
            <a:r>
              <a:rPr lang="en-US" altLang="ja-JP" sz="700" dirty="0" err="1"/>
              <a:t>sn</a:t>
            </a:r>
            <a:r>
              <a:rPr lang="en-US" altLang="ja-JP" sz="700" dirty="0"/>
              <a:t> &lt;target </a:t>
            </a:r>
            <a:r>
              <a:rPr lang="en-US" altLang="ja-JP" sz="700" dirty="0" err="1"/>
              <a:t>ip</a:t>
            </a:r>
            <a:r>
              <a:rPr lang="en-US" altLang="ja-JP" sz="700" dirty="0"/>
              <a:t>&gt;</a:t>
            </a:r>
            <a:endParaRPr kumimoji="1" lang="ja-JP" altLang="en-US" sz="700" dirty="0"/>
          </a:p>
        </p:txBody>
      </p:sp>
      <p:cxnSp>
        <p:nvCxnSpPr>
          <p:cNvPr id="57" name="コネクタ: 曲線 56">
            <a:extLst>
              <a:ext uri="{FF2B5EF4-FFF2-40B4-BE49-F238E27FC236}">
                <a16:creationId xmlns:a16="http://schemas.microsoft.com/office/drawing/2014/main" id="{D7306E40-3666-4A4F-890A-25F19CB4119C}"/>
              </a:ext>
            </a:extLst>
          </p:cNvPr>
          <p:cNvCxnSpPr>
            <a:cxnSpLocks/>
          </p:cNvCxnSpPr>
          <p:nvPr/>
        </p:nvCxnSpPr>
        <p:spPr>
          <a:xfrm>
            <a:off x="9162551" y="4356076"/>
            <a:ext cx="360095" cy="197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44FC7F8-D7A6-4E2F-AD98-1E03C9378682}"/>
              </a:ext>
            </a:extLst>
          </p:cNvPr>
          <p:cNvSpPr txBox="1"/>
          <p:nvPr/>
        </p:nvSpPr>
        <p:spPr>
          <a:xfrm>
            <a:off x="9465904" y="4314094"/>
            <a:ext cx="10182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Ssh </a:t>
            </a:r>
            <a:r>
              <a:rPr kumimoji="1" lang="en-US" altLang="ja-JP" sz="700" dirty="0" err="1"/>
              <a:t>user@ipaddress</a:t>
            </a:r>
            <a:endParaRPr kumimoji="1" lang="ja-JP" altLang="en-US" sz="700" dirty="0"/>
          </a:p>
        </p:txBody>
      </p:sp>
      <p:cxnSp>
        <p:nvCxnSpPr>
          <p:cNvPr id="63" name="コネクタ: 曲線 62">
            <a:extLst>
              <a:ext uri="{FF2B5EF4-FFF2-40B4-BE49-F238E27FC236}">
                <a16:creationId xmlns:a16="http://schemas.microsoft.com/office/drawing/2014/main" id="{01B18974-D2FB-4759-842D-6C86F80F7739}"/>
              </a:ext>
            </a:extLst>
          </p:cNvPr>
          <p:cNvCxnSpPr>
            <a:cxnSpLocks/>
            <a:endCxn id="60" idx="3"/>
          </p:cNvCxnSpPr>
          <p:nvPr/>
        </p:nvCxnSpPr>
        <p:spPr>
          <a:xfrm rot="10800000">
            <a:off x="3949122" y="2801191"/>
            <a:ext cx="462233" cy="16869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B677D166-4AB7-4205-ADE1-167F7FCCB2FC}"/>
              </a:ext>
            </a:extLst>
          </p:cNvPr>
          <p:cNvSpPr txBox="1"/>
          <p:nvPr/>
        </p:nvSpPr>
        <p:spPr>
          <a:xfrm>
            <a:off x="140468" y="206462"/>
            <a:ext cx="7556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100" dirty="0"/>
              <a:t>Approach1:Privilege escalation from a Windows IIS server</a:t>
            </a:r>
            <a:endParaRPr kumimoji="1" lang="ja-JP" altLang="en-US" sz="1100" dirty="0"/>
          </a:p>
        </p:txBody>
      </p:sp>
      <p:cxnSp>
        <p:nvCxnSpPr>
          <p:cNvPr id="84" name="コネクタ: 曲線 83">
            <a:extLst>
              <a:ext uri="{FF2B5EF4-FFF2-40B4-BE49-F238E27FC236}">
                <a16:creationId xmlns:a16="http://schemas.microsoft.com/office/drawing/2014/main" id="{AE6C2A3E-9658-408B-8680-3AA5327FD8E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78168" y="3595016"/>
            <a:ext cx="524525" cy="17697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コネクタ: 曲線 88">
            <a:extLst>
              <a:ext uri="{FF2B5EF4-FFF2-40B4-BE49-F238E27FC236}">
                <a16:creationId xmlns:a16="http://schemas.microsoft.com/office/drawing/2014/main" id="{75AB8746-0F32-4D26-AF7C-4B3F53339793}"/>
              </a:ext>
            </a:extLst>
          </p:cNvPr>
          <p:cNvCxnSpPr>
            <a:cxnSpLocks/>
          </p:cNvCxnSpPr>
          <p:nvPr/>
        </p:nvCxnSpPr>
        <p:spPr>
          <a:xfrm rot="10800000">
            <a:off x="3270724" y="4363333"/>
            <a:ext cx="429009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8FCE8FE8-E7EF-4226-88F2-67CF7A373D65}"/>
              </a:ext>
            </a:extLst>
          </p:cNvPr>
          <p:cNvSpPr txBox="1"/>
          <p:nvPr/>
        </p:nvSpPr>
        <p:spPr>
          <a:xfrm>
            <a:off x="3171344" y="2701163"/>
            <a:ext cx="77777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Download tool</a:t>
            </a:r>
            <a:endParaRPr kumimoji="1" lang="ja-JP" altLang="en-US" sz="700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C9AE354-11D6-4765-A29B-784266666E69}"/>
              </a:ext>
            </a:extLst>
          </p:cNvPr>
          <p:cNvSpPr txBox="1"/>
          <p:nvPr/>
        </p:nvSpPr>
        <p:spPr>
          <a:xfrm>
            <a:off x="9767193" y="529316"/>
            <a:ext cx="11208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Credencial</a:t>
            </a:r>
            <a:r>
              <a:rPr lang="en-US" altLang="ja-JP" sz="700" dirty="0"/>
              <a:t> information</a:t>
            </a:r>
            <a:endParaRPr kumimoji="1" lang="ja-JP" altLang="en-US" sz="700" dirty="0"/>
          </a:p>
        </p:txBody>
      </p:sp>
      <p:cxnSp>
        <p:nvCxnSpPr>
          <p:cNvPr id="67" name="コネクタ: 曲線 66">
            <a:extLst>
              <a:ext uri="{FF2B5EF4-FFF2-40B4-BE49-F238E27FC236}">
                <a16:creationId xmlns:a16="http://schemas.microsoft.com/office/drawing/2014/main" id="{E2F156E1-D344-4EA0-BE43-F0CC5B13D511}"/>
              </a:ext>
            </a:extLst>
          </p:cNvPr>
          <p:cNvCxnSpPr>
            <a:cxnSpLocks/>
          </p:cNvCxnSpPr>
          <p:nvPr/>
        </p:nvCxnSpPr>
        <p:spPr>
          <a:xfrm flipV="1">
            <a:off x="8966429" y="629344"/>
            <a:ext cx="857912" cy="110910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コネクタ: 曲線 67">
            <a:extLst>
              <a:ext uri="{FF2B5EF4-FFF2-40B4-BE49-F238E27FC236}">
                <a16:creationId xmlns:a16="http://schemas.microsoft.com/office/drawing/2014/main" id="{660AD7D7-159C-4FC6-80F3-969ED913B200}"/>
              </a:ext>
            </a:extLst>
          </p:cNvPr>
          <p:cNvCxnSpPr>
            <a:cxnSpLocks/>
          </p:cNvCxnSpPr>
          <p:nvPr/>
        </p:nvCxnSpPr>
        <p:spPr>
          <a:xfrm flipV="1">
            <a:off x="8987238" y="539240"/>
            <a:ext cx="384215" cy="120843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1D672061-101C-4DCC-9A3B-F174593C0944}"/>
              </a:ext>
            </a:extLst>
          </p:cNvPr>
          <p:cNvSpPr txBox="1"/>
          <p:nvPr/>
        </p:nvSpPr>
        <p:spPr>
          <a:xfrm>
            <a:off x="9246510" y="325146"/>
            <a:ext cx="6014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Robots.txt</a:t>
            </a:r>
            <a:endParaRPr kumimoji="1" lang="ja-JP" altLang="en-US" sz="700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4194DA8A-EFBC-4C55-B766-67FFFFD92033}"/>
              </a:ext>
            </a:extLst>
          </p:cNvPr>
          <p:cNvSpPr txBox="1"/>
          <p:nvPr/>
        </p:nvSpPr>
        <p:spPr>
          <a:xfrm>
            <a:off x="2995534" y="3696111"/>
            <a:ext cx="75052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Use </a:t>
            </a:r>
            <a:r>
              <a:rPr lang="en-US" altLang="ja-JP" sz="700" dirty="0" err="1"/>
              <a:t>powercat</a:t>
            </a:r>
            <a:endParaRPr kumimoji="1" lang="ja-JP" altLang="en-US" sz="700" dirty="0"/>
          </a:p>
        </p:txBody>
      </p:sp>
      <p:cxnSp>
        <p:nvCxnSpPr>
          <p:cNvPr id="72" name="コネクタ: 曲線 71">
            <a:extLst>
              <a:ext uri="{FF2B5EF4-FFF2-40B4-BE49-F238E27FC236}">
                <a16:creationId xmlns:a16="http://schemas.microsoft.com/office/drawing/2014/main" id="{21B1E6C9-9A36-4127-857A-D791D71C98F4}"/>
              </a:ext>
            </a:extLst>
          </p:cNvPr>
          <p:cNvCxnSpPr>
            <a:cxnSpLocks/>
            <a:stCxn id="71" idx="1"/>
          </p:cNvCxnSpPr>
          <p:nvPr/>
        </p:nvCxnSpPr>
        <p:spPr>
          <a:xfrm rot="10800000" flipV="1">
            <a:off x="2652264" y="3796138"/>
            <a:ext cx="343270" cy="8824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7687F8-F870-F582-18C1-F56C5100BC78}"/>
              </a:ext>
            </a:extLst>
          </p:cNvPr>
          <p:cNvSpPr txBox="1"/>
          <p:nvPr/>
        </p:nvSpPr>
        <p:spPr>
          <a:xfrm>
            <a:off x="2563559" y="4533882"/>
            <a:ext cx="8547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Use juicy potato</a:t>
            </a:r>
            <a:endParaRPr kumimoji="1" lang="ja-JP" altLang="en-US" sz="700" dirty="0"/>
          </a:p>
        </p:txBody>
      </p:sp>
      <p:cxnSp>
        <p:nvCxnSpPr>
          <p:cNvPr id="6" name="コネクタ: 曲線 5">
            <a:extLst>
              <a:ext uri="{FF2B5EF4-FFF2-40B4-BE49-F238E27FC236}">
                <a16:creationId xmlns:a16="http://schemas.microsoft.com/office/drawing/2014/main" id="{ED7D2108-FCF9-DC9C-3473-5CADBC73FCE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28559" y="4375777"/>
            <a:ext cx="401580" cy="2456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8D0684-2687-8EF7-9FF0-9BA7B4EC4059}"/>
              </a:ext>
            </a:extLst>
          </p:cNvPr>
          <p:cNvSpPr txBox="1"/>
          <p:nvPr/>
        </p:nvSpPr>
        <p:spPr>
          <a:xfrm>
            <a:off x="9260745" y="3737164"/>
            <a:ext cx="7344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Prepare tools</a:t>
            </a:r>
            <a:endParaRPr kumimoji="1" lang="ja-JP" altLang="en-US" sz="700" dirty="0"/>
          </a:p>
        </p:txBody>
      </p:sp>
      <p:cxnSp>
        <p:nvCxnSpPr>
          <p:cNvPr id="16" name="コネクタ: 曲線 15">
            <a:extLst>
              <a:ext uri="{FF2B5EF4-FFF2-40B4-BE49-F238E27FC236}">
                <a16:creationId xmlns:a16="http://schemas.microsoft.com/office/drawing/2014/main" id="{DC8A0C7B-F476-82AE-47FA-8590E82D6DF1}"/>
              </a:ext>
            </a:extLst>
          </p:cNvPr>
          <p:cNvCxnSpPr>
            <a:cxnSpLocks/>
          </p:cNvCxnSpPr>
          <p:nvPr/>
        </p:nvCxnSpPr>
        <p:spPr>
          <a:xfrm>
            <a:off x="9934711" y="3826000"/>
            <a:ext cx="879680" cy="4880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コネクタ: 曲線 27">
            <a:extLst>
              <a:ext uri="{FF2B5EF4-FFF2-40B4-BE49-F238E27FC236}">
                <a16:creationId xmlns:a16="http://schemas.microsoft.com/office/drawing/2014/main" id="{62E06EBE-2245-2C13-DCF7-A128B014811F}"/>
              </a:ext>
            </a:extLst>
          </p:cNvPr>
          <p:cNvCxnSpPr>
            <a:cxnSpLocks/>
          </p:cNvCxnSpPr>
          <p:nvPr/>
        </p:nvCxnSpPr>
        <p:spPr>
          <a:xfrm>
            <a:off x="9941330" y="3831702"/>
            <a:ext cx="873061" cy="2329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90AEF2D-9DEA-71D8-EAB1-354BFA7BD8FD}"/>
              </a:ext>
            </a:extLst>
          </p:cNvPr>
          <p:cNvSpPr txBox="1"/>
          <p:nvPr/>
        </p:nvSpPr>
        <p:spPr>
          <a:xfrm>
            <a:off x="10773225" y="3974304"/>
            <a:ext cx="14927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Nc.exe(windows for </a:t>
            </a:r>
            <a:r>
              <a:rPr lang="en-US" altLang="ja-JP" sz="800" dirty="0" err="1"/>
              <a:t>netcat</a:t>
            </a:r>
            <a:r>
              <a:rPr lang="en-US" altLang="ja-JP" sz="800" dirty="0"/>
              <a:t>)</a:t>
            </a:r>
            <a:endParaRPr kumimoji="1" lang="ja-JP" altLang="en-US" sz="8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90D1107-89D5-564D-3437-9F2AB9C08DC3}"/>
              </a:ext>
            </a:extLst>
          </p:cNvPr>
          <p:cNvSpPr txBox="1"/>
          <p:nvPr/>
        </p:nvSpPr>
        <p:spPr>
          <a:xfrm>
            <a:off x="10761564" y="4232322"/>
            <a:ext cx="9813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jp.exe(juicy potato)</a:t>
            </a:r>
            <a:endParaRPr kumimoji="1" lang="ja-JP" altLang="en-US" sz="700" dirty="0"/>
          </a:p>
        </p:txBody>
      </p:sp>
      <p:cxnSp>
        <p:nvCxnSpPr>
          <p:cNvPr id="96" name="コネクタ: 曲線 95">
            <a:extLst>
              <a:ext uri="{FF2B5EF4-FFF2-40B4-BE49-F238E27FC236}">
                <a16:creationId xmlns:a16="http://schemas.microsoft.com/office/drawing/2014/main" id="{F90EBBD6-199E-3289-2610-4E8078BE0122}"/>
              </a:ext>
            </a:extLst>
          </p:cNvPr>
          <p:cNvCxnSpPr>
            <a:cxnSpLocks/>
          </p:cNvCxnSpPr>
          <p:nvPr/>
        </p:nvCxnSpPr>
        <p:spPr>
          <a:xfrm flipV="1">
            <a:off x="9034908" y="1733661"/>
            <a:ext cx="732285" cy="429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0CBD868F-E3E6-4A13-2C6E-120A0B961039}"/>
              </a:ext>
            </a:extLst>
          </p:cNvPr>
          <p:cNvSpPr txBox="1"/>
          <p:nvPr/>
        </p:nvSpPr>
        <p:spPr>
          <a:xfrm>
            <a:off x="9729833" y="1650599"/>
            <a:ext cx="7809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Directory scan</a:t>
            </a:r>
            <a:endParaRPr kumimoji="1" lang="ja-JP" altLang="en-US" sz="700" dirty="0"/>
          </a:p>
        </p:txBody>
      </p:sp>
      <p:cxnSp>
        <p:nvCxnSpPr>
          <p:cNvPr id="100" name="コネクタ: 曲線 99">
            <a:extLst>
              <a:ext uri="{FF2B5EF4-FFF2-40B4-BE49-F238E27FC236}">
                <a16:creationId xmlns:a16="http://schemas.microsoft.com/office/drawing/2014/main" id="{A8370614-884C-4373-4B6E-2FA4456A52B5}"/>
              </a:ext>
            </a:extLst>
          </p:cNvPr>
          <p:cNvCxnSpPr>
            <a:cxnSpLocks/>
          </p:cNvCxnSpPr>
          <p:nvPr/>
        </p:nvCxnSpPr>
        <p:spPr>
          <a:xfrm>
            <a:off x="10472684" y="1739584"/>
            <a:ext cx="306244" cy="147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B6C3F971-5AE0-BBA2-E476-7CD6878EF1DC}"/>
              </a:ext>
            </a:extLst>
          </p:cNvPr>
          <p:cNvSpPr txBox="1"/>
          <p:nvPr/>
        </p:nvSpPr>
        <p:spPr>
          <a:xfrm>
            <a:off x="10724365" y="1662639"/>
            <a:ext cx="99899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 err="1"/>
              <a:t>Dirb</a:t>
            </a:r>
            <a:r>
              <a:rPr kumimoji="1" lang="en-US" altLang="ja-JP" sz="700" dirty="0"/>
              <a:t> &lt;URL&gt; &lt;</a:t>
            </a:r>
            <a:r>
              <a:rPr kumimoji="1" lang="en-US" altLang="ja-JP" sz="700" dirty="0" err="1"/>
              <a:t>dic</a:t>
            </a:r>
            <a:r>
              <a:rPr kumimoji="1" lang="en-US" altLang="ja-JP" sz="700" dirty="0"/>
              <a:t>&gt; </a:t>
            </a:r>
            <a:endParaRPr kumimoji="1" lang="ja-JP" altLang="en-US" sz="700" dirty="0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DBBA53DE-0850-7FFD-8C7E-EAFDDA12C792}"/>
              </a:ext>
            </a:extLst>
          </p:cNvPr>
          <p:cNvSpPr txBox="1"/>
          <p:nvPr/>
        </p:nvSpPr>
        <p:spPr>
          <a:xfrm>
            <a:off x="1437128" y="3796138"/>
            <a:ext cx="128432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Launch </a:t>
            </a:r>
            <a:r>
              <a:rPr kumimoji="1" lang="en-US" altLang="ja-JP" sz="700" dirty="0" err="1"/>
              <a:t>httpserver</a:t>
            </a:r>
            <a:r>
              <a:rPr lang="en-US" altLang="ja-JP" sz="700" dirty="0"/>
              <a:t>(python)</a:t>
            </a:r>
            <a:endParaRPr kumimoji="1" lang="ja-JP" altLang="en-US" sz="700" dirty="0"/>
          </a:p>
        </p:txBody>
      </p:sp>
      <p:cxnSp>
        <p:nvCxnSpPr>
          <p:cNvPr id="113" name="コネクタ: 曲線 112">
            <a:extLst>
              <a:ext uri="{FF2B5EF4-FFF2-40B4-BE49-F238E27FC236}">
                <a16:creationId xmlns:a16="http://schemas.microsoft.com/office/drawing/2014/main" id="{BB23E178-CB20-E06F-8D3D-D5AFD676CAD3}"/>
              </a:ext>
            </a:extLst>
          </p:cNvPr>
          <p:cNvCxnSpPr>
            <a:cxnSpLocks/>
          </p:cNvCxnSpPr>
          <p:nvPr/>
        </p:nvCxnSpPr>
        <p:spPr>
          <a:xfrm rot="10800000">
            <a:off x="2633221" y="3661047"/>
            <a:ext cx="353068" cy="1246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33A2AEE8-DA46-8CDE-F323-66CF97712B48}"/>
              </a:ext>
            </a:extLst>
          </p:cNvPr>
          <p:cNvSpPr txBox="1"/>
          <p:nvPr/>
        </p:nvSpPr>
        <p:spPr>
          <a:xfrm>
            <a:off x="1979219" y="356101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Listen to </a:t>
            </a:r>
            <a:r>
              <a:rPr kumimoji="1" lang="en-US" altLang="ja-JP" sz="700" dirty="0" err="1"/>
              <a:t>nc</a:t>
            </a:r>
            <a:endParaRPr kumimoji="1" lang="ja-JP" altLang="en-US" sz="700" dirty="0"/>
          </a:p>
        </p:txBody>
      </p:sp>
      <p:cxnSp>
        <p:nvCxnSpPr>
          <p:cNvPr id="116" name="コネクタ: 曲線 115">
            <a:extLst>
              <a:ext uri="{FF2B5EF4-FFF2-40B4-BE49-F238E27FC236}">
                <a16:creationId xmlns:a16="http://schemas.microsoft.com/office/drawing/2014/main" id="{FEAB322B-44D4-4B74-FD06-CC7D3247E5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99541" y="3637136"/>
            <a:ext cx="896054" cy="16949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曲線 117">
            <a:extLst>
              <a:ext uri="{FF2B5EF4-FFF2-40B4-BE49-F238E27FC236}">
                <a16:creationId xmlns:a16="http://schemas.microsoft.com/office/drawing/2014/main" id="{5838C297-618F-5A26-42F3-7498F40125BF}"/>
              </a:ext>
            </a:extLst>
          </p:cNvPr>
          <p:cNvCxnSpPr>
            <a:cxnSpLocks/>
          </p:cNvCxnSpPr>
          <p:nvPr/>
        </p:nvCxnSpPr>
        <p:spPr>
          <a:xfrm rot="10800000">
            <a:off x="1119158" y="3806626"/>
            <a:ext cx="361862" cy="895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9C33062A-6A56-7CE6-7CBD-E5D2C18573C9}"/>
              </a:ext>
            </a:extLst>
          </p:cNvPr>
          <p:cNvSpPr txBox="1"/>
          <p:nvPr/>
        </p:nvSpPr>
        <p:spPr>
          <a:xfrm>
            <a:off x="69350" y="3685624"/>
            <a:ext cx="1124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Download and execute</a:t>
            </a:r>
            <a:br>
              <a:rPr lang="en-US" altLang="ja-JP" sz="700" dirty="0"/>
            </a:br>
            <a:r>
              <a:rPr lang="en-US" altLang="ja-JP" sz="700" dirty="0"/>
              <a:t> reverseshell.ps1 file</a:t>
            </a:r>
            <a:br>
              <a:rPr lang="en-US" altLang="ja-JP" sz="700" dirty="0"/>
            </a:br>
            <a:r>
              <a:rPr lang="en-US" altLang="ja-JP" sz="700" dirty="0"/>
              <a:t>(Power shell)</a:t>
            </a:r>
            <a:endParaRPr kumimoji="1" lang="ja-JP" altLang="en-US" sz="700" dirty="0"/>
          </a:p>
        </p:txBody>
      </p:sp>
      <p:cxnSp>
        <p:nvCxnSpPr>
          <p:cNvPr id="125" name="コネクタ: 曲線 124">
            <a:extLst>
              <a:ext uri="{FF2B5EF4-FFF2-40B4-BE49-F238E27FC236}">
                <a16:creationId xmlns:a16="http://schemas.microsoft.com/office/drawing/2014/main" id="{2F2AD0DD-AFB5-1E1F-7984-22EB32D95A7D}"/>
              </a:ext>
            </a:extLst>
          </p:cNvPr>
          <p:cNvCxnSpPr>
            <a:cxnSpLocks/>
          </p:cNvCxnSpPr>
          <p:nvPr/>
        </p:nvCxnSpPr>
        <p:spPr>
          <a:xfrm rot="10800000">
            <a:off x="3003597" y="2632493"/>
            <a:ext cx="249702" cy="13839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40823E69-8FA5-DDB8-15F6-C876589EE627}"/>
              </a:ext>
            </a:extLst>
          </p:cNvPr>
          <p:cNvSpPr txBox="1"/>
          <p:nvPr/>
        </p:nvSpPr>
        <p:spPr>
          <a:xfrm>
            <a:off x="1873552" y="2522093"/>
            <a:ext cx="1217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Nc64.exe(curl command)</a:t>
            </a:r>
            <a:endParaRPr kumimoji="1" lang="ja-JP" altLang="en-US" sz="700" dirty="0"/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DDC0E422-75E4-FFFA-5618-8F1E1AE010AA}"/>
              </a:ext>
            </a:extLst>
          </p:cNvPr>
          <p:cNvSpPr txBox="1"/>
          <p:nvPr/>
        </p:nvSpPr>
        <p:spPr>
          <a:xfrm>
            <a:off x="751796" y="246424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Execute nc64.exe</a:t>
            </a:r>
            <a:br>
              <a:rPr kumimoji="1" lang="en-US" altLang="ja-JP" sz="700" dirty="0"/>
            </a:br>
            <a:r>
              <a:rPr kumimoji="1" lang="en-US" altLang="ja-JP" sz="700" dirty="0"/>
              <a:t>and listen port</a:t>
            </a:r>
            <a:endParaRPr kumimoji="1" lang="ja-JP" altLang="en-US" sz="700" dirty="0"/>
          </a:p>
        </p:txBody>
      </p:sp>
      <p:cxnSp>
        <p:nvCxnSpPr>
          <p:cNvPr id="130" name="コネクタ: 曲線 129">
            <a:extLst>
              <a:ext uri="{FF2B5EF4-FFF2-40B4-BE49-F238E27FC236}">
                <a16:creationId xmlns:a16="http://schemas.microsoft.com/office/drawing/2014/main" id="{FF68861D-7B77-A804-6776-E770777AF5BE}"/>
              </a:ext>
            </a:extLst>
          </p:cNvPr>
          <p:cNvCxnSpPr>
            <a:cxnSpLocks/>
          </p:cNvCxnSpPr>
          <p:nvPr/>
        </p:nvCxnSpPr>
        <p:spPr>
          <a:xfrm rot="10800000">
            <a:off x="1624169" y="2564272"/>
            <a:ext cx="275597" cy="578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7FAB696F-6A1E-9E0E-7348-4F1B54925A4B}"/>
              </a:ext>
            </a:extLst>
          </p:cNvPr>
          <p:cNvSpPr txBox="1"/>
          <p:nvPr/>
        </p:nvSpPr>
        <p:spPr>
          <a:xfrm>
            <a:off x="2825237" y="3242788"/>
            <a:ext cx="9220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Nc </a:t>
            </a:r>
            <a:r>
              <a:rPr lang="en-US" altLang="ja-JP" sz="700" dirty="0" err="1"/>
              <a:t>ipAddress</a:t>
            </a:r>
            <a:r>
              <a:rPr lang="en-US" altLang="ja-JP" sz="700" dirty="0"/>
              <a:t> port</a:t>
            </a:r>
            <a:endParaRPr kumimoji="1" lang="ja-JP" altLang="en-US" sz="700" dirty="0"/>
          </a:p>
        </p:txBody>
      </p:sp>
      <p:cxnSp>
        <p:nvCxnSpPr>
          <p:cNvPr id="134" name="コネクタ: 曲線 133">
            <a:extLst>
              <a:ext uri="{FF2B5EF4-FFF2-40B4-BE49-F238E27FC236}">
                <a16:creationId xmlns:a16="http://schemas.microsoft.com/office/drawing/2014/main" id="{076EC3A8-F36F-DB65-D538-A842E6B52BC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155107" y="1439549"/>
            <a:ext cx="274890" cy="13738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41BF559D-48A7-73F3-C5FB-C9BF8FC11B68}"/>
              </a:ext>
            </a:extLst>
          </p:cNvPr>
          <p:cNvSpPr txBox="1"/>
          <p:nvPr/>
        </p:nvSpPr>
        <p:spPr>
          <a:xfrm>
            <a:off x="11071180" y="1148744"/>
            <a:ext cx="11208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Credencial</a:t>
            </a:r>
            <a:r>
              <a:rPr lang="en-US" altLang="ja-JP" sz="700" dirty="0"/>
              <a:t> information</a:t>
            </a:r>
            <a:endParaRPr kumimoji="1" lang="ja-JP" altLang="en-US" sz="700" dirty="0"/>
          </a:p>
        </p:txBody>
      </p:sp>
    </p:spTree>
    <p:extLst>
      <p:ext uri="{BB962C8B-B14F-4D97-AF65-F5344CB8AC3E}">
        <p14:creationId xmlns:p14="http://schemas.microsoft.com/office/powerpoint/2010/main" val="2740365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08B3FC5-0B66-442B-AB2E-64333D13C6BA}"/>
              </a:ext>
            </a:extLst>
          </p:cNvPr>
          <p:cNvSpPr/>
          <p:nvPr/>
        </p:nvSpPr>
        <p:spPr>
          <a:xfrm>
            <a:off x="5642690" y="3161940"/>
            <a:ext cx="757303" cy="33106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000" dirty="0"/>
              <a:t>Attacker</a:t>
            </a:r>
            <a:endParaRPr kumimoji="1" lang="ja-JP" altLang="en-US" sz="1000" dirty="0"/>
          </a:p>
        </p:txBody>
      </p:sp>
      <p:cxnSp>
        <p:nvCxnSpPr>
          <p:cNvPr id="7" name="コネクタ: 曲線 6">
            <a:extLst>
              <a:ext uri="{FF2B5EF4-FFF2-40B4-BE49-F238E27FC236}">
                <a16:creationId xmlns:a16="http://schemas.microsoft.com/office/drawing/2014/main" id="{5CBDE028-BF22-410F-AA82-6A727A11690D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4913522" y="2976085"/>
            <a:ext cx="729168" cy="3513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コネクタ: 曲線 7">
            <a:extLst>
              <a:ext uri="{FF2B5EF4-FFF2-40B4-BE49-F238E27FC236}">
                <a16:creationId xmlns:a16="http://schemas.microsoft.com/office/drawing/2014/main" id="{191AA4AB-F7E5-4D66-B6A1-114769F9C894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4761774" y="3327470"/>
            <a:ext cx="880917" cy="26705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曲線 12">
            <a:extLst>
              <a:ext uri="{FF2B5EF4-FFF2-40B4-BE49-F238E27FC236}">
                <a16:creationId xmlns:a16="http://schemas.microsoft.com/office/drawing/2014/main" id="{2C4A3565-08A7-4166-8FC0-922753FDC1A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399993" y="2976084"/>
            <a:ext cx="809302" cy="35138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曲線 13">
            <a:extLst>
              <a:ext uri="{FF2B5EF4-FFF2-40B4-BE49-F238E27FC236}">
                <a16:creationId xmlns:a16="http://schemas.microsoft.com/office/drawing/2014/main" id="{A438017C-86A6-452B-B2AE-121AC51349B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99993" y="3327471"/>
            <a:ext cx="937358" cy="7426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FBB44A-21BE-4A1F-93BA-449D4FDB35EF}"/>
              </a:ext>
            </a:extLst>
          </p:cNvPr>
          <p:cNvSpPr txBox="1"/>
          <p:nvPr/>
        </p:nvSpPr>
        <p:spPr>
          <a:xfrm>
            <a:off x="7137034" y="2868248"/>
            <a:ext cx="85311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Reconnaissance</a:t>
            </a:r>
            <a:endParaRPr kumimoji="1" lang="ja-JP" altLang="en-US" sz="70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58D829-C1B2-4FFA-9404-FEED3E5107E8}"/>
              </a:ext>
            </a:extLst>
          </p:cNvPr>
          <p:cNvSpPr txBox="1"/>
          <p:nvPr/>
        </p:nvSpPr>
        <p:spPr>
          <a:xfrm>
            <a:off x="7418732" y="3537109"/>
            <a:ext cx="79220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W</a:t>
            </a:r>
            <a:r>
              <a:rPr kumimoji="1" lang="en-US" altLang="ja-JP" sz="700" dirty="0"/>
              <a:t>eaponization</a:t>
            </a:r>
            <a:endParaRPr kumimoji="1" lang="ja-JP" altLang="en-US" sz="7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DA4961E-6428-4833-B65F-9E7BDEDB8164}"/>
              </a:ext>
            </a:extLst>
          </p:cNvPr>
          <p:cNvSpPr txBox="1"/>
          <p:nvPr/>
        </p:nvSpPr>
        <p:spPr>
          <a:xfrm>
            <a:off x="4277893" y="2876057"/>
            <a:ext cx="67197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Exploitation</a:t>
            </a:r>
            <a:endParaRPr kumimoji="1" lang="ja-JP" altLang="en-US" sz="70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877050A-AC1F-4F0A-A5AB-C08D7AC53702}"/>
              </a:ext>
            </a:extLst>
          </p:cNvPr>
          <p:cNvSpPr txBox="1"/>
          <p:nvPr/>
        </p:nvSpPr>
        <p:spPr>
          <a:xfrm>
            <a:off x="4164011" y="3483543"/>
            <a:ext cx="66877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Persistence</a:t>
            </a:r>
            <a:endParaRPr kumimoji="1" lang="ja-JP" altLang="en-US" sz="700" dirty="0"/>
          </a:p>
        </p:txBody>
      </p:sp>
      <p:cxnSp>
        <p:nvCxnSpPr>
          <p:cNvPr id="12" name="コネクタ: 曲線 11">
            <a:extLst>
              <a:ext uri="{FF2B5EF4-FFF2-40B4-BE49-F238E27FC236}">
                <a16:creationId xmlns:a16="http://schemas.microsoft.com/office/drawing/2014/main" id="{6E2A5665-1553-4920-907F-4EAA7F983F06}"/>
              </a:ext>
            </a:extLst>
          </p:cNvPr>
          <p:cNvCxnSpPr>
            <a:cxnSpLocks/>
          </p:cNvCxnSpPr>
          <p:nvPr/>
        </p:nvCxnSpPr>
        <p:spPr>
          <a:xfrm rot="10800000">
            <a:off x="3676211" y="3364171"/>
            <a:ext cx="559452" cy="22314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コネクタ: 曲線 14">
            <a:extLst>
              <a:ext uri="{FF2B5EF4-FFF2-40B4-BE49-F238E27FC236}">
                <a16:creationId xmlns:a16="http://schemas.microsoft.com/office/drawing/2014/main" id="{46A4AB02-96B7-4CE0-B4EC-7D6F5FB1F01F}"/>
              </a:ext>
            </a:extLst>
          </p:cNvPr>
          <p:cNvCxnSpPr>
            <a:cxnSpLocks/>
          </p:cNvCxnSpPr>
          <p:nvPr/>
        </p:nvCxnSpPr>
        <p:spPr>
          <a:xfrm flipV="1">
            <a:off x="7979994" y="2440310"/>
            <a:ext cx="827755" cy="53577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曲線 16">
            <a:extLst>
              <a:ext uri="{FF2B5EF4-FFF2-40B4-BE49-F238E27FC236}">
                <a16:creationId xmlns:a16="http://schemas.microsoft.com/office/drawing/2014/main" id="{D1F49819-3FA7-42EC-BF94-E118A36C2AC3}"/>
              </a:ext>
            </a:extLst>
          </p:cNvPr>
          <p:cNvCxnSpPr>
            <a:cxnSpLocks/>
          </p:cNvCxnSpPr>
          <p:nvPr/>
        </p:nvCxnSpPr>
        <p:spPr>
          <a:xfrm>
            <a:off x="8022186" y="2957977"/>
            <a:ext cx="835875" cy="2515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9D94D54-D185-4B4C-85C9-5A11A84B0488}"/>
              </a:ext>
            </a:extLst>
          </p:cNvPr>
          <p:cNvSpPr txBox="1"/>
          <p:nvPr/>
        </p:nvSpPr>
        <p:spPr>
          <a:xfrm>
            <a:off x="8915826" y="2346422"/>
            <a:ext cx="5501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 err="1"/>
              <a:t>Portscan</a:t>
            </a:r>
            <a:endParaRPr kumimoji="1" lang="ja-JP" altLang="en-US" sz="7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A176BD3-E891-46F7-8BF4-55CD9A1114FB}"/>
              </a:ext>
            </a:extLst>
          </p:cNvPr>
          <p:cNvSpPr txBox="1"/>
          <p:nvPr/>
        </p:nvSpPr>
        <p:spPr>
          <a:xfrm>
            <a:off x="8921198" y="3117761"/>
            <a:ext cx="57099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Host</a:t>
            </a:r>
            <a:r>
              <a:rPr kumimoji="1" lang="en-US" altLang="ja-JP" sz="700" dirty="0" err="1"/>
              <a:t>scan</a:t>
            </a:r>
            <a:endParaRPr kumimoji="1" lang="ja-JP" altLang="en-US" sz="700" dirty="0"/>
          </a:p>
        </p:txBody>
      </p:sp>
      <p:cxnSp>
        <p:nvCxnSpPr>
          <p:cNvPr id="35" name="コネクタ: 曲線 34">
            <a:extLst>
              <a:ext uri="{FF2B5EF4-FFF2-40B4-BE49-F238E27FC236}">
                <a16:creationId xmlns:a16="http://schemas.microsoft.com/office/drawing/2014/main" id="{8B259B4A-BC07-4C30-A612-A2B3276951BE}"/>
              </a:ext>
            </a:extLst>
          </p:cNvPr>
          <p:cNvCxnSpPr>
            <a:cxnSpLocks/>
          </p:cNvCxnSpPr>
          <p:nvPr/>
        </p:nvCxnSpPr>
        <p:spPr>
          <a:xfrm flipV="1">
            <a:off x="9481370" y="2220403"/>
            <a:ext cx="516485" cy="22553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FD874A4-E8A1-450A-B858-19BB720230B0}"/>
              </a:ext>
            </a:extLst>
          </p:cNvPr>
          <p:cNvSpPr txBox="1"/>
          <p:nvPr/>
        </p:nvSpPr>
        <p:spPr>
          <a:xfrm>
            <a:off x="9973031" y="2153017"/>
            <a:ext cx="6222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Nmap  -</a:t>
            </a:r>
            <a:r>
              <a:rPr kumimoji="1" lang="en-US" altLang="ja-JP" sz="700" dirty="0" err="1"/>
              <a:t>sV</a:t>
            </a:r>
            <a:endParaRPr kumimoji="1" lang="ja-JP" altLang="en-US" sz="700" dirty="0"/>
          </a:p>
        </p:txBody>
      </p:sp>
      <p:cxnSp>
        <p:nvCxnSpPr>
          <p:cNvPr id="38" name="コネクタ: 曲線 37">
            <a:extLst>
              <a:ext uri="{FF2B5EF4-FFF2-40B4-BE49-F238E27FC236}">
                <a16:creationId xmlns:a16="http://schemas.microsoft.com/office/drawing/2014/main" id="{91D4D4E4-5B0E-43C0-8A4C-A06C09C85A63}"/>
              </a:ext>
            </a:extLst>
          </p:cNvPr>
          <p:cNvCxnSpPr>
            <a:cxnSpLocks/>
          </p:cNvCxnSpPr>
          <p:nvPr/>
        </p:nvCxnSpPr>
        <p:spPr>
          <a:xfrm>
            <a:off x="9456546" y="2437213"/>
            <a:ext cx="516485" cy="992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45C3702-46B4-43A1-8276-FE32C57302FF}"/>
              </a:ext>
            </a:extLst>
          </p:cNvPr>
          <p:cNvSpPr txBox="1"/>
          <p:nvPr/>
        </p:nvSpPr>
        <p:spPr>
          <a:xfrm>
            <a:off x="9911803" y="2440946"/>
            <a:ext cx="103105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Nc –v -z &lt;target IP&gt;</a:t>
            </a:r>
            <a:endParaRPr kumimoji="1" lang="ja-JP" altLang="en-US" sz="700" dirty="0"/>
          </a:p>
        </p:txBody>
      </p:sp>
      <p:cxnSp>
        <p:nvCxnSpPr>
          <p:cNvPr id="44" name="コネクタ: 曲線 43">
            <a:extLst>
              <a:ext uri="{FF2B5EF4-FFF2-40B4-BE49-F238E27FC236}">
                <a16:creationId xmlns:a16="http://schemas.microsoft.com/office/drawing/2014/main" id="{22646BC0-4F59-48A5-98D9-4E4EAB6EDF3D}"/>
              </a:ext>
            </a:extLst>
          </p:cNvPr>
          <p:cNvCxnSpPr>
            <a:cxnSpLocks/>
          </p:cNvCxnSpPr>
          <p:nvPr/>
        </p:nvCxnSpPr>
        <p:spPr>
          <a:xfrm flipV="1">
            <a:off x="9515755" y="2955318"/>
            <a:ext cx="559921" cy="2568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曲線 44">
            <a:extLst>
              <a:ext uri="{FF2B5EF4-FFF2-40B4-BE49-F238E27FC236}">
                <a16:creationId xmlns:a16="http://schemas.microsoft.com/office/drawing/2014/main" id="{C8FE77A2-2D3E-49D7-A733-DB8DF0B732CE}"/>
              </a:ext>
            </a:extLst>
          </p:cNvPr>
          <p:cNvCxnSpPr>
            <a:cxnSpLocks/>
            <a:stCxn id="30" idx="3"/>
            <a:endCxn id="47" idx="1"/>
          </p:cNvCxnSpPr>
          <p:nvPr/>
        </p:nvCxnSpPr>
        <p:spPr>
          <a:xfrm flipV="1">
            <a:off x="9492188" y="3192351"/>
            <a:ext cx="1357115" cy="2543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7C49963-809B-400C-9E0C-4490203ADD53}"/>
              </a:ext>
            </a:extLst>
          </p:cNvPr>
          <p:cNvSpPr txBox="1"/>
          <p:nvPr/>
        </p:nvSpPr>
        <p:spPr>
          <a:xfrm>
            <a:off x="10031934" y="2863132"/>
            <a:ext cx="89639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Ping &lt;Target </a:t>
            </a:r>
            <a:r>
              <a:rPr kumimoji="1" lang="en-US" altLang="ja-JP" sz="700" dirty="0" err="1"/>
              <a:t>ip</a:t>
            </a:r>
            <a:r>
              <a:rPr kumimoji="1" lang="en-US" altLang="ja-JP" sz="700" dirty="0"/>
              <a:t>&gt;</a:t>
            </a:r>
            <a:endParaRPr kumimoji="1" lang="ja-JP" altLang="en-US" sz="70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4519FF8-DDC7-441C-A93E-DE6466F2F877}"/>
              </a:ext>
            </a:extLst>
          </p:cNvPr>
          <p:cNvSpPr txBox="1"/>
          <p:nvPr/>
        </p:nvSpPr>
        <p:spPr>
          <a:xfrm>
            <a:off x="10849303" y="3092323"/>
            <a:ext cx="106311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nc</a:t>
            </a:r>
            <a:r>
              <a:rPr lang="en-US" altLang="ja-JP" sz="700" dirty="0"/>
              <a:t> –v –w &lt;Target </a:t>
            </a:r>
            <a:r>
              <a:rPr lang="en-US" altLang="ja-JP" sz="700" dirty="0" err="1"/>
              <a:t>ip</a:t>
            </a:r>
            <a:r>
              <a:rPr lang="en-US" altLang="ja-JP" sz="700" dirty="0"/>
              <a:t>&gt;</a:t>
            </a:r>
            <a:endParaRPr kumimoji="1" lang="ja-JP" altLang="en-US" sz="700" dirty="0"/>
          </a:p>
        </p:txBody>
      </p:sp>
      <p:cxnSp>
        <p:nvCxnSpPr>
          <p:cNvPr id="48" name="コネクタ: 曲線 47">
            <a:extLst>
              <a:ext uri="{FF2B5EF4-FFF2-40B4-BE49-F238E27FC236}">
                <a16:creationId xmlns:a16="http://schemas.microsoft.com/office/drawing/2014/main" id="{F646D556-FA6E-4E82-9682-AE5EE3588102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210937" y="3637137"/>
            <a:ext cx="1049808" cy="1724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曲線 48">
            <a:extLst>
              <a:ext uri="{FF2B5EF4-FFF2-40B4-BE49-F238E27FC236}">
                <a16:creationId xmlns:a16="http://schemas.microsoft.com/office/drawing/2014/main" id="{AC71D133-9DB8-4FA5-AC54-3F32B5153CFB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210937" y="3637137"/>
            <a:ext cx="742615" cy="39031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曲線 77">
            <a:extLst>
              <a:ext uri="{FF2B5EF4-FFF2-40B4-BE49-F238E27FC236}">
                <a16:creationId xmlns:a16="http://schemas.microsoft.com/office/drawing/2014/main" id="{16967EA8-B3A3-4DDA-99E6-902585877B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889358" y="2009899"/>
            <a:ext cx="1029890" cy="7755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B1F16FED-DA7D-4DE1-B3ED-E55F27E892C8}"/>
              </a:ext>
            </a:extLst>
          </p:cNvPr>
          <p:cNvSpPr txBox="1"/>
          <p:nvPr/>
        </p:nvSpPr>
        <p:spPr>
          <a:xfrm>
            <a:off x="8644117" y="1706533"/>
            <a:ext cx="50526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website</a:t>
            </a:r>
            <a:endParaRPr kumimoji="1" lang="ja-JP" altLang="en-US" sz="700" dirty="0"/>
          </a:p>
        </p:txBody>
      </p:sp>
      <p:cxnSp>
        <p:nvCxnSpPr>
          <p:cNvPr id="82" name="コネクタ: 曲線 81">
            <a:extLst>
              <a:ext uri="{FF2B5EF4-FFF2-40B4-BE49-F238E27FC236}">
                <a16:creationId xmlns:a16="http://schemas.microsoft.com/office/drawing/2014/main" id="{1ABA435C-7305-42E0-B49D-6CD2A07881A3}"/>
              </a:ext>
            </a:extLst>
          </p:cNvPr>
          <p:cNvCxnSpPr>
            <a:cxnSpLocks/>
          </p:cNvCxnSpPr>
          <p:nvPr/>
        </p:nvCxnSpPr>
        <p:spPr>
          <a:xfrm flipV="1">
            <a:off x="9205253" y="1485760"/>
            <a:ext cx="539994" cy="2292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7F536B9-0220-448A-847C-430F0DB2CCEF}"/>
              </a:ext>
            </a:extLst>
          </p:cNvPr>
          <p:cNvSpPr txBox="1"/>
          <p:nvPr/>
        </p:nvSpPr>
        <p:spPr>
          <a:xfrm>
            <a:off x="9747886" y="1362383"/>
            <a:ext cx="74090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SQL Injection</a:t>
            </a:r>
            <a:endParaRPr kumimoji="1" lang="ja-JP" altLang="en-US" sz="700" dirty="0"/>
          </a:p>
        </p:txBody>
      </p:sp>
      <p:cxnSp>
        <p:nvCxnSpPr>
          <p:cNvPr id="86" name="コネクタ: 曲線 85">
            <a:extLst>
              <a:ext uri="{FF2B5EF4-FFF2-40B4-BE49-F238E27FC236}">
                <a16:creationId xmlns:a16="http://schemas.microsoft.com/office/drawing/2014/main" id="{03D7BBEE-94B5-4168-853C-E75A529BED2A}"/>
              </a:ext>
            </a:extLst>
          </p:cNvPr>
          <p:cNvCxnSpPr>
            <a:cxnSpLocks/>
          </p:cNvCxnSpPr>
          <p:nvPr/>
        </p:nvCxnSpPr>
        <p:spPr>
          <a:xfrm flipV="1">
            <a:off x="9064936" y="1146032"/>
            <a:ext cx="702257" cy="5704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EFCE878-FA99-4A5E-A723-38142B6E51DC}"/>
              </a:ext>
            </a:extLst>
          </p:cNvPr>
          <p:cNvSpPr txBox="1"/>
          <p:nvPr/>
        </p:nvSpPr>
        <p:spPr>
          <a:xfrm>
            <a:off x="9682494" y="1052892"/>
            <a:ext cx="98296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Command Injection</a:t>
            </a:r>
            <a:endParaRPr kumimoji="1" lang="ja-JP" altLang="en-US" sz="700" dirty="0"/>
          </a:p>
        </p:txBody>
      </p:sp>
      <p:cxnSp>
        <p:nvCxnSpPr>
          <p:cNvPr id="91" name="コネクタ: 曲線 90">
            <a:extLst>
              <a:ext uri="{FF2B5EF4-FFF2-40B4-BE49-F238E27FC236}">
                <a16:creationId xmlns:a16="http://schemas.microsoft.com/office/drawing/2014/main" id="{71BFBF4D-7E87-4728-8C50-B33F92B588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32809" y="3429000"/>
            <a:ext cx="1009882" cy="93433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3AC5D570-6667-4FA1-A7E6-52F44953304A}"/>
              </a:ext>
            </a:extLst>
          </p:cNvPr>
          <p:cNvSpPr txBox="1"/>
          <p:nvPr/>
        </p:nvSpPr>
        <p:spPr>
          <a:xfrm>
            <a:off x="3697967" y="4234941"/>
            <a:ext cx="979755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Plivilege</a:t>
            </a:r>
            <a:r>
              <a:rPr lang="en-US" altLang="ja-JP" sz="700" dirty="0"/>
              <a:t> escalation</a:t>
            </a:r>
            <a:endParaRPr kumimoji="1" lang="ja-JP" altLang="en-US" sz="700" dirty="0"/>
          </a:p>
        </p:txBody>
      </p:sp>
      <p:cxnSp>
        <p:nvCxnSpPr>
          <p:cNvPr id="42" name="コネクタ: 曲線 41">
            <a:extLst>
              <a:ext uri="{FF2B5EF4-FFF2-40B4-BE49-F238E27FC236}">
                <a16:creationId xmlns:a16="http://schemas.microsoft.com/office/drawing/2014/main" id="{FC496B53-F4D6-4BF2-931F-DDEB88575AE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6399993" y="3327471"/>
            <a:ext cx="1000641" cy="29121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0D33F4A-B1F8-4F1B-BB49-FCB3228A07AD}"/>
              </a:ext>
            </a:extLst>
          </p:cNvPr>
          <p:cNvSpPr txBox="1"/>
          <p:nvPr/>
        </p:nvSpPr>
        <p:spPr>
          <a:xfrm>
            <a:off x="7324544" y="4007173"/>
            <a:ext cx="73129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Initial Access</a:t>
            </a:r>
            <a:endParaRPr kumimoji="1" lang="ja-JP" altLang="en-US" sz="7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89A78890-AC63-4F2B-A881-C205D5CE02A7}"/>
              </a:ext>
            </a:extLst>
          </p:cNvPr>
          <p:cNvSpPr txBox="1"/>
          <p:nvPr/>
        </p:nvSpPr>
        <p:spPr>
          <a:xfrm>
            <a:off x="9045451" y="4070124"/>
            <a:ext cx="37061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PHP</a:t>
            </a:r>
            <a:endParaRPr kumimoji="1" lang="ja-JP" altLang="en-US" sz="700" dirty="0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8A0001A1-0C2D-4EBB-9752-DBD1F690186E}"/>
              </a:ext>
            </a:extLst>
          </p:cNvPr>
          <p:cNvSpPr txBox="1"/>
          <p:nvPr/>
        </p:nvSpPr>
        <p:spPr>
          <a:xfrm>
            <a:off x="8890688" y="4250440"/>
            <a:ext cx="32573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 err="1"/>
              <a:t>ssh</a:t>
            </a:r>
            <a:endParaRPr kumimoji="1" lang="ja-JP" altLang="en-US" sz="700" dirty="0"/>
          </a:p>
        </p:txBody>
      </p:sp>
      <p:cxnSp>
        <p:nvCxnSpPr>
          <p:cNvPr id="52" name="コネクタ: 曲線 51">
            <a:extLst>
              <a:ext uri="{FF2B5EF4-FFF2-40B4-BE49-F238E27FC236}">
                <a16:creationId xmlns:a16="http://schemas.microsoft.com/office/drawing/2014/main" id="{D8B0B492-4847-4E78-923E-49CB931ECA84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8055834" y="4107201"/>
            <a:ext cx="881699" cy="23956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コネクタ: 曲線 54">
            <a:extLst>
              <a:ext uri="{FF2B5EF4-FFF2-40B4-BE49-F238E27FC236}">
                <a16:creationId xmlns:a16="http://schemas.microsoft.com/office/drawing/2014/main" id="{B56DBE90-E3FC-4F2D-99ED-3D97373929E0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9492188" y="3217789"/>
            <a:ext cx="1173267" cy="36083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5B077388-35ED-4137-8C63-AAB5CB139F31}"/>
              </a:ext>
            </a:extLst>
          </p:cNvPr>
          <p:cNvSpPr txBox="1"/>
          <p:nvPr/>
        </p:nvSpPr>
        <p:spPr>
          <a:xfrm>
            <a:off x="10564867" y="3483449"/>
            <a:ext cx="109998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Nmap –</a:t>
            </a:r>
            <a:r>
              <a:rPr lang="en-US" altLang="ja-JP" sz="700" dirty="0" err="1"/>
              <a:t>sn</a:t>
            </a:r>
            <a:r>
              <a:rPr lang="en-US" altLang="ja-JP" sz="700" dirty="0"/>
              <a:t> &lt;target </a:t>
            </a:r>
            <a:r>
              <a:rPr lang="en-US" altLang="ja-JP" sz="700" dirty="0" err="1"/>
              <a:t>ip</a:t>
            </a:r>
            <a:r>
              <a:rPr lang="en-US" altLang="ja-JP" sz="700" dirty="0"/>
              <a:t>&gt;</a:t>
            </a:r>
            <a:endParaRPr kumimoji="1" lang="ja-JP" altLang="en-US" sz="700" dirty="0"/>
          </a:p>
        </p:txBody>
      </p:sp>
      <p:cxnSp>
        <p:nvCxnSpPr>
          <p:cNvPr id="57" name="コネクタ: 曲線 56">
            <a:extLst>
              <a:ext uri="{FF2B5EF4-FFF2-40B4-BE49-F238E27FC236}">
                <a16:creationId xmlns:a16="http://schemas.microsoft.com/office/drawing/2014/main" id="{D7306E40-3666-4A4F-890A-25F19CB4119C}"/>
              </a:ext>
            </a:extLst>
          </p:cNvPr>
          <p:cNvCxnSpPr>
            <a:cxnSpLocks/>
          </p:cNvCxnSpPr>
          <p:nvPr/>
        </p:nvCxnSpPr>
        <p:spPr>
          <a:xfrm>
            <a:off x="9162551" y="4356076"/>
            <a:ext cx="360095" cy="1970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344FC7F8-D7A6-4E2F-AD98-1E03C9378682}"/>
              </a:ext>
            </a:extLst>
          </p:cNvPr>
          <p:cNvSpPr txBox="1"/>
          <p:nvPr/>
        </p:nvSpPr>
        <p:spPr>
          <a:xfrm>
            <a:off x="9465904" y="4314094"/>
            <a:ext cx="10182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Ssh </a:t>
            </a:r>
            <a:r>
              <a:rPr kumimoji="1" lang="en-US" altLang="ja-JP" sz="700" dirty="0" err="1"/>
              <a:t>user@ipaddress</a:t>
            </a:r>
            <a:endParaRPr kumimoji="1" lang="ja-JP" altLang="en-US" sz="700" dirty="0"/>
          </a:p>
        </p:txBody>
      </p:sp>
      <p:cxnSp>
        <p:nvCxnSpPr>
          <p:cNvPr id="63" name="コネクタ: 曲線 62">
            <a:extLst>
              <a:ext uri="{FF2B5EF4-FFF2-40B4-BE49-F238E27FC236}">
                <a16:creationId xmlns:a16="http://schemas.microsoft.com/office/drawing/2014/main" id="{01B18974-D2FB-4759-842D-6C86F80F7739}"/>
              </a:ext>
            </a:extLst>
          </p:cNvPr>
          <p:cNvCxnSpPr>
            <a:cxnSpLocks/>
            <a:endCxn id="60" idx="3"/>
          </p:cNvCxnSpPr>
          <p:nvPr/>
        </p:nvCxnSpPr>
        <p:spPr>
          <a:xfrm rot="10800000">
            <a:off x="3949122" y="2801191"/>
            <a:ext cx="462233" cy="16869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コネクタ: 曲線 83">
            <a:extLst>
              <a:ext uri="{FF2B5EF4-FFF2-40B4-BE49-F238E27FC236}">
                <a16:creationId xmlns:a16="http://schemas.microsoft.com/office/drawing/2014/main" id="{AE6C2A3E-9658-408B-8680-3AA5327FD8E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678168" y="3595016"/>
            <a:ext cx="524525" cy="17697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コネクタ: 曲線 88">
            <a:extLst>
              <a:ext uri="{FF2B5EF4-FFF2-40B4-BE49-F238E27FC236}">
                <a16:creationId xmlns:a16="http://schemas.microsoft.com/office/drawing/2014/main" id="{75AB8746-0F32-4D26-AF7C-4B3F53339793}"/>
              </a:ext>
            </a:extLst>
          </p:cNvPr>
          <p:cNvCxnSpPr>
            <a:cxnSpLocks/>
          </p:cNvCxnSpPr>
          <p:nvPr/>
        </p:nvCxnSpPr>
        <p:spPr>
          <a:xfrm rot="10800000">
            <a:off x="3270724" y="4363333"/>
            <a:ext cx="429009" cy="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8FCE8FE8-E7EF-4226-88F2-67CF7A373D65}"/>
              </a:ext>
            </a:extLst>
          </p:cNvPr>
          <p:cNvSpPr txBox="1"/>
          <p:nvPr/>
        </p:nvSpPr>
        <p:spPr>
          <a:xfrm>
            <a:off x="3171344" y="2701163"/>
            <a:ext cx="77777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Download tool</a:t>
            </a:r>
            <a:endParaRPr kumimoji="1" lang="ja-JP" altLang="en-US" sz="700" dirty="0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7C9AE354-11D6-4765-A29B-784266666E69}"/>
              </a:ext>
            </a:extLst>
          </p:cNvPr>
          <p:cNvSpPr txBox="1"/>
          <p:nvPr/>
        </p:nvSpPr>
        <p:spPr>
          <a:xfrm>
            <a:off x="9767193" y="529316"/>
            <a:ext cx="11208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Credencial</a:t>
            </a:r>
            <a:r>
              <a:rPr lang="en-US" altLang="ja-JP" sz="700" dirty="0"/>
              <a:t> information</a:t>
            </a:r>
            <a:endParaRPr kumimoji="1" lang="ja-JP" altLang="en-US" sz="700" dirty="0"/>
          </a:p>
        </p:txBody>
      </p:sp>
      <p:cxnSp>
        <p:nvCxnSpPr>
          <p:cNvPr id="67" name="コネクタ: 曲線 66">
            <a:extLst>
              <a:ext uri="{FF2B5EF4-FFF2-40B4-BE49-F238E27FC236}">
                <a16:creationId xmlns:a16="http://schemas.microsoft.com/office/drawing/2014/main" id="{E2F156E1-D344-4EA0-BE43-F0CC5B13D511}"/>
              </a:ext>
            </a:extLst>
          </p:cNvPr>
          <p:cNvCxnSpPr>
            <a:cxnSpLocks/>
          </p:cNvCxnSpPr>
          <p:nvPr/>
        </p:nvCxnSpPr>
        <p:spPr>
          <a:xfrm flipV="1">
            <a:off x="8966429" y="629344"/>
            <a:ext cx="857912" cy="110910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コネクタ: 曲線 67">
            <a:extLst>
              <a:ext uri="{FF2B5EF4-FFF2-40B4-BE49-F238E27FC236}">
                <a16:creationId xmlns:a16="http://schemas.microsoft.com/office/drawing/2014/main" id="{660AD7D7-159C-4FC6-80F3-969ED913B200}"/>
              </a:ext>
            </a:extLst>
          </p:cNvPr>
          <p:cNvCxnSpPr>
            <a:cxnSpLocks/>
          </p:cNvCxnSpPr>
          <p:nvPr/>
        </p:nvCxnSpPr>
        <p:spPr>
          <a:xfrm flipV="1">
            <a:off x="8987238" y="539240"/>
            <a:ext cx="384215" cy="120843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1D672061-101C-4DCC-9A3B-F174593C0944}"/>
              </a:ext>
            </a:extLst>
          </p:cNvPr>
          <p:cNvSpPr txBox="1"/>
          <p:nvPr/>
        </p:nvSpPr>
        <p:spPr>
          <a:xfrm>
            <a:off x="9246510" y="325146"/>
            <a:ext cx="6014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Robots.txt</a:t>
            </a:r>
            <a:endParaRPr kumimoji="1" lang="ja-JP" altLang="en-US" sz="700" dirty="0"/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4194DA8A-EFBC-4C55-B766-67FFFFD92033}"/>
              </a:ext>
            </a:extLst>
          </p:cNvPr>
          <p:cNvSpPr txBox="1"/>
          <p:nvPr/>
        </p:nvSpPr>
        <p:spPr>
          <a:xfrm>
            <a:off x="2995534" y="3696111"/>
            <a:ext cx="75052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Use </a:t>
            </a:r>
            <a:r>
              <a:rPr lang="en-US" altLang="ja-JP" sz="700" dirty="0" err="1"/>
              <a:t>powercat</a:t>
            </a:r>
            <a:endParaRPr kumimoji="1" lang="ja-JP" altLang="en-US" sz="700" dirty="0"/>
          </a:p>
        </p:txBody>
      </p:sp>
      <p:cxnSp>
        <p:nvCxnSpPr>
          <p:cNvPr id="72" name="コネクタ: 曲線 71">
            <a:extLst>
              <a:ext uri="{FF2B5EF4-FFF2-40B4-BE49-F238E27FC236}">
                <a16:creationId xmlns:a16="http://schemas.microsoft.com/office/drawing/2014/main" id="{21B1E6C9-9A36-4127-857A-D791D71C98F4}"/>
              </a:ext>
            </a:extLst>
          </p:cNvPr>
          <p:cNvCxnSpPr>
            <a:cxnSpLocks/>
            <a:stCxn id="71" idx="1"/>
          </p:cNvCxnSpPr>
          <p:nvPr/>
        </p:nvCxnSpPr>
        <p:spPr>
          <a:xfrm rot="10800000" flipV="1">
            <a:off x="2652264" y="3796138"/>
            <a:ext cx="343270" cy="8824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57687F8-F870-F582-18C1-F56C5100BC78}"/>
              </a:ext>
            </a:extLst>
          </p:cNvPr>
          <p:cNvSpPr txBox="1"/>
          <p:nvPr/>
        </p:nvSpPr>
        <p:spPr>
          <a:xfrm>
            <a:off x="2563559" y="4533882"/>
            <a:ext cx="85472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Use juicy potato</a:t>
            </a:r>
            <a:endParaRPr kumimoji="1" lang="ja-JP" altLang="en-US" sz="700" dirty="0"/>
          </a:p>
        </p:txBody>
      </p:sp>
      <p:cxnSp>
        <p:nvCxnSpPr>
          <p:cNvPr id="6" name="コネクタ: 曲線 5">
            <a:extLst>
              <a:ext uri="{FF2B5EF4-FFF2-40B4-BE49-F238E27FC236}">
                <a16:creationId xmlns:a16="http://schemas.microsoft.com/office/drawing/2014/main" id="{ED7D2108-FCF9-DC9C-3473-5CADBC73FCE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28559" y="4375777"/>
            <a:ext cx="401580" cy="24569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48D0684-2687-8EF7-9FF0-9BA7B4EC4059}"/>
              </a:ext>
            </a:extLst>
          </p:cNvPr>
          <p:cNvSpPr txBox="1"/>
          <p:nvPr/>
        </p:nvSpPr>
        <p:spPr>
          <a:xfrm>
            <a:off x="9260745" y="3737164"/>
            <a:ext cx="73449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Prepare tools</a:t>
            </a:r>
            <a:endParaRPr kumimoji="1" lang="ja-JP" altLang="en-US" sz="700" dirty="0"/>
          </a:p>
        </p:txBody>
      </p:sp>
      <p:cxnSp>
        <p:nvCxnSpPr>
          <p:cNvPr id="16" name="コネクタ: 曲線 15">
            <a:extLst>
              <a:ext uri="{FF2B5EF4-FFF2-40B4-BE49-F238E27FC236}">
                <a16:creationId xmlns:a16="http://schemas.microsoft.com/office/drawing/2014/main" id="{DC8A0C7B-F476-82AE-47FA-8590E82D6DF1}"/>
              </a:ext>
            </a:extLst>
          </p:cNvPr>
          <p:cNvCxnSpPr>
            <a:cxnSpLocks/>
          </p:cNvCxnSpPr>
          <p:nvPr/>
        </p:nvCxnSpPr>
        <p:spPr>
          <a:xfrm>
            <a:off x="9934711" y="3826000"/>
            <a:ext cx="879680" cy="4880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コネクタ: 曲線 27">
            <a:extLst>
              <a:ext uri="{FF2B5EF4-FFF2-40B4-BE49-F238E27FC236}">
                <a16:creationId xmlns:a16="http://schemas.microsoft.com/office/drawing/2014/main" id="{62E06EBE-2245-2C13-DCF7-A128B014811F}"/>
              </a:ext>
            </a:extLst>
          </p:cNvPr>
          <p:cNvCxnSpPr>
            <a:cxnSpLocks/>
          </p:cNvCxnSpPr>
          <p:nvPr/>
        </p:nvCxnSpPr>
        <p:spPr>
          <a:xfrm>
            <a:off x="9941330" y="3831702"/>
            <a:ext cx="873061" cy="232936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890AEF2D-9DEA-71D8-EAB1-354BFA7BD8FD}"/>
              </a:ext>
            </a:extLst>
          </p:cNvPr>
          <p:cNvSpPr txBox="1"/>
          <p:nvPr/>
        </p:nvSpPr>
        <p:spPr>
          <a:xfrm>
            <a:off x="10773225" y="3974304"/>
            <a:ext cx="149271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800" dirty="0"/>
              <a:t>Nc.exe(windows for </a:t>
            </a:r>
            <a:r>
              <a:rPr lang="en-US" altLang="ja-JP" sz="800" dirty="0" err="1"/>
              <a:t>netcat</a:t>
            </a:r>
            <a:r>
              <a:rPr lang="en-US" altLang="ja-JP" sz="800" dirty="0"/>
              <a:t>)</a:t>
            </a:r>
            <a:endParaRPr kumimoji="1" lang="ja-JP" altLang="en-US" sz="800" dirty="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190D1107-89D5-564D-3437-9F2AB9C08DC3}"/>
              </a:ext>
            </a:extLst>
          </p:cNvPr>
          <p:cNvSpPr txBox="1"/>
          <p:nvPr/>
        </p:nvSpPr>
        <p:spPr>
          <a:xfrm>
            <a:off x="10761564" y="4232322"/>
            <a:ext cx="98135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jp.exe(juicy potato)</a:t>
            </a:r>
            <a:endParaRPr kumimoji="1" lang="ja-JP" altLang="en-US" sz="700" dirty="0"/>
          </a:p>
        </p:txBody>
      </p:sp>
      <p:cxnSp>
        <p:nvCxnSpPr>
          <p:cNvPr id="96" name="コネクタ: 曲線 95">
            <a:extLst>
              <a:ext uri="{FF2B5EF4-FFF2-40B4-BE49-F238E27FC236}">
                <a16:creationId xmlns:a16="http://schemas.microsoft.com/office/drawing/2014/main" id="{F90EBBD6-199E-3289-2610-4E8078BE0122}"/>
              </a:ext>
            </a:extLst>
          </p:cNvPr>
          <p:cNvCxnSpPr>
            <a:cxnSpLocks/>
          </p:cNvCxnSpPr>
          <p:nvPr/>
        </p:nvCxnSpPr>
        <p:spPr>
          <a:xfrm flipV="1">
            <a:off x="9034908" y="1733661"/>
            <a:ext cx="732285" cy="429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0CBD868F-E3E6-4A13-2C6E-120A0B961039}"/>
              </a:ext>
            </a:extLst>
          </p:cNvPr>
          <p:cNvSpPr txBox="1"/>
          <p:nvPr/>
        </p:nvSpPr>
        <p:spPr>
          <a:xfrm>
            <a:off x="9729833" y="1650599"/>
            <a:ext cx="780983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Directory scan</a:t>
            </a:r>
            <a:endParaRPr kumimoji="1" lang="ja-JP" altLang="en-US" sz="700" dirty="0"/>
          </a:p>
        </p:txBody>
      </p:sp>
      <p:cxnSp>
        <p:nvCxnSpPr>
          <p:cNvPr id="100" name="コネクタ: 曲線 99">
            <a:extLst>
              <a:ext uri="{FF2B5EF4-FFF2-40B4-BE49-F238E27FC236}">
                <a16:creationId xmlns:a16="http://schemas.microsoft.com/office/drawing/2014/main" id="{A8370614-884C-4373-4B6E-2FA4456A52B5}"/>
              </a:ext>
            </a:extLst>
          </p:cNvPr>
          <p:cNvCxnSpPr>
            <a:cxnSpLocks/>
          </p:cNvCxnSpPr>
          <p:nvPr/>
        </p:nvCxnSpPr>
        <p:spPr>
          <a:xfrm>
            <a:off x="10472684" y="1739584"/>
            <a:ext cx="306244" cy="147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B6C3F971-5AE0-BBA2-E476-7CD6878EF1DC}"/>
              </a:ext>
            </a:extLst>
          </p:cNvPr>
          <p:cNvSpPr txBox="1"/>
          <p:nvPr/>
        </p:nvSpPr>
        <p:spPr>
          <a:xfrm>
            <a:off x="10724365" y="1662639"/>
            <a:ext cx="99899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 err="1"/>
              <a:t>Dirb</a:t>
            </a:r>
            <a:r>
              <a:rPr kumimoji="1" lang="en-US" altLang="ja-JP" sz="700" dirty="0"/>
              <a:t> &lt;URL&gt; &lt;</a:t>
            </a:r>
            <a:r>
              <a:rPr kumimoji="1" lang="en-US" altLang="ja-JP" sz="700" dirty="0" err="1"/>
              <a:t>dic</a:t>
            </a:r>
            <a:r>
              <a:rPr kumimoji="1" lang="en-US" altLang="ja-JP" sz="700" dirty="0"/>
              <a:t>&gt; </a:t>
            </a:r>
            <a:endParaRPr kumimoji="1" lang="ja-JP" altLang="en-US" sz="700" dirty="0"/>
          </a:p>
        </p:txBody>
      </p:sp>
      <p:sp>
        <p:nvSpPr>
          <p:cNvPr id="112" name="テキスト ボックス 111">
            <a:extLst>
              <a:ext uri="{FF2B5EF4-FFF2-40B4-BE49-F238E27FC236}">
                <a16:creationId xmlns:a16="http://schemas.microsoft.com/office/drawing/2014/main" id="{DBBA53DE-0850-7FFD-8C7E-EAFDDA12C792}"/>
              </a:ext>
            </a:extLst>
          </p:cNvPr>
          <p:cNvSpPr txBox="1"/>
          <p:nvPr/>
        </p:nvSpPr>
        <p:spPr>
          <a:xfrm>
            <a:off x="1437128" y="3796138"/>
            <a:ext cx="128432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Launch </a:t>
            </a:r>
            <a:r>
              <a:rPr kumimoji="1" lang="en-US" altLang="ja-JP" sz="700" dirty="0" err="1"/>
              <a:t>httpserver</a:t>
            </a:r>
            <a:r>
              <a:rPr lang="en-US" altLang="ja-JP" sz="700" dirty="0"/>
              <a:t>(python)</a:t>
            </a:r>
            <a:endParaRPr kumimoji="1" lang="ja-JP" altLang="en-US" sz="700" dirty="0"/>
          </a:p>
        </p:txBody>
      </p:sp>
      <p:cxnSp>
        <p:nvCxnSpPr>
          <p:cNvPr id="113" name="コネクタ: 曲線 112">
            <a:extLst>
              <a:ext uri="{FF2B5EF4-FFF2-40B4-BE49-F238E27FC236}">
                <a16:creationId xmlns:a16="http://schemas.microsoft.com/office/drawing/2014/main" id="{BB23E178-CB20-E06F-8D3D-D5AFD676CAD3}"/>
              </a:ext>
            </a:extLst>
          </p:cNvPr>
          <p:cNvCxnSpPr>
            <a:cxnSpLocks/>
          </p:cNvCxnSpPr>
          <p:nvPr/>
        </p:nvCxnSpPr>
        <p:spPr>
          <a:xfrm rot="10800000">
            <a:off x="2633221" y="3661047"/>
            <a:ext cx="353068" cy="12460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テキスト ボックス 114">
            <a:extLst>
              <a:ext uri="{FF2B5EF4-FFF2-40B4-BE49-F238E27FC236}">
                <a16:creationId xmlns:a16="http://schemas.microsoft.com/office/drawing/2014/main" id="{33A2AEE8-DA46-8CDE-F323-66CF97712B48}"/>
              </a:ext>
            </a:extLst>
          </p:cNvPr>
          <p:cNvSpPr txBox="1"/>
          <p:nvPr/>
        </p:nvSpPr>
        <p:spPr>
          <a:xfrm>
            <a:off x="1979219" y="3561019"/>
            <a:ext cx="67037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Listen to </a:t>
            </a:r>
            <a:r>
              <a:rPr kumimoji="1" lang="en-US" altLang="ja-JP" sz="700" dirty="0" err="1"/>
              <a:t>nc</a:t>
            </a:r>
            <a:endParaRPr kumimoji="1" lang="ja-JP" altLang="en-US" sz="700" dirty="0"/>
          </a:p>
        </p:txBody>
      </p:sp>
      <p:cxnSp>
        <p:nvCxnSpPr>
          <p:cNvPr id="116" name="コネクタ: 曲線 115">
            <a:extLst>
              <a:ext uri="{FF2B5EF4-FFF2-40B4-BE49-F238E27FC236}">
                <a16:creationId xmlns:a16="http://schemas.microsoft.com/office/drawing/2014/main" id="{FEAB322B-44D4-4B74-FD06-CC7D3247E5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99541" y="3637136"/>
            <a:ext cx="896054" cy="16949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コネクタ: 曲線 117">
            <a:extLst>
              <a:ext uri="{FF2B5EF4-FFF2-40B4-BE49-F238E27FC236}">
                <a16:creationId xmlns:a16="http://schemas.microsoft.com/office/drawing/2014/main" id="{5838C297-618F-5A26-42F3-7498F40125BF}"/>
              </a:ext>
            </a:extLst>
          </p:cNvPr>
          <p:cNvCxnSpPr>
            <a:cxnSpLocks/>
          </p:cNvCxnSpPr>
          <p:nvPr/>
        </p:nvCxnSpPr>
        <p:spPr>
          <a:xfrm rot="10800000">
            <a:off x="1119158" y="3806626"/>
            <a:ext cx="361862" cy="8954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9C33062A-6A56-7CE6-7CBD-E5D2C18573C9}"/>
              </a:ext>
            </a:extLst>
          </p:cNvPr>
          <p:cNvSpPr txBox="1"/>
          <p:nvPr/>
        </p:nvSpPr>
        <p:spPr>
          <a:xfrm>
            <a:off x="69350" y="3685624"/>
            <a:ext cx="1124026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Download and execute</a:t>
            </a:r>
            <a:br>
              <a:rPr lang="en-US" altLang="ja-JP" sz="700" dirty="0"/>
            </a:br>
            <a:r>
              <a:rPr lang="en-US" altLang="ja-JP" sz="700" dirty="0"/>
              <a:t> reverseshell.ps1 file</a:t>
            </a:r>
            <a:br>
              <a:rPr lang="en-US" altLang="ja-JP" sz="700" dirty="0"/>
            </a:br>
            <a:r>
              <a:rPr lang="en-US" altLang="ja-JP" sz="700" dirty="0"/>
              <a:t>(Power shell)</a:t>
            </a:r>
            <a:endParaRPr kumimoji="1" lang="ja-JP" altLang="en-US" sz="700" dirty="0"/>
          </a:p>
        </p:txBody>
      </p:sp>
      <p:cxnSp>
        <p:nvCxnSpPr>
          <p:cNvPr id="125" name="コネクタ: 曲線 124">
            <a:extLst>
              <a:ext uri="{FF2B5EF4-FFF2-40B4-BE49-F238E27FC236}">
                <a16:creationId xmlns:a16="http://schemas.microsoft.com/office/drawing/2014/main" id="{2F2AD0DD-AFB5-1E1F-7984-22EB32D95A7D}"/>
              </a:ext>
            </a:extLst>
          </p:cNvPr>
          <p:cNvCxnSpPr>
            <a:cxnSpLocks/>
          </p:cNvCxnSpPr>
          <p:nvPr/>
        </p:nvCxnSpPr>
        <p:spPr>
          <a:xfrm rot="10800000">
            <a:off x="3003597" y="2632493"/>
            <a:ext cx="249702" cy="13839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40823E69-8FA5-DDB8-15F6-C876589EE627}"/>
              </a:ext>
            </a:extLst>
          </p:cNvPr>
          <p:cNvSpPr txBox="1"/>
          <p:nvPr/>
        </p:nvSpPr>
        <p:spPr>
          <a:xfrm>
            <a:off x="1873552" y="2522093"/>
            <a:ext cx="121700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Nc64.exe(curl command)</a:t>
            </a:r>
            <a:endParaRPr kumimoji="1" lang="ja-JP" altLang="en-US" sz="700" dirty="0"/>
          </a:p>
        </p:txBody>
      </p:sp>
      <p:sp>
        <p:nvSpPr>
          <p:cNvPr id="127" name="テキスト ボックス 126">
            <a:extLst>
              <a:ext uri="{FF2B5EF4-FFF2-40B4-BE49-F238E27FC236}">
                <a16:creationId xmlns:a16="http://schemas.microsoft.com/office/drawing/2014/main" id="{DDC0E422-75E4-FFFA-5618-8F1E1AE010AA}"/>
              </a:ext>
            </a:extLst>
          </p:cNvPr>
          <p:cNvSpPr txBox="1"/>
          <p:nvPr/>
        </p:nvSpPr>
        <p:spPr>
          <a:xfrm>
            <a:off x="751796" y="246424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700" dirty="0"/>
              <a:t>Execute nc64.exe</a:t>
            </a:r>
            <a:br>
              <a:rPr kumimoji="1" lang="en-US" altLang="ja-JP" sz="700" dirty="0"/>
            </a:br>
            <a:r>
              <a:rPr kumimoji="1" lang="en-US" altLang="ja-JP" sz="700" dirty="0"/>
              <a:t>and listen port</a:t>
            </a:r>
            <a:endParaRPr kumimoji="1" lang="ja-JP" altLang="en-US" sz="700" dirty="0"/>
          </a:p>
        </p:txBody>
      </p:sp>
      <p:cxnSp>
        <p:nvCxnSpPr>
          <p:cNvPr id="130" name="コネクタ: 曲線 129">
            <a:extLst>
              <a:ext uri="{FF2B5EF4-FFF2-40B4-BE49-F238E27FC236}">
                <a16:creationId xmlns:a16="http://schemas.microsoft.com/office/drawing/2014/main" id="{FF68861D-7B77-A804-6776-E770777AF5BE}"/>
              </a:ext>
            </a:extLst>
          </p:cNvPr>
          <p:cNvCxnSpPr>
            <a:cxnSpLocks/>
          </p:cNvCxnSpPr>
          <p:nvPr/>
        </p:nvCxnSpPr>
        <p:spPr>
          <a:xfrm rot="10800000">
            <a:off x="1624169" y="2564272"/>
            <a:ext cx="275597" cy="57848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7FAB696F-6A1E-9E0E-7348-4F1B54925A4B}"/>
              </a:ext>
            </a:extLst>
          </p:cNvPr>
          <p:cNvSpPr txBox="1"/>
          <p:nvPr/>
        </p:nvSpPr>
        <p:spPr>
          <a:xfrm>
            <a:off x="2825237" y="3242788"/>
            <a:ext cx="92204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/>
              <a:t>Nc </a:t>
            </a:r>
            <a:r>
              <a:rPr lang="en-US" altLang="ja-JP" sz="700" dirty="0" err="1"/>
              <a:t>ipAddress</a:t>
            </a:r>
            <a:r>
              <a:rPr lang="en-US" altLang="ja-JP" sz="700" dirty="0"/>
              <a:t> port</a:t>
            </a:r>
            <a:endParaRPr kumimoji="1" lang="ja-JP" altLang="en-US" sz="700" dirty="0"/>
          </a:p>
        </p:txBody>
      </p:sp>
      <p:cxnSp>
        <p:nvCxnSpPr>
          <p:cNvPr id="134" name="コネクタ: 曲線 133">
            <a:extLst>
              <a:ext uri="{FF2B5EF4-FFF2-40B4-BE49-F238E27FC236}">
                <a16:creationId xmlns:a16="http://schemas.microsoft.com/office/drawing/2014/main" id="{076EC3A8-F36F-DB65-D538-A842E6B52BC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155107" y="1439549"/>
            <a:ext cx="274890" cy="13738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41BF559D-48A7-73F3-C5FB-C9BF8FC11B68}"/>
              </a:ext>
            </a:extLst>
          </p:cNvPr>
          <p:cNvSpPr txBox="1"/>
          <p:nvPr/>
        </p:nvSpPr>
        <p:spPr>
          <a:xfrm>
            <a:off x="11071180" y="1148744"/>
            <a:ext cx="1120820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700" dirty="0" err="1"/>
              <a:t>Credencial</a:t>
            </a:r>
            <a:r>
              <a:rPr lang="en-US" altLang="ja-JP" sz="700" dirty="0"/>
              <a:t> information</a:t>
            </a:r>
            <a:endParaRPr kumimoji="1" lang="ja-JP" altLang="en-US" sz="70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66C9DD1-E6FC-AD9B-A29A-1C66754E7874}"/>
              </a:ext>
            </a:extLst>
          </p:cNvPr>
          <p:cNvSpPr txBox="1"/>
          <p:nvPr/>
        </p:nvSpPr>
        <p:spPr>
          <a:xfrm>
            <a:off x="36762" y="190407"/>
            <a:ext cx="75567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Approach2:Privilege escalation exploiting PowerShell vulnerabilities</a:t>
            </a:r>
            <a:br>
              <a:rPr lang="en-US" altLang="ja-JP" sz="1400" dirty="0"/>
            </a:br>
            <a:endParaRPr kumimoji="1" lang="ja-JP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47615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008B3FC5-0B66-442B-AB2E-64333D13C6BA}"/>
              </a:ext>
            </a:extLst>
          </p:cNvPr>
          <p:cNvSpPr/>
          <p:nvPr/>
        </p:nvSpPr>
        <p:spPr>
          <a:xfrm>
            <a:off x="5516985" y="3161939"/>
            <a:ext cx="1178229" cy="5341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Attacker</a:t>
            </a:r>
            <a:endParaRPr kumimoji="1" lang="ja-JP" altLang="en-US" sz="1400" dirty="0"/>
          </a:p>
        </p:txBody>
      </p:sp>
      <p:cxnSp>
        <p:nvCxnSpPr>
          <p:cNvPr id="7" name="コネクタ: 曲線 6">
            <a:extLst>
              <a:ext uri="{FF2B5EF4-FFF2-40B4-BE49-F238E27FC236}">
                <a16:creationId xmlns:a16="http://schemas.microsoft.com/office/drawing/2014/main" id="{5CBDE028-BF22-410F-AA82-6A727A11690D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>
            <a:off x="4156495" y="2824430"/>
            <a:ext cx="1360490" cy="60457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コネクタ: 曲線 7">
            <a:extLst>
              <a:ext uri="{FF2B5EF4-FFF2-40B4-BE49-F238E27FC236}">
                <a16:creationId xmlns:a16="http://schemas.microsoft.com/office/drawing/2014/main" id="{191AA4AB-F7E5-4D66-B6A1-114769F9C894}"/>
              </a:ext>
            </a:extLst>
          </p:cNvPr>
          <p:cNvCxnSpPr>
            <a:cxnSpLocks/>
            <a:stCxn id="5" idx="1"/>
          </p:cNvCxnSpPr>
          <p:nvPr/>
        </p:nvCxnSpPr>
        <p:spPr>
          <a:xfrm rot="10800000" flipV="1">
            <a:off x="4230235" y="3429000"/>
            <a:ext cx="1286751" cy="35954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コネクタ: 曲線 12">
            <a:extLst>
              <a:ext uri="{FF2B5EF4-FFF2-40B4-BE49-F238E27FC236}">
                <a16:creationId xmlns:a16="http://schemas.microsoft.com/office/drawing/2014/main" id="{2C4A3565-08A7-4166-8FC0-922753FDC1A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695214" y="2849806"/>
            <a:ext cx="756563" cy="5791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コネクタ: 曲線 13">
            <a:extLst>
              <a:ext uri="{FF2B5EF4-FFF2-40B4-BE49-F238E27FC236}">
                <a16:creationId xmlns:a16="http://schemas.microsoft.com/office/drawing/2014/main" id="{A438017C-86A6-452B-B2AE-121AC51349B0}"/>
              </a:ext>
            </a:extLst>
          </p:cNvPr>
          <p:cNvCxnSpPr>
            <a:cxnSpLocks/>
          </p:cNvCxnSpPr>
          <p:nvPr/>
        </p:nvCxnSpPr>
        <p:spPr>
          <a:xfrm>
            <a:off x="6465026" y="3454733"/>
            <a:ext cx="1670614" cy="1563426"/>
          </a:xfrm>
          <a:prstGeom prst="curvedConnector3">
            <a:avLst>
              <a:gd name="adj1" fmla="val 3967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FBB44A-21BE-4A1F-93BA-449D4FDB35EF}"/>
              </a:ext>
            </a:extLst>
          </p:cNvPr>
          <p:cNvSpPr txBox="1"/>
          <p:nvPr/>
        </p:nvSpPr>
        <p:spPr>
          <a:xfrm>
            <a:off x="7400634" y="2691103"/>
            <a:ext cx="12426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Reconnaissance</a:t>
            </a:r>
            <a:endParaRPr kumimoji="1" lang="ja-JP" altLang="en-US" sz="1050" dirty="0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858D829-C1B2-4FFA-9404-FEED3E5107E8}"/>
              </a:ext>
            </a:extLst>
          </p:cNvPr>
          <p:cNvSpPr txBox="1"/>
          <p:nvPr/>
        </p:nvSpPr>
        <p:spPr>
          <a:xfrm>
            <a:off x="7605925" y="3955178"/>
            <a:ext cx="11416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W</a:t>
            </a:r>
            <a:r>
              <a:rPr kumimoji="1" lang="en-US" altLang="ja-JP" sz="1050" dirty="0"/>
              <a:t>eaponization</a:t>
            </a:r>
            <a:endParaRPr kumimoji="1" lang="ja-JP" altLang="en-US" sz="105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DA4961E-6428-4833-B65F-9E7BDEDB8164}"/>
              </a:ext>
            </a:extLst>
          </p:cNvPr>
          <p:cNvSpPr txBox="1"/>
          <p:nvPr/>
        </p:nvSpPr>
        <p:spPr>
          <a:xfrm>
            <a:off x="3340483" y="2693948"/>
            <a:ext cx="94929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Exploitation</a:t>
            </a:r>
            <a:endParaRPr kumimoji="1" lang="ja-JP" altLang="en-US" sz="1050" dirty="0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6877050A-AC1F-4F0A-A5AB-C08D7AC53702}"/>
              </a:ext>
            </a:extLst>
          </p:cNvPr>
          <p:cNvSpPr txBox="1"/>
          <p:nvPr/>
        </p:nvSpPr>
        <p:spPr>
          <a:xfrm>
            <a:off x="3319958" y="3678857"/>
            <a:ext cx="91884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Persistence</a:t>
            </a:r>
            <a:endParaRPr kumimoji="1" lang="ja-JP" altLang="en-US" sz="1050" dirty="0"/>
          </a:p>
        </p:txBody>
      </p:sp>
      <p:cxnSp>
        <p:nvCxnSpPr>
          <p:cNvPr id="12" name="コネクタ: 曲線 11">
            <a:extLst>
              <a:ext uri="{FF2B5EF4-FFF2-40B4-BE49-F238E27FC236}">
                <a16:creationId xmlns:a16="http://schemas.microsoft.com/office/drawing/2014/main" id="{6E2A5665-1553-4920-907F-4EAA7F983F06}"/>
              </a:ext>
            </a:extLst>
          </p:cNvPr>
          <p:cNvCxnSpPr>
            <a:cxnSpLocks/>
          </p:cNvCxnSpPr>
          <p:nvPr/>
        </p:nvCxnSpPr>
        <p:spPr>
          <a:xfrm rot="10800000">
            <a:off x="2098282" y="2281181"/>
            <a:ext cx="1259457" cy="53412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コネクタ: 曲線 14">
            <a:extLst>
              <a:ext uri="{FF2B5EF4-FFF2-40B4-BE49-F238E27FC236}">
                <a16:creationId xmlns:a16="http://schemas.microsoft.com/office/drawing/2014/main" id="{46A4AB02-96B7-4CE0-B4EC-7D6F5FB1F01F}"/>
              </a:ext>
            </a:extLst>
          </p:cNvPr>
          <p:cNvCxnSpPr>
            <a:cxnSpLocks/>
          </p:cNvCxnSpPr>
          <p:nvPr/>
        </p:nvCxnSpPr>
        <p:spPr>
          <a:xfrm flipV="1">
            <a:off x="8495222" y="2293253"/>
            <a:ext cx="827755" cy="53577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コネクタ: 曲線 16">
            <a:extLst>
              <a:ext uri="{FF2B5EF4-FFF2-40B4-BE49-F238E27FC236}">
                <a16:creationId xmlns:a16="http://schemas.microsoft.com/office/drawing/2014/main" id="{D1F49819-3FA7-42EC-BF94-E118A36C2AC3}"/>
              </a:ext>
            </a:extLst>
          </p:cNvPr>
          <p:cNvCxnSpPr>
            <a:cxnSpLocks/>
          </p:cNvCxnSpPr>
          <p:nvPr/>
        </p:nvCxnSpPr>
        <p:spPr>
          <a:xfrm>
            <a:off x="8487102" y="2821908"/>
            <a:ext cx="835875" cy="25150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89D94D54-D185-4B4C-85C9-5A11A84B0488}"/>
              </a:ext>
            </a:extLst>
          </p:cNvPr>
          <p:cNvSpPr txBox="1"/>
          <p:nvPr/>
        </p:nvSpPr>
        <p:spPr>
          <a:xfrm>
            <a:off x="9297756" y="2150155"/>
            <a:ext cx="7617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 err="1"/>
              <a:t>Portscan</a:t>
            </a:r>
            <a:endParaRPr kumimoji="1" lang="ja-JP" altLang="en-US" sz="105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A176BD3-E891-46F7-8BF4-55CD9A1114FB}"/>
              </a:ext>
            </a:extLst>
          </p:cNvPr>
          <p:cNvSpPr txBox="1"/>
          <p:nvPr/>
        </p:nvSpPr>
        <p:spPr>
          <a:xfrm>
            <a:off x="9322977" y="2946932"/>
            <a:ext cx="76976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 err="1"/>
              <a:t>Host</a:t>
            </a:r>
            <a:r>
              <a:rPr kumimoji="1" lang="en-US" altLang="ja-JP" sz="1050" dirty="0" err="1"/>
              <a:t>scan</a:t>
            </a:r>
            <a:endParaRPr kumimoji="1" lang="ja-JP" altLang="en-US" sz="1050" dirty="0"/>
          </a:p>
        </p:txBody>
      </p:sp>
      <p:cxnSp>
        <p:nvCxnSpPr>
          <p:cNvPr id="35" name="コネクタ: 曲線 34">
            <a:extLst>
              <a:ext uri="{FF2B5EF4-FFF2-40B4-BE49-F238E27FC236}">
                <a16:creationId xmlns:a16="http://schemas.microsoft.com/office/drawing/2014/main" id="{8B259B4A-BC07-4C30-A612-A2B3276951BE}"/>
              </a:ext>
            </a:extLst>
          </p:cNvPr>
          <p:cNvCxnSpPr>
            <a:cxnSpLocks/>
          </p:cNvCxnSpPr>
          <p:nvPr/>
        </p:nvCxnSpPr>
        <p:spPr>
          <a:xfrm flipV="1">
            <a:off x="10059503" y="2055428"/>
            <a:ext cx="516485" cy="225533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FD874A4-E8A1-450A-B858-19BB720230B0}"/>
              </a:ext>
            </a:extLst>
          </p:cNvPr>
          <p:cNvSpPr txBox="1"/>
          <p:nvPr/>
        </p:nvSpPr>
        <p:spPr>
          <a:xfrm>
            <a:off x="10575988" y="1896239"/>
            <a:ext cx="6527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Nmap -</a:t>
            </a:r>
            <a:endParaRPr kumimoji="1" lang="ja-JP" altLang="en-US" sz="1050" dirty="0"/>
          </a:p>
        </p:txBody>
      </p:sp>
      <p:cxnSp>
        <p:nvCxnSpPr>
          <p:cNvPr id="38" name="コネクタ: 曲線 37">
            <a:extLst>
              <a:ext uri="{FF2B5EF4-FFF2-40B4-BE49-F238E27FC236}">
                <a16:creationId xmlns:a16="http://schemas.microsoft.com/office/drawing/2014/main" id="{91D4D4E4-5B0E-43C0-8A4C-A06C09C85A63}"/>
              </a:ext>
            </a:extLst>
          </p:cNvPr>
          <p:cNvCxnSpPr>
            <a:cxnSpLocks/>
          </p:cNvCxnSpPr>
          <p:nvPr/>
        </p:nvCxnSpPr>
        <p:spPr>
          <a:xfrm>
            <a:off x="10059503" y="2312540"/>
            <a:ext cx="516485" cy="99225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45C3702-46B4-43A1-8276-FE32C57302FF}"/>
              </a:ext>
            </a:extLst>
          </p:cNvPr>
          <p:cNvSpPr txBox="1"/>
          <p:nvPr/>
        </p:nvSpPr>
        <p:spPr>
          <a:xfrm>
            <a:off x="10629958" y="2280960"/>
            <a:ext cx="33214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 err="1"/>
              <a:t>nc</a:t>
            </a:r>
            <a:endParaRPr kumimoji="1" lang="ja-JP" altLang="en-US" sz="1050" dirty="0"/>
          </a:p>
        </p:txBody>
      </p:sp>
      <p:cxnSp>
        <p:nvCxnSpPr>
          <p:cNvPr id="44" name="コネクタ: 曲線 43">
            <a:extLst>
              <a:ext uri="{FF2B5EF4-FFF2-40B4-BE49-F238E27FC236}">
                <a16:creationId xmlns:a16="http://schemas.microsoft.com/office/drawing/2014/main" id="{22646BC0-4F59-48A5-98D9-4E4EAB6EDF3D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9892788" y="2849806"/>
            <a:ext cx="559921" cy="22989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コネクタ: 曲線 44">
            <a:extLst>
              <a:ext uri="{FF2B5EF4-FFF2-40B4-BE49-F238E27FC236}">
                <a16:creationId xmlns:a16="http://schemas.microsoft.com/office/drawing/2014/main" id="{C8FE77A2-2D3E-49D7-A733-DB8DF0B732CE}"/>
              </a:ext>
            </a:extLst>
          </p:cNvPr>
          <p:cNvCxnSpPr>
            <a:cxnSpLocks/>
            <a:stCxn id="30" idx="3"/>
            <a:endCxn id="47" idx="1"/>
          </p:cNvCxnSpPr>
          <p:nvPr/>
        </p:nvCxnSpPr>
        <p:spPr>
          <a:xfrm>
            <a:off x="10092740" y="3073890"/>
            <a:ext cx="345480" cy="21395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27C49963-809B-400C-9E0C-4490203ADD53}"/>
              </a:ext>
            </a:extLst>
          </p:cNvPr>
          <p:cNvSpPr txBox="1"/>
          <p:nvPr/>
        </p:nvSpPr>
        <p:spPr>
          <a:xfrm>
            <a:off x="10452709" y="2722848"/>
            <a:ext cx="12554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Ping &lt;Target </a:t>
            </a:r>
            <a:r>
              <a:rPr kumimoji="1" lang="en-US" altLang="ja-JP" sz="1050" dirty="0" err="1"/>
              <a:t>ip</a:t>
            </a:r>
            <a:r>
              <a:rPr kumimoji="1" lang="en-US" altLang="ja-JP" sz="1050" dirty="0"/>
              <a:t>&gt;</a:t>
            </a:r>
            <a:endParaRPr kumimoji="1" lang="ja-JP" altLang="en-US" sz="1050" dirty="0"/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44519FF8-DDC7-441C-A93E-DE6466F2F877}"/>
              </a:ext>
            </a:extLst>
          </p:cNvPr>
          <p:cNvSpPr txBox="1"/>
          <p:nvPr/>
        </p:nvSpPr>
        <p:spPr>
          <a:xfrm>
            <a:off x="10438220" y="3160889"/>
            <a:ext cx="150714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 err="1"/>
              <a:t>nc</a:t>
            </a:r>
            <a:r>
              <a:rPr lang="en-US" altLang="ja-JP" sz="1050" dirty="0"/>
              <a:t> –v –w &lt;Target </a:t>
            </a:r>
            <a:r>
              <a:rPr lang="en-US" altLang="ja-JP" sz="1050" dirty="0" err="1"/>
              <a:t>ip</a:t>
            </a:r>
            <a:r>
              <a:rPr lang="en-US" altLang="ja-JP" sz="1050" dirty="0"/>
              <a:t>&gt;</a:t>
            </a:r>
            <a:endParaRPr kumimoji="1" lang="ja-JP" altLang="en-US" sz="1050" dirty="0"/>
          </a:p>
        </p:txBody>
      </p:sp>
      <p:cxnSp>
        <p:nvCxnSpPr>
          <p:cNvPr id="48" name="コネクタ: 曲線 47">
            <a:extLst>
              <a:ext uri="{FF2B5EF4-FFF2-40B4-BE49-F238E27FC236}">
                <a16:creationId xmlns:a16="http://schemas.microsoft.com/office/drawing/2014/main" id="{F646D556-FA6E-4E82-9682-AE5EE3588102}"/>
              </a:ext>
            </a:extLst>
          </p:cNvPr>
          <p:cNvCxnSpPr>
            <a:cxnSpLocks/>
          </p:cNvCxnSpPr>
          <p:nvPr/>
        </p:nvCxnSpPr>
        <p:spPr>
          <a:xfrm flipV="1">
            <a:off x="8562085" y="4071619"/>
            <a:ext cx="1227421" cy="712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コネクタ: 曲線 48">
            <a:extLst>
              <a:ext uri="{FF2B5EF4-FFF2-40B4-BE49-F238E27FC236}">
                <a16:creationId xmlns:a16="http://schemas.microsoft.com/office/drawing/2014/main" id="{AC71D133-9DB8-4FA5-AC54-3F32B5153CFB}"/>
              </a:ext>
            </a:extLst>
          </p:cNvPr>
          <p:cNvCxnSpPr>
            <a:cxnSpLocks/>
          </p:cNvCxnSpPr>
          <p:nvPr/>
        </p:nvCxnSpPr>
        <p:spPr>
          <a:xfrm>
            <a:off x="8553965" y="4071619"/>
            <a:ext cx="1153893" cy="6556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コネクタ: 曲線 77">
            <a:extLst>
              <a:ext uri="{FF2B5EF4-FFF2-40B4-BE49-F238E27FC236}">
                <a16:creationId xmlns:a16="http://schemas.microsoft.com/office/drawing/2014/main" id="{16967EA8-B3A3-4DDA-99E6-902585877BA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8395036" y="1914015"/>
            <a:ext cx="1029890" cy="77554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B1F16FED-DA7D-4DE1-B3ED-E55F27E892C8}"/>
              </a:ext>
            </a:extLst>
          </p:cNvPr>
          <p:cNvSpPr txBox="1"/>
          <p:nvPr/>
        </p:nvSpPr>
        <p:spPr>
          <a:xfrm>
            <a:off x="8900026" y="1537334"/>
            <a:ext cx="67037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website</a:t>
            </a:r>
            <a:endParaRPr kumimoji="1" lang="ja-JP" altLang="en-US" sz="1050" dirty="0"/>
          </a:p>
        </p:txBody>
      </p:sp>
      <p:cxnSp>
        <p:nvCxnSpPr>
          <p:cNvPr id="82" name="コネクタ: 曲線 81">
            <a:extLst>
              <a:ext uri="{FF2B5EF4-FFF2-40B4-BE49-F238E27FC236}">
                <a16:creationId xmlns:a16="http://schemas.microsoft.com/office/drawing/2014/main" id="{1ABA435C-7305-42E0-B49D-6CD2A07881A3}"/>
              </a:ext>
            </a:extLst>
          </p:cNvPr>
          <p:cNvCxnSpPr>
            <a:cxnSpLocks/>
          </p:cNvCxnSpPr>
          <p:nvPr/>
        </p:nvCxnSpPr>
        <p:spPr>
          <a:xfrm flipV="1">
            <a:off x="9519509" y="1442700"/>
            <a:ext cx="539994" cy="22920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D7F536B9-0220-448A-847C-430F0DB2CCEF}"/>
              </a:ext>
            </a:extLst>
          </p:cNvPr>
          <p:cNvSpPr txBox="1"/>
          <p:nvPr/>
        </p:nvSpPr>
        <p:spPr>
          <a:xfrm>
            <a:off x="10031934" y="1327222"/>
            <a:ext cx="102624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SQL Injection</a:t>
            </a:r>
            <a:endParaRPr kumimoji="1" lang="ja-JP" altLang="en-US" sz="1050" dirty="0"/>
          </a:p>
        </p:txBody>
      </p:sp>
      <p:cxnSp>
        <p:nvCxnSpPr>
          <p:cNvPr id="86" name="コネクタ: 曲線 85">
            <a:extLst>
              <a:ext uri="{FF2B5EF4-FFF2-40B4-BE49-F238E27FC236}">
                <a16:creationId xmlns:a16="http://schemas.microsoft.com/office/drawing/2014/main" id="{03D7BBEE-94B5-4168-853C-E75A529BED2A}"/>
              </a:ext>
            </a:extLst>
          </p:cNvPr>
          <p:cNvCxnSpPr>
            <a:cxnSpLocks/>
          </p:cNvCxnSpPr>
          <p:nvPr/>
        </p:nvCxnSpPr>
        <p:spPr>
          <a:xfrm flipV="1">
            <a:off x="9481370" y="1097035"/>
            <a:ext cx="590887" cy="5513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8EFCE878-FA99-4A5E-A723-38142B6E51DC}"/>
              </a:ext>
            </a:extLst>
          </p:cNvPr>
          <p:cNvSpPr txBox="1"/>
          <p:nvPr/>
        </p:nvSpPr>
        <p:spPr>
          <a:xfrm>
            <a:off x="9956936" y="943696"/>
            <a:ext cx="139333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/>
              <a:t>Command Injection</a:t>
            </a:r>
            <a:endParaRPr kumimoji="1" lang="ja-JP" altLang="en-US" sz="1050" dirty="0"/>
          </a:p>
        </p:txBody>
      </p:sp>
      <p:cxnSp>
        <p:nvCxnSpPr>
          <p:cNvPr id="91" name="コネクタ: 曲線 90">
            <a:extLst>
              <a:ext uri="{FF2B5EF4-FFF2-40B4-BE49-F238E27FC236}">
                <a16:creationId xmlns:a16="http://schemas.microsoft.com/office/drawing/2014/main" id="{71BFBF4D-7E87-4728-8C50-B33F92B5884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223123" y="3590821"/>
            <a:ext cx="1302979" cy="1300347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3AC5D570-6667-4FA1-A7E6-52F44953304A}"/>
              </a:ext>
            </a:extLst>
          </p:cNvPr>
          <p:cNvSpPr txBox="1"/>
          <p:nvPr/>
        </p:nvSpPr>
        <p:spPr>
          <a:xfrm>
            <a:off x="2909227" y="4725405"/>
            <a:ext cx="138050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050" dirty="0" err="1"/>
              <a:t>Plivilege</a:t>
            </a:r>
            <a:r>
              <a:rPr lang="en-US" altLang="ja-JP" sz="1050" dirty="0"/>
              <a:t> escalation</a:t>
            </a:r>
            <a:endParaRPr kumimoji="1" lang="ja-JP" altLang="en-US" sz="1050" dirty="0"/>
          </a:p>
        </p:txBody>
      </p:sp>
      <p:cxnSp>
        <p:nvCxnSpPr>
          <p:cNvPr id="42" name="コネクタ: 曲線 41">
            <a:extLst>
              <a:ext uri="{FF2B5EF4-FFF2-40B4-BE49-F238E27FC236}">
                <a16:creationId xmlns:a16="http://schemas.microsoft.com/office/drawing/2014/main" id="{FC496B53-F4D6-4BF2-931F-DDEB88575AE1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6703334" y="3454733"/>
            <a:ext cx="902591" cy="631250"/>
          </a:xfrm>
          <a:prstGeom prst="curvedConnector3">
            <a:avLst>
              <a:gd name="adj1" fmla="val 652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80D33F4A-B1F8-4F1B-BB49-FCB3228A07AD}"/>
              </a:ext>
            </a:extLst>
          </p:cNvPr>
          <p:cNvSpPr txBox="1"/>
          <p:nvPr/>
        </p:nvSpPr>
        <p:spPr>
          <a:xfrm>
            <a:off x="8127463" y="4913087"/>
            <a:ext cx="101021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dirty="0"/>
              <a:t>Initial Access</a:t>
            </a:r>
            <a:endParaRPr kumimoji="1" lang="ja-JP" altLang="en-US" sz="105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AF6E38BC-7001-4018-9E43-C3732F64C25D}"/>
              </a:ext>
            </a:extLst>
          </p:cNvPr>
          <p:cNvSpPr txBox="1"/>
          <p:nvPr/>
        </p:nvSpPr>
        <p:spPr>
          <a:xfrm>
            <a:off x="655607" y="267419"/>
            <a:ext cx="7556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/>
              <a:t>Approach3: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57479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322</Words>
  <Application>Microsoft Office PowerPoint</Application>
  <PresentationFormat>ワイド画面</PresentationFormat>
  <Paragraphs>93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A1259089</dc:creator>
  <cp:lastModifiedBy>内山３曹</cp:lastModifiedBy>
  <cp:revision>22</cp:revision>
  <dcterms:created xsi:type="dcterms:W3CDTF">2026-04-01T06:29:51Z</dcterms:created>
  <dcterms:modified xsi:type="dcterms:W3CDTF">2026-04-06T07:59:47Z</dcterms:modified>
</cp:coreProperties>
</file>