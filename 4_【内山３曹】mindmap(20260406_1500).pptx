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0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7F6240-9BB4-4CDE-B50D-EA9811EAE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E671930-BB4F-4829-A1BE-1C2342D2E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E95D46-9634-42FF-9211-B3618933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444040-9C6B-48AD-8C45-7B71C633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34BCA8-20FB-4B2B-BCD1-A90F5C1F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1174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1E90A6-3AEB-47B9-A2B1-7BDBCEF55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450F7F-6C6C-4D54-B329-C315A3B39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962351-69C4-48B8-BB3B-E448B160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EDECF8-3BB0-4ACB-8A94-D3448CDC3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536C75-3B1B-4793-8E18-31AD188D7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1787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DA8BFF-B49D-4CAF-9784-A5476014A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D20010-F099-47D7-A90B-990C9806F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B9173F-4EFA-446F-8228-E1933DB64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F9C5E1-8761-44D7-B25C-500C8026C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F8A311-CA65-4195-8939-DFC5CF948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8446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1BBD22-601A-41CE-902F-1D8CBA08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6A474A-3302-4DD3-B281-2432A1962D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104D366-611B-405D-AB30-B1DCF65FD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71DA28-8631-423F-8753-47C6FAAB1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3B8B58-8C22-4790-B793-DC0A360E6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CD7D8BB-CED4-4119-B946-18882B25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2463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50E1D7-6C07-4311-BB04-EF6D4BBB2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FE5248-57AB-43FE-A6E0-319346C3F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1DFF57B-C653-4A7E-8164-D15BF1A0E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E8803B4-FEB7-4C82-B7D5-046D7C93E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26B8F58-8ECF-4BA9-8987-1459A7508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49366B2-C979-4463-909E-4AC02DB47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ED961A5-522F-4F67-92F2-FBD5F92C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7C19CF5-1E9B-4FC7-8240-9B5777C65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7344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630A60-243D-4EF3-A46C-7CD73EC64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32EA4FD-3A51-4523-99FC-873F78F2F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75C8B58-414B-44F0-8097-515F3DF2D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6DFAFF4-B559-430D-824D-43518827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579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D26381A-80D8-41B9-8C2C-1102EB526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856D3F3-3D1A-4CA9-81C1-E084C844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26525F0-C284-479D-B209-76A81BAED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476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88D538-AE87-4E4E-BA8B-6DA88CF54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A808B0-473E-49DF-A740-E9CFFC487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510BF89-58D9-4B31-9665-3E4046CE7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9AC7E03-8683-45BB-9CE4-52C31E57D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AF32E4-6C85-445A-A0AF-A09FA0B87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5C71E8-8A5F-42B9-8D5A-DE8B8BD5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689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2EA50B-2F99-47A9-9C28-7DA0D666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C6691E3-A0FE-442F-8709-BBBEFB26FA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317129C-7D06-4C07-BB94-C04CCEB96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23B2BC-7DAF-4437-B6E9-B453D858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8F4B33-52BF-4887-BC09-4664748D4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72B65CE-8A20-40CB-B007-3CF99F1F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222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1B8B4F-4C71-4ED6-BF8B-87FAF8FC3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C737CD4-F7E6-4A12-BDE9-FAA598A49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E0B2CF-D2D0-4A81-8E22-BD41ED52C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FD26B0-2FDA-4D96-B6ED-CFF901B19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7AEF39-6E95-47DF-BBAD-CA34A5F4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7174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6F47A1C-C7D4-4FF8-A355-D15CA1E56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848E2FC-BB1C-4D5A-86B0-3E8C3F845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33DFDD-45CD-4FB4-913F-B09BE4EB6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025249-3FA0-4084-B42A-58FCA861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80FC31-1746-45F7-8974-C86685EDE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158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D615794-93F6-45F2-A86C-8978BA77B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398CA5-7137-45B7-B9DB-8654C2E91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F5734A-5DB6-4505-84AD-AD30963584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2A2100-9CF5-4810-8B63-A5163427A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55DE07-ADE3-4621-AFEF-A9629FF11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010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08B3FC5-0B66-442B-AB2E-64333D13C6BA}"/>
              </a:ext>
            </a:extLst>
          </p:cNvPr>
          <p:cNvSpPr/>
          <p:nvPr/>
        </p:nvSpPr>
        <p:spPr>
          <a:xfrm>
            <a:off x="5642690" y="3161940"/>
            <a:ext cx="757303" cy="331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dirty="0"/>
              <a:t>Attacker</a:t>
            </a:r>
            <a:endParaRPr kumimoji="1" lang="ja-JP" altLang="en-US" sz="1100" dirty="0"/>
          </a:p>
        </p:txBody>
      </p:sp>
      <p:cxnSp>
        <p:nvCxnSpPr>
          <p:cNvPr id="7" name="コネクタ: 曲線 6">
            <a:extLst>
              <a:ext uri="{FF2B5EF4-FFF2-40B4-BE49-F238E27FC236}">
                <a16:creationId xmlns:a16="http://schemas.microsoft.com/office/drawing/2014/main" id="{5CBDE028-BF22-410F-AA82-6A727A11690D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>
            <a:off x="4282204" y="2824437"/>
            <a:ext cx="1360486" cy="50303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コネクタ: 曲線 7">
            <a:extLst>
              <a:ext uri="{FF2B5EF4-FFF2-40B4-BE49-F238E27FC236}">
                <a16:creationId xmlns:a16="http://schemas.microsoft.com/office/drawing/2014/main" id="{191AA4AB-F7E5-4D66-B6A1-114769F9C894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4355944" y="3327471"/>
            <a:ext cx="1286747" cy="46106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曲線 12">
            <a:extLst>
              <a:ext uri="{FF2B5EF4-FFF2-40B4-BE49-F238E27FC236}">
                <a16:creationId xmlns:a16="http://schemas.microsoft.com/office/drawing/2014/main" id="{2C4A3565-08A7-4166-8FC0-922753FDC1AE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399993" y="2849807"/>
            <a:ext cx="1177489" cy="47766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コネクタ: 曲線 13">
            <a:extLst>
              <a:ext uri="{FF2B5EF4-FFF2-40B4-BE49-F238E27FC236}">
                <a16:creationId xmlns:a16="http://schemas.microsoft.com/office/drawing/2014/main" id="{A438017C-86A6-452B-B2AE-121AC51349B0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399993" y="3327471"/>
            <a:ext cx="1735647" cy="169068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0FBB44A-21BE-4A1F-93BA-449D4FDB35EF}"/>
              </a:ext>
            </a:extLst>
          </p:cNvPr>
          <p:cNvSpPr txBox="1"/>
          <p:nvPr/>
        </p:nvSpPr>
        <p:spPr>
          <a:xfrm>
            <a:off x="7400634" y="2691103"/>
            <a:ext cx="10518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/>
              <a:t>Reconnaissance</a:t>
            </a:r>
            <a:endParaRPr kumimoji="1" lang="ja-JP" altLang="en-US" sz="9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858D829-C1B2-4FFA-9404-FEED3E5107E8}"/>
              </a:ext>
            </a:extLst>
          </p:cNvPr>
          <p:cNvSpPr txBox="1"/>
          <p:nvPr/>
        </p:nvSpPr>
        <p:spPr>
          <a:xfrm>
            <a:off x="7593501" y="3586979"/>
            <a:ext cx="9685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/>
              <a:t>W</a:t>
            </a:r>
            <a:r>
              <a:rPr kumimoji="1" lang="en-US" altLang="ja-JP" sz="900" dirty="0"/>
              <a:t>eaponization</a:t>
            </a:r>
            <a:endParaRPr kumimoji="1" lang="ja-JP" altLang="en-US" sz="9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DA4961E-6428-4833-B65F-9E7BDEDB8164}"/>
              </a:ext>
            </a:extLst>
          </p:cNvPr>
          <p:cNvSpPr txBox="1"/>
          <p:nvPr/>
        </p:nvSpPr>
        <p:spPr>
          <a:xfrm>
            <a:off x="3513118" y="2711450"/>
            <a:ext cx="8114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/>
              <a:t>Exploitation</a:t>
            </a:r>
            <a:endParaRPr kumimoji="1" lang="ja-JP" altLang="en-US" sz="9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877050A-AC1F-4F0A-A5AB-C08D7AC53702}"/>
              </a:ext>
            </a:extLst>
          </p:cNvPr>
          <p:cNvSpPr txBox="1"/>
          <p:nvPr/>
        </p:nvSpPr>
        <p:spPr>
          <a:xfrm>
            <a:off x="3588511" y="3669268"/>
            <a:ext cx="8114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/>
              <a:t>Persistence</a:t>
            </a:r>
            <a:endParaRPr kumimoji="1" lang="ja-JP" altLang="en-US" sz="900" dirty="0"/>
          </a:p>
        </p:txBody>
      </p:sp>
      <p:cxnSp>
        <p:nvCxnSpPr>
          <p:cNvPr id="12" name="コネクタ: 曲線 11">
            <a:extLst>
              <a:ext uri="{FF2B5EF4-FFF2-40B4-BE49-F238E27FC236}">
                <a16:creationId xmlns:a16="http://schemas.microsoft.com/office/drawing/2014/main" id="{6E2A5665-1553-4920-907F-4EAA7F983F06}"/>
              </a:ext>
            </a:extLst>
          </p:cNvPr>
          <p:cNvCxnSpPr>
            <a:cxnSpLocks/>
          </p:cNvCxnSpPr>
          <p:nvPr/>
        </p:nvCxnSpPr>
        <p:spPr>
          <a:xfrm rot="10800000">
            <a:off x="2891299" y="3483543"/>
            <a:ext cx="758850" cy="31562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コネクタ: 曲線 14">
            <a:extLst>
              <a:ext uri="{FF2B5EF4-FFF2-40B4-BE49-F238E27FC236}">
                <a16:creationId xmlns:a16="http://schemas.microsoft.com/office/drawing/2014/main" id="{46A4AB02-96B7-4CE0-B4EC-7D6F5FB1F01F}"/>
              </a:ext>
            </a:extLst>
          </p:cNvPr>
          <p:cNvCxnSpPr>
            <a:cxnSpLocks/>
          </p:cNvCxnSpPr>
          <p:nvPr/>
        </p:nvCxnSpPr>
        <p:spPr>
          <a:xfrm flipV="1">
            <a:off x="8365541" y="2304152"/>
            <a:ext cx="827755" cy="53577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曲線 16">
            <a:extLst>
              <a:ext uri="{FF2B5EF4-FFF2-40B4-BE49-F238E27FC236}">
                <a16:creationId xmlns:a16="http://schemas.microsoft.com/office/drawing/2014/main" id="{D1F49819-3FA7-42EC-BF94-E118A36C2AC3}"/>
              </a:ext>
            </a:extLst>
          </p:cNvPr>
          <p:cNvCxnSpPr>
            <a:cxnSpLocks/>
          </p:cNvCxnSpPr>
          <p:nvPr/>
        </p:nvCxnSpPr>
        <p:spPr>
          <a:xfrm>
            <a:off x="8407733" y="2821819"/>
            <a:ext cx="835875" cy="25150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9D94D54-D185-4B4C-85C9-5A11A84B0488}"/>
              </a:ext>
            </a:extLst>
          </p:cNvPr>
          <p:cNvSpPr txBox="1"/>
          <p:nvPr/>
        </p:nvSpPr>
        <p:spPr>
          <a:xfrm>
            <a:off x="9171735" y="2177223"/>
            <a:ext cx="6575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 err="1"/>
              <a:t>Portscan</a:t>
            </a:r>
            <a:endParaRPr kumimoji="1" lang="ja-JP" altLang="en-US" sz="9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A176BD3-E891-46F7-8BF4-55CD9A1114FB}"/>
              </a:ext>
            </a:extLst>
          </p:cNvPr>
          <p:cNvSpPr txBox="1"/>
          <p:nvPr/>
        </p:nvSpPr>
        <p:spPr>
          <a:xfrm>
            <a:off x="9177107" y="2948562"/>
            <a:ext cx="6848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 err="1"/>
              <a:t>Host</a:t>
            </a:r>
            <a:r>
              <a:rPr kumimoji="1" lang="en-US" altLang="ja-JP" sz="900" dirty="0" err="1"/>
              <a:t>scan</a:t>
            </a:r>
            <a:endParaRPr kumimoji="1" lang="ja-JP" altLang="en-US" sz="900" dirty="0"/>
          </a:p>
        </p:txBody>
      </p:sp>
      <p:cxnSp>
        <p:nvCxnSpPr>
          <p:cNvPr id="35" name="コネクタ: 曲線 34">
            <a:extLst>
              <a:ext uri="{FF2B5EF4-FFF2-40B4-BE49-F238E27FC236}">
                <a16:creationId xmlns:a16="http://schemas.microsoft.com/office/drawing/2014/main" id="{8B259B4A-BC07-4C30-A612-A2B3276951BE}"/>
              </a:ext>
            </a:extLst>
          </p:cNvPr>
          <p:cNvCxnSpPr>
            <a:cxnSpLocks/>
          </p:cNvCxnSpPr>
          <p:nvPr/>
        </p:nvCxnSpPr>
        <p:spPr>
          <a:xfrm flipV="1">
            <a:off x="9789506" y="2069244"/>
            <a:ext cx="516485" cy="22553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FD874A4-E8A1-450A-B858-19BB720230B0}"/>
              </a:ext>
            </a:extLst>
          </p:cNvPr>
          <p:cNvSpPr txBox="1"/>
          <p:nvPr/>
        </p:nvSpPr>
        <p:spPr>
          <a:xfrm>
            <a:off x="10256697" y="1950054"/>
            <a:ext cx="753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/>
              <a:t>Nmap  -</a:t>
            </a:r>
            <a:r>
              <a:rPr kumimoji="1" lang="en-US" altLang="ja-JP" sz="900" dirty="0" err="1"/>
              <a:t>sV</a:t>
            </a:r>
            <a:endParaRPr kumimoji="1" lang="ja-JP" altLang="en-US" sz="900" dirty="0"/>
          </a:p>
        </p:txBody>
      </p:sp>
      <p:cxnSp>
        <p:nvCxnSpPr>
          <p:cNvPr id="38" name="コネクタ: 曲線 37">
            <a:extLst>
              <a:ext uri="{FF2B5EF4-FFF2-40B4-BE49-F238E27FC236}">
                <a16:creationId xmlns:a16="http://schemas.microsoft.com/office/drawing/2014/main" id="{91D4D4E4-5B0E-43C0-8A4C-A06C09C85A63}"/>
              </a:ext>
            </a:extLst>
          </p:cNvPr>
          <p:cNvCxnSpPr>
            <a:cxnSpLocks/>
          </p:cNvCxnSpPr>
          <p:nvPr/>
        </p:nvCxnSpPr>
        <p:spPr>
          <a:xfrm>
            <a:off x="9789506" y="2326356"/>
            <a:ext cx="516485" cy="992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845C3702-46B4-43A1-8276-FE32C57302FF}"/>
              </a:ext>
            </a:extLst>
          </p:cNvPr>
          <p:cNvSpPr txBox="1"/>
          <p:nvPr/>
        </p:nvSpPr>
        <p:spPr>
          <a:xfrm>
            <a:off x="10256697" y="2331085"/>
            <a:ext cx="12715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/>
              <a:t>Nc –v -z &lt;target IP&gt;</a:t>
            </a:r>
            <a:endParaRPr kumimoji="1" lang="ja-JP" altLang="en-US" sz="900" dirty="0"/>
          </a:p>
        </p:txBody>
      </p:sp>
      <p:cxnSp>
        <p:nvCxnSpPr>
          <p:cNvPr id="44" name="コネクタ: 曲線 43">
            <a:extLst>
              <a:ext uri="{FF2B5EF4-FFF2-40B4-BE49-F238E27FC236}">
                <a16:creationId xmlns:a16="http://schemas.microsoft.com/office/drawing/2014/main" id="{22646BC0-4F59-48A5-98D9-4E4EAB6EDF3D}"/>
              </a:ext>
            </a:extLst>
          </p:cNvPr>
          <p:cNvCxnSpPr>
            <a:cxnSpLocks/>
            <a:endCxn id="46" idx="1"/>
          </p:cNvCxnSpPr>
          <p:nvPr/>
        </p:nvCxnSpPr>
        <p:spPr>
          <a:xfrm flipV="1">
            <a:off x="10184922" y="2826866"/>
            <a:ext cx="559921" cy="24143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コネクタ: 曲線 44">
            <a:extLst>
              <a:ext uri="{FF2B5EF4-FFF2-40B4-BE49-F238E27FC236}">
                <a16:creationId xmlns:a16="http://schemas.microsoft.com/office/drawing/2014/main" id="{C8FE77A2-2D3E-49D7-A733-DB8DF0B732CE}"/>
              </a:ext>
            </a:extLst>
          </p:cNvPr>
          <p:cNvCxnSpPr>
            <a:cxnSpLocks/>
            <a:stCxn id="30" idx="3"/>
            <a:endCxn id="47" idx="1"/>
          </p:cNvCxnSpPr>
          <p:nvPr/>
        </p:nvCxnSpPr>
        <p:spPr>
          <a:xfrm>
            <a:off x="9861910" y="3063978"/>
            <a:ext cx="987393" cy="14376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7C49963-809B-400C-9E0C-4490203ADD53}"/>
              </a:ext>
            </a:extLst>
          </p:cNvPr>
          <p:cNvSpPr txBox="1"/>
          <p:nvPr/>
        </p:nvSpPr>
        <p:spPr>
          <a:xfrm>
            <a:off x="10744843" y="2711450"/>
            <a:ext cx="1098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/>
              <a:t>Ping &lt;Target </a:t>
            </a:r>
            <a:r>
              <a:rPr kumimoji="1" lang="en-US" altLang="ja-JP" sz="900" dirty="0" err="1"/>
              <a:t>ip</a:t>
            </a:r>
            <a:r>
              <a:rPr kumimoji="1" lang="en-US" altLang="ja-JP" sz="900" dirty="0"/>
              <a:t>&gt;</a:t>
            </a:r>
            <a:endParaRPr kumimoji="1" lang="ja-JP" altLang="en-US" sz="9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4519FF8-DDC7-441C-A93E-DE6466F2F877}"/>
              </a:ext>
            </a:extLst>
          </p:cNvPr>
          <p:cNvSpPr txBox="1"/>
          <p:nvPr/>
        </p:nvSpPr>
        <p:spPr>
          <a:xfrm>
            <a:off x="10849303" y="3092323"/>
            <a:ext cx="13163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 err="1"/>
              <a:t>nc</a:t>
            </a:r>
            <a:r>
              <a:rPr lang="en-US" altLang="ja-JP" sz="900" dirty="0"/>
              <a:t> –v –w &lt;Target </a:t>
            </a:r>
            <a:r>
              <a:rPr lang="en-US" altLang="ja-JP" sz="900" dirty="0" err="1"/>
              <a:t>ip</a:t>
            </a:r>
            <a:r>
              <a:rPr lang="en-US" altLang="ja-JP" sz="900" dirty="0"/>
              <a:t>&gt;</a:t>
            </a:r>
            <a:endParaRPr kumimoji="1" lang="ja-JP" altLang="en-US" sz="900" dirty="0"/>
          </a:p>
        </p:txBody>
      </p:sp>
      <p:cxnSp>
        <p:nvCxnSpPr>
          <p:cNvPr id="48" name="コネクタ: 曲線 47">
            <a:extLst>
              <a:ext uri="{FF2B5EF4-FFF2-40B4-BE49-F238E27FC236}">
                <a16:creationId xmlns:a16="http://schemas.microsoft.com/office/drawing/2014/main" id="{F646D556-FA6E-4E82-9682-AE5EE3588102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562036" y="3702395"/>
            <a:ext cx="1227470" cy="36922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曲線 48">
            <a:extLst>
              <a:ext uri="{FF2B5EF4-FFF2-40B4-BE49-F238E27FC236}">
                <a16:creationId xmlns:a16="http://schemas.microsoft.com/office/drawing/2014/main" id="{AC71D133-9DB8-4FA5-AC54-3F32B5153CFB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562036" y="3702395"/>
            <a:ext cx="1227470" cy="77471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コネクタ: 曲線 77">
            <a:extLst>
              <a:ext uri="{FF2B5EF4-FFF2-40B4-BE49-F238E27FC236}">
                <a16:creationId xmlns:a16="http://schemas.microsoft.com/office/drawing/2014/main" id="{16967EA8-B3A3-4DDA-99E6-902585877BA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274905" y="1873741"/>
            <a:ext cx="1029890" cy="7755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B1F16FED-DA7D-4DE1-B3ED-E55F27E892C8}"/>
              </a:ext>
            </a:extLst>
          </p:cNvPr>
          <p:cNvSpPr txBox="1"/>
          <p:nvPr/>
        </p:nvSpPr>
        <p:spPr>
          <a:xfrm>
            <a:off x="8900026" y="1537334"/>
            <a:ext cx="5998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/>
              <a:t>website</a:t>
            </a:r>
            <a:endParaRPr kumimoji="1" lang="ja-JP" altLang="en-US" sz="900" dirty="0"/>
          </a:p>
        </p:txBody>
      </p:sp>
      <p:cxnSp>
        <p:nvCxnSpPr>
          <p:cNvPr id="82" name="コネクタ: 曲線 81">
            <a:extLst>
              <a:ext uri="{FF2B5EF4-FFF2-40B4-BE49-F238E27FC236}">
                <a16:creationId xmlns:a16="http://schemas.microsoft.com/office/drawing/2014/main" id="{1ABA435C-7305-42E0-B49D-6CD2A07881A3}"/>
              </a:ext>
            </a:extLst>
          </p:cNvPr>
          <p:cNvCxnSpPr>
            <a:cxnSpLocks/>
          </p:cNvCxnSpPr>
          <p:nvPr/>
        </p:nvCxnSpPr>
        <p:spPr>
          <a:xfrm flipV="1">
            <a:off x="9519509" y="1442700"/>
            <a:ext cx="539994" cy="22920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D7F536B9-0220-448A-847C-430F0DB2CCEF}"/>
              </a:ext>
            </a:extLst>
          </p:cNvPr>
          <p:cNvSpPr txBox="1"/>
          <p:nvPr/>
        </p:nvSpPr>
        <p:spPr>
          <a:xfrm>
            <a:off x="10031934" y="1327222"/>
            <a:ext cx="904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/>
              <a:t>SQL Injection</a:t>
            </a:r>
            <a:endParaRPr kumimoji="1" lang="ja-JP" altLang="en-US" sz="900" dirty="0"/>
          </a:p>
        </p:txBody>
      </p:sp>
      <p:cxnSp>
        <p:nvCxnSpPr>
          <p:cNvPr id="86" name="コネクタ: 曲線 85">
            <a:extLst>
              <a:ext uri="{FF2B5EF4-FFF2-40B4-BE49-F238E27FC236}">
                <a16:creationId xmlns:a16="http://schemas.microsoft.com/office/drawing/2014/main" id="{03D7BBEE-94B5-4168-853C-E75A529BED2A}"/>
              </a:ext>
            </a:extLst>
          </p:cNvPr>
          <p:cNvCxnSpPr>
            <a:cxnSpLocks/>
            <a:endCxn id="90" idx="1"/>
          </p:cNvCxnSpPr>
          <p:nvPr/>
        </p:nvCxnSpPr>
        <p:spPr>
          <a:xfrm flipV="1">
            <a:off x="9481370" y="1093402"/>
            <a:ext cx="702257" cy="55502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8EFCE878-FA99-4A5E-A723-38142B6E51DC}"/>
              </a:ext>
            </a:extLst>
          </p:cNvPr>
          <p:cNvSpPr txBox="1"/>
          <p:nvPr/>
        </p:nvSpPr>
        <p:spPr>
          <a:xfrm>
            <a:off x="10183627" y="977986"/>
            <a:ext cx="12186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/>
              <a:t>Command Injection</a:t>
            </a:r>
            <a:endParaRPr kumimoji="1" lang="ja-JP" altLang="en-US" sz="900" dirty="0"/>
          </a:p>
        </p:txBody>
      </p:sp>
      <p:cxnSp>
        <p:nvCxnSpPr>
          <p:cNvPr id="91" name="コネクタ: 曲線 90">
            <a:extLst>
              <a:ext uri="{FF2B5EF4-FFF2-40B4-BE49-F238E27FC236}">
                <a16:creationId xmlns:a16="http://schemas.microsoft.com/office/drawing/2014/main" id="{71BFBF4D-7E87-4728-8C50-B33F92B5884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23123" y="3590820"/>
            <a:ext cx="1302980" cy="130034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3AC5D570-6667-4FA1-A7E6-52F44953304A}"/>
              </a:ext>
            </a:extLst>
          </p:cNvPr>
          <p:cNvSpPr txBox="1"/>
          <p:nvPr/>
        </p:nvSpPr>
        <p:spPr>
          <a:xfrm>
            <a:off x="3126448" y="4765658"/>
            <a:ext cx="12073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 err="1"/>
              <a:t>Plivilege</a:t>
            </a:r>
            <a:r>
              <a:rPr lang="en-US" altLang="ja-JP" sz="900" dirty="0"/>
              <a:t> escalation</a:t>
            </a:r>
            <a:endParaRPr kumimoji="1" lang="ja-JP" altLang="en-US" sz="900" dirty="0"/>
          </a:p>
        </p:txBody>
      </p:sp>
      <p:cxnSp>
        <p:nvCxnSpPr>
          <p:cNvPr id="42" name="コネクタ: 曲線 41">
            <a:extLst>
              <a:ext uri="{FF2B5EF4-FFF2-40B4-BE49-F238E27FC236}">
                <a16:creationId xmlns:a16="http://schemas.microsoft.com/office/drawing/2014/main" id="{FC496B53-F4D6-4BF2-931F-DDEB88575AE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399993" y="3327471"/>
            <a:ext cx="1249975" cy="35138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0D33F4A-B1F8-4F1B-BB49-FCB3228A07AD}"/>
              </a:ext>
            </a:extLst>
          </p:cNvPr>
          <p:cNvSpPr txBox="1"/>
          <p:nvPr/>
        </p:nvSpPr>
        <p:spPr>
          <a:xfrm>
            <a:off x="8127463" y="4913087"/>
            <a:ext cx="8915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/>
              <a:t>Initial Access</a:t>
            </a:r>
            <a:endParaRPr kumimoji="1" lang="ja-JP" altLang="en-US" sz="900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A4521E4-825A-45E5-ABF3-12A4CDCD364E}"/>
              </a:ext>
            </a:extLst>
          </p:cNvPr>
          <p:cNvSpPr txBox="1"/>
          <p:nvPr/>
        </p:nvSpPr>
        <p:spPr>
          <a:xfrm>
            <a:off x="9789506" y="3974836"/>
            <a:ext cx="6880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 err="1"/>
              <a:t>WebShell</a:t>
            </a:r>
            <a:endParaRPr kumimoji="1" lang="ja-JP" altLang="en-US" sz="9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89A78890-AC63-4F2B-A881-C205D5CE02A7}"/>
              </a:ext>
            </a:extLst>
          </p:cNvPr>
          <p:cNvSpPr txBox="1"/>
          <p:nvPr/>
        </p:nvSpPr>
        <p:spPr>
          <a:xfrm>
            <a:off x="9766696" y="4350151"/>
            <a:ext cx="4251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/>
              <a:t>PHP</a:t>
            </a:r>
            <a:endParaRPr kumimoji="1" lang="ja-JP" altLang="en-US" sz="9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8A0001A1-0C2D-4EBB-9752-DBD1F690186E}"/>
              </a:ext>
            </a:extLst>
          </p:cNvPr>
          <p:cNvSpPr txBox="1"/>
          <p:nvPr/>
        </p:nvSpPr>
        <p:spPr>
          <a:xfrm>
            <a:off x="10090641" y="4909364"/>
            <a:ext cx="3706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 err="1"/>
              <a:t>ssh</a:t>
            </a:r>
            <a:endParaRPr kumimoji="1" lang="ja-JP" altLang="en-US" sz="900" dirty="0"/>
          </a:p>
        </p:txBody>
      </p:sp>
      <p:cxnSp>
        <p:nvCxnSpPr>
          <p:cNvPr id="52" name="コネクタ: 曲線 51">
            <a:extLst>
              <a:ext uri="{FF2B5EF4-FFF2-40B4-BE49-F238E27FC236}">
                <a16:creationId xmlns:a16="http://schemas.microsoft.com/office/drawing/2014/main" id="{D8B0B492-4847-4E78-923E-49CB931ECA84}"/>
              </a:ext>
            </a:extLst>
          </p:cNvPr>
          <p:cNvCxnSpPr>
            <a:cxnSpLocks/>
          </p:cNvCxnSpPr>
          <p:nvPr/>
        </p:nvCxnSpPr>
        <p:spPr>
          <a:xfrm>
            <a:off x="9171735" y="5051860"/>
            <a:ext cx="921005" cy="2383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コネクタ: 曲線 52">
            <a:extLst>
              <a:ext uri="{FF2B5EF4-FFF2-40B4-BE49-F238E27FC236}">
                <a16:creationId xmlns:a16="http://schemas.microsoft.com/office/drawing/2014/main" id="{BFF93074-A705-4EAC-AB44-6C9E8A1BEEF4}"/>
              </a:ext>
            </a:extLst>
          </p:cNvPr>
          <p:cNvCxnSpPr>
            <a:cxnSpLocks/>
          </p:cNvCxnSpPr>
          <p:nvPr/>
        </p:nvCxnSpPr>
        <p:spPr>
          <a:xfrm>
            <a:off x="9159042" y="5117921"/>
            <a:ext cx="913215" cy="40556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5CCEBFDE-B843-4E68-83AA-12987F4AD749}"/>
              </a:ext>
            </a:extLst>
          </p:cNvPr>
          <p:cNvSpPr txBox="1"/>
          <p:nvPr/>
        </p:nvSpPr>
        <p:spPr>
          <a:xfrm>
            <a:off x="10041791" y="5403820"/>
            <a:ext cx="3113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 err="1"/>
              <a:t>nc</a:t>
            </a:r>
            <a:endParaRPr kumimoji="1" lang="ja-JP" altLang="en-US" sz="900" dirty="0"/>
          </a:p>
        </p:txBody>
      </p:sp>
      <p:cxnSp>
        <p:nvCxnSpPr>
          <p:cNvPr id="55" name="コネクタ: 曲線 54">
            <a:extLst>
              <a:ext uri="{FF2B5EF4-FFF2-40B4-BE49-F238E27FC236}">
                <a16:creationId xmlns:a16="http://schemas.microsoft.com/office/drawing/2014/main" id="{B56DBE90-E3FC-4F2D-99ED-3D97373929E0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9861910" y="3063978"/>
            <a:ext cx="954320" cy="70801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5B077388-35ED-4137-8C63-AAB5CB139F31}"/>
              </a:ext>
            </a:extLst>
          </p:cNvPr>
          <p:cNvSpPr txBox="1"/>
          <p:nvPr/>
        </p:nvSpPr>
        <p:spPr>
          <a:xfrm>
            <a:off x="10921595" y="3618681"/>
            <a:ext cx="13644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/>
              <a:t>Nmap –</a:t>
            </a:r>
            <a:r>
              <a:rPr lang="en-US" altLang="ja-JP" sz="900" dirty="0" err="1"/>
              <a:t>sn</a:t>
            </a:r>
            <a:r>
              <a:rPr lang="en-US" altLang="ja-JP" sz="900" dirty="0"/>
              <a:t> &lt;target </a:t>
            </a:r>
            <a:r>
              <a:rPr lang="en-US" altLang="ja-JP" sz="900" dirty="0" err="1"/>
              <a:t>ip</a:t>
            </a:r>
            <a:r>
              <a:rPr lang="en-US" altLang="ja-JP" sz="900" dirty="0"/>
              <a:t>&gt;</a:t>
            </a:r>
            <a:endParaRPr kumimoji="1" lang="ja-JP" altLang="en-US" sz="900" dirty="0"/>
          </a:p>
        </p:txBody>
      </p:sp>
      <p:cxnSp>
        <p:nvCxnSpPr>
          <p:cNvPr id="57" name="コネクタ: 曲線 56">
            <a:extLst>
              <a:ext uri="{FF2B5EF4-FFF2-40B4-BE49-F238E27FC236}">
                <a16:creationId xmlns:a16="http://schemas.microsoft.com/office/drawing/2014/main" id="{D7306E40-3666-4A4F-890A-25F19CB4119C}"/>
              </a:ext>
            </a:extLst>
          </p:cNvPr>
          <p:cNvCxnSpPr>
            <a:cxnSpLocks/>
          </p:cNvCxnSpPr>
          <p:nvPr/>
        </p:nvCxnSpPr>
        <p:spPr>
          <a:xfrm flipV="1">
            <a:off x="10533903" y="4909364"/>
            <a:ext cx="315400" cy="16632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344FC7F8-D7A6-4E2F-AD98-1E03C9378682}"/>
              </a:ext>
            </a:extLst>
          </p:cNvPr>
          <p:cNvSpPr txBox="1"/>
          <p:nvPr/>
        </p:nvSpPr>
        <p:spPr>
          <a:xfrm>
            <a:off x="10805494" y="4765658"/>
            <a:ext cx="3706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 err="1"/>
              <a:t>ssh</a:t>
            </a:r>
            <a:endParaRPr kumimoji="1" lang="ja-JP" altLang="en-US" sz="900" dirty="0"/>
          </a:p>
        </p:txBody>
      </p:sp>
      <p:cxnSp>
        <p:nvCxnSpPr>
          <p:cNvPr id="59" name="コネクタ: 曲線 58">
            <a:extLst>
              <a:ext uri="{FF2B5EF4-FFF2-40B4-BE49-F238E27FC236}">
                <a16:creationId xmlns:a16="http://schemas.microsoft.com/office/drawing/2014/main" id="{C14D9196-22BA-4BAE-BEE4-85668519692C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10353095" y="5519236"/>
            <a:ext cx="452399" cy="1809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9DBF7C50-219B-459C-A17C-5C762CDEE915}"/>
              </a:ext>
            </a:extLst>
          </p:cNvPr>
          <p:cNvSpPr txBox="1"/>
          <p:nvPr/>
        </p:nvSpPr>
        <p:spPr>
          <a:xfrm>
            <a:off x="10761564" y="5562818"/>
            <a:ext cx="11288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 err="1"/>
              <a:t>nc</a:t>
            </a:r>
            <a:r>
              <a:rPr kumimoji="1" lang="en-US" altLang="ja-JP" sz="900" dirty="0"/>
              <a:t> </a:t>
            </a:r>
            <a:r>
              <a:rPr lang="en-US" altLang="ja-JP" sz="900" dirty="0"/>
              <a:t>&lt;</a:t>
            </a:r>
            <a:r>
              <a:rPr lang="en-US" altLang="ja-JP" sz="900" dirty="0" err="1"/>
              <a:t>TargetIP</a:t>
            </a:r>
            <a:r>
              <a:rPr lang="en-US" altLang="ja-JP" sz="900" dirty="0"/>
              <a:t>&gt; 80</a:t>
            </a:r>
            <a:endParaRPr kumimoji="1" lang="ja-JP" altLang="en-US" sz="900" dirty="0"/>
          </a:p>
        </p:txBody>
      </p:sp>
      <p:cxnSp>
        <p:nvCxnSpPr>
          <p:cNvPr id="63" name="コネクタ: 曲線 62">
            <a:extLst>
              <a:ext uri="{FF2B5EF4-FFF2-40B4-BE49-F238E27FC236}">
                <a16:creationId xmlns:a16="http://schemas.microsoft.com/office/drawing/2014/main" id="{01B18974-D2FB-4759-842D-6C86F80F7739}"/>
              </a:ext>
            </a:extLst>
          </p:cNvPr>
          <p:cNvCxnSpPr>
            <a:cxnSpLocks/>
          </p:cNvCxnSpPr>
          <p:nvPr/>
        </p:nvCxnSpPr>
        <p:spPr>
          <a:xfrm rot="10800000">
            <a:off x="2537378" y="2399514"/>
            <a:ext cx="1045236" cy="4559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B677D166-4AB7-4205-ADE1-167F7FCCB2FC}"/>
              </a:ext>
            </a:extLst>
          </p:cNvPr>
          <p:cNvSpPr txBox="1"/>
          <p:nvPr/>
        </p:nvSpPr>
        <p:spPr>
          <a:xfrm>
            <a:off x="36762" y="161351"/>
            <a:ext cx="7556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Approach1:Privilege escalation from a Windows IIS server</a:t>
            </a:r>
            <a:endParaRPr kumimoji="1" lang="ja-JP" altLang="en-US" sz="1400" dirty="0"/>
          </a:p>
        </p:txBody>
      </p:sp>
      <p:cxnSp>
        <p:nvCxnSpPr>
          <p:cNvPr id="84" name="コネクタ: 曲線 83">
            <a:extLst>
              <a:ext uri="{FF2B5EF4-FFF2-40B4-BE49-F238E27FC236}">
                <a16:creationId xmlns:a16="http://schemas.microsoft.com/office/drawing/2014/main" id="{AE6C2A3E-9658-408B-8680-3AA5327FD8E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49780" y="3806873"/>
            <a:ext cx="867400" cy="26325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コネクタ: 曲線 88">
            <a:extLst>
              <a:ext uri="{FF2B5EF4-FFF2-40B4-BE49-F238E27FC236}">
                <a16:creationId xmlns:a16="http://schemas.microsoft.com/office/drawing/2014/main" id="{75AB8746-0F32-4D26-AF7C-4B3F53339793}"/>
              </a:ext>
            </a:extLst>
          </p:cNvPr>
          <p:cNvCxnSpPr>
            <a:cxnSpLocks/>
          </p:cNvCxnSpPr>
          <p:nvPr/>
        </p:nvCxnSpPr>
        <p:spPr>
          <a:xfrm rot="10800000" flipV="1">
            <a:off x="2284135" y="4851613"/>
            <a:ext cx="867400" cy="26325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8FCE8FE8-E7EF-4226-88F2-67CF7A373D65}"/>
              </a:ext>
            </a:extLst>
          </p:cNvPr>
          <p:cNvSpPr txBox="1"/>
          <p:nvPr/>
        </p:nvSpPr>
        <p:spPr>
          <a:xfrm>
            <a:off x="1512948" y="2288790"/>
            <a:ext cx="10839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/>
              <a:t>Use </a:t>
            </a:r>
            <a:r>
              <a:rPr lang="en-US" altLang="ja-JP" sz="900" dirty="0" err="1"/>
              <a:t>netcat</a:t>
            </a:r>
            <a:r>
              <a:rPr lang="en-US" altLang="ja-JP" sz="900" dirty="0"/>
              <a:t> (tool)</a:t>
            </a:r>
            <a:endParaRPr kumimoji="1" lang="ja-JP" altLang="en-US" sz="900" dirty="0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C9AE354-11D6-4765-A29B-784266666E69}"/>
              </a:ext>
            </a:extLst>
          </p:cNvPr>
          <p:cNvSpPr txBox="1"/>
          <p:nvPr/>
        </p:nvSpPr>
        <p:spPr>
          <a:xfrm>
            <a:off x="10007296" y="597426"/>
            <a:ext cx="13949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 err="1"/>
              <a:t>Credencial</a:t>
            </a:r>
            <a:r>
              <a:rPr lang="en-US" altLang="ja-JP" sz="900" dirty="0"/>
              <a:t> information</a:t>
            </a:r>
            <a:endParaRPr kumimoji="1" lang="ja-JP" altLang="en-US" sz="900" dirty="0"/>
          </a:p>
        </p:txBody>
      </p:sp>
      <p:cxnSp>
        <p:nvCxnSpPr>
          <p:cNvPr id="67" name="コネクタ: 曲線 66">
            <a:extLst>
              <a:ext uri="{FF2B5EF4-FFF2-40B4-BE49-F238E27FC236}">
                <a16:creationId xmlns:a16="http://schemas.microsoft.com/office/drawing/2014/main" id="{E2F156E1-D344-4EA0-BE43-F0CC5B13D511}"/>
              </a:ext>
            </a:extLst>
          </p:cNvPr>
          <p:cNvCxnSpPr>
            <a:cxnSpLocks/>
            <a:stCxn id="81" idx="3"/>
            <a:endCxn id="61" idx="1"/>
          </p:cNvCxnSpPr>
          <p:nvPr/>
        </p:nvCxnSpPr>
        <p:spPr>
          <a:xfrm flipV="1">
            <a:off x="9499870" y="712842"/>
            <a:ext cx="507426" cy="93990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コネクタ: 曲線 67">
            <a:extLst>
              <a:ext uri="{FF2B5EF4-FFF2-40B4-BE49-F238E27FC236}">
                <a16:creationId xmlns:a16="http://schemas.microsoft.com/office/drawing/2014/main" id="{660AD7D7-159C-4FC6-80F3-969ED913B200}"/>
              </a:ext>
            </a:extLst>
          </p:cNvPr>
          <p:cNvCxnSpPr>
            <a:cxnSpLocks/>
            <a:stCxn id="81" idx="3"/>
          </p:cNvCxnSpPr>
          <p:nvPr/>
        </p:nvCxnSpPr>
        <p:spPr>
          <a:xfrm flipV="1">
            <a:off x="9499870" y="428928"/>
            <a:ext cx="289638" cy="122382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1D672061-101C-4DCC-9A3B-F174593C0944}"/>
              </a:ext>
            </a:extLst>
          </p:cNvPr>
          <p:cNvSpPr txBox="1"/>
          <p:nvPr/>
        </p:nvSpPr>
        <p:spPr>
          <a:xfrm>
            <a:off x="9672308" y="206462"/>
            <a:ext cx="7232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/>
              <a:t>Robots.txt</a:t>
            </a:r>
            <a:endParaRPr kumimoji="1" lang="ja-JP" altLang="en-US" sz="900" dirty="0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4194DA8A-EFBC-4C55-B766-67FFFFD92033}"/>
              </a:ext>
            </a:extLst>
          </p:cNvPr>
          <p:cNvSpPr txBox="1"/>
          <p:nvPr/>
        </p:nvSpPr>
        <p:spPr>
          <a:xfrm>
            <a:off x="1984129" y="3375972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/>
              <a:t>Use </a:t>
            </a:r>
            <a:r>
              <a:rPr lang="en-US" altLang="ja-JP" sz="900" dirty="0" err="1"/>
              <a:t>powercat</a:t>
            </a:r>
            <a:endParaRPr kumimoji="1" lang="ja-JP" altLang="en-US" sz="900" dirty="0"/>
          </a:p>
        </p:txBody>
      </p:sp>
      <p:cxnSp>
        <p:nvCxnSpPr>
          <p:cNvPr id="72" name="コネクタ: 曲線 71">
            <a:extLst>
              <a:ext uri="{FF2B5EF4-FFF2-40B4-BE49-F238E27FC236}">
                <a16:creationId xmlns:a16="http://schemas.microsoft.com/office/drawing/2014/main" id="{21B1E6C9-9A36-4127-857A-D791D71C98F4}"/>
              </a:ext>
            </a:extLst>
          </p:cNvPr>
          <p:cNvCxnSpPr>
            <a:cxnSpLocks/>
          </p:cNvCxnSpPr>
          <p:nvPr/>
        </p:nvCxnSpPr>
        <p:spPr>
          <a:xfrm rot="10800000" flipV="1">
            <a:off x="1645274" y="3469759"/>
            <a:ext cx="363454" cy="8824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6667CE9B-BECA-46D6-8861-21FD18343FA2}"/>
              </a:ext>
            </a:extLst>
          </p:cNvPr>
          <p:cNvSpPr txBox="1"/>
          <p:nvPr/>
        </p:nvSpPr>
        <p:spPr>
          <a:xfrm>
            <a:off x="793281" y="3457660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/>
              <a:t>Use </a:t>
            </a:r>
            <a:r>
              <a:rPr lang="en-US" altLang="ja-JP" sz="900" dirty="0" err="1"/>
              <a:t>powercat</a:t>
            </a:r>
            <a:endParaRPr kumimoji="1" lang="ja-JP" altLang="en-US" sz="900" dirty="0"/>
          </a:p>
        </p:txBody>
      </p:sp>
    </p:spTree>
    <p:extLst>
      <p:ext uri="{BB962C8B-B14F-4D97-AF65-F5344CB8AC3E}">
        <p14:creationId xmlns:p14="http://schemas.microsoft.com/office/powerpoint/2010/main" val="2740365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08B3FC5-0B66-442B-AB2E-64333D13C6BA}"/>
              </a:ext>
            </a:extLst>
          </p:cNvPr>
          <p:cNvSpPr/>
          <p:nvPr/>
        </p:nvSpPr>
        <p:spPr>
          <a:xfrm>
            <a:off x="5516985" y="3161939"/>
            <a:ext cx="1178229" cy="5341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Attacker</a:t>
            </a:r>
            <a:endParaRPr kumimoji="1" lang="ja-JP" altLang="en-US" sz="1400" dirty="0"/>
          </a:p>
        </p:txBody>
      </p:sp>
      <p:cxnSp>
        <p:nvCxnSpPr>
          <p:cNvPr id="7" name="コネクタ: 曲線 6">
            <a:extLst>
              <a:ext uri="{FF2B5EF4-FFF2-40B4-BE49-F238E27FC236}">
                <a16:creationId xmlns:a16="http://schemas.microsoft.com/office/drawing/2014/main" id="{5CBDE028-BF22-410F-AA82-6A727A11690D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>
            <a:off x="4156495" y="2824430"/>
            <a:ext cx="1360490" cy="60457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コネクタ: 曲線 7">
            <a:extLst>
              <a:ext uri="{FF2B5EF4-FFF2-40B4-BE49-F238E27FC236}">
                <a16:creationId xmlns:a16="http://schemas.microsoft.com/office/drawing/2014/main" id="{191AA4AB-F7E5-4D66-B6A1-114769F9C894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4230235" y="3429000"/>
            <a:ext cx="1286751" cy="3595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曲線 12">
            <a:extLst>
              <a:ext uri="{FF2B5EF4-FFF2-40B4-BE49-F238E27FC236}">
                <a16:creationId xmlns:a16="http://schemas.microsoft.com/office/drawing/2014/main" id="{2C4A3565-08A7-4166-8FC0-922753FDC1AE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695214" y="2849806"/>
            <a:ext cx="756563" cy="57919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コネクタ: 曲線 13">
            <a:extLst>
              <a:ext uri="{FF2B5EF4-FFF2-40B4-BE49-F238E27FC236}">
                <a16:creationId xmlns:a16="http://schemas.microsoft.com/office/drawing/2014/main" id="{A438017C-86A6-452B-B2AE-121AC51349B0}"/>
              </a:ext>
            </a:extLst>
          </p:cNvPr>
          <p:cNvCxnSpPr>
            <a:cxnSpLocks/>
          </p:cNvCxnSpPr>
          <p:nvPr/>
        </p:nvCxnSpPr>
        <p:spPr>
          <a:xfrm>
            <a:off x="6465026" y="3454733"/>
            <a:ext cx="1670614" cy="1563426"/>
          </a:xfrm>
          <a:prstGeom prst="curvedConnector3">
            <a:avLst>
              <a:gd name="adj1" fmla="val 396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0FBB44A-21BE-4A1F-93BA-449D4FDB35EF}"/>
              </a:ext>
            </a:extLst>
          </p:cNvPr>
          <p:cNvSpPr txBox="1"/>
          <p:nvPr/>
        </p:nvSpPr>
        <p:spPr>
          <a:xfrm>
            <a:off x="7400634" y="2691103"/>
            <a:ext cx="12426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Reconnaissance</a:t>
            </a:r>
            <a:endParaRPr kumimoji="1" lang="ja-JP" altLang="en-US" sz="105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858D829-C1B2-4FFA-9404-FEED3E5107E8}"/>
              </a:ext>
            </a:extLst>
          </p:cNvPr>
          <p:cNvSpPr txBox="1"/>
          <p:nvPr/>
        </p:nvSpPr>
        <p:spPr>
          <a:xfrm>
            <a:off x="7605925" y="3955178"/>
            <a:ext cx="11416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W</a:t>
            </a:r>
            <a:r>
              <a:rPr kumimoji="1" lang="en-US" altLang="ja-JP" sz="1050" dirty="0"/>
              <a:t>eaponization</a:t>
            </a:r>
            <a:endParaRPr kumimoji="1" lang="ja-JP" altLang="en-US" sz="105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DA4961E-6428-4833-B65F-9E7BDEDB8164}"/>
              </a:ext>
            </a:extLst>
          </p:cNvPr>
          <p:cNvSpPr txBox="1"/>
          <p:nvPr/>
        </p:nvSpPr>
        <p:spPr>
          <a:xfrm>
            <a:off x="3340483" y="2693948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Exploitation</a:t>
            </a:r>
            <a:endParaRPr kumimoji="1" lang="ja-JP" altLang="en-US" sz="105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877050A-AC1F-4F0A-A5AB-C08D7AC53702}"/>
              </a:ext>
            </a:extLst>
          </p:cNvPr>
          <p:cNvSpPr txBox="1"/>
          <p:nvPr/>
        </p:nvSpPr>
        <p:spPr>
          <a:xfrm>
            <a:off x="3319958" y="3678857"/>
            <a:ext cx="9188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Persistence</a:t>
            </a:r>
            <a:endParaRPr kumimoji="1" lang="ja-JP" altLang="en-US" sz="1050" dirty="0"/>
          </a:p>
        </p:txBody>
      </p:sp>
      <p:cxnSp>
        <p:nvCxnSpPr>
          <p:cNvPr id="12" name="コネクタ: 曲線 11">
            <a:extLst>
              <a:ext uri="{FF2B5EF4-FFF2-40B4-BE49-F238E27FC236}">
                <a16:creationId xmlns:a16="http://schemas.microsoft.com/office/drawing/2014/main" id="{6E2A5665-1553-4920-907F-4EAA7F983F06}"/>
              </a:ext>
            </a:extLst>
          </p:cNvPr>
          <p:cNvCxnSpPr>
            <a:cxnSpLocks/>
          </p:cNvCxnSpPr>
          <p:nvPr/>
        </p:nvCxnSpPr>
        <p:spPr>
          <a:xfrm rot="10800000">
            <a:off x="2098282" y="2281181"/>
            <a:ext cx="1259457" cy="53412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コネクタ: 曲線 14">
            <a:extLst>
              <a:ext uri="{FF2B5EF4-FFF2-40B4-BE49-F238E27FC236}">
                <a16:creationId xmlns:a16="http://schemas.microsoft.com/office/drawing/2014/main" id="{46A4AB02-96B7-4CE0-B4EC-7D6F5FB1F01F}"/>
              </a:ext>
            </a:extLst>
          </p:cNvPr>
          <p:cNvCxnSpPr>
            <a:cxnSpLocks/>
          </p:cNvCxnSpPr>
          <p:nvPr/>
        </p:nvCxnSpPr>
        <p:spPr>
          <a:xfrm flipV="1">
            <a:off x="8495222" y="2293253"/>
            <a:ext cx="827755" cy="53577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曲線 16">
            <a:extLst>
              <a:ext uri="{FF2B5EF4-FFF2-40B4-BE49-F238E27FC236}">
                <a16:creationId xmlns:a16="http://schemas.microsoft.com/office/drawing/2014/main" id="{D1F49819-3FA7-42EC-BF94-E118A36C2AC3}"/>
              </a:ext>
            </a:extLst>
          </p:cNvPr>
          <p:cNvCxnSpPr>
            <a:cxnSpLocks/>
          </p:cNvCxnSpPr>
          <p:nvPr/>
        </p:nvCxnSpPr>
        <p:spPr>
          <a:xfrm>
            <a:off x="8487102" y="2821908"/>
            <a:ext cx="835875" cy="25150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9D94D54-D185-4B4C-85C9-5A11A84B0488}"/>
              </a:ext>
            </a:extLst>
          </p:cNvPr>
          <p:cNvSpPr txBox="1"/>
          <p:nvPr/>
        </p:nvSpPr>
        <p:spPr>
          <a:xfrm>
            <a:off x="9297756" y="2150155"/>
            <a:ext cx="7617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 err="1"/>
              <a:t>Portscan</a:t>
            </a:r>
            <a:endParaRPr kumimoji="1" lang="ja-JP" altLang="en-US" sz="105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A176BD3-E891-46F7-8BF4-55CD9A1114FB}"/>
              </a:ext>
            </a:extLst>
          </p:cNvPr>
          <p:cNvSpPr txBox="1"/>
          <p:nvPr/>
        </p:nvSpPr>
        <p:spPr>
          <a:xfrm>
            <a:off x="9322977" y="2946932"/>
            <a:ext cx="7697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 err="1"/>
              <a:t>Host</a:t>
            </a:r>
            <a:r>
              <a:rPr kumimoji="1" lang="en-US" altLang="ja-JP" sz="1050" dirty="0" err="1"/>
              <a:t>scan</a:t>
            </a:r>
            <a:endParaRPr kumimoji="1" lang="ja-JP" altLang="en-US" sz="1050" dirty="0"/>
          </a:p>
        </p:txBody>
      </p:sp>
      <p:cxnSp>
        <p:nvCxnSpPr>
          <p:cNvPr id="35" name="コネクタ: 曲線 34">
            <a:extLst>
              <a:ext uri="{FF2B5EF4-FFF2-40B4-BE49-F238E27FC236}">
                <a16:creationId xmlns:a16="http://schemas.microsoft.com/office/drawing/2014/main" id="{8B259B4A-BC07-4C30-A612-A2B3276951BE}"/>
              </a:ext>
            </a:extLst>
          </p:cNvPr>
          <p:cNvCxnSpPr>
            <a:cxnSpLocks/>
          </p:cNvCxnSpPr>
          <p:nvPr/>
        </p:nvCxnSpPr>
        <p:spPr>
          <a:xfrm flipV="1">
            <a:off x="10059503" y="2055428"/>
            <a:ext cx="516485" cy="22553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FD874A4-E8A1-450A-B858-19BB720230B0}"/>
              </a:ext>
            </a:extLst>
          </p:cNvPr>
          <p:cNvSpPr txBox="1"/>
          <p:nvPr/>
        </p:nvSpPr>
        <p:spPr>
          <a:xfrm>
            <a:off x="10575988" y="1896239"/>
            <a:ext cx="6527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Nmap -</a:t>
            </a:r>
            <a:endParaRPr kumimoji="1" lang="ja-JP" altLang="en-US" sz="1050" dirty="0"/>
          </a:p>
        </p:txBody>
      </p:sp>
      <p:cxnSp>
        <p:nvCxnSpPr>
          <p:cNvPr id="38" name="コネクタ: 曲線 37">
            <a:extLst>
              <a:ext uri="{FF2B5EF4-FFF2-40B4-BE49-F238E27FC236}">
                <a16:creationId xmlns:a16="http://schemas.microsoft.com/office/drawing/2014/main" id="{91D4D4E4-5B0E-43C0-8A4C-A06C09C85A63}"/>
              </a:ext>
            </a:extLst>
          </p:cNvPr>
          <p:cNvCxnSpPr>
            <a:cxnSpLocks/>
          </p:cNvCxnSpPr>
          <p:nvPr/>
        </p:nvCxnSpPr>
        <p:spPr>
          <a:xfrm>
            <a:off x="10059503" y="2312540"/>
            <a:ext cx="516485" cy="992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845C3702-46B4-43A1-8276-FE32C57302FF}"/>
              </a:ext>
            </a:extLst>
          </p:cNvPr>
          <p:cNvSpPr txBox="1"/>
          <p:nvPr/>
        </p:nvSpPr>
        <p:spPr>
          <a:xfrm>
            <a:off x="10629958" y="2280960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 err="1"/>
              <a:t>nc</a:t>
            </a:r>
            <a:endParaRPr kumimoji="1" lang="ja-JP" altLang="en-US" sz="1050" dirty="0"/>
          </a:p>
        </p:txBody>
      </p:sp>
      <p:cxnSp>
        <p:nvCxnSpPr>
          <p:cNvPr id="44" name="コネクタ: 曲線 43">
            <a:extLst>
              <a:ext uri="{FF2B5EF4-FFF2-40B4-BE49-F238E27FC236}">
                <a16:creationId xmlns:a16="http://schemas.microsoft.com/office/drawing/2014/main" id="{22646BC0-4F59-48A5-98D9-4E4EAB6EDF3D}"/>
              </a:ext>
            </a:extLst>
          </p:cNvPr>
          <p:cNvCxnSpPr>
            <a:cxnSpLocks/>
            <a:endCxn id="46" idx="1"/>
          </p:cNvCxnSpPr>
          <p:nvPr/>
        </p:nvCxnSpPr>
        <p:spPr>
          <a:xfrm flipV="1">
            <a:off x="9892788" y="2849806"/>
            <a:ext cx="559921" cy="22989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コネクタ: 曲線 44">
            <a:extLst>
              <a:ext uri="{FF2B5EF4-FFF2-40B4-BE49-F238E27FC236}">
                <a16:creationId xmlns:a16="http://schemas.microsoft.com/office/drawing/2014/main" id="{C8FE77A2-2D3E-49D7-A733-DB8DF0B732CE}"/>
              </a:ext>
            </a:extLst>
          </p:cNvPr>
          <p:cNvCxnSpPr>
            <a:cxnSpLocks/>
            <a:stCxn id="30" idx="3"/>
            <a:endCxn id="47" idx="1"/>
          </p:cNvCxnSpPr>
          <p:nvPr/>
        </p:nvCxnSpPr>
        <p:spPr>
          <a:xfrm>
            <a:off x="10092740" y="3073890"/>
            <a:ext cx="345480" cy="21395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7C49963-809B-400C-9E0C-4490203ADD53}"/>
              </a:ext>
            </a:extLst>
          </p:cNvPr>
          <p:cNvSpPr txBox="1"/>
          <p:nvPr/>
        </p:nvSpPr>
        <p:spPr>
          <a:xfrm>
            <a:off x="10452709" y="2722848"/>
            <a:ext cx="12554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Ping &lt;Target </a:t>
            </a:r>
            <a:r>
              <a:rPr kumimoji="1" lang="en-US" altLang="ja-JP" sz="1050" dirty="0" err="1"/>
              <a:t>ip</a:t>
            </a:r>
            <a:r>
              <a:rPr kumimoji="1" lang="en-US" altLang="ja-JP" sz="1050" dirty="0"/>
              <a:t>&gt;</a:t>
            </a:r>
            <a:endParaRPr kumimoji="1" lang="ja-JP" altLang="en-US" sz="105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4519FF8-DDC7-441C-A93E-DE6466F2F877}"/>
              </a:ext>
            </a:extLst>
          </p:cNvPr>
          <p:cNvSpPr txBox="1"/>
          <p:nvPr/>
        </p:nvSpPr>
        <p:spPr>
          <a:xfrm>
            <a:off x="10438220" y="3160889"/>
            <a:ext cx="15071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 err="1"/>
              <a:t>nc</a:t>
            </a:r>
            <a:r>
              <a:rPr lang="en-US" altLang="ja-JP" sz="1050" dirty="0"/>
              <a:t> –v –w &lt;Target </a:t>
            </a:r>
            <a:r>
              <a:rPr lang="en-US" altLang="ja-JP" sz="1050" dirty="0" err="1"/>
              <a:t>ip</a:t>
            </a:r>
            <a:r>
              <a:rPr lang="en-US" altLang="ja-JP" sz="1050" dirty="0"/>
              <a:t>&gt;</a:t>
            </a:r>
            <a:endParaRPr kumimoji="1" lang="ja-JP" altLang="en-US" sz="1050" dirty="0"/>
          </a:p>
        </p:txBody>
      </p:sp>
      <p:cxnSp>
        <p:nvCxnSpPr>
          <p:cNvPr id="48" name="コネクタ: 曲線 47">
            <a:extLst>
              <a:ext uri="{FF2B5EF4-FFF2-40B4-BE49-F238E27FC236}">
                <a16:creationId xmlns:a16="http://schemas.microsoft.com/office/drawing/2014/main" id="{F646D556-FA6E-4E82-9682-AE5EE3588102}"/>
              </a:ext>
            </a:extLst>
          </p:cNvPr>
          <p:cNvCxnSpPr>
            <a:cxnSpLocks/>
          </p:cNvCxnSpPr>
          <p:nvPr/>
        </p:nvCxnSpPr>
        <p:spPr>
          <a:xfrm flipV="1">
            <a:off x="8562085" y="4071619"/>
            <a:ext cx="1227421" cy="712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曲線 48">
            <a:extLst>
              <a:ext uri="{FF2B5EF4-FFF2-40B4-BE49-F238E27FC236}">
                <a16:creationId xmlns:a16="http://schemas.microsoft.com/office/drawing/2014/main" id="{AC71D133-9DB8-4FA5-AC54-3F32B5153CFB}"/>
              </a:ext>
            </a:extLst>
          </p:cNvPr>
          <p:cNvCxnSpPr>
            <a:cxnSpLocks/>
          </p:cNvCxnSpPr>
          <p:nvPr/>
        </p:nvCxnSpPr>
        <p:spPr>
          <a:xfrm>
            <a:off x="8553965" y="4071619"/>
            <a:ext cx="1153893" cy="65565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コネクタ: 曲線 77">
            <a:extLst>
              <a:ext uri="{FF2B5EF4-FFF2-40B4-BE49-F238E27FC236}">
                <a16:creationId xmlns:a16="http://schemas.microsoft.com/office/drawing/2014/main" id="{16967EA8-B3A3-4DDA-99E6-902585877BA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395036" y="1914015"/>
            <a:ext cx="1029890" cy="77554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B1F16FED-DA7D-4DE1-B3ED-E55F27E892C8}"/>
              </a:ext>
            </a:extLst>
          </p:cNvPr>
          <p:cNvSpPr txBox="1"/>
          <p:nvPr/>
        </p:nvSpPr>
        <p:spPr>
          <a:xfrm>
            <a:off x="8900026" y="1537334"/>
            <a:ext cx="6703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website</a:t>
            </a:r>
            <a:endParaRPr kumimoji="1" lang="ja-JP" altLang="en-US" sz="1050" dirty="0"/>
          </a:p>
        </p:txBody>
      </p:sp>
      <p:cxnSp>
        <p:nvCxnSpPr>
          <p:cNvPr id="82" name="コネクタ: 曲線 81">
            <a:extLst>
              <a:ext uri="{FF2B5EF4-FFF2-40B4-BE49-F238E27FC236}">
                <a16:creationId xmlns:a16="http://schemas.microsoft.com/office/drawing/2014/main" id="{1ABA435C-7305-42E0-B49D-6CD2A07881A3}"/>
              </a:ext>
            </a:extLst>
          </p:cNvPr>
          <p:cNvCxnSpPr>
            <a:cxnSpLocks/>
          </p:cNvCxnSpPr>
          <p:nvPr/>
        </p:nvCxnSpPr>
        <p:spPr>
          <a:xfrm flipV="1">
            <a:off x="9519509" y="1442700"/>
            <a:ext cx="539994" cy="22920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D7F536B9-0220-448A-847C-430F0DB2CCEF}"/>
              </a:ext>
            </a:extLst>
          </p:cNvPr>
          <p:cNvSpPr txBox="1"/>
          <p:nvPr/>
        </p:nvSpPr>
        <p:spPr>
          <a:xfrm>
            <a:off x="10031934" y="1327222"/>
            <a:ext cx="10262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SQL Injection</a:t>
            </a:r>
            <a:endParaRPr kumimoji="1" lang="ja-JP" altLang="en-US" sz="1050" dirty="0"/>
          </a:p>
        </p:txBody>
      </p:sp>
      <p:cxnSp>
        <p:nvCxnSpPr>
          <p:cNvPr id="86" name="コネクタ: 曲線 85">
            <a:extLst>
              <a:ext uri="{FF2B5EF4-FFF2-40B4-BE49-F238E27FC236}">
                <a16:creationId xmlns:a16="http://schemas.microsoft.com/office/drawing/2014/main" id="{03D7BBEE-94B5-4168-853C-E75A529BED2A}"/>
              </a:ext>
            </a:extLst>
          </p:cNvPr>
          <p:cNvCxnSpPr>
            <a:cxnSpLocks/>
          </p:cNvCxnSpPr>
          <p:nvPr/>
        </p:nvCxnSpPr>
        <p:spPr>
          <a:xfrm flipV="1">
            <a:off x="9481370" y="1097035"/>
            <a:ext cx="590887" cy="55138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8EFCE878-FA99-4A5E-A723-38142B6E51DC}"/>
              </a:ext>
            </a:extLst>
          </p:cNvPr>
          <p:cNvSpPr txBox="1"/>
          <p:nvPr/>
        </p:nvSpPr>
        <p:spPr>
          <a:xfrm>
            <a:off x="9956936" y="943696"/>
            <a:ext cx="13933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Command Injection</a:t>
            </a:r>
            <a:endParaRPr kumimoji="1" lang="ja-JP" altLang="en-US" sz="1050" dirty="0"/>
          </a:p>
        </p:txBody>
      </p:sp>
      <p:cxnSp>
        <p:nvCxnSpPr>
          <p:cNvPr id="91" name="コネクタ: 曲線 90">
            <a:extLst>
              <a:ext uri="{FF2B5EF4-FFF2-40B4-BE49-F238E27FC236}">
                <a16:creationId xmlns:a16="http://schemas.microsoft.com/office/drawing/2014/main" id="{71BFBF4D-7E87-4728-8C50-B33F92B5884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23123" y="3590821"/>
            <a:ext cx="1302979" cy="130034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3AC5D570-6667-4FA1-A7E6-52F44953304A}"/>
              </a:ext>
            </a:extLst>
          </p:cNvPr>
          <p:cNvSpPr txBox="1"/>
          <p:nvPr/>
        </p:nvSpPr>
        <p:spPr>
          <a:xfrm>
            <a:off x="2909227" y="4725405"/>
            <a:ext cx="13805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 err="1"/>
              <a:t>Plivilege</a:t>
            </a:r>
            <a:r>
              <a:rPr lang="en-US" altLang="ja-JP" sz="1050" dirty="0"/>
              <a:t> escalation</a:t>
            </a:r>
            <a:endParaRPr kumimoji="1" lang="ja-JP" altLang="en-US" sz="1050" dirty="0"/>
          </a:p>
        </p:txBody>
      </p:sp>
      <p:cxnSp>
        <p:nvCxnSpPr>
          <p:cNvPr id="42" name="コネクタ: 曲線 41">
            <a:extLst>
              <a:ext uri="{FF2B5EF4-FFF2-40B4-BE49-F238E27FC236}">
                <a16:creationId xmlns:a16="http://schemas.microsoft.com/office/drawing/2014/main" id="{FC496B53-F4D6-4BF2-931F-DDEB88575AE1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6703334" y="3454733"/>
            <a:ext cx="902591" cy="631250"/>
          </a:xfrm>
          <a:prstGeom prst="curvedConnector3">
            <a:avLst>
              <a:gd name="adj1" fmla="val 652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0D33F4A-B1F8-4F1B-BB49-FCB3228A07AD}"/>
              </a:ext>
            </a:extLst>
          </p:cNvPr>
          <p:cNvSpPr txBox="1"/>
          <p:nvPr/>
        </p:nvSpPr>
        <p:spPr>
          <a:xfrm>
            <a:off x="8127463" y="4913087"/>
            <a:ext cx="10102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Initial Access</a:t>
            </a:r>
            <a:endParaRPr kumimoji="1" lang="ja-JP" altLang="en-US" sz="105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55C16791-7743-4FB0-AC00-B89BBD994154}"/>
              </a:ext>
            </a:extLst>
          </p:cNvPr>
          <p:cNvSpPr txBox="1"/>
          <p:nvPr/>
        </p:nvSpPr>
        <p:spPr>
          <a:xfrm>
            <a:off x="36762" y="190407"/>
            <a:ext cx="7556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Approach2:Privilege escalation exploiting PowerShell vulnerabilities</a:t>
            </a:r>
            <a:br>
              <a:rPr lang="en-US" altLang="ja-JP" dirty="0"/>
            </a:b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43584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08B3FC5-0B66-442B-AB2E-64333D13C6BA}"/>
              </a:ext>
            </a:extLst>
          </p:cNvPr>
          <p:cNvSpPr/>
          <p:nvPr/>
        </p:nvSpPr>
        <p:spPr>
          <a:xfrm>
            <a:off x="5516985" y="3161939"/>
            <a:ext cx="1178229" cy="5341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Attacker</a:t>
            </a:r>
            <a:endParaRPr kumimoji="1" lang="ja-JP" altLang="en-US" sz="1400" dirty="0"/>
          </a:p>
        </p:txBody>
      </p:sp>
      <p:cxnSp>
        <p:nvCxnSpPr>
          <p:cNvPr id="7" name="コネクタ: 曲線 6">
            <a:extLst>
              <a:ext uri="{FF2B5EF4-FFF2-40B4-BE49-F238E27FC236}">
                <a16:creationId xmlns:a16="http://schemas.microsoft.com/office/drawing/2014/main" id="{5CBDE028-BF22-410F-AA82-6A727A11690D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>
            <a:off x="4156495" y="2824430"/>
            <a:ext cx="1360490" cy="60457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コネクタ: 曲線 7">
            <a:extLst>
              <a:ext uri="{FF2B5EF4-FFF2-40B4-BE49-F238E27FC236}">
                <a16:creationId xmlns:a16="http://schemas.microsoft.com/office/drawing/2014/main" id="{191AA4AB-F7E5-4D66-B6A1-114769F9C894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4230235" y="3429000"/>
            <a:ext cx="1286751" cy="3595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曲線 12">
            <a:extLst>
              <a:ext uri="{FF2B5EF4-FFF2-40B4-BE49-F238E27FC236}">
                <a16:creationId xmlns:a16="http://schemas.microsoft.com/office/drawing/2014/main" id="{2C4A3565-08A7-4166-8FC0-922753FDC1AE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695214" y="2849806"/>
            <a:ext cx="756563" cy="57919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コネクタ: 曲線 13">
            <a:extLst>
              <a:ext uri="{FF2B5EF4-FFF2-40B4-BE49-F238E27FC236}">
                <a16:creationId xmlns:a16="http://schemas.microsoft.com/office/drawing/2014/main" id="{A438017C-86A6-452B-B2AE-121AC51349B0}"/>
              </a:ext>
            </a:extLst>
          </p:cNvPr>
          <p:cNvCxnSpPr>
            <a:cxnSpLocks/>
          </p:cNvCxnSpPr>
          <p:nvPr/>
        </p:nvCxnSpPr>
        <p:spPr>
          <a:xfrm>
            <a:off x="6465026" y="3454733"/>
            <a:ext cx="1670614" cy="1563426"/>
          </a:xfrm>
          <a:prstGeom prst="curvedConnector3">
            <a:avLst>
              <a:gd name="adj1" fmla="val 396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0FBB44A-21BE-4A1F-93BA-449D4FDB35EF}"/>
              </a:ext>
            </a:extLst>
          </p:cNvPr>
          <p:cNvSpPr txBox="1"/>
          <p:nvPr/>
        </p:nvSpPr>
        <p:spPr>
          <a:xfrm>
            <a:off x="7400634" y="2691103"/>
            <a:ext cx="12426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Reconnaissance</a:t>
            </a:r>
            <a:endParaRPr kumimoji="1" lang="ja-JP" altLang="en-US" sz="105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858D829-C1B2-4FFA-9404-FEED3E5107E8}"/>
              </a:ext>
            </a:extLst>
          </p:cNvPr>
          <p:cNvSpPr txBox="1"/>
          <p:nvPr/>
        </p:nvSpPr>
        <p:spPr>
          <a:xfrm>
            <a:off x="7605925" y="3955178"/>
            <a:ext cx="11416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W</a:t>
            </a:r>
            <a:r>
              <a:rPr kumimoji="1" lang="en-US" altLang="ja-JP" sz="1050" dirty="0"/>
              <a:t>eaponization</a:t>
            </a:r>
            <a:endParaRPr kumimoji="1" lang="ja-JP" altLang="en-US" sz="105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DA4961E-6428-4833-B65F-9E7BDEDB8164}"/>
              </a:ext>
            </a:extLst>
          </p:cNvPr>
          <p:cNvSpPr txBox="1"/>
          <p:nvPr/>
        </p:nvSpPr>
        <p:spPr>
          <a:xfrm>
            <a:off x="3340483" y="2693948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Exploitation</a:t>
            </a:r>
            <a:endParaRPr kumimoji="1" lang="ja-JP" altLang="en-US" sz="105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877050A-AC1F-4F0A-A5AB-C08D7AC53702}"/>
              </a:ext>
            </a:extLst>
          </p:cNvPr>
          <p:cNvSpPr txBox="1"/>
          <p:nvPr/>
        </p:nvSpPr>
        <p:spPr>
          <a:xfrm>
            <a:off x="3319958" y="3678857"/>
            <a:ext cx="9188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Persistence</a:t>
            </a:r>
            <a:endParaRPr kumimoji="1" lang="ja-JP" altLang="en-US" sz="1050" dirty="0"/>
          </a:p>
        </p:txBody>
      </p:sp>
      <p:cxnSp>
        <p:nvCxnSpPr>
          <p:cNvPr id="12" name="コネクタ: 曲線 11">
            <a:extLst>
              <a:ext uri="{FF2B5EF4-FFF2-40B4-BE49-F238E27FC236}">
                <a16:creationId xmlns:a16="http://schemas.microsoft.com/office/drawing/2014/main" id="{6E2A5665-1553-4920-907F-4EAA7F983F06}"/>
              </a:ext>
            </a:extLst>
          </p:cNvPr>
          <p:cNvCxnSpPr>
            <a:cxnSpLocks/>
          </p:cNvCxnSpPr>
          <p:nvPr/>
        </p:nvCxnSpPr>
        <p:spPr>
          <a:xfrm rot="10800000">
            <a:off x="2098282" y="2281181"/>
            <a:ext cx="1259457" cy="53412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コネクタ: 曲線 14">
            <a:extLst>
              <a:ext uri="{FF2B5EF4-FFF2-40B4-BE49-F238E27FC236}">
                <a16:creationId xmlns:a16="http://schemas.microsoft.com/office/drawing/2014/main" id="{46A4AB02-96B7-4CE0-B4EC-7D6F5FB1F01F}"/>
              </a:ext>
            </a:extLst>
          </p:cNvPr>
          <p:cNvCxnSpPr>
            <a:cxnSpLocks/>
          </p:cNvCxnSpPr>
          <p:nvPr/>
        </p:nvCxnSpPr>
        <p:spPr>
          <a:xfrm flipV="1">
            <a:off x="8495222" y="2293253"/>
            <a:ext cx="827755" cy="53577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曲線 16">
            <a:extLst>
              <a:ext uri="{FF2B5EF4-FFF2-40B4-BE49-F238E27FC236}">
                <a16:creationId xmlns:a16="http://schemas.microsoft.com/office/drawing/2014/main" id="{D1F49819-3FA7-42EC-BF94-E118A36C2AC3}"/>
              </a:ext>
            </a:extLst>
          </p:cNvPr>
          <p:cNvCxnSpPr>
            <a:cxnSpLocks/>
          </p:cNvCxnSpPr>
          <p:nvPr/>
        </p:nvCxnSpPr>
        <p:spPr>
          <a:xfrm>
            <a:off x="8487102" y="2821908"/>
            <a:ext cx="835875" cy="25150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9D94D54-D185-4B4C-85C9-5A11A84B0488}"/>
              </a:ext>
            </a:extLst>
          </p:cNvPr>
          <p:cNvSpPr txBox="1"/>
          <p:nvPr/>
        </p:nvSpPr>
        <p:spPr>
          <a:xfrm>
            <a:off x="9297756" y="2150155"/>
            <a:ext cx="7617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 err="1"/>
              <a:t>Portscan</a:t>
            </a:r>
            <a:endParaRPr kumimoji="1" lang="ja-JP" altLang="en-US" sz="105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A176BD3-E891-46F7-8BF4-55CD9A1114FB}"/>
              </a:ext>
            </a:extLst>
          </p:cNvPr>
          <p:cNvSpPr txBox="1"/>
          <p:nvPr/>
        </p:nvSpPr>
        <p:spPr>
          <a:xfrm>
            <a:off x="9322977" y="2946932"/>
            <a:ext cx="7697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 err="1"/>
              <a:t>Host</a:t>
            </a:r>
            <a:r>
              <a:rPr kumimoji="1" lang="en-US" altLang="ja-JP" sz="1050" dirty="0" err="1"/>
              <a:t>scan</a:t>
            </a:r>
            <a:endParaRPr kumimoji="1" lang="ja-JP" altLang="en-US" sz="1050" dirty="0"/>
          </a:p>
        </p:txBody>
      </p:sp>
      <p:cxnSp>
        <p:nvCxnSpPr>
          <p:cNvPr id="35" name="コネクタ: 曲線 34">
            <a:extLst>
              <a:ext uri="{FF2B5EF4-FFF2-40B4-BE49-F238E27FC236}">
                <a16:creationId xmlns:a16="http://schemas.microsoft.com/office/drawing/2014/main" id="{8B259B4A-BC07-4C30-A612-A2B3276951BE}"/>
              </a:ext>
            </a:extLst>
          </p:cNvPr>
          <p:cNvCxnSpPr>
            <a:cxnSpLocks/>
          </p:cNvCxnSpPr>
          <p:nvPr/>
        </p:nvCxnSpPr>
        <p:spPr>
          <a:xfrm flipV="1">
            <a:off x="10059503" y="2055428"/>
            <a:ext cx="516485" cy="22553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FD874A4-E8A1-450A-B858-19BB720230B0}"/>
              </a:ext>
            </a:extLst>
          </p:cNvPr>
          <p:cNvSpPr txBox="1"/>
          <p:nvPr/>
        </p:nvSpPr>
        <p:spPr>
          <a:xfrm>
            <a:off x="10575988" y="1896239"/>
            <a:ext cx="6527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Nmap -</a:t>
            </a:r>
            <a:endParaRPr kumimoji="1" lang="ja-JP" altLang="en-US" sz="1050" dirty="0"/>
          </a:p>
        </p:txBody>
      </p:sp>
      <p:cxnSp>
        <p:nvCxnSpPr>
          <p:cNvPr id="38" name="コネクタ: 曲線 37">
            <a:extLst>
              <a:ext uri="{FF2B5EF4-FFF2-40B4-BE49-F238E27FC236}">
                <a16:creationId xmlns:a16="http://schemas.microsoft.com/office/drawing/2014/main" id="{91D4D4E4-5B0E-43C0-8A4C-A06C09C85A63}"/>
              </a:ext>
            </a:extLst>
          </p:cNvPr>
          <p:cNvCxnSpPr>
            <a:cxnSpLocks/>
          </p:cNvCxnSpPr>
          <p:nvPr/>
        </p:nvCxnSpPr>
        <p:spPr>
          <a:xfrm>
            <a:off x="10059503" y="2312540"/>
            <a:ext cx="516485" cy="992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845C3702-46B4-43A1-8276-FE32C57302FF}"/>
              </a:ext>
            </a:extLst>
          </p:cNvPr>
          <p:cNvSpPr txBox="1"/>
          <p:nvPr/>
        </p:nvSpPr>
        <p:spPr>
          <a:xfrm>
            <a:off x="10629958" y="2280960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 err="1"/>
              <a:t>nc</a:t>
            </a:r>
            <a:endParaRPr kumimoji="1" lang="ja-JP" altLang="en-US" sz="1050" dirty="0"/>
          </a:p>
        </p:txBody>
      </p:sp>
      <p:cxnSp>
        <p:nvCxnSpPr>
          <p:cNvPr id="44" name="コネクタ: 曲線 43">
            <a:extLst>
              <a:ext uri="{FF2B5EF4-FFF2-40B4-BE49-F238E27FC236}">
                <a16:creationId xmlns:a16="http://schemas.microsoft.com/office/drawing/2014/main" id="{22646BC0-4F59-48A5-98D9-4E4EAB6EDF3D}"/>
              </a:ext>
            </a:extLst>
          </p:cNvPr>
          <p:cNvCxnSpPr>
            <a:cxnSpLocks/>
            <a:endCxn id="46" idx="1"/>
          </p:cNvCxnSpPr>
          <p:nvPr/>
        </p:nvCxnSpPr>
        <p:spPr>
          <a:xfrm flipV="1">
            <a:off x="9892788" y="2849806"/>
            <a:ext cx="559921" cy="22989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コネクタ: 曲線 44">
            <a:extLst>
              <a:ext uri="{FF2B5EF4-FFF2-40B4-BE49-F238E27FC236}">
                <a16:creationId xmlns:a16="http://schemas.microsoft.com/office/drawing/2014/main" id="{C8FE77A2-2D3E-49D7-A733-DB8DF0B732CE}"/>
              </a:ext>
            </a:extLst>
          </p:cNvPr>
          <p:cNvCxnSpPr>
            <a:cxnSpLocks/>
            <a:stCxn id="30" idx="3"/>
            <a:endCxn id="47" idx="1"/>
          </p:cNvCxnSpPr>
          <p:nvPr/>
        </p:nvCxnSpPr>
        <p:spPr>
          <a:xfrm>
            <a:off x="10092740" y="3073890"/>
            <a:ext cx="345480" cy="21395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7C49963-809B-400C-9E0C-4490203ADD53}"/>
              </a:ext>
            </a:extLst>
          </p:cNvPr>
          <p:cNvSpPr txBox="1"/>
          <p:nvPr/>
        </p:nvSpPr>
        <p:spPr>
          <a:xfrm>
            <a:off x="10452709" y="2722848"/>
            <a:ext cx="12554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Ping &lt;Target </a:t>
            </a:r>
            <a:r>
              <a:rPr kumimoji="1" lang="en-US" altLang="ja-JP" sz="1050" dirty="0" err="1"/>
              <a:t>ip</a:t>
            </a:r>
            <a:r>
              <a:rPr kumimoji="1" lang="en-US" altLang="ja-JP" sz="1050" dirty="0"/>
              <a:t>&gt;</a:t>
            </a:r>
            <a:endParaRPr kumimoji="1" lang="ja-JP" altLang="en-US" sz="105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4519FF8-DDC7-441C-A93E-DE6466F2F877}"/>
              </a:ext>
            </a:extLst>
          </p:cNvPr>
          <p:cNvSpPr txBox="1"/>
          <p:nvPr/>
        </p:nvSpPr>
        <p:spPr>
          <a:xfrm>
            <a:off x="10438220" y="3160889"/>
            <a:ext cx="15071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 err="1"/>
              <a:t>nc</a:t>
            </a:r>
            <a:r>
              <a:rPr lang="en-US" altLang="ja-JP" sz="1050" dirty="0"/>
              <a:t> –v –w &lt;Target </a:t>
            </a:r>
            <a:r>
              <a:rPr lang="en-US" altLang="ja-JP" sz="1050" dirty="0" err="1"/>
              <a:t>ip</a:t>
            </a:r>
            <a:r>
              <a:rPr lang="en-US" altLang="ja-JP" sz="1050" dirty="0"/>
              <a:t>&gt;</a:t>
            </a:r>
            <a:endParaRPr kumimoji="1" lang="ja-JP" altLang="en-US" sz="1050" dirty="0"/>
          </a:p>
        </p:txBody>
      </p:sp>
      <p:cxnSp>
        <p:nvCxnSpPr>
          <p:cNvPr id="48" name="コネクタ: 曲線 47">
            <a:extLst>
              <a:ext uri="{FF2B5EF4-FFF2-40B4-BE49-F238E27FC236}">
                <a16:creationId xmlns:a16="http://schemas.microsoft.com/office/drawing/2014/main" id="{F646D556-FA6E-4E82-9682-AE5EE3588102}"/>
              </a:ext>
            </a:extLst>
          </p:cNvPr>
          <p:cNvCxnSpPr>
            <a:cxnSpLocks/>
          </p:cNvCxnSpPr>
          <p:nvPr/>
        </p:nvCxnSpPr>
        <p:spPr>
          <a:xfrm flipV="1">
            <a:off x="8562085" y="4071619"/>
            <a:ext cx="1227421" cy="712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曲線 48">
            <a:extLst>
              <a:ext uri="{FF2B5EF4-FFF2-40B4-BE49-F238E27FC236}">
                <a16:creationId xmlns:a16="http://schemas.microsoft.com/office/drawing/2014/main" id="{AC71D133-9DB8-4FA5-AC54-3F32B5153CFB}"/>
              </a:ext>
            </a:extLst>
          </p:cNvPr>
          <p:cNvCxnSpPr>
            <a:cxnSpLocks/>
          </p:cNvCxnSpPr>
          <p:nvPr/>
        </p:nvCxnSpPr>
        <p:spPr>
          <a:xfrm>
            <a:off x="8553965" y="4071619"/>
            <a:ext cx="1153893" cy="65565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コネクタ: 曲線 77">
            <a:extLst>
              <a:ext uri="{FF2B5EF4-FFF2-40B4-BE49-F238E27FC236}">
                <a16:creationId xmlns:a16="http://schemas.microsoft.com/office/drawing/2014/main" id="{16967EA8-B3A3-4DDA-99E6-902585877BA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395036" y="1914015"/>
            <a:ext cx="1029890" cy="77554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B1F16FED-DA7D-4DE1-B3ED-E55F27E892C8}"/>
              </a:ext>
            </a:extLst>
          </p:cNvPr>
          <p:cNvSpPr txBox="1"/>
          <p:nvPr/>
        </p:nvSpPr>
        <p:spPr>
          <a:xfrm>
            <a:off x="8900026" y="1537334"/>
            <a:ext cx="6703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website</a:t>
            </a:r>
            <a:endParaRPr kumimoji="1" lang="ja-JP" altLang="en-US" sz="1050" dirty="0"/>
          </a:p>
        </p:txBody>
      </p:sp>
      <p:cxnSp>
        <p:nvCxnSpPr>
          <p:cNvPr id="82" name="コネクタ: 曲線 81">
            <a:extLst>
              <a:ext uri="{FF2B5EF4-FFF2-40B4-BE49-F238E27FC236}">
                <a16:creationId xmlns:a16="http://schemas.microsoft.com/office/drawing/2014/main" id="{1ABA435C-7305-42E0-B49D-6CD2A07881A3}"/>
              </a:ext>
            </a:extLst>
          </p:cNvPr>
          <p:cNvCxnSpPr>
            <a:cxnSpLocks/>
          </p:cNvCxnSpPr>
          <p:nvPr/>
        </p:nvCxnSpPr>
        <p:spPr>
          <a:xfrm flipV="1">
            <a:off x="9519509" y="1442700"/>
            <a:ext cx="539994" cy="22920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D7F536B9-0220-448A-847C-430F0DB2CCEF}"/>
              </a:ext>
            </a:extLst>
          </p:cNvPr>
          <p:cNvSpPr txBox="1"/>
          <p:nvPr/>
        </p:nvSpPr>
        <p:spPr>
          <a:xfrm>
            <a:off x="10031934" y="1327222"/>
            <a:ext cx="10262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SQL Injection</a:t>
            </a:r>
            <a:endParaRPr kumimoji="1" lang="ja-JP" altLang="en-US" sz="1050" dirty="0"/>
          </a:p>
        </p:txBody>
      </p:sp>
      <p:cxnSp>
        <p:nvCxnSpPr>
          <p:cNvPr id="86" name="コネクタ: 曲線 85">
            <a:extLst>
              <a:ext uri="{FF2B5EF4-FFF2-40B4-BE49-F238E27FC236}">
                <a16:creationId xmlns:a16="http://schemas.microsoft.com/office/drawing/2014/main" id="{03D7BBEE-94B5-4168-853C-E75A529BED2A}"/>
              </a:ext>
            </a:extLst>
          </p:cNvPr>
          <p:cNvCxnSpPr>
            <a:cxnSpLocks/>
          </p:cNvCxnSpPr>
          <p:nvPr/>
        </p:nvCxnSpPr>
        <p:spPr>
          <a:xfrm flipV="1">
            <a:off x="9481370" y="1097035"/>
            <a:ext cx="590887" cy="55138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8EFCE878-FA99-4A5E-A723-38142B6E51DC}"/>
              </a:ext>
            </a:extLst>
          </p:cNvPr>
          <p:cNvSpPr txBox="1"/>
          <p:nvPr/>
        </p:nvSpPr>
        <p:spPr>
          <a:xfrm>
            <a:off x="9956936" y="943696"/>
            <a:ext cx="13933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Command Injection</a:t>
            </a:r>
            <a:endParaRPr kumimoji="1" lang="ja-JP" altLang="en-US" sz="1050" dirty="0"/>
          </a:p>
        </p:txBody>
      </p:sp>
      <p:cxnSp>
        <p:nvCxnSpPr>
          <p:cNvPr id="91" name="コネクタ: 曲線 90">
            <a:extLst>
              <a:ext uri="{FF2B5EF4-FFF2-40B4-BE49-F238E27FC236}">
                <a16:creationId xmlns:a16="http://schemas.microsoft.com/office/drawing/2014/main" id="{71BFBF4D-7E87-4728-8C50-B33F92B5884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23123" y="3590821"/>
            <a:ext cx="1302979" cy="130034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3AC5D570-6667-4FA1-A7E6-52F44953304A}"/>
              </a:ext>
            </a:extLst>
          </p:cNvPr>
          <p:cNvSpPr txBox="1"/>
          <p:nvPr/>
        </p:nvSpPr>
        <p:spPr>
          <a:xfrm>
            <a:off x="2909227" y="4725405"/>
            <a:ext cx="13805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 err="1"/>
              <a:t>Plivilege</a:t>
            </a:r>
            <a:r>
              <a:rPr lang="en-US" altLang="ja-JP" sz="1050" dirty="0"/>
              <a:t> escalation</a:t>
            </a:r>
            <a:endParaRPr kumimoji="1" lang="ja-JP" altLang="en-US" sz="1050" dirty="0"/>
          </a:p>
        </p:txBody>
      </p:sp>
      <p:cxnSp>
        <p:nvCxnSpPr>
          <p:cNvPr id="42" name="コネクタ: 曲線 41">
            <a:extLst>
              <a:ext uri="{FF2B5EF4-FFF2-40B4-BE49-F238E27FC236}">
                <a16:creationId xmlns:a16="http://schemas.microsoft.com/office/drawing/2014/main" id="{FC496B53-F4D6-4BF2-931F-DDEB88575AE1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6703334" y="3454733"/>
            <a:ext cx="902591" cy="631250"/>
          </a:xfrm>
          <a:prstGeom prst="curvedConnector3">
            <a:avLst>
              <a:gd name="adj1" fmla="val 652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0D33F4A-B1F8-4F1B-BB49-FCB3228A07AD}"/>
              </a:ext>
            </a:extLst>
          </p:cNvPr>
          <p:cNvSpPr txBox="1"/>
          <p:nvPr/>
        </p:nvSpPr>
        <p:spPr>
          <a:xfrm>
            <a:off x="8127463" y="4913087"/>
            <a:ext cx="10102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Initial Access</a:t>
            </a:r>
            <a:endParaRPr kumimoji="1" lang="ja-JP" altLang="en-US" sz="105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F6E38BC-7001-4018-9E43-C3732F64C25D}"/>
              </a:ext>
            </a:extLst>
          </p:cNvPr>
          <p:cNvSpPr txBox="1"/>
          <p:nvPr/>
        </p:nvSpPr>
        <p:spPr>
          <a:xfrm>
            <a:off x="655607" y="267419"/>
            <a:ext cx="7556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/>
              <a:t>Approach3: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5747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158</Words>
  <Application>Microsoft Office PowerPoint</Application>
  <PresentationFormat>ワイド画面</PresentationFormat>
  <Paragraphs>63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A1259089</dc:creator>
  <cp:lastModifiedBy>A1259089</cp:lastModifiedBy>
  <cp:revision>19</cp:revision>
  <dcterms:created xsi:type="dcterms:W3CDTF">2026-04-01T06:29:51Z</dcterms:created>
  <dcterms:modified xsi:type="dcterms:W3CDTF">2026-04-06T02:39:21Z</dcterms:modified>
</cp:coreProperties>
</file>