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7F6240-9BB4-4CDE-B50D-EA9811EA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671930-BB4F-4829-A1BE-1C2342D2E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E95D46-9634-42FF-9211-B3618933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444040-9C6B-48AD-8C45-7B71C633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34BCA8-20FB-4B2B-BCD1-A90F5C1F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174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E90A6-3AEB-47B9-A2B1-7BDBCEF5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450F7F-6C6C-4D54-B329-C315A3B39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962351-69C4-48B8-BB3B-E448B160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EDECF8-3BB0-4ACB-8A94-D3448CDC3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536C75-3B1B-4793-8E18-31AD188D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178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DA8BFF-B49D-4CAF-9784-A5476014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D20010-F099-47D7-A90B-990C9806F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B9173F-4EFA-446F-8228-E1933DB6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F9C5E1-8761-44D7-B25C-500C8026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F8A311-CA65-4195-8939-DFC5CF94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44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1BBD22-601A-41CE-902F-1D8CBA08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6A474A-3302-4DD3-B281-2432A1962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04D366-611B-405D-AB30-B1DCF65FD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71DA28-8631-423F-8753-47C6FAAB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3B8B58-8C22-4790-B793-DC0A360E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D7D8BB-CED4-4119-B946-18882B25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46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50E1D7-6C07-4311-BB04-EF6D4BBB2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E5248-57AB-43FE-A6E0-319346C3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DFF57B-C653-4A7E-8164-D15BF1A0E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8803B4-FEB7-4C82-B7D5-046D7C93E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6B8F58-8ECF-4BA9-8987-1459A7508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9366B2-C979-4463-909E-4AC02DB4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ED961A5-522F-4F67-92F2-FBD5F92C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C19CF5-1E9B-4FC7-8240-9B5777C6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734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30A60-243D-4EF3-A46C-7CD73EC6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2EA4FD-3A51-4523-99FC-873F78F2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5C8B58-414B-44F0-8097-515F3DF2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DFAFF4-B559-430D-824D-43518827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79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26381A-80D8-41B9-8C2C-1102EB526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56D3F3-3D1A-4CA9-81C1-E084C844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6525F0-C284-479D-B209-76A81BAE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76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8D538-AE87-4E4E-BA8B-6DA88CF5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A808B0-473E-49DF-A740-E9CFFC487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10BF89-58D9-4B31-9665-3E4046CE7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AC7E03-8683-45BB-9CE4-52C31E57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AF32E4-6C85-445A-A0AF-A09FA0B8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5C71E8-8A5F-42B9-8D5A-DE8B8BD5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89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EA50B-2F99-47A9-9C28-7DA0D666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6691E3-A0FE-442F-8709-BBBEFB26F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17129C-7D06-4C07-BB94-C04CCEB96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23B2BC-7DAF-4437-B6E9-B453D858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8F4B33-52BF-4887-BC09-4664748D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2B65CE-8A20-40CB-B007-3CF99F1F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22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1B8B4F-4C71-4ED6-BF8B-87FAF8FC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737CD4-F7E6-4A12-BDE9-FAA598A49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0B2CF-D2D0-4A81-8E22-BD41ED52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FD26B0-2FDA-4D96-B6ED-CFF901B1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7AEF39-6E95-47DF-BBAD-CA34A5F4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17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F47A1C-C7D4-4FF8-A355-D15CA1E56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48E2FC-BB1C-4D5A-86B0-3E8C3F845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33DFDD-45CD-4FB4-913F-B09BE4EB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025249-3FA0-4084-B42A-58FCA861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80FC31-1746-45F7-8974-C86685ED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15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615794-93F6-45F2-A86C-8978BA77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398CA5-7137-45B7-B9DB-8654C2E91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F5734A-5DB6-4505-84AD-AD3096358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58E03-A8CF-41CF-B467-678AA1E7D5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2A2100-9CF5-4810-8B63-A5163427A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55DE07-ADE3-4621-AFEF-A9629FF11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1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642690" y="3161940"/>
            <a:ext cx="757303" cy="331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Attacker</a:t>
            </a:r>
            <a:endParaRPr kumimoji="1" lang="ja-JP" altLang="en-US" sz="100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913522" y="2976085"/>
            <a:ext cx="729168" cy="3513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761774" y="3327470"/>
            <a:ext cx="880917" cy="2670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399993" y="2976084"/>
            <a:ext cx="809302" cy="3513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A438017C-86A6-452B-B2AE-121AC51349B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937358" cy="7426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7137034" y="2868248"/>
            <a:ext cx="8531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Reconnaissance</a:t>
            </a:r>
            <a:endParaRPr kumimoji="1" lang="ja-JP" altLang="en-US" sz="7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418732" y="3537109"/>
            <a:ext cx="7922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W</a:t>
            </a:r>
            <a:r>
              <a:rPr kumimoji="1" lang="en-US" altLang="ja-JP" sz="700" dirty="0"/>
              <a:t>eaponization</a:t>
            </a:r>
            <a:endParaRPr kumimoji="1" lang="ja-JP" altLang="en-US" sz="7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4277893" y="2876057"/>
            <a:ext cx="6719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Exploitation</a:t>
            </a:r>
            <a:endParaRPr kumimoji="1" lang="ja-JP" altLang="en-US" sz="7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4164011" y="3483543"/>
            <a:ext cx="6687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Persistence</a:t>
            </a:r>
            <a:endParaRPr kumimoji="1" lang="ja-JP" altLang="en-US" sz="70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3676211" y="3364171"/>
            <a:ext cx="559452" cy="22314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46A4AB02-96B7-4CE0-B4EC-7D6F5FB1F01F}"/>
              </a:ext>
            </a:extLst>
          </p:cNvPr>
          <p:cNvCxnSpPr>
            <a:cxnSpLocks/>
          </p:cNvCxnSpPr>
          <p:nvPr/>
        </p:nvCxnSpPr>
        <p:spPr>
          <a:xfrm flipV="1">
            <a:off x="7979994" y="2440310"/>
            <a:ext cx="827755" cy="535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D1F49819-3FA7-42EC-BF94-E118A36C2AC3}"/>
              </a:ext>
            </a:extLst>
          </p:cNvPr>
          <p:cNvCxnSpPr>
            <a:cxnSpLocks/>
          </p:cNvCxnSpPr>
          <p:nvPr/>
        </p:nvCxnSpPr>
        <p:spPr>
          <a:xfrm>
            <a:off x="8022186" y="2957977"/>
            <a:ext cx="835875" cy="251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9D94D54-D185-4B4C-85C9-5A11A84B0488}"/>
              </a:ext>
            </a:extLst>
          </p:cNvPr>
          <p:cNvSpPr txBox="1"/>
          <p:nvPr/>
        </p:nvSpPr>
        <p:spPr>
          <a:xfrm>
            <a:off x="8915826" y="2346422"/>
            <a:ext cx="5501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Portscan</a:t>
            </a:r>
            <a:endParaRPr kumimoji="1" lang="ja-JP" altLang="en-US" sz="7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A176BD3-E891-46F7-8BF4-55CD9A1114FB}"/>
              </a:ext>
            </a:extLst>
          </p:cNvPr>
          <p:cNvSpPr txBox="1"/>
          <p:nvPr/>
        </p:nvSpPr>
        <p:spPr>
          <a:xfrm>
            <a:off x="8921198" y="3117761"/>
            <a:ext cx="5709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Host</a:t>
            </a:r>
            <a:r>
              <a:rPr kumimoji="1" lang="en-US" altLang="ja-JP" sz="700" dirty="0" err="1"/>
              <a:t>scan</a:t>
            </a:r>
            <a:endParaRPr kumimoji="1" lang="ja-JP" altLang="en-US" sz="700" dirty="0"/>
          </a:p>
        </p:txBody>
      </p:sp>
      <p:cxnSp>
        <p:nvCxnSpPr>
          <p:cNvPr id="35" name="コネクタ: 曲線 34">
            <a:extLst>
              <a:ext uri="{FF2B5EF4-FFF2-40B4-BE49-F238E27FC236}">
                <a16:creationId xmlns:a16="http://schemas.microsoft.com/office/drawing/2014/main" id="{8B259B4A-BC07-4C30-A612-A2B3276951BE}"/>
              </a:ext>
            </a:extLst>
          </p:cNvPr>
          <p:cNvCxnSpPr>
            <a:cxnSpLocks/>
          </p:cNvCxnSpPr>
          <p:nvPr/>
        </p:nvCxnSpPr>
        <p:spPr>
          <a:xfrm flipV="1">
            <a:off x="9481370" y="2220403"/>
            <a:ext cx="516485" cy="22553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D874A4-E8A1-450A-B858-19BB720230B0}"/>
              </a:ext>
            </a:extLst>
          </p:cNvPr>
          <p:cNvSpPr txBox="1"/>
          <p:nvPr/>
        </p:nvSpPr>
        <p:spPr>
          <a:xfrm>
            <a:off x="9973031" y="2153017"/>
            <a:ext cx="6222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Nmap  -</a:t>
            </a:r>
            <a:r>
              <a:rPr kumimoji="1" lang="en-US" altLang="ja-JP" sz="700" dirty="0" err="1"/>
              <a:t>sV</a:t>
            </a:r>
            <a:endParaRPr kumimoji="1" lang="ja-JP" altLang="en-US" sz="700" dirty="0"/>
          </a:p>
        </p:txBody>
      </p: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1D4D4E4-5B0E-43C0-8A4C-A06C09C85A63}"/>
              </a:ext>
            </a:extLst>
          </p:cNvPr>
          <p:cNvCxnSpPr>
            <a:cxnSpLocks/>
          </p:cNvCxnSpPr>
          <p:nvPr/>
        </p:nvCxnSpPr>
        <p:spPr>
          <a:xfrm>
            <a:off x="9456546" y="2437213"/>
            <a:ext cx="516485" cy="992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45C3702-46B4-43A1-8276-FE32C57302FF}"/>
              </a:ext>
            </a:extLst>
          </p:cNvPr>
          <p:cNvSpPr txBox="1"/>
          <p:nvPr/>
        </p:nvSpPr>
        <p:spPr>
          <a:xfrm>
            <a:off x="9911803" y="2440946"/>
            <a:ext cx="10310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Nc –v -z &lt;target IP&gt;</a:t>
            </a:r>
            <a:endParaRPr kumimoji="1" lang="ja-JP" altLang="en-US" sz="700" dirty="0"/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22646BC0-4F59-48A5-98D9-4E4EAB6EDF3D}"/>
              </a:ext>
            </a:extLst>
          </p:cNvPr>
          <p:cNvCxnSpPr>
            <a:cxnSpLocks/>
          </p:cNvCxnSpPr>
          <p:nvPr/>
        </p:nvCxnSpPr>
        <p:spPr>
          <a:xfrm flipV="1">
            <a:off x="9515755" y="2955318"/>
            <a:ext cx="559921" cy="2568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8FE77A2-2D3E-49D7-A733-DB8DF0B732CE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 flipV="1">
            <a:off x="9492188" y="3192351"/>
            <a:ext cx="1357115" cy="254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7C49963-809B-400C-9E0C-4490203ADD53}"/>
              </a:ext>
            </a:extLst>
          </p:cNvPr>
          <p:cNvSpPr txBox="1"/>
          <p:nvPr/>
        </p:nvSpPr>
        <p:spPr>
          <a:xfrm>
            <a:off x="10031934" y="2863132"/>
            <a:ext cx="8963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Ping &lt;Target </a:t>
            </a:r>
            <a:r>
              <a:rPr kumimoji="1" lang="en-US" altLang="ja-JP" sz="700" dirty="0" err="1"/>
              <a:t>ip</a:t>
            </a:r>
            <a:r>
              <a:rPr kumimoji="1" lang="en-US" altLang="ja-JP" sz="700" dirty="0"/>
              <a:t>&gt;</a:t>
            </a:r>
            <a:endParaRPr kumimoji="1" lang="ja-JP" altLang="en-US" sz="7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519FF8-DDC7-441C-A93E-DE6466F2F877}"/>
              </a:ext>
            </a:extLst>
          </p:cNvPr>
          <p:cNvSpPr txBox="1"/>
          <p:nvPr/>
        </p:nvSpPr>
        <p:spPr>
          <a:xfrm>
            <a:off x="10849303" y="3092323"/>
            <a:ext cx="10631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nc</a:t>
            </a:r>
            <a:r>
              <a:rPr lang="en-US" altLang="ja-JP" sz="700" dirty="0"/>
              <a:t> –v –w &lt;Target </a:t>
            </a:r>
            <a:r>
              <a:rPr lang="en-US" altLang="ja-JP" sz="700" dirty="0" err="1"/>
              <a:t>ip</a:t>
            </a:r>
            <a:r>
              <a:rPr lang="en-US" altLang="ja-JP" sz="700" dirty="0"/>
              <a:t>&gt;</a:t>
            </a:r>
            <a:endParaRPr kumimoji="1" lang="ja-JP" altLang="en-US" sz="700" dirty="0"/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0937" y="3637137"/>
            <a:ext cx="1049808" cy="1724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0937" y="3637137"/>
            <a:ext cx="742615" cy="39031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89358" y="2009899"/>
            <a:ext cx="1029890" cy="7755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644117" y="1706533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website</a:t>
            </a:r>
            <a:endParaRPr kumimoji="1" lang="ja-JP" altLang="en-US" sz="70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</p:cNvCxnSpPr>
          <p:nvPr/>
        </p:nvCxnSpPr>
        <p:spPr>
          <a:xfrm flipV="1">
            <a:off x="9205253" y="1485760"/>
            <a:ext cx="539994" cy="2292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9747886" y="1362383"/>
            <a:ext cx="7409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SQL Injection</a:t>
            </a:r>
            <a:endParaRPr kumimoji="1" lang="ja-JP" altLang="en-US" sz="70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</p:cNvCxnSpPr>
          <p:nvPr/>
        </p:nvCxnSpPr>
        <p:spPr>
          <a:xfrm flipV="1">
            <a:off x="9064936" y="1146032"/>
            <a:ext cx="702257" cy="5704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9682494" y="1052892"/>
            <a:ext cx="9829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Command Injection</a:t>
            </a:r>
            <a:endParaRPr kumimoji="1" lang="ja-JP" altLang="en-US" sz="70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32809" y="3429000"/>
            <a:ext cx="1009882" cy="9343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3697967" y="4234941"/>
            <a:ext cx="9797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Plivilege</a:t>
            </a:r>
            <a:r>
              <a:rPr lang="en-US" altLang="ja-JP" sz="700" dirty="0"/>
              <a:t> escalation</a:t>
            </a:r>
            <a:endParaRPr kumimoji="1" lang="ja-JP" altLang="en-US" sz="70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1000641" cy="2912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7324544" y="4007173"/>
            <a:ext cx="7312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Initial Access</a:t>
            </a:r>
            <a:endParaRPr kumimoji="1" lang="ja-JP" altLang="en-US" sz="7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9A78890-AC63-4F2B-A881-C205D5CE02A7}"/>
              </a:ext>
            </a:extLst>
          </p:cNvPr>
          <p:cNvSpPr txBox="1"/>
          <p:nvPr/>
        </p:nvSpPr>
        <p:spPr>
          <a:xfrm>
            <a:off x="9045451" y="4070124"/>
            <a:ext cx="3706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PHP</a:t>
            </a:r>
            <a:endParaRPr kumimoji="1" lang="ja-JP" altLang="en-US" sz="7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A0001A1-0C2D-4EBB-9752-DBD1F690186E}"/>
              </a:ext>
            </a:extLst>
          </p:cNvPr>
          <p:cNvSpPr txBox="1"/>
          <p:nvPr/>
        </p:nvSpPr>
        <p:spPr>
          <a:xfrm>
            <a:off x="8890688" y="4250440"/>
            <a:ext cx="32573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ssh</a:t>
            </a:r>
            <a:endParaRPr kumimoji="1" lang="ja-JP" altLang="en-US" sz="700" dirty="0"/>
          </a:p>
        </p:txBody>
      </p:sp>
      <p:cxnSp>
        <p:nvCxnSpPr>
          <p:cNvPr id="52" name="コネクタ: 曲線 51">
            <a:extLst>
              <a:ext uri="{FF2B5EF4-FFF2-40B4-BE49-F238E27FC236}">
                <a16:creationId xmlns:a16="http://schemas.microsoft.com/office/drawing/2014/main" id="{D8B0B492-4847-4E78-923E-49CB931ECA8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8055834" y="4107201"/>
            <a:ext cx="881699" cy="23956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曲線 54">
            <a:extLst>
              <a:ext uri="{FF2B5EF4-FFF2-40B4-BE49-F238E27FC236}">
                <a16:creationId xmlns:a16="http://schemas.microsoft.com/office/drawing/2014/main" id="{B56DBE90-E3FC-4F2D-99ED-3D97373929E0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492188" y="3217789"/>
            <a:ext cx="1173267" cy="3608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B077388-35ED-4137-8C63-AAB5CB139F31}"/>
              </a:ext>
            </a:extLst>
          </p:cNvPr>
          <p:cNvSpPr txBox="1"/>
          <p:nvPr/>
        </p:nvSpPr>
        <p:spPr>
          <a:xfrm>
            <a:off x="10564867" y="3483449"/>
            <a:ext cx="10999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Nmap –</a:t>
            </a:r>
            <a:r>
              <a:rPr lang="en-US" altLang="ja-JP" sz="700" dirty="0" err="1"/>
              <a:t>sn</a:t>
            </a:r>
            <a:r>
              <a:rPr lang="en-US" altLang="ja-JP" sz="700" dirty="0"/>
              <a:t> &lt;target </a:t>
            </a:r>
            <a:r>
              <a:rPr lang="en-US" altLang="ja-JP" sz="700" dirty="0" err="1"/>
              <a:t>ip</a:t>
            </a:r>
            <a:r>
              <a:rPr lang="en-US" altLang="ja-JP" sz="700" dirty="0"/>
              <a:t>&gt;</a:t>
            </a:r>
            <a:endParaRPr kumimoji="1" lang="ja-JP" altLang="en-US" sz="700" dirty="0"/>
          </a:p>
        </p:txBody>
      </p:sp>
      <p:cxnSp>
        <p:nvCxnSpPr>
          <p:cNvPr id="57" name="コネクタ: 曲線 56">
            <a:extLst>
              <a:ext uri="{FF2B5EF4-FFF2-40B4-BE49-F238E27FC236}">
                <a16:creationId xmlns:a16="http://schemas.microsoft.com/office/drawing/2014/main" id="{D7306E40-3666-4A4F-890A-25F19CB4119C}"/>
              </a:ext>
            </a:extLst>
          </p:cNvPr>
          <p:cNvCxnSpPr>
            <a:cxnSpLocks/>
          </p:cNvCxnSpPr>
          <p:nvPr/>
        </p:nvCxnSpPr>
        <p:spPr>
          <a:xfrm>
            <a:off x="9162551" y="4356076"/>
            <a:ext cx="360095" cy="197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44FC7F8-D7A6-4E2F-AD98-1E03C9378682}"/>
              </a:ext>
            </a:extLst>
          </p:cNvPr>
          <p:cNvSpPr txBox="1"/>
          <p:nvPr/>
        </p:nvSpPr>
        <p:spPr>
          <a:xfrm>
            <a:off x="9465904" y="4314094"/>
            <a:ext cx="10182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Ssh </a:t>
            </a:r>
            <a:r>
              <a:rPr kumimoji="1" lang="en-US" altLang="ja-JP" sz="700" dirty="0" err="1"/>
              <a:t>user@ipaddress</a:t>
            </a:r>
            <a:endParaRPr kumimoji="1" lang="ja-JP" altLang="en-US" sz="700" dirty="0"/>
          </a:p>
        </p:txBody>
      </p:sp>
      <p:cxnSp>
        <p:nvCxnSpPr>
          <p:cNvPr id="63" name="コネクタ: 曲線 62">
            <a:extLst>
              <a:ext uri="{FF2B5EF4-FFF2-40B4-BE49-F238E27FC236}">
                <a16:creationId xmlns:a16="http://schemas.microsoft.com/office/drawing/2014/main" id="{01B18974-D2FB-4759-842D-6C86F80F7739}"/>
              </a:ext>
            </a:extLst>
          </p:cNvPr>
          <p:cNvCxnSpPr>
            <a:cxnSpLocks/>
            <a:endCxn id="60" idx="3"/>
          </p:cNvCxnSpPr>
          <p:nvPr/>
        </p:nvCxnSpPr>
        <p:spPr>
          <a:xfrm rot="10800000">
            <a:off x="3949122" y="2801191"/>
            <a:ext cx="462233" cy="1686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677D166-4AB7-4205-ADE1-167F7FCCB2FC}"/>
              </a:ext>
            </a:extLst>
          </p:cNvPr>
          <p:cNvSpPr txBox="1"/>
          <p:nvPr/>
        </p:nvSpPr>
        <p:spPr>
          <a:xfrm>
            <a:off x="140468" y="206462"/>
            <a:ext cx="7556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Approach1:Privilege escalation from a Windows IIS server</a:t>
            </a:r>
            <a:endParaRPr kumimoji="1" lang="ja-JP" altLang="en-US" sz="1100" dirty="0"/>
          </a:p>
        </p:txBody>
      </p:sp>
      <p:cxnSp>
        <p:nvCxnSpPr>
          <p:cNvPr id="84" name="コネクタ: 曲線 83">
            <a:extLst>
              <a:ext uri="{FF2B5EF4-FFF2-40B4-BE49-F238E27FC236}">
                <a16:creationId xmlns:a16="http://schemas.microsoft.com/office/drawing/2014/main" id="{AE6C2A3E-9658-408B-8680-3AA5327FD8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78168" y="3595016"/>
            <a:ext cx="524525" cy="17697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コネクタ: 曲線 88">
            <a:extLst>
              <a:ext uri="{FF2B5EF4-FFF2-40B4-BE49-F238E27FC236}">
                <a16:creationId xmlns:a16="http://schemas.microsoft.com/office/drawing/2014/main" id="{75AB8746-0F32-4D26-AF7C-4B3F53339793}"/>
              </a:ext>
            </a:extLst>
          </p:cNvPr>
          <p:cNvCxnSpPr>
            <a:cxnSpLocks/>
          </p:cNvCxnSpPr>
          <p:nvPr/>
        </p:nvCxnSpPr>
        <p:spPr>
          <a:xfrm rot="10800000">
            <a:off x="3270724" y="4363333"/>
            <a:ext cx="429009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FCE8FE8-E7EF-4226-88F2-67CF7A373D65}"/>
              </a:ext>
            </a:extLst>
          </p:cNvPr>
          <p:cNvSpPr txBox="1"/>
          <p:nvPr/>
        </p:nvSpPr>
        <p:spPr>
          <a:xfrm>
            <a:off x="3171344" y="2701163"/>
            <a:ext cx="7777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Download tool</a:t>
            </a:r>
            <a:endParaRPr kumimoji="1" lang="ja-JP" altLang="en-US" sz="7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C9AE354-11D6-4765-A29B-784266666E69}"/>
              </a:ext>
            </a:extLst>
          </p:cNvPr>
          <p:cNvSpPr txBox="1"/>
          <p:nvPr/>
        </p:nvSpPr>
        <p:spPr>
          <a:xfrm>
            <a:off x="9767193" y="529316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Credencial</a:t>
            </a:r>
            <a:r>
              <a:rPr lang="en-US" altLang="ja-JP" sz="700" dirty="0"/>
              <a:t> information</a:t>
            </a:r>
            <a:endParaRPr kumimoji="1" lang="ja-JP" altLang="en-US" sz="700" dirty="0"/>
          </a:p>
        </p:txBody>
      </p:sp>
      <p:cxnSp>
        <p:nvCxnSpPr>
          <p:cNvPr id="67" name="コネクタ: 曲線 66">
            <a:extLst>
              <a:ext uri="{FF2B5EF4-FFF2-40B4-BE49-F238E27FC236}">
                <a16:creationId xmlns:a16="http://schemas.microsoft.com/office/drawing/2014/main" id="{E2F156E1-D344-4EA0-BE43-F0CC5B13D511}"/>
              </a:ext>
            </a:extLst>
          </p:cNvPr>
          <p:cNvCxnSpPr>
            <a:cxnSpLocks/>
          </p:cNvCxnSpPr>
          <p:nvPr/>
        </p:nvCxnSpPr>
        <p:spPr>
          <a:xfrm flipV="1">
            <a:off x="8966429" y="629344"/>
            <a:ext cx="857912" cy="11091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曲線 67">
            <a:extLst>
              <a:ext uri="{FF2B5EF4-FFF2-40B4-BE49-F238E27FC236}">
                <a16:creationId xmlns:a16="http://schemas.microsoft.com/office/drawing/2014/main" id="{660AD7D7-159C-4FC6-80F3-969ED913B200}"/>
              </a:ext>
            </a:extLst>
          </p:cNvPr>
          <p:cNvCxnSpPr>
            <a:cxnSpLocks/>
          </p:cNvCxnSpPr>
          <p:nvPr/>
        </p:nvCxnSpPr>
        <p:spPr>
          <a:xfrm flipV="1">
            <a:off x="8987238" y="539240"/>
            <a:ext cx="384215" cy="12084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1D672061-101C-4DCC-9A3B-F174593C0944}"/>
              </a:ext>
            </a:extLst>
          </p:cNvPr>
          <p:cNvSpPr txBox="1"/>
          <p:nvPr/>
        </p:nvSpPr>
        <p:spPr>
          <a:xfrm>
            <a:off x="9246510" y="325146"/>
            <a:ext cx="6014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Robots.txt</a:t>
            </a:r>
            <a:endParaRPr kumimoji="1" lang="ja-JP" altLang="en-US" sz="7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194DA8A-EFBC-4C55-B766-67FFFFD92033}"/>
              </a:ext>
            </a:extLst>
          </p:cNvPr>
          <p:cNvSpPr txBox="1"/>
          <p:nvPr/>
        </p:nvSpPr>
        <p:spPr>
          <a:xfrm>
            <a:off x="2995534" y="3696111"/>
            <a:ext cx="7505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Use </a:t>
            </a:r>
            <a:r>
              <a:rPr lang="en-US" altLang="ja-JP" sz="700" dirty="0" err="1"/>
              <a:t>powercat</a:t>
            </a:r>
            <a:endParaRPr kumimoji="1" lang="ja-JP" altLang="en-US" sz="700" dirty="0"/>
          </a:p>
        </p:txBody>
      </p:sp>
      <p:cxnSp>
        <p:nvCxnSpPr>
          <p:cNvPr id="72" name="コネクタ: 曲線 71">
            <a:extLst>
              <a:ext uri="{FF2B5EF4-FFF2-40B4-BE49-F238E27FC236}">
                <a16:creationId xmlns:a16="http://schemas.microsoft.com/office/drawing/2014/main" id="{21B1E6C9-9A36-4127-857A-D791D71C98F4}"/>
              </a:ext>
            </a:extLst>
          </p:cNvPr>
          <p:cNvCxnSpPr>
            <a:cxnSpLocks/>
            <a:stCxn id="71" idx="1"/>
          </p:cNvCxnSpPr>
          <p:nvPr/>
        </p:nvCxnSpPr>
        <p:spPr>
          <a:xfrm rot="10800000" flipV="1">
            <a:off x="2652264" y="3796138"/>
            <a:ext cx="343270" cy="8824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7687F8-F870-F582-18C1-F56C5100BC78}"/>
              </a:ext>
            </a:extLst>
          </p:cNvPr>
          <p:cNvSpPr txBox="1"/>
          <p:nvPr/>
        </p:nvSpPr>
        <p:spPr>
          <a:xfrm>
            <a:off x="2563559" y="4533882"/>
            <a:ext cx="8547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Use juicy potato</a:t>
            </a:r>
            <a:endParaRPr kumimoji="1" lang="ja-JP" altLang="en-US" sz="700" dirty="0"/>
          </a:p>
        </p:txBody>
      </p:sp>
      <p:cxnSp>
        <p:nvCxnSpPr>
          <p:cNvPr id="6" name="コネクタ: 曲線 5">
            <a:extLst>
              <a:ext uri="{FF2B5EF4-FFF2-40B4-BE49-F238E27FC236}">
                <a16:creationId xmlns:a16="http://schemas.microsoft.com/office/drawing/2014/main" id="{ED7D2108-FCF9-DC9C-3473-5CADBC73FC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8559" y="4375777"/>
            <a:ext cx="401580" cy="2456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8D0684-2687-8EF7-9FF0-9BA7B4EC4059}"/>
              </a:ext>
            </a:extLst>
          </p:cNvPr>
          <p:cNvSpPr txBox="1"/>
          <p:nvPr/>
        </p:nvSpPr>
        <p:spPr>
          <a:xfrm>
            <a:off x="9260745" y="3737164"/>
            <a:ext cx="7344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Prepare tools</a:t>
            </a:r>
            <a:endParaRPr kumimoji="1" lang="ja-JP" altLang="en-US" sz="700" dirty="0"/>
          </a:p>
        </p:txBody>
      </p:sp>
      <p:cxnSp>
        <p:nvCxnSpPr>
          <p:cNvPr id="16" name="コネクタ: 曲線 15">
            <a:extLst>
              <a:ext uri="{FF2B5EF4-FFF2-40B4-BE49-F238E27FC236}">
                <a16:creationId xmlns:a16="http://schemas.microsoft.com/office/drawing/2014/main" id="{DC8A0C7B-F476-82AE-47FA-8590E82D6DF1}"/>
              </a:ext>
            </a:extLst>
          </p:cNvPr>
          <p:cNvCxnSpPr>
            <a:cxnSpLocks/>
          </p:cNvCxnSpPr>
          <p:nvPr/>
        </p:nvCxnSpPr>
        <p:spPr>
          <a:xfrm>
            <a:off x="9934711" y="3826000"/>
            <a:ext cx="879680" cy="4880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曲線 27">
            <a:extLst>
              <a:ext uri="{FF2B5EF4-FFF2-40B4-BE49-F238E27FC236}">
                <a16:creationId xmlns:a16="http://schemas.microsoft.com/office/drawing/2014/main" id="{62E06EBE-2245-2C13-DCF7-A128B014811F}"/>
              </a:ext>
            </a:extLst>
          </p:cNvPr>
          <p:cNvCxnSpPr>
            <a:cxnSpLocks/>
          </p:cNvCxnSpPr>
          <p:nvPr/>
        </p:nvCxnSpPr>
        <p:spPr>
          <a:xfrm>
            <a:off x="9941330" y="3831702"/>
            <a:ext cx="873061" cy="2329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90AEF2D-9DEA-71D8-EAB1-354BFA7BD8FD}"/>
              </a:ext>
            </a:extLst>
          </p:cNvPr>
          <p:cNvSpPr txBox="1"/>
          <p:nvPr/>
        </p:nvSpPr>
        <p:spPr>
          <a:xfrm>
            <a:off x="10773225" y="3974304"/>
            <a:ext cx="14927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Nc.exe(windows for </a:t>
            </a:r>
            <a:r>
              <a:rPr lang="en-US" altLang="ja-JP" sz="800" dirty="0" err="1"/>
              <a:t>netcat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90D1107-89D5-564D-3437-9F2AB9C08DC3}"/>
              </a:ext>
            </a:extLst>
          </p:cNvPr>
          <p:cNvSpPr txBox="1"/>
          <p:nvPr/>
        </p:nvSpPr>
        <p:spPr>
          <a:xfrm>
            <a:off x="10761564" y="4232322"/>
            <a:ext cx="9813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jp.exe(juicy potato)</a:t>
            </a:r>
            <a:endParaRPr kumimoji="1" lang="ja-JP" altLang="en-US" sz="700" dirty="0"/>
          </a:p>
        </p:txBody>
      </p:sp>
      <p:cxnSp>
        <p:nvCxnSpPr>
          <p:cNvPr id="96" name="コネクタ: 曲線 95">
            <a:extLst>
              <a:ext uri="{FF2B5EF4-FFF2-40B4-BE49-F238E27FC236}">
                <a16:creationId xmlns:a16="http://schemas.microsoft.com/office/drawing/2014/main" id="{F90EBBD6-199E-3289-2610-4E8078BE0122}"/>
              </a:ext>
            </a:extLst>
          </p:cNvPr>
          <p:cNvCxnSpPr>
            <a:cxnSpLocks/>
          </p:cNvCxnSpPr>
          <p:nvPr/>
        </p:nvCxnSpPr>
        <p:spPr>
          <a:xfrm flipV="1">
            <a:off x="9034908" y="1733661"/>
            <a:ext cx="732285" cy="42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0CBD868F-E3E6-4A13-2C6E-120A0B961039}"/>
              </a:ext>
            </a:extLst>
          </p:cNvPr>
          <p:cNvSpPr txBox="1"/>
          <p:nvPr/>
        </p:nvSpPr>
        <p:spPr>
          <a:xfrm>
            <a:off x="9729833" y="1650599"/>
            <a:ext cx="7809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Directory scan</a:t>
            </a:r>
            <a:endParaRPr kumimoji="1" lang="ja-JP" altLang="en-US" sz="700" dirty="0"/>
          </a:p>
        </p:txBody>
      </p:sp>
      <p:cxnSp>
        <p:nvCxnSpPr>
          <p:cNvPr id="100" name="コネクタ: 曲線 99">
            <a:extLst>
              <a:ext uri="{FF2B5EF4-FFF2-40B4-BE49-F238E27FC236}">
                <a16:creationId xmlns:a16="http://schemas.microsoft.com/office/drawing/2014/main" id="{A8370614-884C-4373-4B6E-2FA4456A52B5}"/>
              </a:ext>
            </a:extLst>
          </p:cNvPr>
          <p:cNvCxnSpPr>
            <a:cxnSpLocks/>
          </p:cNvCxnSpPr>
          <p:nvPr/>
        </p:nvCxnSpPr>
        <p:spPr>
          <a:xfrm>
            <a:off x="10472684" y="1739584"/>
            <a:ext cx="306244" cy="147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B6C3F971-5AE0-BBA2-E476-7CD6878EF1DC}"/>
              </a:ext>
            </a:extLst>
          </p:cNvPr>
          <p:cNvSpPr txBox="1"/>
          <p:nvPr/>
        </p:nvSpPr>
        <p:spPr>
          <a:xfrm>
            <a:off x="10724365" y="1662639"/>
            <a:ext cx="9989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Dirb</a:t>
            </a:r>
            <a:r>
              <a:rPr kumimoji="1" lang="en-US" altLang="ja-JP" sz="700" dirty="0"/>
              <a:t> &lt;URL&gt; &lt;</a:t>
            </a:r>
            <a:r>
              <a:rPr kumimoji="1" lang="en-US" altLang="ja-JP" sz="700" dirty="0" err="1"/>
              <a:t>dic</a:t>
            </a:r>
            <a:r>
              <a:rPr kumimoji="1" lang="en-US" altLang="ja-JP" sz="700" dirty="0"/>
              <a:t>&gt; </a:t>
            </a:r>
            <a:endParaRPr kumimoji="1" lang="ja-JP" altLang="en-US" sz="700" dirty="0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DBBA53DE-0850-7FFD-8C7E-EAFDDA12C792}"/>
              </a:ext>
            </a:extLst>
          </p:cNvPr>
          <p:cNvSpPr txBox="1"/>
          <p:nvPr/>
        </p:nvSpPr>
        <p:spPr>
          <a:xfrm>
            <a:off x="1437128" y="3796138"/>
            <a:ext cx="12843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Launch </a:t>
            </a:r>
            <a:r>
              <a:rPr kumimoji="1" lang="en-US" altLang="ja-JP" sz="700" dirty="0" err="1"/>
              <a:t>httpserver</a:t>
            </a:r>
            <a:r>
              <a:rPr lang="en-US" altLang="ja-JP" sz="700" dirty="0"/>
              <a:t>(python)</a:t>
            </a:r>
            <a:endParaRPr kumimoji="1" lang="ja-JP" altLang="en-US" sz="700" dirty="0"/>
          </a:p>
        </p:txBody>
      </p:sp>
      <p:cxnSp>
        <p:nvCxnSpPr>
          <p:cNvPr id="113" name="コネクタ: 曲線 112">
            <a:extLst>
              <a:ext uri="{FF2B5EF4-FFF2-40B4-BE49-F238E27FC236}">
                <a16:creationId xmlns:a16="http://schemas.microsoft.com/office/drawing/2014/main" id="{BB23E178-CB20-E06F-8D3D-D5AFD676CAD3}"/>
              </a:ext>
            </a:extLst>
          </p:cNvPr>
          <p:cNvCxnSpPr>
            <a:cxnSpLocks/>
          </p:cNvCxnSpPr>
          <p:nvPr/>
        </p:nvCxnSpPr>
        <p:spPr>
          <a:xfrm rot="10800000">
            <a:off x="2633221" y="3661047"/>
            <a:ext cx="353068" cy="1246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33A2AEE8-DA46-8CDE-F323-66CF97712B48}"/>
              </a:ext>
            </a:extLst>
          </p:cNvPr>
          <p:cNvSpPr txBox="1"/>
          <p:nvPr/>
        </p:nvSpPr>
        <p:spPr>
          <a:xfrm>
            <a:off x="1979219" y="35610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Listen to </a:t>
            </a:r>
            <a:r>
              <a:rPr kumimoji="1" lang="en-US" altLang="ja-JP" sz="700" dirty="0" err="1"/>
              <a:t>nc</a:t>
            </a:r>
            <a:endParaRPr kumimoji="1" lang="ja-JP" altLang="en-US" sz="700" dirty="0"/>
          </a:p>
        </p:txBody>
      </p:sp>
      <p:cxnSp>
        <p:nvCxnSpPr>
          <p:cNvPr id="116" name="コネクタ: 曲線 115">
            <a:extLst>
              <a:ext uri="{FF2B5EF4-FFF2-40B4-BE49-F238E27FC236}">
                <a16:creationId xmlns:a16="http://schemas.microsoft.com/office/drawing/2014/main" id="{FEAB322B-44D4-4B74-FD06-CC7D3247E5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99541" y="3637136"/>
            <a:ext cx="896054" cy="1694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曲線 117">
            <a:extLst>
              <a:ext uri="{FF2B5EF4-FFF2-40B4-BE49-F238E27FC236}">
                <a16:creationId xmlns:a16="http://schemas.microsoft.com/office/drawing/2014/main" id="{5838C297-618F-5A26-42F3-7498F40125BF}"/>
              </a:ext>
            </a:extLst>
          </p:cNvPr>
          <p:cNvCxnSpPr>
            <a:cxnSpLocks/>
          </p:cNvCxnSpPr>
          <p:nvPr/>
        </p:nvCxnSpPr>
        <p:spPr>
          <a:xfrm rot="10800000">
            <a:off x="1119158" y="3806626"/>
            <a:ext cx="361862" cy="895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9C33062A-6A56-7CE6-7CBD-E5D2C18573C9}"/>
              </a:ext>
            </a:extLst>
          </p:cNvPr>
          <p:cNvSpPr txBox="1"/>
          <p:nvPr/>
        </p:nvSpPr>
        <p:spPr>
          <a:xfrm>
            <a:off x="69350" y="3685624"/>
            <a:ext cx="1124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Download and execute</a:t>
            </a:r>
            <a:br>
              <a:rPr lang="en-US" altLang="ja-JP" sz="700" dirty="0"/>
            </a:br>
            <a:r>
              <a:rPr lang="en-US" altLang="ja-JP" sz="700" dirty="0"/>
              <a:t> reverseshell.ps1 file</a:t>
            </a:r>
            <a:br>
              <a:rPr lang="en-US" altLang="ja-JP" sz="700" dirty="0"/>
            </a:br>
            <a:r>
              <a:rPr lang="en-US" altLang="ja-JP" sz="700" dirty="0"/>
              <a:t>(Power shell)</a:t>
            </a:r>
            <a:endParaRPr kumimoji="1" lang="ja-JP" altLang="en-US" sz="700" dirty="0"/>
          </a:p>
        </p:txBody>
      </p:sp>
      <p:cxnSp>
        <p:nvCxnSpPr>
          <p:cNvPr id="125" name="コネクタ: 曲線 124">
            <a:extLst>
              <a:ext uri="{FF2B5EF4-FFF2-40B4-BE49-F238E27FC236}">
                <a16:creationId xmlns:a16="http://schemas.microsoft.com/office/drawing/2014/main" id="{2F2AD0DD-AFB5-1E1F-7984-22EB32D95A7D}"/>
              </a:ext>
            </a:extLst>
          </p:cNvPr>
          <p:cNvCxnSpPr>
            <a:cxnSpLocks/>
          </p:cNvCxnSpPr>
          <p:nvPr/>
        </p:nvCxnSpPr>
        <p:spPr>
          <a:xfrm rot="10800000">
            <a:off x="3003597" y="2632493"/>
            <a:ext cx="249702" cy="1383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40823E69-8FA5-DDB8-15F6-C876589EE627}"/>
              </a:ext>
            </a:extLst>
          </p:cNvPr>
          <p:cNvSpPr txBox="1"/>
          <p:nvPr/>
        </p:nvSpPr>
        <p:spPr>
          <a:xfrm>
            <a:off x="1873552" y="2522093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Nc64.exe(curl command)</a:t>
            </a:r>
            <a:endParaRPr kumimoji="1" lang="ja-JP" altLang="en-US" sz="700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DDC0E422-75E4-FFFA-5618-8F1E1AE010AA}"/>
              </a:ext>
            </a:extLst>
          </p:cNvPr>
          <p:cNvSpPr txBox="1"/>
          <p:nvPr/>
        </p:nvSpPr>
        <p:spPr>
          <a:xfrm>
            <a:off x="751796" y="246424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Execute nc64.exe</a:t>
            </a:r>
            <a:br>
              <a:rPr kumimoji="1" lang="en-US" altLang="ja-JP" sz="700" dirty="0"/>
            </a:br>
            <a:r>
              <a:rPr kumimoji="1" lang="en-US" altLang="ja-JP" sz="700" dirty="0"/>
              <a:t>and listen port</a:t>
            </a:r>
            <a:endParaRPr kumimoji="1" lang="ja-JP" altLang="en-US" sz="700" dirty="0"/>
          </a:p>
        </p:txBody>
      </p:sp>
      <p:cxnSp>
        <p:nvCxnSpPr>
          <p:cNvPr id="130" name="コネクタ: 曲線 129">
            <a:extLst>
              <a:ext uri="{FF2B5EF4-FFF2-40B4-BE49-F238E27FC236}">
                <a16:creationId xmlns:a16="http://schemas.microsoft.com/office/drawing/2014/main" id="{FF68861D-7B77-A804-6776-E770777AF5BE}"/>
              </a:ext>
            </a:extLst>
          </p:cNvPr>
          <p:cNvCxnSpPr>
            <a:cxnSpLocks/>
          </p:cNvCxnSpPr>
          <p:nvPr/>
        </p:nvCxnSpPr>
        <p:spPr>
          <a:xfrm rot="10800000">
            <a:off x="1624169" y="2564272"/>
            <a:ext cx="275597" cy="578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7FAB696F-6A1E-9E0E-7348-4F1B54925A4B}"/>
              </a:ext>
            </a:extLst>
          </p:cNvPr>
          <p:cNvSpPr txBox="1"/>
          <p:nvPr/>
        </p:nvSpPr>
        <p:spPr>
          <a:xfrm>
            <a:off x="2825237" y="3242788"/>
            <a:ext cx="9220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Nc </a:t>
            </a:r>
            <a:r>
              <a:rPr lang="en-US" altLang="ja-JP" sz="700" dirty="0" err="1"/>
              <a:t>ipAddress</a:t>
            </a:r>
            <a:r>
              <a:rPr lang="en-US" altLang="ja-JP" sz="700" dirty="0"/>
              <a:t> port</a:t>
            </a:r>
            <a:endParaRPr kumimoji="1" lang="ja-JP" altLang="en-US" sz="700" dirty="0"/>
          </a:p>
        </p:txBody>
      </p:sp>
      <p:cxnSp>
        <p:nvCxnSpPr>
          <p:cNvPr id="134" name="コネクタ: 曲線 133">
            <a:extLst>
              <a:ext uri="{FF2B5EF4-FFF2-40B4-BE49-F238E27FC236}">
                <a16:creationId xmlns:a16="http://schemas.microsoft.com/office/drawing/2014/main" id="{076EC3A8-F36F-DB65-D538-A842E6B52B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155107" y="1439549"/>
            <a:ext cx="274890" cy="1373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41BF559D-48A7-73F3-C5FB-C9BF8FC11B68}"/>
              </a:ext>
            </a:extLst>
          </p:cNvPr>
          <p:cNvSpPr txBox="1"/>
          <p:nvPr/>
        </p:nvSpPr>
        <p:spPr>
          <a:xfrm>
            <a:off x="11071180" y="1148744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Credencial</a:t>
            </a:r>
            <a:r>
              <a:rPr lang="en-US" altLang="ja-JP" sz="700" dirty="0"/>
              <a:t> information</a:t>
            </a:r>
            <a:endParaRPr kumimoji="1" lang="ja-JP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4036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642690" y="3161940"/>
            <a:ext cx="757303" cy="331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Attacker</a:t>
            </a:r>
            <a:endParaRPr kumimoji="1" lang="ja-JP" altLang="en-US" sz="100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913522" y="2976085"/>
            <a:ext cx="729168" cy="3513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761774" y="3327470"/>
            <a:ext cx="880917" cy="2670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399993" y="2976084"/>
            <a:ext cx="809302" cy="3513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A438017C-86A6-452B-B2AE-121AC51349B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937358" cy="7426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7137034" y="2868248"/>
            <a:ext cx="8531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Reconnaissance</a:t>
            </a:r>
            <a:endParaRPr kumimoji="1" lang="ja-JP" altLang="en-US" sz="7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418732" y="3537109"/>
            <a:ext cx="7922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W</a:t>
            </a:r>
            <a:r>
              <a:rPr kumimoji="1" lang="en-US" altLang="ja-JP" sz="700" dirty="0"/>
              <a:t>eaponization</a:t>
            </a:r>
            <a:endParaRPr kumimoji="1" lang="ja-JP" altLang="en-US" sz="7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4277893" y="2876057"/>
            <a:ext cx="6719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Exploitation</a:t>
            </a:r>
            <a:endParaRPr kumimoji="1" lang="ja-JP" altLang="en-US" sz="7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4164011" y="3483543"/>
            <a:ext cx="6687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Persistence</a:t>
            </a:r>
            <a:endParaRPr kumimoji="1" lang="ja-JP" altLang="en-US" sz="70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3676211" y="3364171"/>
            <a:ext cx="559452" cy="22314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46A4AB02-96B7-4CE0-B4EC-7D6F5FB1F01F}"/>
              </a:ext>
            </a:extLst>
          </p:cNvPr>
          <p:cNvCxnSpPr>
            <a:cxnSpLocks/>
          </p:cNvCxnSpPr>
          <p:nvPr/>
        </p:nvCxnSpPr>
        <p:spPr>
          <a:xfrm flipV="1">
            <a:off x="7979994" y="2440310"/>
            <a:ext cx="827755" cy="535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D1F49819-3FA7-42EC-BF94-E118A36C2AC3}"/>
              </a:ext>
            </a:extLst>
          </p:cNvPr>
          <p:cNvCxnSpPr>
            <a:cxnSpLocks/>
          </p:cNvCxnSpPr>
          <p:nvPr/>
        </p:nvCxnSpPr>
        <p:spPr>
          <a:xfrm>
            <a:off x="8022186" y="2957977"/>
            <a:ext cx="835875" cy="251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9D94D54-D185-4B4C-85C9-5A11A84B0488}"/>
              </a:ext>
            </a:extLst>
          </p:cNvPr>
          <p:cNvSpPr txBox="1"/>
          <p:nvPr/>
        </p:nvSpPr>
        <p:spPr>
          <a:xfrm>
            <a:off x="8915826" y="2346422"/>
            <a:ext cx="5501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Portscan</a:t>
            </a:r>
            <a:endParaRPr kumimoji="1" lang="ja-JP" altLang="en-US" sz="7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A176BD3-E891-46F7-8BF4-55CD9A1114FB}"/>
              </a:ext>
            </a:extLst>
          </p:cNvPr>
          <p:cNvSpPr txBox="1"/>
          <p:nvPr/>
        </p:nvSpPr>
        <p:spPr>
          <a:xfrm>
            <a:off x="8921198" y="3117761"/>
            <a:ext cx="5709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Host</a:t>
            </a:r>
            <a:r>
              <a:rPr kumimoji="1" lang="en-US" altLang="ja-JP" sz="700" dirty="0" err="1"/>
              <a:t>scan</a:t>
            </a:r>
            <a:endParaRPr kumimoji="1" lang="ja-JP" altLang="en-US" sz="700" dirty="0"/>
          </a:p>
        </p:txBody>
      </p:sp>
      <p:cxnSp>
        <p:nvCxnSpPr>
          <p:cNvPr id="35" name="コネクタ: 曲線 34">
            <a:extLst>
              <a:ext uri="{FF2B5EF4-FFF2-40B4-BE49-F238E27FC236}">
                <a16:creationId xmlns:a16="http://schemas.microsoft.com/office/drawing/2014/main" id="{8B259B4A-BC07-4C30-A612-A2B3276951BE}"/>
              </a:ext>
            </a:extLst>
          </p:cNvPr>
          <p:cNvCxnSpPr>
            <a:cxnSpLocks/>
          </p:cNvCxnSpPr>
          <p:nvPr/>
        </p:nvCxnSpPr>
        <p:spPr>
          <a:xfrm flipV="1">
            <a:off x="9481370" y="2220403"/>
            <a:ext cx="516485" cy="22553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D874A4-E8A1-450A-B858-19BB720230B0}"/>
              </a:ext>
            </a:extLst>
          </p:cNvPr>
          <p:cNvSpPr txBox="1"/>
          <p:nvPr/>
        </p:nvSpPr>
        <p:spPr>
          <a:xfrm>
            <a:off x="9973031" y="2153017"/>
            <a:ext cx="6222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Nmap  -</a:t>
            </a:r>
            <a:r>
              <a:rPr kumimoji="1" lang="en-US" altLang="ja-JP" sz="700" dirty="0" err="1"/>
              <a:t>sV</a:t>
            </a:r>
            <a:endParaRPr kumimoji="1" lang="ja-JP" altLang="en-US" sz="700" dirty="0"/>
          </a:p>
        </p:txBody>
      </p: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1D4D4E4-5B0E-43C0-8A4C-A06C09C85A63}"/>
              </a:ext>
            </a:extLst>
          </p:cNvPr>
          <p:cNvCxnSpPr>
            <a:cxnSpLocks/>
          </p:cNvCxnSpPr>
          <p:nvPr/>
        </p:nvCxnSpPr>
        <p:spPr>
          <a:xfrm>
            <a:off x="9456546" y="2437213"/>
            <a:ext cx="516485" cy="992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45C3702-46B4-43A1-8276-FE32C57302FF}"/>
              </a:ext>
            </a:extLst>
          </p:cNvPr>
          <p:cNvSpPr txBox="1"/>
          <p:nvPr/>
        </p:nvSpPr>
        <p:spPr>
          <a:xfrm>
            <a:off x="9911803" y="2440946"/>
            <a:ext cx="10310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Nc –v -z &lt;target IP&gt;</a:t>
            </a:r>
            <a:endParaRPr kumimoji="1" lang="ja-JP" altLang="en-US" sz="700" dirty="0"/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22646BC0-4F59-48A5-98D9-4E4EAB6EDF3D}"/>
              </a:ext>
            </a:extLst>
          </p:cNvPr>
          <p:cNvCxnSpPr>
            <a:cxnSpLocks/>
          </p:cNvCxnSpPr>
          <p:nvPr/>
        </p:nvCxnSpPr>
        <p:spPr>
          <a:xfrm flipV="1">
            <a:off x="9515755" y="2955318"/>
            <a:ext cx="559921" cy="2568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8FE77A2-2D3E-49D7-A733-DB8DF0B732CE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 flipV="1">
            <a:off x="9492188" y="3192351"/>
            <a:ext cx="1357115" cy="254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7C49963-809B-400C-9E0C-4490203ADD53}"/>
              </a:ext>
            </a:extLst>
          </p:cNvPr>
          <p:cNvSpPr txBox="1"/>
          <p:nvPr/>
        </p:nvSpPr>
        <p:spPr>
          <a:xfrm>
            <a:off x="10031934" y="2863132"/>
            <a:ext cx="8963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Ping &lt;Target </a:t>
            </a:r>
            <a:r>
              <a:rPr kumimoji="1" lang="en-US" altLang="ja-JP" sz="700" dirty="0" err="1"/>
              <a:t>ip</a:t>
            </a:r>
            <a:r>
              <a:rPr kumimoji="1" lang="en-US" altLang="ja-JP" sz="700" dirty="0"/>
              <a:t>&gt;</a:t>
            </a:r>
            <a:endParaRPr kumimoji="1" lang="ja-JP" altLang="en-US" sz="7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519FF8-DDC7-441C-A93E-DE6466F2F877}"/>
              </a:ext>
            </a:extLst>
          </p:cNvPr>
          <p:cNvSpPr txBox="1"/>
          <p:nvPr/>
        </p:nvSpPr>
        <p:spPr>
          <a:xfrm>
            <a:off x="10849303" y="3092323"/>
            <a:ext cx="10631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nc</a:t>
            </a:r>
            <a:r>
              <a:rPr lang="en-US" altLang="ja-JP" sz="700" dirty="0"/>
              <a:t> –v –w &lt;Target </a:t>
            </a:r>
            <a:r>
              <a:rPr lang="en-US" altLang="ja-JP" sz="700" dirty="0" err="1"/>
              <a:t>ip</a:t>
            </a:r>
            <a:r>
              <a:rPr lang="en-US" altLang="ja-JP" sz="700" dirty="0"/>
              <a:t>&gt;</a:t>
            </a:r>
            <a:endParaRPr kumimoji="1" lang="ja-JP" altLang="en-US" sz="700" dirty="0"/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0937" y="3637137"/>
            <a:ext cx="1049808" cy="1724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0937" y="3637137"/>
            <a:ext cx="742615" cy="39031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89358" y="2009899"/>
            <a:ext cx="1029890" cy="7755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644117" y="1706533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website</a:t>
            </a:r>
            <a:endParaRPr kumimoji="1" lang="ja-JP" altLang="en-US" sz="70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</p:cNvCxnSpPr>
          <p:nvPr/>
        </p:nvCxnSpPr>
        <p:spPr>
          <a:xfrm flipV="1">
            <a:off x="9205253" y="1485760"/>
            <a:ext cx="539994" cy="2292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9747886" y="1362383"/>
            <a:ext cx="7409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SQL Injection</a:t>
            </a:r>
            <a:endParaRPr kumimoji="1" lang="ja-JP" altLang="en-US" sz="70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</p:cNvCxnSpPr>
          <p:nvPr/>
        </p:nvCxnSpPr>
        <p:spPr>
          <a:xfrm flipV="1">
            <a:off x="9064936" y="1146032"/>
            <a:ext cx="702257" cy="5704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9682494" y="1052892"/>
            <a:ext cx="9829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Command Injection</a:t>
            </a:r>
            <a:endParaRPr kumimoji="1" lang="ja-JP" altLang="en-US" sz="70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32809" y="3429000"/>
            <a:ext cx="1009882" cy="9343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3697967" y="4234941"/>
            <a:ext cx="9797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Plivilege</a:t>
            </a:r>
            <a:r>
              <a:rPr lang="en-US" altLang="ja-JP" sz="700" dirty="0"/>
              <a:t> escalation</a:t>
            </a:r>
            <a:endParaRPr kumimoji="1" lang="ja-JP" altLang="en-US" sz="70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1000641" cy="2912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7324544" y="4007173"/>
            <a:ext cx="7312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Initial Access</a:t>
            </a:r>
            <a:endParaRPr kumimoji="1" lang="ja-JP" altLang="en-US" sz="7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9A78890-AC63-4F2B-A881-C205D5CE02A7}"/>
              </a:ext>
            </a:extLst>
          </p:cNvPr>
          <p:cNvSpPr txBox="1"/>
          <p:nvPr/>
        </p:nvSpPr>
        <p:spPr>
          <a:xfrm>
            <a:off x="9045451" y="4070124"/>
            <a:ext cx="3706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PHP</a:t>
            </a:r>
            <a:endParaRPr kumimoji="1" lang="ja-JP" altLang="en-US" sz="7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A0001A1-0C2D-4EBB-9752-DBD1F690186E}"/>
              </a:ext>
            </a:extLst>
          </p:cNvPr>
          <p:cNvSpPr txBox="1"/>
          <p:nvPr/>
        </p:nvSpPr>
        <p:spPr>
          <a:xfrm>
            <a:off x="8890688" y="4250440"/>
            <a:ext cx="32573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ssh</a:t>
            </a:r>
            <a:endParaRPr kumimoji="1" lang="ja-JP" altLang="en-US" sz="700" dirty="0"/>
          </a:p>
        </p:txBody>
      </p:sp>
      <p:cxnSp>
        <p:nvCxnSpPr>
          <p:cNvPr id="52" name="コネクタ: 曲線 51">
            <a:extLst>
              <a:ext uri="{FF2B5EF4-FFF2-40B4-BE49-F238E27FC236}">
                <a16:creationId xmlns:a16="http://schemas.microsoft.com/office/drawing/2014/main" id="{D8B0B492-4847-4E78-923E-49CB931ECA8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8055834" y="4107201"/>
            <a:ext cx="881699" cy="23956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曲線 54">
            <a:extLst>
              <a:ext uri="{FF2B5EF4-FFF2-40B4-BE49-F238E27FC236}">
                <a16:creationId xmlns:a16="http://schemas.microsoft.com/office/drawing/2014/main" id="{B56DBE90-E3FC-4F2D-99ED-3D97373929E0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492188" y="3217789"/>
            <a:ext cx="1173267" cy="3608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B077388-35ED-4137-8C63-AAB5CB139F31}"/>
              </a:ext>
            </a:extLst>
          </p:cNvPr>
          <p:cNvSpPr txBox="1"/>
          <p:nvPr/>
        </p:nvSpPr>
        <p:spPr>
          <a:xfrm>
            <a:off x="10564867" y="3483449"/>
            <a:ext cx="10999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Nmap –</a:t>
            </a:r>
            <a:r>
              <a:rPr lang="en-US" altLang="ja-JP" sz="700" dirty="0" err="1"/>
              <a:t>sn</a:t>
            </a:r>
            <a:r>
              <a:rPr lang="en-US" altLang="ja-JP" sz="700" dirty="0"/>
              <a:t> &lt;target </a:t>
            </a:r>
            <a:r>
              <a:rPr lang="en-US" altLang="ja-JP" sz="700" dirty="0" err="1"/>
              <a:t>ip</a:t>
            </a:r>
            <a:r>
              <a:rPr lang="en-US" altLang="ja-JP" sz="700" dirty="0"/>
              <a:t>&gt;</a:t>
            </a:r>
            <a:endParaRPr kumimoji="1" lang="ja-JP" altLang="en-US" sz="700" dirty="0"/>
          </a:p>
        </p:txBody>
      </p:sp>
      <p:cxnSp>
        <p:nvCxnSpPr>
          <p:cNvPr id="57" name="コネクタ: 曲線 56">
            <a:extLst>
              <a:ext uri="{FF2B5EF4-FFF2-40B4-BE49-F238E27FC236}">
                <a16:creationId xmlns:a16="http://schemas.microsoft.com/office/drawing/2014/main" id="{D7306E40-3666-4A4F-890A-25F19CB4119C}"/>
              </a:ext>
            </a:extLst>
          </p:cNvPr>
          <p:cNvCxnSpPr>
            <a:cxnSpLocks/>
          </p:cNvCxnSpPr>
          <p:nvPr/>
        </p:nvCxnSpPr>
        <p:spPr>
          <a:xfrm>
            <a:off x="9162551" y="4356076"/>
            <a:ext cx="360095" cy="197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44FC7F8-D7A6-4E2F-AD98-1E03C9378682}"/>
              </a:ext>
            </a:extLst>
          </p:cNvPr>
          <p:cNvSpPr txBox="1"/>
          <p:nvPr/>
        </p:nvSpPr>
        <p:spPr>
          <a:xfrm>
            <a:off x="9465904" y="4314094"/>
            <a:ext cx="10182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Ssh </a:t>
            </a:r>
            <a:r>
              <a:rPr kumimoji="1" lang="en-US" altLang="ja-JP" sz="700" dirty="0" err="1"/>
              <a:t>user@ipaddress</a:t>
            </a:r>
            <a:endParaRPr kumimoji="1" lang="ja-JP" altLang="en-US" sz="700" dirty="0"/>
          </a:p>
        </p:txBody>
      </p:sp>
      <p:cxnSp>
        <p:nvCxnSpPr>
          <p:cNvPr id="63" name="コネクタ: 曲線 62">
            <a:extLst>
              <a:ext uri="{FF2B5EF4-FFF2-40B4-BE49-F238E27FC236}">
                <a16:creationId xmlns:a16="http://schemas.microsoft.com/office/drawing/2014/main" id="{01B18974-D2FB-4759-842D-6C86F80F7739}"/>
              </a:ext>
            </a:extLst>
          </p:cNvPr>
          <p:cNvCxnSpPr>
            <a:cxnSpLocks/>
            <a:endCxn id="60" idx="3"/>
          </p:cNvCxnSpPr>
          <p:nvPr/>
        </p:nvCxnSpPr>
        <p:spPr>
          <a:xfrm rot="10800000">
            <a:off x="3949122" y="2801191"/>
            <a:ext cx="462233" cy="1686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曲線 83">
            <a:extLst>
              <a:ext uri="{FF2B5EF4-FFF2-40B4-BE49-F238E27FC236}">
                <a16:creationId xmlns:a16="http://schemas.microsoft.com/office/drawing/2014/main" id="{AE6C2A3E-9658-408B-8680-3AA5327FD8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78168" y="3595016"/>
            <a:ext cx="524525" cy="17697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コネクタ: 曲線 88">
            <a:extLst>
              <a:ext uri="{FF2B5EF4-FFF2-40B4-BE49-F238E27FC236}">
                <a16:creationId xmlns:a16="http://schemas.microsoft.com/office/drawing/2014/main" id="{75AB8746-0F32-4D26-AF7C-4B3F53339793}"/>
              </a:ext>
            </a:extLst>
          </p:cNvPr>
          <p:cNvCxnSpPr>
            <a:cxnSpLocks/>
          </p:cNvCxnSpPr>
          <p:nvPr/>
        </p:nvCxnSpPr>
        <p:spPr>
          <a:xfrm rot="10800000">
            <a:off x="3270724" y="4363333"/>
            <a:ext cx="429009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FCE8FE8-E7EF-4226-88F2-67CF7A373D65}"/>
              </a:ext>
            </a:extLst>
          </p:cNvPr>
          <p:cNvSpPr txBox="1"/>
          <p:nvPr/>
        </p:nvSpPr>
        <p:spPr>
          <a:xfrm>
            <a:off x="3171344" y="2701163"/>
            <a:ext cx="7777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Download tool</a:t>
            </a:r>
            <a:endParaRPr kumimoji="1" lang="ja-JP" altLang="en-US" sz="7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C9AE354-11D6-4765-A29B-784266666E69}"/>
              </a:ext>
            </a:extLst>
          </p:cNvPr>
          <p:cNvSpPr txBox="1"/>
          <p:nvPr/>
        </p:nvSpPr>
        <p:spPr>
          <a:xfrm>
            <a:off x="9767193" y="529316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Credencial</a:t>
            </a:r>
            <a:r>
              <a:rPr lang="en-US" altLang="ja-JP" sz="700" dirty="0"/>
              <a:t> information</a:t>
            </a:r>
            <a:endParaRPr kumimoji="1" lang="ja-JP" altLang="en-US" sz="700" dirty="0"/>
          </a:p>
        </p:txBody>
      </p:sp>
      <p:cxnSp>
        <p:nvCxnSpPr>
          <p:cNvPr id="67" name="コネクタ: 曲線 66">
            <a:extLst>
              <a:ext uri="{FF2B5EF4-FFF2-40B4-BE49-F238E27FC236}">
                <a16:creationId xmlns:a16="http://schemas.microsoft.com/office/drawing/2014/main" id="{E2F156E1-D344-4EA0-BE43-F0CC5B13D511}"/>
              </a:ext>
            </a:extLst>
          </p:cNvPr>
          <p:cNvCxnSpPr>
            <a:cxnSpLocks/>
          </p:cNvCxnSpPr>
          <p:nvPr/>
        </p:nvCxnSpPr>
        <p:spPr>
          <a:xfrm flipV="1">
            <a:off x="8966429" y="629344"/>
            <a:ext cx="857912" cy="11091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曲線 67">
            <a:extLst>
              <a:ext uri="{FF2B5EF4-FFF2-40B4-BE49-F238E27FC236}">
                <a16:creationId xmlns:a16="http://schemas.microsoft.com/office/drawing/2014/main" id="{660AD7D7-159C-4FC6-80F3-969ED913B200}"/>
              </a:ext>
            </a:extLst>
          </p:cNvPr>
          <p:cNvCxnSpPr>
            <a:cxnSpLocks/>
          </p:cNvCxnSpPr>
          <p:nvPr/>
        </p:nvCxnSpPr>
        <p:spPr>
          <a:xfrm flipV="1">
            <a:off x="8987238" y="539240"/>
            <a:ext cx="384215" cy="12084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1D672061-101C-4DCC-9A3B-F174593C0944}"/>
              </a:ext>
            </a:extLst>
          </p:cNvPr>
          <p:cNvSpPr txBox="1"/>
          <p:nvPr/>
        </p:nvSpPr>
        <p:spPr>
          <a:xfrm>
            <a:off x="9246510" y="325146"/>
            <a:ext cx="6014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Robots.txt</a:t>
            </a:r>
            <a:endParaRPr kumimoji="1" lang="ja-JP" altLang="en-US" sz="7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194DA8A-EFBC-4C55-B766-67FFFFD92033}"/>
              </a:ext>
            </a:extLst>
          </p:cNvPr>
          <p:cNvSpPr txBox="1"/>
          <p:nvPr/>
        </p:nvSpPr>
        <p:spPr>
          <a:xfrm>
            <a:off x="2995534" y="3696111"/>
            <a:ext cx="7505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Use </a:t>
            </a:r>
            <a:r>
              <a:rPr lang="en-US" altLang="ja-JP" sz="700" dirty="0" err="1"/>
              <a:t>powercat</a:t>
            </a:r>
            <a:endParaRPr kumimoji="1" lang="ja-JP" altLang="en-US" sz="700" dirty="0"/>
          </a:p>
        </p:txBody>
      </p:sp>
      <p:cxnSp>
        <p:nvCxnSpPr>
          <p:cNvPr id="72" name="コネクタ: 曲線 71">
            <a:extLst>
              <a:ext uri="{FF2B5EF4-FFF2-40B4-BE49-F238E27FC236}">
                <a16:creationId xmlns:a16="http://schemas.microsoft.com/office/drawing/2014/main" id="{21B1E6C9-9A36-4127-857A-D791D71C98F4}"/>
              </a:ext>
            </a:extLst>
          </p:cNvPr>
          <p:cNvCxnSpPr>
            <a:cxnSpLocks/>
            <a:stCxn id="71" idx="1"/>
          </p:cNvCxnSpPr>
          <p:nvPr/>
        </p:nvCxnSpPr>
        <p:spPr>
          <a:xfrm rot="10800000" flipV="1">
            <a:off x="2652264" y="3796138"/>
            <a:ext cx="343270" cy="8824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7687F8-F870-F582-18C1-F56C5100BC78}"/>
              </a:ext>
            </a:extLst>
          </p:cNvPr>
          <p:cNvSpPr txBox="1"/>
          <p:nvPr/>
        </p:nvSpPr>
        <p:spPr>
          <a:xfrm>
            <a:off x="2563559" y="4533882"/>
            <a:ext cx="8547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Use juicy potato</a:t>
            </a:r>
            <a:endParaRPr kumimoji="1" lang="ja-JP" altLang="en-US" sz="700" dirty="0"/>
          </a:p>
        </p:txBody>
      </p:sp>
      <p:cxnSp>
        <p:nvCxnSpPr>
          <p:cNvPr id="6" name="コネクタ: 曲線 5">
            <a:extLst>
              <a:ext uri="{FF2B5EF4-FFF2-40B4-BE49-F238E27FC236}">
                <a16:creationId xmlns:a16="http://schemas.microsoft.com/office/drawing/2014/main" id="{ED7D2108-FCF9-DC9C-3473-5CADBC73FC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8559" y="4375777"/>
            <a:ext cx="401580" cy="2456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8D0684-2687-8EF7-9FF0-9BA7B4EC4059}"/>
              </a:ext>
            </a:extLst>
          </p:cNvPr>
          <p:cNvSpPr txBox="1"/>
          <p:nvPr/>
        </p:nvSpPr>
        <p:spPr>
          <a:xfrm>
            <a:off x="9260745" y="3737164"/>
            <a:ext cx="7344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Prepare tools</a:t>
            </a:r>
            <a:endParaRPr kumimoji="1" lang="ja-JP" altLang="en-US" sz="700" dirty="0"/>
          </a:p>
        </p:txBody>
      </p:sp>
      <p:cxnSp>
        <p:nvCxnSpPr>
          <p:cNvPr id="16" name="コネクタ: 曲線 15">
            <a:extLst>
              <a:ext uri="{FF2B5EF4-FFF2-40B4-BE49-F238E27FC236}">
                <a16:creationId xmlns:a16="http://schemas.microsoft.com/office/drawing/2014/main" id="{DC8A0C7B-F476-82AE-47FA-8590E82D6DF1}"/>
              </a:ext>
            </a:extLst>
          </p:cNvPr>
          <p:cNvCxnSpPr>
            <a:cxnSpLocks/>
          </p:cNvCxnSpPr>
          <p:nvPr/>
        </p:nvCxnSpPr>
        <p:spPr>
          <a:xfrm>
            <a:off x="9934711" y="3826000"/>
            <a:ext cx="879680" cy="4880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曲線 27">
            <a:extLst>
              <a:ext uri="{FF2B5EF4-FFF2-40B4-BE49-F238E27FC236}">
                <a16:creationId xmlns:a16="http://schemas.microsoft.com/office/drawing/2014/main" id="{62E06EBE-2245-2C13-DCF7-A128B014811F}"/>
              </a:ext>
            </a:extLst>
          </p:cNvPr>
          <p:cNvCxnSpPr>
            <a:cxnSpLocks/>
          </p:cNvCxnSpPr>
          <p:nvPr/>
        </p:nvCxnSpPr>
        <p:spPr>
          <a:xfrm>
            <a:off x="9941330" y="3831702"/>
            <a:ext cx="873061" cy="2329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90AEF2D-9DEA-71D8-EAB1-354BFA7BD8FD}"/>
              </a:ext>
            </a:extLst>
          </p:cNvPr>
          <p:cNvSpPr txBox="1"/>
          <p:nvPr/>
        </p:nvSpPr>
        <p:spPr>
          <a:xfrm>
            <a:off x="10773225" y="3974304"/>
            <a:ext cx="14927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Nc.exe(windows for </a:t>
            </a:r>
            <a:r>
              <a:rPr lang="en-US" altLang="ja-JP" sz="800" dirty="0" err="1"/>
              <a:t>netcat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90D1107-89D5-564D-3437-9F2AB9C08DC3}"/>
              </a:ext>
            </a:extLst>
          </p:cNvPr>
          <p:cNvSpPr txBox="1"/>
          <p:nvPr/>
        </p:nvSpPr>
        <p:spPr>
          <a:xfrm>
            <a:off x="10761564" y="4232322"/>
            <a:ext cx="9813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jp.exe(juicy potato)</a:t>
            </a:r>
            <a:endParaRPr kumimoji="1" lang="ja-JP" altLang="en-US" sz="700" dirty="0"/>
          </a:p>
        </p:txBody>
      </p:sp>
      <p:cxnSp>
        <p:nvCxnSpPr>
          <p:cNvPr id="96" name="コネクタ: 曲線 95">
            <a:extLst>
              <a:ext uri="{FF2B5EF4-FFF2-40B4-BE49-F238E27FC236}">
                <a16:creationId xmlns:a16="http://schemas.microsoft.com/office/drawing/2014/main" id="{F90EBBD6-199E-3289-2610-4E8078BE0122}"/>
              </a:ext>
            </a:extLst>
          </p:cNvPr>
          <p:cNvCxnSpPr>
            <a:cxnSpLocks/>
          </p:cNvCxnSpPr>
          <p:nvPr/>
        </p:nvCxnSpPr>
        <p:spPr>
          <a:xfrm flipV="1">
            <a:off x="9034908" y="1733661"/>
            <a:ext cx="732285" cy="42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0CBD868F-E3E6-4A13-2C6E-120A0B961039}"/>
              </a:ext>
            </a:extLst>
          </p:cNvPr>
          <p:cNvSpPr txBox="1"/>
          <p:nvPr/>
        </p:nvSpPr>
        <p:spPr>
          <a:xfrm>
            <a:off x="9729833" y="1650599"/>
            <a:ext cx="7809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Directory scan</a:t>
            </a:r>
            <a:endParaRPr kumimoji="1" lang="ja-JP" altLang="en-US" sz="700" dirty="0"/>
          </a:p>
        </p:txBody>
      </p:sp>
      <p:cxnSp>
        <p:nvCxnSpPr>
          <p:cNvPr id="100" name="コネクタ: 曲線 99">
            <a:extLst>
              <a:ext uri="{FF2B5EF4-FFF2-40B4-BE49-F238E27FC236}">
                <a16:creationId xmlns:a16="http://schemas.microsoft.com/office/drawing/2014/main" id="{A8370614-884C-4373-4B6E-2FA4456A52B5}"/>
              </a:ext>
            </a:extLst>
          </p:cNvPr>
          <p:cNvCxnSpPr>
            <a:cxnSpLocks/>
          </p:cNvCxnSpPr>
          <p:nvPr/>
        </p:nvCxnSpPr>
        <p:spPr>
          <a:xfrm>
            <a:off x="10472684" y="1739584"/>
            <a:ext cx="306244" cy="147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B6C3F971-5AE0-BBA2-E476-7CD6878EF1DC}"/>
              </a:ext>
            </a:extLst>
          </p:cNvPr>
          <p:cNvSpPr txBox="1"/>
          <p:nvPr/>
        </p:nvSpPr>
        <p:spPr>
          <a:xfrm>
            <a:off x="10724365" y="1662639"/>
            <a:ext cx="9989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Dirb</a:t>
            </a:r>
            <a:r>
              <a:rPr kumimoji="1" lang="en-US" altLang="ja-JP" sz="700" dirty="0"/>
              <a:t> &lt;URL&gt; &lt;</a:t>
            </a:r>
            <a:r>
              <a:rPr kumimoji="1" lang="en-US" altLang="ja-JP" sz="700" dirty="0" err="1"/>
              <a:t>dic</a:t>
            </a:r>
            <a:r>
              <a:rPr kumimoji="1" lang="en-US" altLang="ja-JP" sz="700" dirty="0"/>
              <a:t>&gt; </a:t>
            </a:r>
            <a:endParaRPr kumimoji="1" lang="ja-JP" altLang="en-US" sz="700" dirty="0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DBBA53DE-0850-7FFD-8C7E-EAFDDA12C792}"/>
              </a:ext>
            </a:extLst>
          </p:cNvPr>
          <p:cNvSpPr txBox="1"/>
          <p:nvPr/>
        </p:nvSpPr>
        <p:spPr>
          <a:xfrm>
            <a:off x="1437128" y="3796138"/>
            <a:ext cx="12843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Launch </a:t>
            </a:r>
            <a:r>
              <a:rPr kumimoji="1" lang="en-US" altLang="ja-JP" sz="700" dirty="0" err="1"/>
              <a:t>httpserver</a:t>
            </a:r>
            <a:r>
              <a:rPr lang="en-US" altLang="ja-JP" sz="700" dirty="0"/>
              <a:t>(python)</a:t>
            </a:r>
            <a:endParaRPr kumimoji="1" lang="ja-JP" altLang="en-US" sz="700" dirty="0"/>
          </a:p>
        </p:txBody>
      </p:sp>
      <p:cxnSp>
        <p:nvCxnSpPr>
          <p:cNvPr id="113" name="コネクタ: 曲線 112">
            <a:extLst>
              <a:ext uri="{FF2B5EF4-FFF2-40B4-BE49-F238E27FC236}">
                <a16:creationId xmlns:a16="http://schemas.microsoft.com/office/drawing/2014/main" id="{BB23E178-CB20-E06F-8D3D-D5AFD676CAD3}"/>
              </a:ext>
            </a:extLst>
          </p:cNvPr>
          <p:cNvCxnSpPr>
            <a:cxnSpLocks/>
          </p:cNvCxnSpPr>
          <p:nvPr/>
        </p:nvCxnSpPr>
        <p:spPr>
          <a:xfrm rot="10800000">
            <a:off x="2633221" y="3661047"/>
            <a:ext cx="353068" cy="1246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33A2AEE8-DA46-8CDE-F323-66CF97712B48}"/>
              </a:ext>
            </a:extLst>
          </p:cNvPr>
          <p:cNvSpPr txBox="1"/>
          <p:nvPr/>
        </p:nvSpPr>
        <p:spPr>
          <a:xfrm>
            <a:off x="1979219" y="35610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Listen to </a:t>
            </a:r>
            <a:r>
              <a:rPr kumimoji="1" lang="en-US" altLang="ja-JP" sz="700" dirty="0" err="1"/>
              <a:t>nc</a:t>
            </a:r>
            <a:endParaRPr kumimoji="1" lang="ja-JP" altLang="en-US" sz="700" dirty="0"/>
          </a:p>
        </p:txBody>
      </p:sp>
      <p:cxnSp>
        <p:nvCxnSpPr>
          <p:cNvPr id="116" name="コネクタ: 曲線 115">
            <a:extLst>
              <a:ext uri="{FF2B5EF4-FFF2-40B4-BE49-F238E27FC236}">
                <a16:creationId xmlns:a16="http://schemas.microsoft.com/office/drawing/2014/main" id="{FEAB322B-44D4-4B74-FD06-CC7D3247E5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99541" y="3637136"/>
            <a:ext cx="896054" cy="1694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曲線 117">
            <a:extLst>
              <a:ext uri="{FF2B5EF4-FFF2-40B4-BE49-F238E27FC236}">
                <a16:creationId xmlns:a16="http://schemas.microsoft.com/office/drawing/2014/main" id="{5838C297-618F-5A26-42F3-7498F40125BF}"/>
              </a:ext>
            </a:extLst>
          </p:cNvPr>
          <p:cNvCxnSpPr>
            <a:cxnSpLocks/>
          </p:cNvCxnSpPr>
          <p:nvPr/>
        </p:nvCxnSpPr>
        <p:spPr>
          <a:xfrm rot="10800000">
            <a:off x="1119158" y="3806626"/>
            <a:ext cx="361862" cy="895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9C33062A-6A56-7CE6-7CBD-E5D2C18573C9}"/>
              </a:ext>
            </a:extLst>
          </p:cNvPr>
          <p:cNvSpPr txBox="1"/>
          <p:nvPr/>
        </p:nvSpPr>
        <p:spPr>
          <a:xfrm>
            <a:off x="69350" y="3685624"/>
            <a:ext cx="1124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Download and execute</a:t>
            </a:r>
            <a:br>
              <a:rPr lang="en-US" altLang="ja-JP" sz="700" dirty="0"/>
            </a:br>
            <a:r>
              <a:rPr lang="en-US" altLang="ja-JP" sz="700" dirty="0"/>
              <a:t> reverseshell.ps1 file</a:t>
            </a:r>
            <a:br>
              <a:rPr lang="en-US" altLang="ja-JP" sz="700" dirty="0"/>
            </a:br>
            <a:r>
              <a:rPr lang="en-US" altLang="ja-JP" sz="700" dirty="0"/>
              <a:t>(Power shell)</a:t>
            </a:r>
            <a:endParaRPr kumimoji="1" lang="ja-JP" altLang="en-US" sz="700" dirty="0"/>
          </a:p>
        </p:txBody>
      </p:sp>
      <p:cxnSp>
        <p:nvCxnSpPr>
          <p:cNvPr id="125" name="コネクタ: 曲線 124">
            <a:extLst>
              <a:ext uri="{FF2B5EF4-FFF2-40B4-BE49-F238E27FC236}">
                <a16:creationId xmlns:a16="http://schemas.microsoft.com/office/drawing/2014/main" id="{2F2AD0DD-AFB5-1E1F-7984-22EB32D95A7D}"/>
              </a:ext>
            </a:extLst>
          </p:cNvPr>
          <p:cNvCxnSpPr>
            <a:cxnSpLocks/>
          </p:cNvCxnSpPr>
          <p:nvPr/>
        </p:nvCxnSpPr>
        <p:spPr>
          <a:xfrm rot="10800000">
            <a:off x="3003597" y="2632493"/>
            <a:ext cx="249702" cy="1383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40823E69-8FA5-DDB8-15F6-C876589EE627}"/>
              </a:ext>
            </a:extLst>
          </p:cNvPr>
          <p:cNvSpPr txBox="1"/>
          <p:nvPr/>
        </p:nvSpPr>
        <p:spPr>
          <a:xfrm>
            <a:off x="1873552" y="2522093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Nc64.exe(curl command)</a:t>
            </a:r>
            <a:endParaRPr kumimoji="1" lang="ja-JP" altLang="en-US" sz="700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DDC0E422-75E4-FFFA-5618-8F1E1AE010AA}"/>
              </a:ext>
            </a:extLst>
          </p:cNvPr>
          <p:cNvSpPr txBox="1"/>
          <p:nvPr/>
        </p:nvSpPr>
        <p:spPr>
          <a:xfrm>
            <a:off x="751796" y="246424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Execute nc64.exe</a:t>
            </a:r>
            <a:br>
              <a:rPr kumimoji="1" lang="en-US" altLang="ja-JP" sz="700" dirty="0"/>
            </a:br>
            <a:r>
              <a:rPr kumimoji="1" lang="en-US" altLang="ja-JP" sz="700" dirty="0"/>
              <a:t>and listen port</a:t>
            </a:r>
            <a:endParaRPr kumimoji="1" lang="ja-JP" altLang="en-US" sz="700" dirty="0"/>
          </a:p>
        </p:txBody>
      </p:sp>
      <p:cxnSp>
        <p:nvCxnSpPr>
          <p:cNvPr id="130" name="コネクタ: 曲線 129">
            <a:extLst>
              <a:ext uri="{FF2B5EF4-FFF2-40B4-BE49-F238E27FC236}">
                <a16:creationId xmlns:a16="http://schemas.microsoft.com/office/drawing/2014/main" id="{FF68861D-7B77-A804-6776-E770777AF5BE}"/>
              </a:ext>
            </a:extLst>
          </p:cNvPr>
          <p:cNvCxnSpPr>
            <a:cxnSpLocks/>
          </p:cNvCxnSpPr>
          <p:nvPr/>
        </p:nvCxnSpPr>
        <p:spPr>
          <a:xfrm rot="10800000">
            <a:off x="1624169" y="2564272"/>
            <a:ext cx="275597" cy="578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7FAB696F-6A1E-9E0E-7348-4F1B54925A4B}"/>
              </a:ext>
            </a:extLst>
          </p:cNvPr>
          <p:cNvSpPr txBox="1"/>
          <p:nvPr/>
        </p:nvSpPr>
        <p:spPr>
          <a:xfrm>
            <a:off x="2825237" y="3242788"/>
            <a:ext cx="9220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Nc </a:t>
            </a:r>
            <a:r>
              <a:rPr lang="en-US" altLang="ja-JP" sz="700" dirty="0" err="1"/>
              <a:t>ipAddress</a:t>
            </a:r>
            <a:r>
              <a:rPr lang="en-US" altLang="ja-JP" sz="700" dirty="0"/>
              <a:t> port</a:t>
            </a:r>
            <a:endParaRPr kumimoji="1" lang="ja-JP" altLang="en-US" sz="700" dirty="0"/>
          </a:p>
        </p:txBody>
      </p:sp>
      <p:cxnSp>
        <p:nvCxnSpPr>
          <p:cNvPr id="134" name="コネクタ: 曲線 133">
            <a:extLst>
              <a:ext uri="{FF2B5EF4-FFF2-40B4-BE49-F238E27FC236}">
                <a16:creationId xmlns:a16="http://schemas.microsoft.com/office/drawing/2014/main" id="{076EC3A8-F36F-DB65-D538-A842E6B52B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155107" y="1439549"/>
            <a:ext cx="274890" cy="1373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41BF559D-48A7-73F3-C5FB-C9BF8FC11B68}"/>
              </a:ext>
            </a:extLst>
          </p:cNvPr>
          <p:cNvSpPr txBox="1"/>
          <p:nvPr/>
        </p:nvSpPr>
        <p:spPr>
          <a:xfrm>
            <a:off x="11071180" y="1148744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Credencial</a:t>
            </a:r>
            <a:r>
              <a:rPr lang="en-US" altLang="ja-JP" sz="700" dirty="0"/>
              <a:t> information</a:t>
            </a:r>
            <a:endParaRPr kumimoji="1" lang="ja-JP" altLang="en-US" sz="7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6C9DD1-E6FC-AD9B-A29A-1C66754E7874}"/>
              </a:ext>
            </a:extLst>
          </p:cNvPr>
          <p:cNvSpPr txBox="1"/>
          <p:nvPr/>
        </p:nvSpPr>
        <p:spPr>
          <a:xfrm>
            <a:off x="36762" y="190407"/>
            <a:ext cx="7556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Approach2:Privilege escalation exploiting PowerShell vulnerabilities</a:t>
            </a:r>
            <a:br>
              <a:rPr lang="en-US" altLang="ja-JP" sz="1400" dirty="0"/>
            </a:b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761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460614" y="3204274"/>
            <a:ext cx="1178229" cy="534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Attacker</a:t>
            </a:r>
            <a:endParaRPr kumimoji="1" lang="ja-JP" altLang="en-US" sz="105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646702" y="2944285"/>
            <a:ext cx="813912" cy="52705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634226" y="3462139"/>
            <a:ext cx="826388" cy="91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638843" y="2663910"/>
            <a:ext cx="744288" cy="8074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6985772" y="2390101"/>
            <a:ext cx="9589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Reconnaissance</a:t>
            </a:r>
            <a:endParaRPr kumimoji="1" lang="ja-JP" altLang="en-US" sz="8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135449" y="3405448"/>
            <a:ext cx="7922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W</a:t>
            </a:r>
            <a:r>
              <a:rPr kumimoji="1" lang="en-US" altLang="ja-JP" sz="700" dirty="0"/>
              <a:t>eaponization</a:t>
            </a:r>
            <a:endParaRPr kumimoji="1" lang="ja-JP" altLang="en-US" sz="7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3935176" y="284116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Exploitation</a:t>
            </a:r>
            <a:endParaRPr kumimoji="1" lang="ja-JP" altLang="en-US" sz="8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3983969" y="3372808"/>
            <a:ext cx="7441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Persistence</a:t>
            </a:r>
            <a:endParaRPr kumimoji="1" lang="ja-JP" altLang="en-US" sz="80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2792192" y="1836498"/>
            <a:ext cx="167017" cy="54689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7893908" y="3215880"/>
            <a:ext cx="426710" cy="28911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</p:cNvCxnSpPr>
          <p:nvPr/>
        </p:nvCxnSpPr>
        <p:spPr>
          <a:xfrm>
            <a:off x="9441235" y="4221254"/>
            <a:ext cx="565780" cy="2527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  <a:endCxn id="81" idx="1"/>
          </p:cNvCxnSpPr>
          <p:nvPr/>
        </p:nvCxnSpPr>
        <p:spPr>
          <a:xfrm flipV="1">
            <a:off x="7944689" y="2471903"/>
            <a:ext cx="733677" cy="413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678366" y="2364181"/>
            <a:ext cx="5565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website</a:t>
            </a:r>
            <a:endParaRPr kumimoji="1" lang="ja-JP" altLang="en-US" sz="80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  <a:stCxn id="23" idx="3"/>
            <a:endCxn id="85" idx="1"/>
          </p:cNvCxnSpPr>
          <p:nvPr/>
        </p:nvCxnSpPr>
        <p:spPr>
          <a:xfrm flipV="1">
            <a:off x="7944689" y="2092888"/>
            <a:ext cx="876860" cy="40493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8821549" y="198516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SNS</a:t>
            </a:r>
            <a:endParaRPr kumimoji="1" lang="ja-JP" altLang="en-US" sz="80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</p:cNvCxnSpPr>
          <p:nvPr/>
        </p:nvCxnSpPr>
        <p:spPr>
          <a:xfrm flipV="1">
            <a:off x="9196113" y="2122682"/>
            <a:ext cx="1076848" cy="3613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10248408" y="2014960"/>
            <a:ext cx="8066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Mail Address</a:t>
            </a:r>
            <a:endParaRPr kumimoji="1" lang="ja-JP" altLang="en-US" sz="80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4052" y="3471332"/>
            <a:ext cx="749065" cy="46530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3677093" y="3838107"/>
            <a:ext cx="1098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 err="1"/>
              <a:t>Plivilege</a:t>
            </a:r>
            <a:r>
              <a:rPr lang="en-US" altLang="ja-JP" sz="800" dirty="0"/>
              <a:t> escalation</a:t>
            </a:r>
            <a:endParaRPr kumimoji="1" lang="ja-JP" altLang="en-US" sz="80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</p:cNvCxnSpPr>
          <p:nvPr/>
        </p:nvCxnSpPr>
        <p:spPr>
          <a:xfrm>
            <a:off x="6638843" y="3515251"/>
            <a:ext cx="567863" cy="66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3880394" y="2948882"/>
            <a:ext cx="8162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Initial Access</a:t>
            </a:r>
            <a:endParaRPr kumimoji="1" lang="ja-JP" altLang="en-US" sz="8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F6E38BC-7001-4018-9E43-C3732F64C25D}"/>
              </a:ext>
            </a:extLst>
          </p:cNvPr>
          <p:cNvSpPr txBox="1"/>
          <p:nvPr/>
        </p:nvSpPr>
        <p:spPr>
          <a:xfrm>
            <a:off x="655607" y="267419"/>
            <a:ext cx="7556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Approach3:Privilege escalation from an Mail  Attack</a:t>
            </a:r>
            <a:endParaRPr kumimoji="1" lang="ja-JP" altLang="en-US" sz="1200" dirty="0"/>
          </a:p>
        </p:txBody>
      </p:sp>
      <p:cxnSp>
        <p:nvCxnSpPr>
          <p:cNvPr id="4" name="コネクタ: 曲線 3">
            <a:extLst>
              <a:ext uri="{FF2B5EF4-FFF2-40B4-BE49-F238E27FC236}">
                <a16:creationId xmlns:a16="http://schemas.microsoft.com/office/drawing/2014/main" id="{E301F005-6309-FA3D-FDE4-C083AE52465D}"/>
              </a:ext>
            </a:extLst>
          </p:cNvPr>
          <p:cNvCxnSpPr>
            <a:cxnSpLocks/>
            <a:stCxn id="85" idx="3"/>
          </p:cNvCxnSpPr>
          <p:nvPr/>
        </p:nvCxnSpPr>
        <p:spPr>
          <a:xfrm>
            <a:off x="9211399" y="2092888"/>
            <a:ext cx="1061562" cy="93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DE844F3-284C-3C0A-A332-281109FDBDCA}"/>
              </a:ext>
            </a:extLst>
          </p:cNvPr>
          <p:cNvSpPr txBox="1"/>
          <p:nvPr/>
        </p:nvSpPr>
        <p:spPr>
          <a:xfrm>
            <a:off x="8124891" y="3000436"/>
            <a:ext cx="3914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Mail</a:t>
            </a:r>
            <a:endParaRPr kumimoji="1" lang="ja-JP" altLang="en-US" sz="800" dirty="0"/>
          </a:p>
        </p:txBody>
      </p:sp>
      <p:cxnSp>
        <p:nvCxnSpPr>
          <p:cNvPr id="20" name="コネクタ: 曲線 19">
            <a:extLst>
              <a:ext uri="{FF2B5EF4-FFF2-40B4-BE49-F238E27FC236}">
                <a16:creationId xmlns:a16="http://schemas.microsoft.com/office/drawing/2014/main" id="{31F01C5D-D313-953B-0C60-5A9C6D4C775D}"/>
              </a:ext>
            </a:extLst>
          </p:cNvPr>
          <p:cNvCxnSpPr>
            <a:cxnSpLocks/>
          </p:cNvCxnSpPr>
          <p:nvPr/>
        </p:nvCxnSpPr>
        <p:spPr>
          <a:xfrm flipV="1">
            <a:off x="8474796" y="2875589"/>
            <a:ext cx="630914" cy="22743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曲線 21">
            <a:extLst>
              <a:ext uri="{FF2B5EF4-FFF2-40B4-BE49-F238E27FC236}">
                <a16:creationId xmlns:a16="http://schemas.microsoft.com/office/drawing/2014/main" id="{72CC63FC-C0F0-37B2-6439-DB02EE7A80BC}"/>
              </a:ext>
            </a:extLst>
          </p:cNvPr>
          <p:cNvCxnSpPr>
            <a:cxnSpLocks/>
          </p:cNvCxnSpPr>
          <p:nvPr/>
        </p:nvCxnSpPr>
        <p:spPr>
          <a:xfrm>
            <a:off x="8496459" y="3098796"/>
            <a:ext cx="609251" cy="16836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C068ED5-AE34-ABBE-2AB7-DEF7393D0399}"/>
              </a:ext>
            </a:extLst>
          </p:cNvPr>
          <p:cNvSpPr txBox="1"/>
          <p:nvPr/>
        </p:nvSpPr>
        <p:spPr>
          <a:xfrm>
            <a:off x="9014116" y="2753993"/>
            <a:ext cx="633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 err="1"/>
              <a:t>Templete</a:t>
            </a:r>
            <a:endParaRPr kumimoji="1" lang="ja-JP" altLang="en-US" sz="8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FB31A8E-2CEE-A488-BECC-1F17AA8C57B6}"/>
              </a:ext>
            </a:extLst>
          </p:cNvPr>
          <p:cNvSpPr txBox="1"/>
          <p:nvPr/>
        </p:nvSpPr>
        <p:spPr>
          <a:xfrm>
            <a:off x="9032309" y="3115488"/>
            <a:ext cx="8178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Malicious file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B5FA4318-4E23-3E08-589E-448C3CB0E430}"/>
              </a:ext>
            </a:extLst>
          </p:cNvPr>
          <p:cNvSpPr txBox="1"/>
          <p:nvPr/>
        </p:nvSpPr>
        <p:spPr>
          <a:xfrm>
            <a:off x="8480034" y="3588318"/>
            <a:ext cx="12394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Listening </a:t>
            </a:r>
            <a:r>
              <a:rPr kumimoji="1" lang="en-US" altLang="ja-JP" sz="800" dirty="0" err="1"/>
              <a:t>nc</a:t>
            </a:r>
            <a:r>
              <a:rPr kumimoji="1" lang="en-US" altLang="ja-JP" sz="800" dirty="0"/>
              <a:t> –</a:t>
            </a:r>
            <a:r>
              <a:rPr kumimoji="1" lang="en-US" altLang="ja-JP" sz="800" dirty="0" err="1"/>
              <a:t>lvp</a:t>
            </a:r>
            <a:r>
              <a:rPr kumimoji="1" lang="en-US" altLang="ja-JP" sz="800" dirty="0"/>
              <a:t> 2525</a:t>
            </a:r>
            <a:endParaRPr kumimoji="1" lang="ja-JP" altLang="en-US" sz="800" dirty="0"/>
          </a:p>
        </p:txBody>
      </p:sp>
      <p:cxnSp>
        <p:nvCxnSpPr>
          <p:cNvPr id="66" name="コネクタ: 曲線 65">
            <a:extLst>
              <a:ext uri="{FF2B5EF4-FFF2-40B4-BE49-F238E27FC236}">
                <a16:creationId xmlns:a16="http://schemas.microsoft.com/office/drawing/2014/main" id="{4BD82555-4FE5-3B84-47B0-F3F6E5569A76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9850162" y="1506072"/>
            <a:ext cx="1529544" cy="171713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コネクタ: 曲線 71">
            <a:extLst>
              <a:ext uri="{FF2B5EF4-FFF2-40B4-BE49-F238E27FC236}">
                <a16:creationId xmlns:a16="http://schemas.microsoft.com/office/drawing/2014/main" id="{2AC04327-288C-9B80-AE4E-C17083ED5318}"/>
              </a:ext>
            </a:extLst>
          </p:cNvPr>
          <p:cNvCxnSpPr>
            <a:cxnSpLocks/>
            <a:stCxn id="34" idx="3"/>
            <a:endCxn id="80" idx="1"/>
          </p:cNvCxnSpPr>
          <p:nvPr/>
        </p:nvCxnSpPr>
        <p:spPr>
          <a:xfrm>
            <a:off x="9850162" y="3223210"/>
            <a:ext cx="254776" cy="2042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109842FB-FA19-1853-D81A-F721B50F795B}"/>
              </a:ext>
            </a:extLst>
          </p:cNvPr>
          <p:cNvSpPr txBox="1"/>
          <p:nvPr/>
        </p:nvSpPr>
        <p:spPr>
          <a:xfrm>
            <a:off x="10104938" y="3258136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 err="1"/>
              <a:t>Doubule</a:t>
            </a:r>
            <a:r>
              <a:rPr lang="en-US" altLang="ja-JP" sz="800" dirty="0"/>
              <a:t> Extension</a:t>
            </a:r>
          </a:p>
          <a:p>
            <a:r>
              <a:rPr lang="en-US" altLang="ja-JP" sz="800" dirty="0"/>
              <a:t>(Resume.docx.ps1)</a:t>
            </a:r>
          </a:p>
        </p:txBody>
      </p:sp>
      <p:cxnSp>
        <p:nvCxnSpPr>
          <p:cNvPr id="104" name="コネクタ: 曲線 103">
            <a:extLst>
              <a:ext uri="{FF2B5EF4-FFF2-40B4-BE49-F238E27FC236}">
                <a16:creationId xmlns:a16="http://schemas.microsoft.com/office/drawing/2014/main" id="{E49DE101-4EB7-6488-D754-F54A9BB95261}"/>
              </a:ext>
            </a:extLst>
          </p:cNvPr>
          <p:cNvCxnSpPr>
            <a:cxnSpLocks/>
          </p:cNvCxnSpPr>
          <p:nvPr/>
        </p:nvCxnSpPr>
        <p:spPr>
          <a:xfrm>
            <a:off x="6567790" y="3534992"/>
            <a:ext cx="758477" cy="7078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F0066700-C5AC-22CB-E706-16CEB35133B5}"/>
              </a:ext>
            </a:extLst>
          </p:cNvPr>
          <p:cNvSpPr txBox="1"/>
          <p:nvPr/>
        </p:nvSpPr>
        <p:spPr>
          <a:xfrm>
            <a:off x="7246857" y="4138654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Delivery</a:t>
            </a:r>
            <a:endParaRPr kumimoji="1" lang="ja-JP" altLang="en-US" sz="800" dirty="0"/>
          </a:p>
        </p:txBody>
      </p:sp>
      <p:cxnSp>
        <p:nvCxnSpPr>
          <p:cNvPr id="108" name="コネクタ: 曲線 107">
            <a:extLst>
              <a:ext uri="{FF2B5EF4-FFF2-40B4-BE49-F238E27FC236}">
                <a16:creationId xmlns:a16="http://schemas.microsoft.com/office/drawing/2014/main" id="{B68413EC-6274-237D-36AE-809E1728560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7927654" y="3505476"/>
            <a:ext cx="617474" cy="1656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2284F005-B506-A603-B909-178FCFDF54D1}"/>
              </a:ext>
            </a:extLst>
          </p:cNvPr>
          <p:cNvSpPr txBox="1"/>
          <p:nvPr/>
        </p:nvSpPr>
        <p:spPr>
          <a:xfrm>
            <a:off x="8613720" y="3851382"/>
            <a:ext cx="9941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Build Mail Server</a:t>
            </a:r>
            <a:endParaRPr kumimoji="1" lang="ja-JP" altLang="en-US" sz="800" dirty="0"/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64913934-BFA1-C698-ECB1-0B532976B38D}"/>
              </a:ext>
            </a:extLst>
          </p:cNvPr>
          <p:cNvSpPr txBox="1"/>
          <p:nvPr/>
        </p:nvSpPr>
        <p:spPr>
          <a:xfrm>
            <a:off x="9905381" y="3866047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Postfix and Dovecot</a:t>
            </a:r>
            <a:br>
              <a:rPr kumimoji="1" lang="en-US" altLang="ja-JP" sz="800" dirty="0"/>
            </a:br>
            <a:r>
              <a:rPr kumimoji="1" lang="en-US" altLang="ja-JP" sz="800" dirty="0"/>
              <a:t>(POP3)</a:t>
            </a:r>
            <a:endParaRPr kumimoji="1" lang="ja-JP" altLang="en-US" sz="800" dirty="0"/>
          </a:p>
        </p:txBody>
      </p:sp>
      <p:cxnSp>
        <p:nvCxnSpPr>
          <p:cNvPr id="114" name="コネクタ: 曲線 113">
            <a:extLst>
              <a:ext uri="{FF2B5EF4-FFF2-40B4-BE49-F238E27FC236}">
                <a16:creationId xmlns:a16="http://schemas.microsoft.com/office/drawing/2014/main" id="{2D8804C1-58B0-438D-2904-284F3E7B08B6}"/>
              </a:ext>
            </a:extLst>
          </p:cNvPr>
          <p:cNvCxnSpPr>
            <a:cxnSpLocks/>
          </p:cNvCxnSpPr>
          <p:nvPr/>
        </p:nvCxnSpPr>
        <p:spPr>
          <a:xfrm>
            <a:off x="9525793" y="3961069"/>
            <a:ext cx="451757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曲線 115">
            <a:extLst>
              <a:ext uri="{FF2B5EF4-FFF2-40B4-BE49-F238E27FC236}">
                <a16:creationId xmlns:a16="http://schemas.microsoft.com/office/drawing/2014/main" id="{F524CFA0-2B3E-1AEC-0B42-19F43132B0B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7927654" y="3505476"/>
            <a:ext cx="750339" cy="423915"/>
          </a:xfrm>
          <a:prstGeom prst="curvedConnector3">
            <a:avLst>
              <a:gd name="adj1" fmla="val 428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54A45121-1CB2-344F-D0FD-6B433BE47F65}"/>
              </a:ext>
            </a:extLst>
          </p:cNvPr>
          <p:cNvSpPr txBox="1"/>
          <p:nvPr/>
        </p:nvSpPr>
        <p:spPr>
          <a:xfrm>
            <a:off x="8520390" y="4120324"/>
            <a:ext cx="10054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Build </a:t>
            </a:r>
            <a:r>
              <a:rPr lang="en-US" altLang="ja-JP" sz="800" dirty="0"/>
              <a:t>DNS</a:t>
            </a:r>
            <a:r>
              <a:rPr kumimoji="1" lang="en-US" altLang="ja-JP" sz="800" dirty="0"/>
              <a:t> Server</a:t>
            </a:r>
            <a:endParaRPr kumimoji="1" lang="ja-JP" altLang="en-US" sz="800" dirty="0"/>
          </a:p>
        </p:txBody>
      </p:sp>
      <p:cxnSp>
        <p:nvCxnSpPr>
          <p:cNvPr id="127" name="コネクタ: 曲線 126">
            <a:extLst>
              <a:ext uri="{FF2B5EF4-FFF2-40B4-BE49-F238E27FC236}">
                <a16:creationId xmlns:a16="http://schemas.microsoft.com/office/drawing/2014/main" id="{93637025-CEEA-9A10-4184-2941CEA63140}"/>
              </a:ext>
            </a:extLst>
          </p:cNvPr>
          <p:cNvCxnSpPr>
            <a:cxnSpLocks/>
            <a:stCxn id="106" idx="2"/>
          </p:cNvCxnSpPr>
          <p:nvPr/>
        </p:nvCxnSpPr>
        <p:spPr>
          <a:xfrm rot="16200000" flipH="1">
            <a:off x="7491628" y="4394021"/>
            <a:ext cx="407098" cy="3272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CDA7E9DF-76F6-DB20-B13C-83ABD654D3E3}"/>
              </a:ext>
            </a:extLst>
          </p:cNvPr>
          <p:cNvSpPr txBox="1"/>
          <p:nvPr/>
        </p:nvSpPr>
        <p:spPr>
          <a:xfrm>
            <a:off x="7528425" y="4719775"/>
            <a:ext cx="6607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Send Mail</a:t>
            </a:r>
            <a:endParaRPr kumimoji="1" lang="ja-JP" altLang="en-US" sz="800" dirty="0"/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D7ADF3F0-FBC5-50BB-ED00-0E9690043C15}"/>
              </a:ext>
            </a:extLst>
          </p:cNvPr>
          <p:cNvSpPr txBox="1"/>
          <p:nvPr/>
        </p:nvSpPr>
        <p:spPr>
          <a:xfrm>
            <a:off x="2913028" y="2303374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Victim open mail</a:t>
            </a:r>
            <a:endParaRPr kumimoji="1" lang="ja-JP" altLang="en-US" sz="800" dirty="0"/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1808B5E8-BC23-BCA7-19D3-C33D7963A9D1}"/>
              </a:ext>
            </a:extLst>
          </p:cNvPr>
          <p:cNvSpPr txBox="1"/>
          <p:nvPr/>
        </p:nvSpPr>
        <p:spPr>
          <a:xfrm>
            <a:off x="8712915" y="1112675"/>
            <a:ext cx="3462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Start-Process powershell.exe –</a:t>
            </a:r>
            <a:r>
              <a:rPr lang="en-US" altLang="ja-JP" sz="800" dirty="0" err="1"/>
              <a:t>ArgumentList</a:t>
            </a:r>
            <a:r>
              <a:rPr lang="en-US" altLang="ja-JP" sz="800" dirty="0"/>
              <a:t> ‘-</a:t>
            </a:r>
            <a:r>
              <a:rPr lang="en-US" altLang="ja-JP" sz="800" dirty="0" err="1"/>
              <a:t>NoExit</a:t>
            </a:r>
            <a:r>
              <a:rPr lang="en-US" altLang="ja-JP" sz="800" dirty="0"/>
              <a:t> –command </a:t>
            </a:r>
          </a:p>
          <a:p>
            <a:r>
              <a:rPr lang="en-US" altLang="ja-JP" sz="800" dirty="0"/>
              <a:t>$listener = [</a:t>
            </a:r>
            <a:r>
              <a:rPr lang="en-US" altLang="ja-JP" sz="800" dirty="0" err="1"/>
              <a:t>System.Net.Sockets.TcpListener</a:t>
            </a:r>
            <a:r>
              <a:rPr lang="en-US" altLang="ja-JP" sz="800" dirty="0"/>
              <a:t>]9999; $</a:t>
            </a:r>
            <a:r>
              <a:rPr lang="en-US" altLang="ja-JP" sz="800" dirty="0" err="1"/>
              <a:t>Listener.Start</a:t>
            </a:r>
            <a:r>
              <a:rPr lang="en-US" altLang="ja-JP" sz="800" dirty="0"/>
              <a:t>()’</a:t>
            </a:r>
          </a:p>
        </p:txBody>
      </p:sp>
      <p:cxnSp>
        <p:nvCxnSpPr>
          <p:cNvPr id="9" name="コネクタ: 曲線 8">
            <a:extLst>
              <a:ext uri="{FF2B5EF4-FFF2-40B4-BE49-F238E27FC236}">
                <a16:creationId xmlns:a16="http://schemas.microsoft.com/office/drawing/2014/main" id="{0F9E219F-102F-7772-F43C-3FDF2C9A00A6}"/>
              </a:ext>
            </a:extLst>
          </p:cNvPr>
          <p:cNvCxnSpPr>
            <a:cxnSpLocks/>
            <a:stCxn id="24" idx="3"/>
            <a:endCxn id="123" idx="1"/>
          </p:cNvCxnSpPr>
          <p:nvPr/>
        </p:nvCxnSpPr>
        <p:spPr>
          <a:xfrm>
            <a:off x="7927654" y="3505476"/>
            <a:ext cx="592736" cy="7225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2B48D9-D649-5405-860C-0C45442502BD}"/>
              </a:ext>
            </a:extLst>
          </p:cNvPr>
          <p:cNvSpPr txBox="1"/>
          <p:nvPr/>
        </p:nvSpPr>
        <p:spPr>
          <a:xfrm>
            <a:off x="9941616" y="437989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bind</a:t>
            </a:r>
            <a:endParaRPr kumimoji="1" lang="ja-JP" altLang="en-US" sz="800" dirty="0"/>
          </a:p>
        </p:txBody>
      </p:sp>
      <p:cxnSp>
        <p:nvCxnSpPr>
          <p:cNvPr id="31" name="コネクタ: 曲線 30">
            <a:extLst>
              <a:ext uri="{FF2B5EF4-FFF2-40B4-BE49-F238E27FC236}">
                <a16:creationId xmlns:a16="http://schemas.microsoft.com/office/drawing/2014/main" id="{83E16C8F-7B3E-0F6E-BA45-15A7D515B60A}"/>
              </a:ext>
            </a:extLst>
          </p:cNvPr>
          <p:cNvCxnSpPr>
            <a:cxnSpLocks/>
          </p:cNvCxnSpPr>
          <p:nvPr/>
        </p:nvCxnSpPr>
        <p:spPr>
          <a:xfrm rot="10800000">
            <a:off x="3775867" y="2516583"/>
            <a:ext cx="422045" cy="3642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DF64ED4-4A1A-422C-8DB0-F9005DDAD10C}"/>
              </a:ext>
            </a:extLst>
          </p:cNvPr>
          <p:cNvSpPr txBox="1"/>
          <p:nvPr/>
        </p:nvSpPr>
        <p:spPr>
          <a:xfrm>
            <a:off x="1972567" y="1728776"/>
            <a:ext cx="8947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Open TCP Port</a:t>
            </a:r>
            <a:endParaRPr kumimoji="1" lang="ja-JP" altLang="en-US" sz="800" dirty="0"/>
          </a:p>
        </p:txBody>
      </p:sp>
      <p:cxnSp>
        <p:nvCxnSpPr>
          <p:cNvPr id="40" name="コネクタ: 曲線 39">
            <a:extLst>
              <a:ext uri="{FF2B5EF4-FFF2-40B4-BE49-F238E27FC236}">
                <a16:creationId xmlns:a16="http://schemas.microsoft.com/office/drawing/2014/main" id="{9FAA74DD-06B6-5B66-9EAD-B084446529D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72717" y="1825938"/>
            <a:ext cx="397161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0084E2F-DC43-A29E-5190-78050A7FD54A}"/>
              </a:ext>
            </a:extLst>
          </p:cNvPr>
          <p:cNvSpPr txBox="1"/>
          <p:nvPr/>
        </p:nvSpPr>
        <p:spPr>
          <a:xfrm>
            <a:off x="319158" y="1718216"/>
            <a:ext cx="14013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Establishing a connection</a:t>
            </a:r>
            <a:endParaRPr kumimoji="1" lang="ja-JP" altLang="en-US" sz="800" dirty="0"/>
          </a:p>
        </p:txBody>
      </p: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DA90D3A1-DD44-096B-58C2-9EC1C1041516}"/>
              </a:ext>
            </a:extLst>
          </p:cNvPr>
          <p:cNvCxnSpPr>
            <a:cxnSpLocks/>
          </p:cNvCxnSpPr>
          <p:nvPr/>
        </p:nvCxnSpPr>
        <p:spPr>
          <a:xfrm rot="10800000">
            <a:off x="3604273" y="3452941"/>
            <a:ext cx="423649" cy="919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曲線 52">
            <a:extLst>
              <a:ext uri="{FF2B5EF4-FFF2-40B4-BE49-F238E27FC236}">
                <a16:creationId xmlns:a16="http://schemas.microsoft.com/office/drawing/2014/main" id="{D27C3E5F-88E7-D517-14F5-3F4835A7269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44602" y="3767062"/>
            <a:ext cx="917261" cy="364925"/>
          </a:xfrm>
          <a:prstGeom prst="curvedConnector3">
            <a:avLst>
              <a:gd name="adj1" fmla="val 7316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6E64A6D-D568-82EC-17FB-C7936A6A259C}"/>
              </a:ext>
            </a:extLst>
          </p:cNvPr>
          <p:cNvSpPr txBox="1"/>
          <p:nvPr/>
        </p:nvSpPr>
        <p:spPr>
          <a:xfrm>
            <a:off x="8185966" y="4409920"/>
            <a:ext cx="2119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l</a:t>
            </a:r>
            <a:endParaRPr kumimoji="1" lang="ja-JP" altLang="en-US" sz="800" dirty="0"/>
          </a:p>
        </p:txBody>
      </p:sp>
    </p:spTree>
    <p:extLst>
      <p:ext uri="{BB962C8B-B14F-4D97-AF65-F5344CB8AC3E}">
        <p14:creationId xmlns:p14="http://schemas.microsoft.com/office/powerpoint/2010/main" val="2485747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382</Words>
  <Application>Microsoft Office PowerPoint</Application>
  <PresentationFormat>ワイド画面</PresentationFormat>
  <Paragraphs>105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A1259089</dc:creator>
  <cp:lastModifiedBy>内山３曹</cp:lastModifiedBy>
  <cp:revision>24</cp:revision>
  <dcterms:created xsi:type="dcterms:W3CDTF">2026-04-01T06:29:51Z</dcterms:created>
  <dcterms:modified xsi:type="dcterms:W3CDTF">2026-04-07T07:50:12Z</dcterms:modified>
</cp:coreProperties>
</file>